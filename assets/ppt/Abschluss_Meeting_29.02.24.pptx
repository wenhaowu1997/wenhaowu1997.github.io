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99" r:id="rId2"/>
    <p:sldId id="298" r:id="rId3"/>
    <p:sldId id="297" r:id="rId4"/>
    <p:sldId id="301" r:id="rId5"/>
    <p:sldId id="302" r:id="rId6"/>
    <p:sldId id="313" r:id="rId7"/>
    <p:sldId id="303" r:id="rId8"/>
    <p:sldId id="315" r:id="rId9"/>
    <p:sldId id="304" r:id="rId10"/>
    <p:sldId id="323" r:id="rId11"/>
    <p:sldId id="317" r:id="rId12"/>
    <p:sldId id="318" r:id="rId13"/>
    <p:sldId id="319" r:id="rId14"/>
    <p:sldId id="320" r:id="rId15"/>
    <p:sldId id="321" r:id="rId16"/>
    <p:sldId id="322" r:id="rId17"/>
    <p:sldId id="314" r:id="rId18"/>
    <p:sldId id="306" r:id="rId19"/>
    <p:sldId id="309" r:id="rId20"/>
    <p:sldId id="310" r:id="rId21"/>
    <p:sldId id="307" r:id="rId22"/>
    <p:sldId id="308" r:id="rId23"/>
    <p:sldId id="311" r:id="rId24"/>
    <p:sldId id="312" r:id="rId25"/>
    <p:sldId id="286" r:id="rId26"/>
  </p:sldIdLst>
  <p:sldSz cx="9144000" cy="6858000" type="screen4x3"/>
  <p:notesSz cx="10234613" cy="7099300"/>
  <p:defaultTex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236">
          <p15:clr>
            <a:srgbClr val="A4A3A4"/>
          </p15:clr>
        </p15:guide>
        <p15:guide id="2" pos="322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7E79"/>
    <a:srgbClr val="C7EFC4"/>
    <a:srgbClr val="F6BEBE"/>
    <a:srgbClr val="F7BDBD"/>
    <a:srgbClr val="009CDD"/>
    <a:srgbClr val="4D4D4D"/>
    <a:srgbClr val="58595A"/>
    <a:srgbClr val="B2B2B2"/>
    <a:srgbClr val="777777"/>
    <a:srgbClr val="00AD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87442" autoAdjust="0"/>
  </p:normalViewPr>
  <p:slideViewPr>
    <p:cSldViewPr>
      <p:cViewPr varScale="1">
        <p:scale>
          <a:sx n="101" d="100"/>
          <a:sy n="101" d="100"/>
        </p:scale>
        <p:origin x="194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00" d="100"/>
          <a:sy n="100" d="100"/>
        </p:scale>
        <p:origin x="-450" y="-84"/>
      </p:cViewPr>
      <p:guideLst>
        <p:guide orient="horz" pos="2236"/>
        <p:guide pos="322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4435475" cy="355600"/>
          </a:xfrm>
          <a:prstGeom prst="rect">
            <a:avLst/>
          </a:prstGeom>
          <a:noFill/>
          <a:ln w="9525">
            <a:noFill/>
            <a:miter lim="800000"/>
            <a:headEnd/>
            <a:tailEnd/>
          </a:ln>
          <a:effectLst/>
        </p:spPr>
        <p:txBody>
          <a:bodyPr vert="horz" wrap="square" lIns="94320" tIns="47160" rIns="94320" bIns="47160" numCol="1" anchor="t" anchorCtr="0" compatLnSpc="1">
            <a:prstTxWarp prst="textNoShape">
              <a:avLst/>
            </a:prstTxWarp>
          </a:bodyPr>
          <a:lstStyle>
            <a:lvl1pPr defTabSz="942975">
              <a:defRPr sz="1200">
                <a:latin typeface="Calibri" pitchFamily="34" charset="0"/>
              </a:defRPr>
            </a:lvl1pPr>
          </a:lstStyle>
          <a:p>
            <a:pPr>
              <a:defRPr/>
            </a:pPr>
            <a:endParaRPr lang="de-DE"/>
          </a:p>
        </p:txBody>
      </p:sp>
      <p:sp>
        <p:nvSpPr>
          <p:cNvPr id="56323" name="Rectangle 3"/>
          <p:cNvSpPr>
            <a:spLocks noGrp="1" noChangeArrowheads="1"/>
          </p:cNvSpPr>
          <p:nvPr>
            <p:ph type="dt" sz="quarter" idx="1"/>
          </p:nvPr>
        </p:nvSpPr>
        <p:spPr bwMode="auto">
          <a:xfrm>
            <a:off x="5797550" y="0"/>
            <a:ext cx="4435475" cy="355600"/>
          </a:xfrm>
          <a:prstGeom prst="rect">
            <a:avLst/>
          </a:prstGeom>
          <a:noFill/>
          <a:ln w="9525">
            <a:noFill/>
            <a:miter lim="800000"/>
            <a:headEnd/>
            <a:tailEnd/>
          </a:ln>
          <a:effectLst/>
        </p:spPr>
        <p:txBody>
          <a:bodyPr vert="horz" wrap="square" lIns="94320" tIns="47160" rIns="94320" bIns="47160" numCol="1" anchor="t" anchorCtr="0" compatLnSpc="1">
            <a:prstTxWarp prst="textNoShape">
              <a:avLst/>
            </a:prstTxWarp>
          </a:bodyPr>
          <a:lstStyle>
            <a:lvl1pPr algn="r" defTabSz="942975">
              <a:defRPr sz="1200">
                <a:latin typeface="Calibri" pitchFamily="34" charset="0"/>
              </a:defRPr>
            </a:lvl1pPr>
          </a:lstStyle>
          <a:p>
            <a:pPr>
              <a:defRPr/>
            </a:pPr>
            <a:fld id="{92183F4B-7FD0-49F5-B6A6-04A467571534}" type="datetimeFigureOut">
              <a:rPr lang="de-DE"/>
              <a:pPr>
                <a:defRPr/>
              </a:pPr>
              <a:t>29.02.2024</a:t>
            </a:fld>
            <a:endParaRPr lang="de-DE"/>
          </a:p>
        </p:txBody>
      </p:sp>
      <p:sp>
        <p:nvSpPr>
          <p:cNvPr id="56324" name="Rectangle 4"/>
          <p:cNvSpPr>
            <a:spLocks noGrp="1" noChangeArrowheads="1"/>
          </p:cNvSpPr>
          <p:nvPr>
            <p:ph type="ftr" sz="quarter" idx="2"/>
          </p:nvPr>
        </p:nvSpPr>
        <p:spPr bwMode="auto">
          <a:xfrm>
            <a:off x="0" y="6742113"/>
            <a:ext cx="4435475" cy="355600"/>
          </a:xfrm>
          <a:prstGeom prst="rect">
            <a:avLst/>
          </a:prstGeom>
          <a:noFill/>
          <a:ln w="9525">
            <a:noFill/>
            <a:miter lim="800000"/>
            <a:headEnd/>
            <a:tailEnd/>
          </a:ln>
          <a:effectLst/>
        </p:spPr>
        <p:txBody>
          <a:bodyPr vert="horz" wrap="square" lIns="94320" tIns="47160" rIns="94320" bIns="47160" numCol="1" anchor="b" anchorCtr="0" compatLnSpc="1">
            <a:prstTxWarp prst="textNoShape">
              <a:avLst/>
            </a:prstTxWarp>
          </a:bodyPr>
          <a:lstStyle>
            <a:lvl1pPr defTabSz="942975">
              <a:defRPr sz="1200">
                <a:latin typeface="Calibri" pitchFamily="34" charset="0"/>
              </a:defRPr>
            </a:lvl1pPr>
          </a:lstStyle>
          <a:p>
            <a:pPr>
              <a:defRPr/>
            </a:pPr>
            <a:endParaRPr lang="de-DE"/>
          </a:p>
        </p:txBody>
      </p:sp>
      <p:sp>
        <p:nvSpPr>
          <p:cNvPr id="56325" name="Rectangle 5"/>
          <p:cNvSpPr>
            <a:spLocks noGrp="1" noChangeArrowheads="1"/>
          </p:cNvSpPr>
          <p:nvPr>
            <p:ph type="sldNum" sz="quarter" idx="3"/>
          </p:nvPr>
        </p:nvSpPr>
        <p:spPr bwMode="auto">
          <a:xfrm>
            <a:off x="5797550" y="6742113"/>
            <a:ext cx="4435475" cy="355600"/>
          </a:xfrm>
          <a:prstGeom prst="rect">
            <a:avLst/>
          </a:prstGeom>
          <a:noFill/>
          <a:ln w="9525">
            <a:noFill/>
            <a:miter lim="800000"/>
            <a:headEnd/>
            <a:tailEnd/>
          </a:ln>
          <a:effectLst/>
        </p:spPr>
        <p:txBody>
          <a:bodyPr vert="horz" wrap="square" lIns="94320" tIns="47160" rIns="94320" bIns="47160" numCol="1" anchor="b" anchorCtr="0" compatLnSpc="1">
            <a:prstTxWarp prst="textNoShape">
              <a:avLst/>
            </a:prstTxWarp>
          </a:bodyPr>
          <a:lstStyle>
            <a:lvl1pPr algn="r" defTabSz="942975">
              <a:defRPr sz="1200">
                <a:latin typeface="Calibri" pitchFamily="34" charset="0"/>
              </a:defRPr>
            </a:lvl1pPr>
          </a:lstStyle>
          <a:p>
            <a:pPr>
              <a:defRPr/>
            </a:pPr>
            <a:fld id="{38DF6832-FE25-4966-828E-6166647DC5D5}" type="slidenum">
              <a:rPr lang="de-DE"/>
              <a:pPr>
                <a:defRPr/>
              </a:pPr>
              <a:t>‹Nr.›</a:t>
            </a:fld>
            <a:endParaRPr lang="de-DE"/>
          </a:p>
        </p:txBody>
      </p:sp>
    </p:spTree>
    <p:extLst>
      <p:ext uri="{BB962C8B-B14F-4D97-AF65-F5344CB8AC3E}">
        <p14:creationId xmlns:p14="http://schemas.microsoft.com/office/powerpoint/2010/main" val="23658495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bwMode="auto">
          <a:xfrm>
            <a:off x="0" y="0"/>
            <a:ext cx="4435475" cy="355600"/>
          </a:xfrm>
          <a:prstGeom prst="rect">
            <a:avLst/>
          </a:prstGeom>
          <a:noFill/>
          <a:ln w="9525">
            <a:noFill/>
            <a:miter lim="800000"/>
            <a:headEnd/>
            <a:tailEnd/>
          </a:ln>
        </p:spPr>
        <p:txBody>
          <a:bodyPr vert="horz" wrap="square" lIns="94314" tIns="47157" rIns="94314" bIns="47157" numCol="1" anchor="t" anchorCtr="0" compatLnSpc="1">
            <a:prstTxWarp prst="textNoShape">
              <a:avLst/>
            </a:prstTxWarp>
          </a:bodyPr>
          <a:lstStyle>
            <a:lvl1pPr defTabSz="942975">
              <a:defRPr sz="1200">
                <a:latin typeface="Calibri" pitchFamily="34" charset="0"/>
              </a:defRPr>
            </a:lvl1pPr>
          </a:lstStyle>
          <a:p>
            <a:pPr>
              <a:defRPr/>
            </a:pPr>
            <a:endParaRPr lang="de-DE"/>
          </a:p>
        </p:txBody>
      </p:sp>
      <p:sp>
        <p:nvSpPr>
          <p:cNvPr id="3" name="Datumsplatzhalter 2"/>
          <p:cNvSpPr>
            <a:spLocks noGrp="1"/>
          </p:cNvSpPr>
          <p:nvPr>
            <p:ph type="dt" idx="1"/>
          </p:nvPr>
        </p:nvSpPr>
        <p:spPr bwMode="auto">
          <a:xfrm>
            <a:off x="5797550" y="0"/>
            <a:ext cx="4435475" cy="355600"/>
          </a:xfrm>
          <a:prstGeom prst="rect">
            <a:avLst/>
          </a:prstGeom>
          <a:noFill/>
          <a:ln w="9525">
            <a:noFill/>
            <a:miter lim="800000"/>
            <a:headEnd/>
            <a:tailEnd/>
          </a:ln>
        </p:spPr>
        <p:txBody>
          <a:bodyPr vert="horz" wrap="square" lIns="94314" tIns="47157" rIns="94314" bIns="47157" numCol="1" anchor="t" anchorCtr="0" compatLnSpc="1">
            <a:prstTxWarp prst="textNoShape">
              <a:avLst/>
            </a:prstTxWarp>
          </a:bodyPr>
          <a:lstStyle>
            <a:lvl1pPr algn="r" defTabSz="942975">
              <a:defRPr sz="1200">
                <a:latin typeface="Calibri" pitchFamily="34" charset="0"/>
              </a:defRPr>
            </a:lvl1pPr>
          </a:lstStyle>
          <a:p>
            <a:pPr>
              <a:defRPr/>
            </a:pPr>
            <a:fld id="{A4ED0FF2-2201-4D1C-B0AA-D4BA76F29EBF}" type="datetimeFigureOut">
              <a:rPr lang="de-DE"/>
              <a:pPr>
                <a:defRPr/>
              </a:pPr>
              <a:t>29.02.2024</a:t>
            </a:fld>
            <a:endParaRPr lang="de-DE"/>
          </a:p>
        </p:txBody>
      </p:sp>
      <p:sp>
        <p:nvSpPr>
          <p:cNvPr id="4" name="Folienbildplatzhalter 3"/>
          <p:cNvSpPr>
            <a:spLocks noGrp="1" noRot="1" noChangeAspect="1"/>
          </p:cNvSpPr>
          <p:nvPr>
            <p:ph type="sldImg" idx="2"/>
          </p:nvPr>
        </p:nvSpPr>
        <p:spPr>
          <a:xfrm>
            <a:off x="3344863" y="531813"/>
            <a:ext cx="3549650" cy="2662237"/>
          </a:xfrm>
          <a:prstGeom prst="rect">
            <a:avLst/>
          </a:prstGeom>
          <a:noFill/>
          <a:ln w="12700">
            <a:solidFill>
              <a:prstClr val="black"/>
            </a:solidFill>
          </a:ln>
        </p:spPr>
        <p:txBody>
          <a:bodyPr vert="horz" lIns="91440" tIns="45720" rIns="91440" bIns="45720" rtlCol="0" anchor="ctr"/>
          <a:lstStyle/>
          <a:p>
            <a:pPr lvl="0"/>
            <a:endParaRPr lang="de-DE" noProof="0"/>
          </a:p>
        </p:txBody>
      </p:sp>
      <p:sp>
        <p:nvSpPr>
          <p:cNvPr id="5" name="Notizenplatzhalter 4"/>
          <p:cNvSpPr>
            <a:spLocks noGrp="1"/>
          </p:cNvSpPr>
          <p:nvPr>
            <p:ph type="body" sz="quarter" idx="3"/>
          </p:nvPr>
        </p:nvSpPr>
        <p:spPr bwMode="auto">
          <a:xfrm>
            <a:off x="1023938" y="3371850"/>
            <a:ext cx="8188325" cy="3195638"/>
          </a:xfrm>
          <a:prstGeom prst="rect">
            <a:avLst/>
          </a:prstGeom>
          <a:noFill/>
          <a:ln w="9525">
            <a:noFill/>
            <a:miter lim="800000"/>
            <a:headEnd/>
            <a:tailEnd/>
          </a:ln>
        </p:spPr>
        <p:txBody>
          <a:bodyPr vert="horz" wrap="square" lIns="94314" tIns="47157" rIns="94314" bIns="47157" numCol="1" anchor="t" anchorCtr="0" compatLnSpc="1">
            <a:prstTxWarp prst="textNoShape">
              <a:avLst/>
            </a:prstTxWarp>
          </a:bodyPr>
          <a:lstStyle/>
          <a:p>
            <a:pPr lvl="0"/>
            <a:r>
              <a:rPr lang="de-DE" noProof="0" smtClean="0"/>
              <a:t>Textmasterformate durch Klicken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de-DE" noProof="0"/>
          </a:p>
        </p:txBody>
      </p:sp>
      <p:sp>
        <p:nvSpPr>
          <p:cNvPr id="6" name="Fußzeilenplatzhalter 5"/>
          <p:cNvSpPr>
            <a:spLocks noGrp="1"/>
          </p:cNvSpPr>
          <p:nvPr>
            <p:ph type="ftr" sz="quarter" idx="4"/>
          </p:nvPr>
        </p:nvSpPr>
        <p:spPr bwMode="auto">
          <a:xfrm>
            <a:off x="0" y="6742113"/>
            <a:ext cx="4435475" cy="355600"/>
          </a:xfrm>
          <a:prstGeom prst="rect">
            <a:avLst/>
          </a:prstGeom>
          <a:noFill/>
          <a:ln w="9525">
            <a:noFill/>
            <a:miter lim="800000"/>
            <a:headEnd/>
            <a:tailEnd/>
          </a:ln>
        </p:spPr>
        <p:txBody>
          <a:bodyPr vert="horz" wrap="square" lIns="94314" tIns="47157" rIns="94314" bIns="47157" numCol="1" anchor="b" anchorCtr="0" compatLnSpc="1">
            <a:prstTxWarp prst="textNoShape">
              <a:avLst/>
            </a:prstTxWarp>
          </a:bodyPr>
          <a:lstStyle>
            <a:lvl1pPr defTabSz="942975">
              <a:defRPr sz="1200">
                <a:latin typeface="Calibri" pitchFamily="34" charset="0"/>
              </a:defRPr>
            </a:lvl1pPr>
          </a:lstStyle>
          <a:p>
            <a:pPr>
              <a:defRPr/>
            </a:pPr>
            <a:endParaRPr lang="de-DE"/>
          </a:p>
        </p:txBody>
      </p:sp>
      <p:sp>
        <p:nvSpPr>
          <p:cNvPr id="7" name="Foliennummernplatzhalter 6"/>
          <p:cNvSpPr>
            <a:spLocks noGrp="1"/>
          </p:cNvSpPr>
          <p:nvPr>
            <p:ph type="sldNum" sz="quarter" idx="5"/>
          </p:nvPr>
        </p:nvSpPr>
        <p:spPr bwMode="auto">
          <a:xfrm>
            <a:off x="5797550" y="6742113"/>
            <a:ext cx="4435475" cy="355600"/>
          </a:xfrm>
          <a:prstGeom prst="rect">
            <a:avLst/>
          </a:prstGeom>
          <a:noFill/>
          <a:ln w="9525">
            <a:noFill/>
            <a:miter lim="800000"/>
            <a:headEnd/>
            <a:tailEnd/>
          </a:ln>
        </p:spPr>
        <p:txBody>
          <a:bodyPr vert="horz" wrap="square" lIns="94314" tIns="47157" rIns="94314" bIns="47157" numCol="1" anchor="b" anchorCtr="0" compatLnSpc="1">
            <a:prstTxWarp prst="textNoShape">
              <a:avLst/>
            </a:prstTxWarp>
          </a:bodyPr>
          <a:lstStyle>
            <a:lvl1pPr algn="r" defTabSz="942975">
              <a:defRPr sz="1200">
                <a:latin typeface="Calibri" pitchFamily="34" charset="0"/>
              </a:defRPr>
            </a:lvl1pPr>
          </a:lstStyle>
          <a:p>
            <a:pPr>
              <a:defRPr/>
            </a:pPr>
            <a:fld id="{9F7CB66E-A447-4065-9F91-1B57DAA1358E}" type="slidenum">
              <a:rPr lang="de-DE"/>
              <a:pPr>
                <a:defRPr/>
              </a:pPr>
              <a:t>‹Nr.›</a:t>
            </a:fld>
            <a:endParaRPr lang="de-DE"/>
          </a:p>
        </p:txBody>
      </p:sp>
    </p:spTree>
    <p:extLst>
      <p:ext uri="{BB962C8B-B14F-4D97-AF65-F5344CB8AC3E}">
        <p14:creationId xmlns:p14="http://schemas.microsoft.com/office/powerpoint/2010/main" val="20636815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Hello and welcome to my presentation Thesis Progress Report. My</a:t>
            </a:r>
            <a:r>
              <a:rPr lang="en-US" baseline="0" dirty="0" smtClean="0"/>
              <a:t> name is Wen-Hao and I have been working as an AI student in W&amp;S since April 2023. And I started writing my Master Thesis from October 2023. I will be finishing my Master Thesis soon by the middle of next month. Thank you for joining me today to discuss the developments and insights from my research journey</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a:t>
            </a:fld>
            <a:endParaRPr lang="de-DE"/>
          </a:p>
        </p:txBody>
      </p:sp>
    </p:spTree>
    <p:extLst>
      <p:ext uri="{BB962C8B-B14F-4D97-AF65-F5344CB8AC3E}">
        <p14:creationId xmlns:p14="http://schemas.microsoft.com/office/powerpoint/2010/main" val="20310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In this meeting,</a:t>
            </a:r>
            <a:r>
              <a:rPr lang="en-US" baseline="0" dirty="0" smtClean="0"/>
              <a:t> I will cover 2 main areas which are Thesis &amp; Project Progress Report and I want to talk about the present &amp; future of AI in the company.</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2</a:t>
            </a:fld>
            <a:endParaRPr lang="de-DE"/>
          </a:p>
        </p:txBody>
      </p:sp>
    </p:spTree>
    <p:extLst>
      <p:ext uri="{BB962C8B-B14F-4D97-AF65-F5344CB8AC3E}">
        <p14:creationId xmlns:p14="http://schemas.microsoft.com/office/powerpoint/2010/main" val="567017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First of all, I want to go over again the core idea of my Thesis. To</a:t>
            </a:r>
            <a:r>
              <a:rPr lang="en-US" baseline="0" dirty="0" smtClean="0"/>
              <a:t> make it short and clear, I summarized the core idea of my Thesis into one sentence, which is: I want to create an AI that can detect defects better than the current inspection machines. But what means better?</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3</a:t>
            </a:fld>
            <a:endParaRPr lang="de-DE"/>
          </a:p>
        </p:txBody>
      </p:sp>
    </p:spTree>
    <p:extLst>
      <p:ext uri="{BB962C8B-B14F-4D97-AF65-F5344CB8AC3E}">
        <p14:creationId xmlns:p14="http://schemas.microsoft.com/office/powerpoint/2010/main" val="2166641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 approach the term better with 3 different critical angles:</a:t>
            </a:r>
            <a:r>
              <a:rPr lang="en-US" baseline="0" dirty="0" smtClean="0"/>
              <a:t> Higher Accuracy, Faster processing speed, more robust. Higher accuracy meaning lesser pseudo scrap and no escaped defect, which is our priority that our clients do not get defective products. Faster, but with one condition, without sacrificing the cost of high-end hardware. In other words, faster with limited budget. Robust, meaning the AI should provide consistent results. The situation right now with the UTP machines is like this: </a:t>
            </a:r>
            <a:r>
              <a:rPr lang="en-US" dirty="0" smtClean="0"/>
              <a:t>First, the set up time is very long. You could spend the whole day setting up the defect library, and you feel confident with your library, and you run a new batch and after that, the human inspection department tells you that 30 more defect parts were not found. And</a:t>
            </a:r>
            <a:r>
              <a:rPr lang="en-US" baseline="0" dirty="0" smtClean="0"/>
              <a:t> this should not be the case.</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4</a:t>
            </a:fld>
            <a:endParaRPr lang="de-DE"/>
          </a:p>
        </p:txBody>
      </p:sp>
    </p:spTree>
    <p:extLst>
      <p:ext uri="{BB962C8B-B14F-4D97-AF65-F5344CB8AC3E}">
        <p14:creationId xmlns:p14="http://schemas.microsoft.com/office/powerpoint/2010/main" val="424042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My approach to achieve</a:t>
            </a:r>
            <a:r>
              <a:rPr lang="en-US" baseline="0" dirty="0" smtClean="0"/>
              <a:t> “more accurate and more robust” is: First of all, based on my research and my experiences, if I want to achieve more accurate and more robust, I should go for deep learning. And for deep learning, there are several models to be chosen, on the screen, we can see the result of 3 different training experiments. They are SSD trained with three classes, SSD trained with four classes, and YOLOv8n trained with 4 classes. As a result, we can see YOLOv8 just overall outperforms SSD in every perspective. It has higher map score, it has lower training time, faster inference speed</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5</a:t>
            </a:fld>
            <a:endParaRPr lang="de-DE"/>
          </a:p>
        </p:txBody>
      </p:sp>
    </p:spTree>
    <p:extLst>
      <p:ext uri="{BB962C8B-B14F-4D97-AF65-F5344CB8AC3E}">
        <p14:creationId xmlns:p14="http://schemas.microsoft.com/office/powerpoint/2010/main" val="3500265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My approach to achieve</a:t>
            </a:r>
            <a:r>
              <a:rPr lang="en-US" baseline="0" dirty="0" smtClean="0"/>
              <a:t> “more accurate and more robust” is: First of all I did a lot of research testing regarding different algorithms and deep learning models. And as a result, a collection of open-source deep learning AI models called YOLOv8 are the best-performing ones. I also did a lot of tests documented in my Thesis to proof the effectiveness of YOLOv8.</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6</a:t>
            </a:fld>
            <a:endParaRPr lang="de-DE"/>
          </a:p>
        </p:txBody>
      </p:sp>
    </p:spTree>
    <p:extLst>
      <p:ext uri="{BB962C8B-B14F-4D97-AF65-F5344CB8AC3E}">
        <p14:creationId xmlns:p14="http://schemas.microsoft.com/office/powerpoint/2010/main" val="4090441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Next let’s talk about my approach to achieve “Faster”. First we need to understand one</a:t>
            </a:r>
            <a:r>
              <a:rPr lang="en-US" baseline="0" dirty="0" smtClean="0"/>
              <a:t> thing: detection using a GPU is always faster than a CPU. However, GPUs are costly and CPUs are cheap. So this brings us to the real question: How to detect faster on a CPU?</a:t>
            </a:r>
            <a:br>
              <a:rPr lang="en-US" baseline="0" dirty="0" smtClean="0"/>
            </a:br>
            <a:r>
              <a:rPr lang="en-US" baseline="0" dirty="0" smtClean="0"/>
              <a:t/>
            </a:r>
            <a:br>
              <a:rPr lang="en-US" baseline="0" dirty="0" smtClean="0"/>
            </a:br>
            <a:r>
              <a:rPr lang="en-US" baseline="0" dirty="0" smtClean="0"/>
              <a:t>My solution to this is I convert YOLOv8 model that I mentioned earlier to ONNX format, which is open-sourced by Microsoft, to boost up the detection speed. Here you can see a small report showing the different detection speed using different models. .PT is the model format of YOLOv8. So you can see .PT format on GPU only takes in average 11 </a:t>
            </a:r>
            <a:r>
              <a:rPr lang="en-US" baseline="0" dirty="0" err="1" smtClean="0"/>
              <a:t>ms.</a:t>
            </a:r>
            <a:r>
              <a:rPr lang="en-US" baseline="0" dirty="0" smtClean="0"/>
              <a:t> However, .</a:t>
            </a:r>
            <a:r>
              <a:rPr lang="en-US" baseline="0" dirty="0" err="1" smtClean="0"/>
              <a:t>pt</a:t>
            </a:r>
            <a:r>
              <a:rPr lang="en-US" baseline="0" dirty="0" smtClean="0"/>
              <a:t> format on CPU drastically increase to 158 </a:t>
            </a:r>
            <a:r>
              <a:rPr lang="en-US" baseline="0" dirty="0" err="1" smtClean="0"/>
              <a:t>ms</a:t>
            </a:r>
            <a:r>
              <a:rPr lang="en-US" baseline="0" dirty="0" smtClean="0"/>
              <a:t> (which is not bad comparing to other deep learning models). And if we convert the .</a:t>
            </a:r>
            <a:r>
              <a:rPr lang="en-US" baseline="0" dirty="0" err="1" smtClean="0"/>
              <a:t>pt</a:t>
            </a:r>
            <a:r>
              <a:rPr lang="en-US" baseline="0" dirty="0" smtClean="0"/>
              <a:t> to .</a:t>
            </a:r>
            <a:r>
              <a:rPr lang="en-US" baseline="0" dirty="0" err="1" smtClean="0"/>
              <a:t>onnx</a:t>
            </a:r>
            <a:r>
              <a:rPr lang="en-US" baseline="0" dirty="0" smtClean="0"/>
              <a:t>, the detection speed was decreased to only 54 </a:t>
            </a:r>
            <a:r>
              <a:rPr lang="en-US" baseline="0" dirty="0" err="1" smtClean="0"/>
              <a:t>ms.</a:t>
            </a:r>
            <a:r>
              <a:rPr lang="en-US" baseline="0" dirty="0" smtClean="0"/>
              <a:t> </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7</a:t>
            </a:fld>
            <a:endParaRPr lang="de-DE"/>
          </a:p>
        </p:txBody>
      </p:sp>
    </p:spTree>
    <p:extLst>
      <p:ext uri="{BB962C8B-B14F-4D97-AF65-F5344CB8AC3E}">
        <p14:creationId xmlns:p14="http://schemas.microsoft.com/office/powerpoint/2010/main" val="1522967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In</a:t>
            </a:r>
            <a:r>
              <a:rPr lang="en-US" baseline="0" dirty="0" smtClean="0"/>
              <a:t> conclusion, I trained the YOLOv8 model for this project because after my research and testing, it turns out to be fast, accurate, and robust. It is just overall superior comparing to other deep learning models. </a:t>
            </a:r>
            <a:br>
              <a:rPr lang="en-US" baseline="0" dirty="0" smtClean="0"/>
            </a:br>
            <a:r>
              <a:rPr lang="en-US" baseline="0" dirty="0" smtClean="0"/>
              <a:t/>
            </a:r>
            <a:br>
              <a:rPr lang="en-US" baseline="0" dirty="0" smtClean="0"/>
            </a:br>
            <a:r>
              <a:rPr lang="en-US" baseline="0" dirty="0" smtClean="0"/>
              <a:t>The dataset was collected from the </a:t>
            </a:r>
            <a:r>
              <a:rPr lang="en-US" baseline="0" dirty="0" err="1" smtClean="0"/>
              <a:t>BigX</a:t>
            </a:r>
            <a:r>
              <a:rPr lang="en-US" baseline="0" dirty="0" smtClean="0"/>
              <a:t> machines. The reason for that is to compare the training results between 2 different systems</a:t>
            </a:r>
          </a:p>
          <a:p>
            <a:endParaRPr lang="en-US" baseline="0" dirty="0" smtClean="0"/>
          </a:p>
          <a:p>
            <a:r>
              <a:rPr lang="en-US" baseline="0" dirty="0" smtClean="0"/>
              <a:t>Even though YOLOv8 itself is already fast enough, I converted the yolov8 model to </a:t>
            </a:r>
            <a:r>
              <a:rPr lang="en-US" baseline="0" dirty="0" err="1" smtClean="0"/>
              <a:t>onnx</a:t>
            </a:r>
            <a:r>
              <a:rPr lang="en-US" baseline="0" dirty="0" smtClean="0"/>
              <a:t> format to further boost up the inference speed</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8</a:t>
            </a:fld>
            <a:endParaRPr lang="de-DE"/>
          </a:p>
        </p:txBody>
      </p:sp>
    </p:spTree>
    <p:extLst>
      <p:ext uri="{BB962C8B-B14F-4D97-AF65-F5344CB8AC3E}">
        <p14:creationId xmlns:p14="http://schemas.microsoft.com/office/powerpoint/2010/main" val="4183070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In</a:t>
            </a:r>
            <a:r>
              <a:rPr lang="en-US" baseline="0" dirty="0" smtClean="0"/>
              <a:t> conclusion, I trained the YOLOv8 model for this project because after my research and testing, it turns out to be fast, accurate, and robust. It is just overall superior comparing to other deep learning models. </a:t>
            </a:r>
            <a:br>
              <a:rPr lang="en-US" baseline="0" dirty="0" smtClean="0"/>
            </a:br>
            <a:r>
              <a:rPr lang="en-US" baseline="0" dirty="0" smtClean="0"/>
              <a:t/>
            </a:r>
            <a:br>
              <a:rPr lang="en-US" baseline="0" dirty="0" smtClean="0"/>
            </a:br>
            <a:r>
              <a:rPr lang="en-US" baseline="0" dirty="0" smtClean="0"/>
              <a:t>The dataset was collected from the </a:t>
            </a:r>
            <a:r>
              <a:rPr lang="en-US" baseline="0" dirty="0" err="1" smtClean="0"/>
              <a:t>BigX</a:t>
            </a:r>
            <a:r>
              <a:rPr lang="en-US" baseline="0" dirty="0" smtClean="0"/>
              <a:t> machines. The reason for that is to compare the training results between 2 different systems</a:t>
            </a:r>
          </a:p>
          <a:p>
            <a:endParaRPr lang="en-US" baseline="0" dirty="0" smtClean="0"/>
          </a:p>
          <a:p>
            <a:r>
              <a:rPr lang="en-US" baseline="0" dirty="0" smtClean="0"/>
              <a:t>Even though YOLOv8 itself is already fast enough, I converted the yolov8 model to </a:t>
            </a:r>
            <a:r>
              <a:rPr lang="en-US" baseline="0" dirty="0" err="1" smtClean="0"/>
              <a:t>onnx</a:t>
            </a:r>
            <a:r>
              <a:rPr lang="en-US" baseline="0" dirty="0" smtClean="0"/>
              <a:t> format to further boost up the inference speed</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9</a:t>
            </a:fld>
            <a:endParaRPr lang="de-DE"/>
          </a:p>
        </p:txBody>
      </p:sp>
    </p:spTree>
    <p:extLst>
      <p:ext uri="{BB962C8B-B14F-4D97-AF65-F5344CB8AC3E}">
        <p14:creationId xmlns:p14="http://schemas.microsoft.com/office/powerpoint/2010/main" val="340895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In</a:t>
            </a:r>
            <a:r>
              <a:rPr lang="en-US" baseline="0" dirty="0" smtClean="0"/>
              <a:t> conclusion, I trained the YOLOv8 model for this project because after my research and testing, it turns out to be fast, accurate, and robust. It is just overall superior comparing to other deep learning models. </a:t>
            </a:r>
            <a:br>
              <a:rPr lang="en-US" baseline="0" dirty="0" smtClean="0"/>
            </a:br>
            <a:r>
              <a:rPr lang="en-US" baseline="0" dirty="0" smtClean="0"/>
              <a:t/>
            </a:r>
            <a:br>
              <a:rPr lang="en-US" baseline="0" dirty="0" smtClean="0"/>
            </a:br>
            <a:r>
              <a:rPr lang="en-US" baseline="0" dirty="0" smtClean="0"/>
              <a:t>The dataset was collected from the </a:t>
            </a:r>
            <a:r>
              <a:rPr lang="en-US" baseline="0" dirty="0" err="1" smtClean="0"/>
              <a:t>BigX</a:t>
            </a:r>
            <a:r>
              <a:rPr lang="en-US" baseline="0" dirty="0" smtClean="0"/>
              <a:t> machines. The reason for that is to compare the training results between 2 different systems</a:t>
            </a:r>
          </a:p>
          <a:p>
            <a:endParaRPr lang="en-US" baseline="0" dirty="0" smtClean="0"/>
          </a:p>
          <a:p>
            <a:r>
              <a:rPr lang="en-US" baseline="0" dirty="0" smtClean="0"/>
              <a:t>Even though YOLOv8 itself is already fast enough, I converted the yolov8 model to </a:t>
            </a:r>
            <a:r>
              <a:rPr lang="en-US" baseline="0" dirty="0" err="1" smtClean="0"/>
              <a:t>onnx</a:t>
            </a:r>
            <a:r>
              <a:rPr lang="en-US" baseline="0" dirty="0" smtClean="0"/>
              <a:t> format to further boost up the inference speed</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10</a:t>
            </a:fld>
            <a:endParaRPr lang="de-DE"/>
          </a:p>
        </p:txBody>
      </p:sp>
    </p:spTree>
    <p:extLst>
      <p:ext uri="{BB962C8B-B14F-4D97-AF65-F5344CB8AC3E}">
        <p14:creationId xmlns:p14="http://schemas.microsoft.com/office/powerpoint/2010/main" val="4036495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In</a:t>
            </a:r>
            <a:r>
              <a:rPr lang="en-US" baseline="0" dirty="0" smtClean="0"/>
              <a:t> conclusion, I trained the YOLOv8 model for this project because after my research and testing, it turns out to be fast, accurate, and robust. It is just overall superior comparing to other deep learning models. </a:t>
            </a:r>
            <a:br>
              <a:rPr lang="en-US" baseline="0" dirty="0" smtClean="0"/>
            </a:br>
            <a:r>
              <a:rPr lang="en-US" baseline="0" dirty="0" smtClean="0"/>
              <a:t/>
            </a:r>
            <a:br>
              <a:rPr lang="en-US" baseline="0" dirty="0" smtClean="0"/>
            </a:br>
            <a:r>
              <a:rPr lang="en-US" baseline="0" dirty="0" smtClean="0"/>
              <a:t>The dataset was collected from the </a:t>
            </a:r>
            <a:r>
              <a:rPr lang="en-US" baseline="0" dirty="0" err="1" smtClean="0"/>
              <a:t>BigX</a:t>
            </a:r>
            <a:r>
              <a:rPr lang="en-US" baseline="0" dirty="0" smtClean="0"/>
              <a:t> machines. The reason for that is to compare the training results between 2 different systems</a:t>
            </a:r>
          </a:p>
          <a:p>
            <a:endParaRPr lang="en-US" baseline="0" dirty="0" smtClean="0"/>
          </a:p>
          <a:p>
            <a:r>
              <a:rPr lang="en-US" baseline="0" dirty="0" smtClean="0"/>
              <a:t>Even though YOLOv8 itself is already fast enough, I converted the yolov8 model to </a:t>
            </a:r>
            <a:r>
              <a:rPr lang="en-US" baseline="0" dirty="0" err="1" smtClean="0"/>
              <a:t>onnx</a:t>
            </a:r>
            <a:r>
              <a:rPr lang="en-US" baseline="0" dirty="0" smtClean="0"/>
              <a:t> format to further boost up the inference speed</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11</a:t>
            </a:fld>
            <a:endParaRPr lang="de-DE"/>
          </a:p>
        </p:txBody>
      </p:sp>
    </p:spTree>
    <p:extLst>
      <p:ext uri="{BB962C8B-B14F-4D97-AF65-F5344CB8AC3E}">
        <p14:creationId xmlns:p14="http://schemas.microsoft.com/office/powerpoint/2010/main" val="1450848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In</a:t>
            </a:r>
            <a:r>
              <a:rPr lang="en-US" baseline="0" dirty="0" smtClean="0"/>
              <a:t> conclusion, I trained the YOLOv8 model for this project because after my research and testing, it turns out to be fast, accurate, and robust. It is just overall superior comparing to other deep learning models. </a:t>
            </a:r>
            <a:br>
              <a:rPr lang="en-US" baseline="0" dirty="0" smtClean="0"/>
            </a:br>
            <a:r>
              <a:rPr lang="en-US" baseline="0" dirty="0" smtClean="0"/>
              <a:t/>
            </a:r>
            <a:br>
              <a:rPr lang="en-US" baseline="0" dirty="0" smtClean="0"/>
            </a:br>
            <a:r>
              <a:rPr lang="en-US" baseline="0" dirty="0" smtClean="0"/>
              <a:t>The dataset was collected from the </a:t>
            </a:r>
            <a:r>
              <a:rPr lang="en-US" baseline="0" dirty="0" err="1" smtClean="0"/>
              <a:t>BigX</a:t>
            </a:r>
            <a:r>
              <a:rPr lang="en-US" baseline="0" dirty="0" smtClean="0"/>
              <a:t> machines. The reason for that is to compare the training results between 2 different systems</a:t>
            </a:r>
          </a:p>
          <a:p>
            <a:endParaRPr lang="en-US" baseline="0" dirty="0" smtClean="0"/>
          </a:p>
          <a:p>
            <a:r>
              <a:rPr lang="en-US" baseline="0" dirty="0" smtClean="0"/>
              <a:t>Even though YOLOv8 itself is already fast enough, I converted the yolov8 model to </a:t>
            </a:r>
            <a:r>
              <a:rPr lang="en-US" baseline="0" dirty="0" err="1" smtClean="0"/>
              <a:t>onnx</a:t>
            </a:r>
            <a:r>
              <a:rPr lang="en-US" baseline="0" dirty="0" smtClean="0"/>
              <a:t> format to further boost up the inference speed</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12</a:t>
            </a:fld>
            <a:endParaRPr lang="de-DE"/>
          </a:p>
        </p:txBody>
      </p:sp>
    </p:spTree>
    <p:extLst>
      <p:ext uri="{BB962C8B-B14F-4D97-AF65-F5344CB8AC3E}">
        <p14:creationId xmlns:p14="http://schemas.microsoft.com/office/powerpoint/2010/main" val="2662722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In</a:t>
            </a:r>
            <a:r>
              <a:rPr lang="en-US" baseline="0" dirty="0" smtClean="0"/>
              <a:t> conclusion, I trained the YOLOv8 model for this project because after my research and testing, it turns out to be fast, accurate, and robust. It is just overall superior comparing to other deep learning models. </a:t>
            </a:r>
            <a:br>
              <a:rPr lang="en-US" baseline="0" dirty="0" smtClean="0"/>
            </a:br>
            <a:r>
              <a:rPr lang="en-US" baseline="0" dirty="0" smtClean="0"/>
              <a:t/>
            </a:r>
            <a:br>
              <a:rPr lang="en-US" baseline="0" dirty="0" smtClean="0"/>
            </a:br>
            <a:r>
              <a:rPr lang="en-US" baseline="0" dirty="0" smtClean="0"/>
              <a:t>The dataset was collected from the </a:t>
            </a:r>
            <a:r>
              <a:rPr lang="en-US" baseline="0" dirty="0" err="1" smtClean="0"/>
              <a:t>BigX</a:t>
            </a:r>
            <a:r>
              <a:rPr lang="en-US" baseline="0" dirty="0" smtClean="0"/>
              <a:t> machines. The reason for that is to compare the training results between 2 different systems</a:t>
            </a:r>
          </a:p>
          <a:p>
            <a:endParaRPr lang="en-US" baseline="0" dirty="0" smtClean="0"/>
          </a:p>
          <a:p>
            <a:r>
              <a:rPr lang="en-US" baseline="0" dirty="0" smtClean="0"/>
              <a:t>Even though YOLOv8 itself is already fast enough, I converted the yolov8 model to </a:t>
            </a:r>
            <a:r>
              <a:rPr lang="en-US" baseline="0" dirty="0" err="1" smtClean="0"/>
              <a:t>onnx</a:t>
            </a:r>
            <a:r>
              <a:rPr lang="en-US" baseline="0" dirty="0" smtClean="0"/>
              <a:t> format to further boost up the inference speed</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13</a:t>
            </a:fld>
            <a:endParaRPr lang="de-DE"/>
          </a:p>
        </p:txBody>
      </p:sp>
    </p:spTree>
    <p:extLst>
      <p:ext uri="{BB962C8B-B14F-4D97-AF65-F5344CB8AC3E}">
        <p14:creationId xmlns:p14="http://schemas.microsoft.com/office/powerpoint/2010/main" val="22475095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In</a:t>
            </a:r>
            <a:r>
              <a:rPr lang="en-US" baseline="0" dirty="0" smtClean="0"/>
              <a:t> conclusion, I trained the YOLOv8 model for this project because after my research and testing, it turns out to be fast, accurate, and robust. It is just overall superior comparing to other deep learning models. </a:t>
            </a:r>
            <a:br>
              <a:rPr lang="en-US" baseline="0" dirty="0" smtClean="0"/>
            </a:br>
            <a:r>
              <a:rPr lang="en-US" baseline="0" dirty="0" smtClean="0"/>
              <a:t/>
            </a:r>
            <a:br>
              <a:rPr lang="en-US" baseline="0" dirty="0" smtClean="0"/>
            </a:br>
            <a:r>
              <a:rPr lang="en-US" baseline="0" dirty="0" smtClean="0"/>
              <a:t>The dataset was collected from the </a:t>
            </a:r>
            <a:r>
              <a:rPr lang="en-US" baseline="0" dirty="0" err="1" smtClean="0"/>
              <a:t>BigX</a:t>
            </a:r>
            <a:r>
              <a:rPr lang="en-US" baseline="0" dirty="0" smtClean="0"/>
              <a:t> machines. The reason for that is to compare the training results between 2 different systems</a:t>
            </a:r>
          </a:p>
          <a:p>
            <a:endParaRPr lang="en-US" baseline="0" dirty="0" smtClean="0"/>
          </a:p>
          <a:p>
            <a:r>
              <a:rPr lang="en-US" baseline="0" dirty="0" smtClean="0"/>
              <a:t>Even though YOLOv8 itself is already fast enough, I converted the yolov8 model to </a:t>
            </a:r>
            <a:r>
              <a:rPr lang="en-US" baseline="0" dirty="0" err="1" smtClean="0"/>
              <a:t>onnx</a:t>
            </a:r>
            <a:r>
              <a:rPr lang="en-US" baseline="0" dirty="0" smtClean="0"/>
              <a:t> format to further boost up the inference speed</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14</a:t>
            </a:fld>
            <a:endParaRPr lang="de-DE"/>
          </a:p>
        </p:txBody>
      </p:sp>
    </p:spTree>
    <p:extLst>
      <p:ext uri="{BB962C8B-B14F-4D97-AF65-F5344CB8AC3E}">
        <p14:creationId xmlns:p14="http://schemas.microsoft.com/office/powerpoint/2010/main" val="27065404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In</a:t>
            </a:r>
            <a:r>
              <a:rPr lang="en-US" baseline="0" dirty="0" smtClean="0"/>
              <a:t> conclusion, I trained the YOLOv8 model for this project because after my research and testing, it turns out to be fast, accurate, and robust. It is just overall superior comparing to other deep learning models. </a:t>
            </a:r>
            <a:br>
              <a:rPr lang="en-US" baseline="0" dirty="0" smtClean="0"/>
            </a:br>
            <a:r>
              <a:rPr lang="en-US" baseline="0" dirty="0" smtClean="0"/>
              <a:t/>
            </a:r>
            <a:br>
              <a:rPr lang="en-US" baseline="0" dirty="0" smtClean="0"/>
            </a:br>
            <a:r>
              <a:rPr lang="en-US" baseline="0" dirty="0" smtClean="0"/>
              <a:t>The dataset was collected from the </a:t>
            </a:r>
            <a:r>
              <a:rPr lang="en-US" baseline="0" dirty="0" err="1" smtClean="0"/>
              <a:t>BigX</a:t>
            </a:r>
            <a:r>
              <a:rPr lang="en-US" baseline="0" dirty="0" smtClean="0"/>
              <a:t> machines. The reason for that is to compare the training results between 2 different systems</a:t>
            </a:r>
          </a:p>
          <a:p>
            <a:endParaRPr lang="en-US" baseline="0" dirty="0" smtClean="0"/>
          </a:p>
          <a:p>
            <a:r>
              <a:rPr lang="en-US" baseline="0" dirty="0" smtClean="0"/>
              <a:t>Even though YOLOv8 itself is already fast enough, I converted the yolov8 model to </a:t>
            </a:r>
            <a:r>
              <a:rPr lang="en-US" baseline="0" dirty="0" err="1" smtClean="0"/>
              <a:t>onnx</a:t>
            </a:r>
            <a:r>
              <a:rPr lang="en-US" baseline="0" dirty="0" smtClean="0"/>
              <a:t> format to further boost up the inference speed</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15</a:t>
            </a:fld>
            <a:endParaRPr lang="de-DE"/>
          </a:p>
        </p:txBody>
      </p:sp>
    </p:spTree>
    <p:extLst>
      <p:ext uri="{BB962C8B-B14F-4D97-AF65-F5344CB8AC3E}">
        <p14:creationId xmlns:p14="http://schemas.microsoft.com/office/powerpoint/2010/main" val="7061225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In</a:t>
            </a:r>
            <a:r>
              <a:rPr lang="en-US" baseline="0" dirty="0" smtClean="0"/>
              <a:t> conclusion, I trained the YOLOv8 model for this project because after my research and testing, it turns out to be fast, accurate, and robust. It is just overall superior comparing to other deep learning models. </a:t>
            </a:r>
            <a:br>
              <a:rPr lang="en-US" baseline="0" dirty="0" smtClean="0"/>
            </a:br>
            <a:r>
              <a:rPr lang="en-US" baseline="0" dirty="0" smtClean="0"/>
              <a:t/>
            </a:r>
            <a:br>
              <a:rPr lang="en-US" baseline="0" dirty="0" smtClean="0"/>
            </a:br>
            <a:r>
              <a:rPr lang="en-US" baseline="0" dirty="0" smtClean="0"/>
              <a:t>The dataset was collected from the </a:t>
            </a:r>
            <a:r>
              <a:rPr lang="en-US" baseline="0" dirty="0" err="1" smtClean="0"/>
              <a:t>BigX</a:t>
            </a:r>
            <a:r>
              <a:rPr lang="en-US" baseline="0" dirty="0" smtClean="0"/>
              <a:t> machines. The reason for that is to compare the training results between 2 different systems</a:t>
            </a:r>
          </a:p>
          <a:p>
            <a:endParaRPr lang="en-US" baseline="0" dirty="0" smtClean="0"/>
          </a:p>
          <a:p>
            <a:r>
              <a:rPr lang="en-US" baseline="0" dirty="0" smtClean="0"/>
              <a:t>Even though YOLOv8 itself is already fast enough, I converted the yolov8 model to </a:t>
            </a:r>
            <a:r>
              <a:rPr lang="en-US" baseline="0" dirty="0" err="1" smtClean="0"/>
              <a:t>onnx</a:t>
            </a:r>
            <a:r>
              <a:rPr lang="en-US" baseline="0" dirty="0" smtClean="0"/>
              <a:t> format to further boost up the inference speed</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16</a:t>
            </a:fld>
            <a:endParaRPr lang="de-DE"/>
          </a:p>
        </p:txBody>
      </p:sp>
    </p:spTree>
    <p:extLst>
      <p:ext uri="{BB962C8B-B14F-4D97-AF65-F5344CB8AC3E}">
        <p14:creationId xmlns:p14="http://schemas.microsoft.com/office/powerpoint/2010/main" val="2337721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What else did</a:t>
            </a:r>
            <a:r>
              <a:rPr lang="en-US" baseline="0" dirty="0" smtClean="0"/>
              <a:t> I do in this project?</a:t>
            </a:r>
            <a:br>
              <a:rPr lang="en-US" baseline="0" dirty="0" smtClean="0"/>
            </a:br>
            <a:r>
              <a:rPr lang="en-US" baseline="0" dirty="0" smtClean="0"/>
              <a:t/>
            </a:r>
            <a:br>
              <a:rPr lang="en-US" baseline="0" dirty="0" smtClean="0"/>
            </a:br>
            <a:r>
              <a:rPr lang="en-US" baseline="0" dirty="0" smtClean="0"/>
              <a:t>One of the most improvement achievements I would say is we implemented an operational pipeline that automates the whole machine learning processing, starting from training, export, evaluation, and predict. </a:t>
            </a:r>
            <a:r>
              <a:rPr lang="en-US" altLang="zh-CN" baseline="0" dirty="0" smtClean="0"/>
              <a:t>This means with one command, the system runs through all the important steps of a machine learning life cycle. What is also important is that the all the data generated during the automation were saved in a cloud-based database where it can be checked by any interested party anytime about any experiment done in the past. On top of that, a simple GUI was created to start detection for users who don’t know how to work with the command line.</a:t>
            </a:r>
          </a:p>
          <a:p>
            <a:endParaRPr lang="en-US" baseline="0" dirty="0" smtClean="0"/>
          </a:p>
          <a:p>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17</a:t>
            </a:fld>
            <a:endParaRPr lang="de-DE"/>
          </a:p>
        </p:txBody>
      </p:sp>
    </p:spTree>
    <p:extLst>
      <p:ext uri="{BB962C8B-B14F-4D97-AF65-F5344CB8AC3E}">
        <p14:creationId xmlns:p14="http://schemas.microsoft.com/office/powerpoint/2010/main" val="26514172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So what did</a:t>
            </a:r>
            <a:r>
              <a:rPr lang="en-US" baseline="0" dirty="0" smtClean="0"/>
              <a:t> I actually write down in my Thesis?</a:t>
            </a:r>
            <a:br>
              <a:rPr lang="en-US" baseline="0" dirty="0" smtClean="0"/>
            </a:br>
            <a:r>
              <a:rPr lang="en-US" baseline="0" dirty="0" smtClean="0"/>
              <a:t/>
            </a:r>
            <a:br>
              <a:rPr lang="en-US" baseline="0" dirty="0" smtClean="0"/>
            </a:br>
            <a:r>
              <a:rPr lang="en-US" baseline="0" dirty="0" smtClean="0"/>
              <a:t>I basically documented the whole journey of my project of my approach to achieve “better”. This includes Motivation and Objectives, Literature Review, Methodologies including details of my workflow, evaluation of different results, and in the end a future outlook of the project.</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18</a:t>
            </a:fld>
            <a:endParaRPr lang="de-DE"/>
          </a:p>
        </p:txBody>
      </p:sp>
    </p:spTree>
    <p:extLst>
      <p:ext uri="{BB962C8B-B14F-4D97-AF65-F5344CB8AC3E}">
        <p14:creationId xmlns:p14="http://schemas.microsoft.com/office/powerpoint/2010/main" val="2771672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Talking about</a:t>
            </a:r>
            <a:r>
              <a:rPr lang="en-US" baseline="0" dirty="0" smtClean="0"/>
              <a:t> future outlook, there are several directions we can progress further. First of all, add more features to the system, this includes maybe: generating a report after detection, further improve error handling, further refine GUI, further unit testing and validation testing, and so on.</a:t>
            </a:r>
          </a:p>
          <a:p>
            <a:endParaRPr lang="en-US" baseline="0" dirty="0" smtClean="0"/>
          </a:p>
          <a:p>
            <a:r>
              <a:rPr lang="en-US" baseline="0" dirty="0" smtClean="0"/>
              <a:t>Secondly, further improve dataset quality, such as further expand dataset size and refine the marking even more or remove ambiguous training data. </a:t>
            </a:r>
          </a:p>
          <a:p>
            <a:endParaRPr lang="en-US" baseline="0" dirty="0" smtClean="0"/>
          </a:p>
          <a:p>
            <a:r>
              <a:rPr lang="en-US" baseline="0" dirty="0" smtClean="0"/>
              <a:t>Or we can explore the opportunity to scale the system to detect on other articles. Right now the system focuses on detecting only </a:t>
            </a:r>
            <a:r>
              <a:rPr lang="en-US" baseline="0" dirty="0" err="1" smtClean="0"/>
              <a:t>Lippendichtung</a:t>
            </a:r>
            <a:r>
              <a:rPr lang="en-US" baseline="0" dirty="0" smtClean="0"/>
              <a:t>. </a:t>
            </a:r>
            <a:r>
              <a:rPr lang="en-US" altLang="zh-CN" baseline="0" dirty="0" smtClean="0"/>
              <a:t>In the future we can maybe also try to use it to detect other types. Another direction could be to explore techniques to further improve inference speed. For example we can consider deploying the system on a Linux environment, or convert the AI model to a different format other than ONNX. When the system is more mature, we can also consider deploying the system onto cloud platforms such as AWS, Azure, or company’s own server. Other alternative will be to deploying onto hardware platforms, but this will be more costly and a relatively large commitment.</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19</a:t>
            </a:fld>
            <a:endParaRPr lang="de-DE"/>
          </a:p>
        </p:txBody>
      </p:sp>
    </p:spTree>
    <p:extLst>
      <p:ext uri="{BB962C8B-B14F-4D97-AF65-F5344CB8AC3E}">
        <p14:creationId xmlns:p14="http://schemas.microsoft.com/office/powerpoint/2010/main" val="2847242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Moving on the topic “The present &amp; Future</a:t>
            </a:r>
            <a:r>
              <a:rPr lang="en-US" baseline="0" dirty="0" smtClean="0"/>
              <a:t> of AI in W&amp;S”. I </a:t>
            </a:r>
            <a:r>
              <a:rPr lang="en-US" baseline="0" dirty="0" err="1" smtClean="0"/>
              <a:t>wanna</a:t>
            </a:r>
            <a:r>
              <a:rPr lang="en-US" baseline="0" dirty="0" smtClean="0"/>
              <a:t> first talk about the present AI achievements. The biggest achievement I would say is we now have a collection of developed software on the W&amp;S </a:t>
            </a:r>
            <a:r>
              <a:rPr lang="en-US" baseline="0" dirty="0" err="1" smtClean="0"/>
              <a:t>github</a:t>
            </a:r>
            <a:r>
              <a:rPr lang="en-US" baseline="0" dirty="0" smtClean="0"/>
              <a:t> page. It includes some utility software and projects we worked on. The source code and user guidelines can be found in each repository. On top of that, we also created a documentation of the AI of UTP Machines to combine our knowledge of AI and the experience gathered during operating the UTP machines. </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20</a:t>
            </a:fld>
            <a:endParaRPr lang="de-DE"/>
          </a:p>
        </p:txBody>
      </p:sp>
    </p:spTree>
    <p:extLst>
      <p:ext uri="{BB962C8B-B14F-4D97-AF65-F5344CB8AC3E}">
        <p14:creationId xmlns:p14="http://schemas.microsoft.com/office/powerpoint/2010/main" val="1276105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Next I want to talk about the current situation of AI</a:t>
            </a:r>
            <a:r>
              <a:rPr lang="en-US" baseline="0" dirty="0" smtClean="0"/>
              <a:t> in the company. Right now as far as I know, we are a small but dynamic team of 2 students that is located in the </a:t>
            </a:r>
            <a:r>
              <a:rPr lang="en-US" baseline="0" dirty="0" err="1" smtClean="0"/>
              <a:t>Automaten</a:t>
            </a:r>
            <a:r>
              <a:rPr lang="en-US" baseline="0" dirty="0" smtClean="0"/>
              <a:t> </a:t>
            </a:r>
            <a:r>
              <a:rPr lang="en-US" baseline="0" dirty="0" err="1" smtClean="0"/>
              <a:t>Kontrolle</a:t>
            </a:r>
            <a:r>
              <a:rPr lang="en-US" baseline="0" dirty="0" smtClean="0"/>
              <a:t> department. I would say we work in a free and creative working environment where we can brainstorm and come up with solutions all by ourselves. I am personally not against this idea but we sure are lacking organized project management standards and leadership, where someone could guide us on our decision making telling us this is a good idea, this idea is not feasible because of this and that reason. This will certainly boost our working efficiency. Also, a huge problem that we face is lack of admin rights to install packages, install software, access to hardware like camera. For example in Gary’s project, where he needs access to webcams to take photos for detection. However, camera access is blocked by the firewall therefore </a:t>
            </a:r>
            <a:r>
              <a:rPr lang="en-US" baseline="0" dirty="0" err="1" smtClean="0"/>
              <a:t>everytime</a:t>
            </a:r>
            <a:r>
              <a:rPr lang="en-US" baseline="0" dirty="0" smtClean="0"/>
              <a:t> he needs camera access he will have to make an appointment with the IT-</a:t>
            </a:r>
            <a:r>
              <a:rPr lang="en-US" baseline="0" dirty="0" err="1" smtClean="0"/>
              <a:t>Technik</a:t>
            </a:r>
            <a:r>
              <a:rPr lang="en-US" baseline="0" dirty="0" smtClean="0"/>
              <a:t>. And IT-</a:t>
            </a:r>
            <a:r>
              <a:rPr lang="en-US" baseline="0" dirty="0" err="1" smtClean="0"/>
              <a:t>Technik</a:t>
            </a:r>
            <a:r>
              <a:rPr lang="en-US" baseline="0" dirty="0" smtClean="0"/>
              <a:t> is also very busy, they cannot respond to our requests in a timely fashion. I want address the solution to these situations in the up coming slides.</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21</a:t>
            </a:fld>
            <a:endParaRPr lang="de-DE"/>
          </a:p>
        </p:txBody>
      </p:sp>
    </p:spTree>
    <p:extLst>
      <p:ext uri="{BB962C8B-B14F-4D97-AF65-F5344CB8AC3E}">
        <p14:creationId xmlns:p14="http://schemas.microsoft.com/office/powerpoint/2010/main" val="22643823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Now we</a:t>
            </a:r>
            <a:r>
              <a:rPr lang="en-US" baseline="0" dirty="0" smtClean="0"/>
              <a:t> have a general Idea of the current situation, and now I would like to talk about the strategic steps towards the future in my opinion. </a:t>
            </a:r>
          </a:p>
          <a:p>
            <a:r>
              <a:rPr lang="en-US" baseline="0" dirty="0" smtClean="0"/>
              <a:t>First I think, making the AI team as a sub-department under IT or as a stand-alone department would be a good idea. The most important thing is we should work closer with the IT department. Then we as a team can take projects from different departments. </a:t>
            </a:r>
            <a:br>
              <a:rPr lang="en-US" baseline="0" dirty="0" smtClean="0"/>
            </a:br>
            <a:r>
              <a:rPr lang="en-US" baseline="0" dirty="0" smtClean="0"/>
              <a:t>Second, I think it would be great we have a senior level AI-experienced leader to establish leadership and organizational structure. Where he/she can for example establish best practices, organize project management, communicate between different departments, and ensure what we are doing really align to company goals.</a:t>
            </a:r>
          </a:p>
          <a:p>
            <a:r>
              <a:rPr lang="en-US" baseline="0" dirty="0" smtClean="0"/>
              <a:t>And of course to grant necessary admin rights and provide access to essential tools. And I would like to discuss this topic further in the next slide.</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22</a:t>
            </a:fld>
            <a:endParaRPr lang="de-DE"/>
          </a:p>
        </p:txBody>
      </p:sp>
    </p:spTree>
    <p:extLst>
      <p:ext uri="{BB962C8B-B14F-4D97-AF65-F5344CB8AC3E}">
        <p14:creationId xmlns:p14="http://schemas.microsoft.com/office/powerpoint/2010/main" val="26047851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Regarding</a:t>
            </a:r>
            <a:r>
              <a:rPr lang="en-US" baseline="0" dirty="0" smtClean="0"/>
              <a:t> resource allocation and empowerment, first I would like to talk about the requirements from us. We need flexible software installation and access to essential tools. I want to emphasize the word Flexible here. Because for different project, we might need different software. And during development, trial and error is inevitable. So we cannot just tell IT that we need software 1234 then we are good forever.</a:t>
            </a:r>
          </a:p>
          <a:p>
            <a:endParaRPr lang="en-US" baseline="0" dirty="0" smtClean="0"/>
          </a:p>
          <a:p>
            <a:r>
              <a:rPr lang="en-US" baseline="0" dirty="0" smtClean="0"/>
              <a:t>Regarding the solution of this problem, IT-</a:t>
            </a:r>
            <a:r>
              <a:rPr lang="en-US" baseline="0" dirty="0" err="1" smtClean="0"/>
              <a:t>Technik</a:t>
            </a:r>
            <a:r>
              <a:rPr lang="en-US" baseline="0" dirty="0" smtClean="0"/>
              <a:t> suggests building workstations outside the network of the company so we can install anything without risking the network security. But there is a problem, for example in Gary’s Bachelor thesis, he will also need data from SAP, OCQ and so on. Working with a completely isolated working station will be hard for him. </a:t>
            </a:r>
            <a:br>
              <a:rPr lang="en-US" baseline="0" dirty="0" smtClean="0"/>
            </a:br>
            <a:r>
              <a:rPr lang="en-US" baseline="0" dirty="0" smtClean="0"/>
              <a:t/>
            </a:r>
            <a:br>
              <a:rPr lang="en-US" baseline="0" dirty="0" smtClean="0"/>
            </a:br>
            <a:r>
              <a:rPr lang="en-US" baseline="0" dirty="0" smtClean="0"/>
              <a:t>I am not sure if I makes sense, since I am not a network security guy, but maybe we can try using virtual machines or dual boot options to have access to company network and isolated working station.</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23</a:t>
            </a:fld>
            <a:endParaRPr lang="de-DE"/>
          </a:p>
        </p:txBody>
      </p:sp>
    </p:spTree>
    <p:extLst>
      <p:ext uri="{BB962C8B-B14F-4D97-AF65-F5344CB8AC3E}">
        <p14:creationId xmlns:p14="http://schemas.microsoft.com/office/powerpoint/2010/main" val="23559770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In the end I want to address some data</a:t>
            </a:r>
            <a:r>
              <a:rPr lang="en-US" baseline="0" dirty="0" smtClean="0"/>
              <a:t> storage challenges that we have right now.</a:t>
            </a:r>
            <a:br>
              <a:rPr lang="en-US" baseline="0" dirty="0" smtClean="0"/>
            </a:br>
            <a:r>
              <a:rPr lang="en-US" baseline="0" dirty="0" smtClean="0"/>
              <a:t/>
            </a:r>
            <a:br>
              <a:rPr lang="en-US" baseline="0" dirty="0" smtClean="0"/>
            </a:br>
            <a:r>
              <a:rPr lang="en-US" baseline="0" dirty="0" smtClean="0"/>
              <a:t>First of all, In our projects, we have a lot of defect and product images that we need to label. And we are currently using a online tool called </a:t>
            </a:r>
            <a:r>
              <a:rPr lang="en-US" baseline="0" dirty="0" err="1" smtClean="0"/>
              <a:t>roboflow</a:t>
            </a:r>
            <a:r>
              <a:rPr lang="en-US" baseline="0" dirty="0" smtClean="0"/>
              <a:t> for image annotation. It is a really great tool for everything we wanted and it is free. However, one problem is that our dataset will be publicly available. And making it private will cost around 250 euros per month. Right now our data is not very sensitive, they are just defective parts from our products. However, in the future we might encounter projects where we need to work with sensitive data. Then making it private should be considered.</a:t>
            </a:r>
          </a:p>
          <a:p>
            <a:endParaRPr lang="en-US" baseline="0" dirty="0" smtClean="0"/>
          </a:p>
          <a:p>
            <a:r>
              <a:rPr lang="en-US" baseline="0" dirty="0" smtClean="0"/>
              <a:t>And for experiment data, so basically the data from each AI training, they are currently store in a S3 bucket provided by </a:t>
            </a:r>
            <a:r>
              <a:rPr lang="en-US" baseline="0" dirty="0" err="1" smtClean="0"/>
              <a:t>Dagshub</a:t>
            </a:r>
            <a:r>
              <a:rPr lang="en-US" baseline="0" dirty="0" smtClean="0"/>
              <a:t>. It is consider safe there, but at the end of the day, it is still stored outside the company storage. If company thinks this is okay, we can continue this approach, or we will have to consider a different approach to this. Such as S3 bucket provide by the company or something similar.</a:t>
            </a:r>
            <a:br>
              <a:rPr lang="en-US" baseline="0" dirty="0" smtClean="0"/>
            </a:br>
            <a:r>
              <a:rPr lang="en-US" baseline="0" dirty="0" smtClean="0"/>
              <a:t/>
            </a:r>
            <a:br>
              <a:rPr lang="en-US" baseline="0" dirty="0" smtClean="0"/>
            </a:br>
            <a:r>
              <a:rPr lang="en-US" baseline="0" dirty="0" smtClean="0"/>
              <a:t>And I am asking this question on behalf of Gary: He has a project to detect rubber spring, and he is required to save pictures after every detection. Over time, the library will build up causing storage problem. And this is a problem we need to discuss what is more suitable for the company. Either we can have a super huge disk space or we need to think of cloud storage solution.</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24</a:t>
            </a:fld>
            <a:endParaRPr lang="de-DE"/>
          </a:p>
        </p:txBody>
      </p:sp>
    </p:spTree>
    <p:extLst>
      <p:ext uri="{BB962C8B-B14F-4D97-AF65-F5344CB8AC3E}">
        <p14:creationId xmlns:p14="http://schemas.microsoft.com/office/powerpoint/2010/main" val="3609703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261938" y="592138"/>
            <a:ext cx="4983162" cy="647700"/>
          </a:xfrm>
        </p:spPr>
        <p:txBody>
          <a:bodyPr/>
          <a:lstStyle/>
          <a:p>
            <a:r>
              <a:rPr lang="de-DE" smtClean="0"/>
              <a:t>Titelmasterformat durch Klicken bearbeiten</a:t>
            </a:r>
            <a:endParaRPr lang="de-DE"/>
          </a:p>
        </p:txBody>
      </p:sp>
      <p:sp>
        <p:nvSpPr>
          <p:cNvPr id="3" name="Inhaltsplatzhalter 2"/>
          <p:cNvSpPr>
            <a:spLocks noGrp="1"/>
          </p:cNvSpPr>
          <p:nvPr>
            <p:ph idx="1"/>
          </p:nvPr>
        </p:nvSpPr>
        <p:spPr>
          <a:xfrm>
            <a:off x="642938" y="2143125"/>
            <a:ext cx="7929562" cy="39830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smtClean="0"/>
              <a:t>Textmasterformate durch Klicken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DE" dirty="0"/>
          </a:p>
        </p:txBody>
      </p:sp>
      <p:sp>
        <p:nvSpPr>
          <p:cNvPr id="6" name="Rectangle 23"/>
          <p:cNvSpPr>
            <a:spLocks noGrp="1" noChangeArrowheads="1"/>
          </p:cNvSpPr>
          <p:nvPr>
            <p:ph type="sldNum" sz="quarter" idx="12"/>
          </p:nvPr>
        </p:nvSpPr>
        <p:spPr>
          <a:xfrm>
            <a:off x="8316416" y="6610350"/>
            <a:ext cx="560884" cy="247650"/>
          </a:xfrm>
          <a:ln/>
        </p:spPr>
        <p:txBody>
          <a:bodyPr/>
          <a:lstStyle>
            <a:lvl1pPr>
              <a:defRPr>
                <a:solidFill>
                  <a:schemeClr val="tx1"/>
                </a:solidFill>
              </a:defRPr>
            </a:lvl1pPr>
          </a:lstStyle>
          <a:p>
            <a:pPr>
              <a:defRPr/>
            </a:pPr>
            <a:fld id="{C929A957-B8AC-4276-BB5E-21B31F81D38B}" type="slidenum">
              <a:rPr lang="de-DE" smtClean="0"/>
              <a:pPr>
                <a:defRPr/>
              </a:pPr>
              <a:t>‹Nr.›</a:t>
            </a:fld>
            <a:endParaRPr lang="de-DE" dirty="0"/>
          </a:p>
        </p:txBody>
      </p:sp>
      <p:sp>
        <p:nvSpPr>
          <p:cNvPr id="7" name="Datumsplatzhalter 1"/>
          <p:cNvSpPr txBox="1">
            <a:spLocks/>
          </p:cNvSpPr>
          <p:nvPr userDrawn="1"/>
        </p:nvSpPr>
        <p:spPr bwMode="auto">
          <a:xfrm>
            <a:off x="144440" y="6633384"/>
            <a:ext cx="8388000" cy="25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de-DE"/>
            </a:defPPr>
            <a:lvl1pPr algn="l" rtl="0" fontAlgn="base">
              <a:spcBef>
                <a:spcPct val="50000"/>
              </a:spcBef>
              <a:spcAft>
                <a:spcPct val="0"/>
              </a:spcAft>
              <a:defRPr sz="900" kern="1200">
                <a:solidFill>
                  <a:srgbClr val="4D4D4D"/>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tab pos="88900" algn="l"/>
              </a:tabLst>
              <a:defRPr/>
            </a:pPr>
            <a:r>
              <a:rPr lang="de-DE" sz="700" dirty="0" smtClean="0"/>
              <a:t>© </a:t>
            </a:r>
            <a:r>
              <a:rPr lang="en-US" sz="700" dirty="0" smtClean="0"/>
              <a:t>Wallstabe &amp; Schneider GmbH &amp; Co. KG. All rights reserved, also regarding any disposal, exploitation, reproduction, editing, distribution as well as in the event of applications for the industrial property rights. </a:t>
            </a:r>
            <a:endParaRPr lang="de-DE"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7" name="Rectangle 43"/>
          <p:cNvSpPr>
            <a:spLocks noChangeArrowheads="1"/>
          </p:cNvSpPr>
          <p:nvPr userDrawn="1"/>
        </p:nvSpPr>
        <p:spPr bwMode="auto">
          <a:xfrm>
            <a:off x="0" y="673100"/>
            <a:ext cx="9144000" cy="412750"/>
          </a:xfrm>
          <a:prstGeom prst="rect">
            <a:avLst/>
          </a:prstGeom>
          <a:solidFill>
            <a:srgbClr val="009CDD"/>
          </a:solidFill>
          <a:ln w="9525">
            <a:noFill/>
            <a:miter lim="800000"/>
            <a:headEnd/>
            <a:tailEnd/>
          </a:ln>
          <a:effectLst/>
        </p:spPr>
        <p:txBody>
          <a:bodyPr wrap="none" anchor="ctr"/>
          <a:lstStyle/>
          <a:p>
            <a:pPr>
              <a:defRPr/>
            </a:pPr>
            <a:endParaRPr lang="de-DE"/>
          </a:p>
        </p:txBody>
      </p:sp>
      <p:sp>
        <p:nvSpPr>
          <p:cNvPr id="1066" name="Rectangle 42"/>
          <p:cNvSpPr>
            <a:spLocks noChangeArrowheads="1"/>
          </p:cNvSpPr>
          <p:nvPr userDrawn="1"/>
        </p:nvSpPr>
        <p:spPr bwMode="auto">
          <a:xfrm>
            <a:off x="0" y="6597650"/>
            <a:ext cx="9144000" cy="260350"/>
          </a:xfrm>
          <a:prstGeom prst="rect">
            <a:avLst/>
          </a:prstGeom>
          <a:solidFill>
            <a:srgbClr val="D0D1D6"/>
          </a:solidFill>
          <a:ln w="9525">
            <a:noFill/>
            <a:miter lim="800000"/>
            <a:headEnd/>
            <a:tailEnd/>
          </a:ln>
          <a:effectLst/>
        </p:spPr>
        <p:txBody>
          <a:bodyPr wrap="none" anchor="ctr"/>
          <a:lstStyle/>
          <a:p>
            <a:pPr>
              <a:defRPr/>
            </a:pPr>
            <a:endParaRPr lang="de-DE"/>
          </a:p>
        </p:txBody>
      </p:sp>
      <p:sp>
        <p:nvSpPr>
          <p:cNvPr id="1065" name="Rectangle 41"/>
          <p:cNvSpPr>
            <a:spLocks noChangeArrowheads="1"/>
          </p:cNvSpPr>
          <p:nvPr userDrawn="1"/>
        </p:nvSpPr>
        <p:spPr bwMode="auto">
          <a:xfrm>
            <a:off x="7451725" y="142875"/>
            <a:ext cx="1692275" cy="765175"/>
          </a:xfrm>
          <a:prstGeom prst="rect">
            <a:avLst/>
          </a:prstGeom>
          <a:solidFill>
            <a:srgbClr val="D0D1D6"/>
          </a:solidFill>
          <a:ln w="9525">
            <a:noFill/>
            <a:miter lim="800000"/>
            <a:headEnd/>
            <a:tailEnd/>
          </a:ln>
          <a:effectLst/>
        </p:spPr>
        <p:txBody>
          <a:bodyPr wrap="none" anchor="ctr"/>
          <a:lstStyle/>
          <a:p>
            <a:pPr>
              <a:defRPr/>
            </a:pPr>
            <a:endParaRPr lang="de-DE"/>
          </a:p>
        </p:txBody>
      </p:sp>
      <p:sp>
        <p:nvSpPr>
          <p:cNvPr id="1053" name="Rectangle 29"/>
          <p:cNvSpPr>
            <a:spLocks noChangeArrowheads="1"/>
          </p:cNvSpPr>
          <p:nvPr/>
        </p:nvSpPr>
        <p:spPr bwMode="auto">
          <a:xfrm>
            <a:off x="0" y="0"/>
            <a:ext cx="9144000" cy="765175"/>
          </a:xfrm>
          <a:prstGeom prst="rect">
            <a:avLst/>
          </a:prstGeom>
          <a:solidFill>
            <a:srgbClr val="D0D1D6"/>
          </a:solidFill>
          <a:ln w="9525">
            <a:noFill/>
            <a:miter lim="800000"/>
            <a:headEnd/>
            <a:tailEnd/>
          </a:ln>
          <a:effectLst/>
        </p:spPr>
        <p:txBody>
          <a:bodyPr wrap="none" anchor="ctr"/>
          <a:lstStyle/>
          <a:p>
            <a:pPr>
              <a:defRPr/>
            </a:pPr>
            <a:endParaRPr lang="de-DE"/>
          </a:p>
        </p:txBody>
      </p:sp>
      <p:sp>
        <p:nvSpPr>
          <p:cNvPr id="1031" name="Titelplatzhalter 1"/>
          <p:cNvSpPr>
            <a:spLocks noGrp="1"/>
          </p:cNvSpPr>
          <p:nvPr>
            <p:ph type="title"/>
          </p:nvPr>
        </p:nvSpPr>
        <p:spPr bwMode="auto">
          <a:xfrm>
            <a:off x="261938" y="592138"/>
            <a:ext cx="4983162" cy="6477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smtClean="0"/>
              <a:t>Titel</a:t>
            </a:r>
          </a:p>
        </p:txBody>
      </p:sp>
      <p:sp>
        <p:nvSpPr>
          <p:cNvPr id="1032" name="Textplatzhalter 2"/>
          <p:cNvSpPr>
            <a:spLocks noGrp="1"/>
          </p:cNvSpPr>
          <p:nvPr>
            <p:ph type="body" idx="1"/>
          </p:nvPr>
        </p:nvSpPr>
        <p:spPr bwMode="auto">
          <a:xfrm>
            <a:off x="642938" y="2143125"/>
            <a:ext cx="7929562" cy="39830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dirty="0" smtClean="0"/>
              <a:t>Textmasterformate durch Klicken bearbeiten</a:t>
            </a:r>
          </a:p>
          <a:p>
            <a:pPr lvl="1"/>
            <a:r>
              <a:rPr lang="de-DE" dirty="0" smtClean="0"/>
              <a:t>Zweite Ebene</a:t>
            </a:r>
          </a:p>
        </p:txBody>
      </p:sp>
      <p:sp>
        <p:nvSpPr>
          <p:cNvPr id="1047" name="Rectangle 23"/>
          <p:cNvSpPr>
            <a:spLocks noGrp="1" noChangeArrowheads="1"/>
          </p:cNvSpPr>
          <p:nvPr>
            <p:ph type="sldNum" sz="quarter" idx="4"/>
          </p:nvPr>
        </p:nvSpPr>
        <p:spPr bwMode="auto">
          <a:xfrm>
            <a:off x="8388424" y="6610350"/>
            <a:ext cx="488876" cy="27503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rgbClr val="4D4D4D"/>
                </a:solidFill>
              </a:defRPr>
            </a:lvl1pPr>
          </a:lstStyle>
          <a:p>
            <a:pPr>
              <a:defRPr/>
            </a:pPr>
            <a:fld id="{AEA732C0-0B01-4AC7-AE2B-4396A76CC6C4}" type="slidenum">
              <a:rPr lang="de-DE"/>
              <a:pPr>
                <a:defRPr/>
              </a:pPr>
              <a:t>‹Nr.›</a:t>
            </a:fld>
            <a:endParaRPr lang="de-DE"/>
          </a:p>
        </p:txBody>
      </p:sp>
      <p:sp>
        <p:nvSpPr>
          <p:cNvPr id="1060" name="AutoShape 36"/>
          <p:cNvSpPr>
            <a:spLocks noChangeArrowheads="1"/>
          </p:cNvSpPr>
          <p:nvPr/>
        </p:nvSpPr>
        <p:spPr bwMode="auto">
          <a:xfrm>
            <a:off x="7164388" y="98425"/>
            <a:ext cx="1979612" cy="809625"/>
          </a:xfrm>
          <a:prstGeom prst="roundRect">
            <a:avLst>
              <a:gd name="adj" fmla="val 34315"/>
            </a:avLst>
          </a:prstGeom>
          <a:solidFill>
            <a:srgbClr val="D0D1D6"/>
          </a:solidFill>
          <a:ln w="9525">
            <a:noFill/>
            <a:round/>
            <a:headEnd/>
            <a:tailEnd/>
          </a:ln>
          <a:effectLst/>
        </p:spPr>
        <p:txBody>
          <a:bodyPr wrap="none" anchor="ctr"/>
          <a:lstStyle/>
          <a:p>
            <a:pPr algn="ctr">
              <a:defRPr/>
            </a:pPr>
            <a:endParaRPr lang="de-DE">
              <a:solidFill>
                <a:srgbClr val="BCBEC4"/>
              </a:solidFill>
            </a:endParaRPr>
          </a:p>
        </p:txBody>
      </p:sp>
      <p:sp>
        <p:nvSpPr>
          <p:cNvPr id="12" name="Datumsplatzhalter 1"/>
          <p:cNvSpPr txBox="1">
            <a:spLocks/>
          </p:cNvSpPr>
          <p:nvPr userDrawn="1"/>
        </p:nvSpPr>
        <p:spPr bwMode="auto">
          <a:xfrm>
            <a:off x="144440" y="6633384"/>
            <a:ext cx="8388000" cy="25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de-DE"/>
            </a:defPPr>
            <a:lvl1pPr algn="l" rtl="0" fontAlgn="base">
              <a:spcBef>
                <a:spcPct val="50000"/>
              </a:spcBef>
              <a:spcAft>
                <a:spcPct val="0"/>
              </a:spcAft>
              <a:defRPr sz="900" kern="1200">
                <a:solidFill>
                  <a:srgbClr val="4D4D4D"/>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tab pos="88900" algn="l"/>
              </a:tabLst>
              <a:defRPr/>
            </a:pPr>
            <a:r>
              <a:rPr lang="de-DE" sz="700" dirty="0" smtClean="0"/>
              <a:t>© </a:t>
            </a:r>
            <a:r>
              <a:rPr lang="en-US" sz="700" dirty="0" smtClean="0"/>
              <a:t>Wallstabe &amp; Schneider GmbH &amp; Co. KG. All rights reserved, also regarding any disposal, exploitation, reproduction, editing, distribution as well as in the event of applications for the industrial property rights. </a:t>
            </a:r>
            <a:endParaRPr lang="de-DE" dirty="0"/>
          </a:p>
        </p:txBody>
      </p:sp>
      <p:pic>
        <p:nvPicPr>
          <p:cNvPr id="2" name="Grafik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44000" y="144000"/>
            <a:ext cx="1620000" cy="608061"/>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Lst>
  <p:hf hdr="0" ftr="0" dt="0"/>
  <p:txStyles>
    <p:titleStyle>
      <a:lvl1pPr algn="l" rtl="0" eaLnBrk="0" fontAlgn="base" hangingPunct="0">
        <a:spcBef>
          <a:spcPct val="0"/>
        </a:spcBef>
        <a:spcAft>
          <a:spcPct val="0"/>
        </a:spcAft>
        <a:defRPr sz="2000" b="1" kern="1200">
          <a:solidFill>
            <a:schemeClr val="bg1"/>
          </a:solidFill>
          <a:latin typeface="Arial" pitchFamily="34" charset="0"/>
          <a:ea typeface="+mj-ea"/>
          <a:cs typeface="Arial" pitchFamily="34" charset="0"/>
        </a:defRPr>
      </a:lvl1pPr>
      <a:lvl2pPr algn="l" rtl="0" eaLnBrk="0" fontAlgn="base" hangingPunct="0">
        <a:spcBef>
          <a:spcPct val="0"/>
        </a:spcBef>
        <a:spcAft>
          <a:spcPct val="0"/>
        </a:spcAft>
        <a:defRPr sz="2000" b="1">
          <a:solidFill>
            <a:schemeClr val="bg1"/>
          </a:solidFill>
          <a:latin typeface="Arial" charset="0"/>
          <a:cs typeface="Arial" charset="0"/>
        </a:defRPr>
      </a:lvl2pPr>
      <a:lvl3pPr algn="l" rtl="0" eaLnBrk="0" fontAlgn="base" hangingPunct="0">
        <a:spcBef>
          <a:spcPct val="0"/>
        </a:spcBef>
        <a:spcAft>
          <a:spcPct val="0"/>
        </a:spcAft>
        <a:defRPr sz="2000" b="1">
          <a:solidFill>
            <a:schemeClr val="bg1"/>
          </a:solidFill>
          <a:latin typeface="Arial" charset="0"/>
          <a:cs typeface="Arial" charset="0"/>
        </a:defRPr>
      </a:lvl3pPr>
      <a:lvl4pPr algn="l" rtl="0" eaLnBrk="0" fontAlgn="base" hangingPunct="0">
        <a:spcBef>
          <a:spcPct val="0"/>
        </a:spcBef>
        <a:spcAft>
          <a:spcPct val="0"/>
        </a:spcAft>
        <a:defRPr sz="2000" b="1">
          <a:solidFill>
            <a:schemeClr val="bg1"/>
          </a:solidFill>
          <a:latin typeface="Arial" charset="0"/>
          <a:cs typeface="Arial" charset="0"/>
        </a:defRPr>
      </a:lvl4pPr>
      <a:lvl5pPr algn="l" rtl="0" eaLnBrk="0" fontAlgn="base" hangingPunct="0">
        <a:spcBef>
          <a:spcPct val="0"/>
        </a:spcBef>
        <a:spcAft>
          <a:spcPct val="0"/>
        </a:spcAft>
        <a:defRPr sz="2000" b="1">
          <a:solidFill>
            <a:schemeClr val="bg1"/>
          </a:solidFill>
          <a:latin typeface="Arial" charset="0"/>
          <a:cs typeface="Arial" charset="0"/>
        </a:defRPr>
      </a:lvl5pPr>
      <a:lvl6pPr marL="457200" algn="l" rtl="0" fontAlgn="base">
        <a:spcBef>
          <a:spcPct val="0"/>
        </a:spcBef>
        <a:spcAft>
          <a:spcPct val="0"/>
        </a:spcAft>
        <a:defRPr sz="2000" b="1">
          <a:solidFill>
            <a:schemeClr val="bg1"/>
          </a:solidFill>
          <a:latin typeface="Arial" charset="0"/>
          <a:cs typeface="Arial" charset="0"/>
        </a:defRPr>
      </a:lvl6pPr>
      <a:lvl7pPr marL="914400" algn="l" rtl="0" fontAlgn="base">
        <a:spcBef>
          <a:spcPct val="0"/>
        </a:spcBef>
        <a:spcAft>
          <a:spcPct val="0"/>
        </a:spcAft>
        <a:defRPr sz="2000" b="1">
          <a:solidFill>
            <a:schemeClr val="bg1"/>
          </a:solidFill>
          <a:latin typeface="Arial" charset="0"/>
          <a:cs typeface="Arial" charset="0"/>
        </a:defRPr>
      </a:lvl7pPr>
      <a:lvl8pPr marL="1371600" algn="l" rtl="0" fontAlgn="base">
        <a:spcBef>
          <a:spcPct val="0"/>
        </a:spcBef>
        <a:spcAft>
          <a:spcPct val="0"/>
        </a:spcAft>
        <a:defRPr sz="2000" b="1">
          <a:solidFill>
            <a:schemeClr val="bg1"/>
          </a:solidFill>
          <a:latin typeface="Arial" charset="0"/>
          <a:cs typeface="Arial" charset="0"/>
        </a:defRPr>
      </a:lvl8pPr>
      <a:lvl9pPr marL="1828800" algn="l" rtl="0" fontAlgn="base">
        <a:spcBef>
          <a:spcPct val="0"/>
        </a:spcBef>
        <a:spcAft>
          <a:spcPct val="0"/>
        </a:spcAft>
        <a:defRPr sz="2000" b="1">
          <a:solidFill>
            <a:schemeClr val="bg1"/>
          </a:solidFill>
          <a:latin typeface="Arial" charset="0"/>
          <a:cs typeface="Arial" charset="0"/>
        </a:defRPr>
      </a:lvl9pPr>
    </p:titleStyle>
    <p:bodyStyle>
      <a:lvl1pPr marL="271463" indent="-271463" algn="l" rtl="0" eaLnBrk="0" fontAlgn="base" hangingPunct="0">
        <a:spcBef>
          <a:spcPct val="20000"/>
        </a:spcBef>
        <a:spcAft>
          <a:spcPct val="0"/>
        </a:spcAft>
        <a:buSzPct val="140000"/>
        <a:buBlip>
          <a:blip r:embed="rId4"/>
        </a:buBlip>
        <a:defRPr sz="16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SzPct val="140000"/>
        <a:buFont typeface="Arial" charset="0"/>
        <a:buBlip>
          <a:blip r:embed="rId5"/>
        </a:buBlip>
        <a:defRPr sz="16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rgbClr val="4D4D4D"/>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2000" kern="1200">
          <a:solidFill>
            <a:srgbClr val="4D4D4D"/>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2000" kern="1200">
          <a:solidFill>
            <a:srgbClr val="4D4D4D"/>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116000"/>
            <a:ext cx="9144000" cy="5485626"/>
          </a:xfrm>
          <a:prstGeom prst="rect">
            <a:avLst/>
          </a:prstGeom>
        </p:spPr>
      </p:pic>
      <p:sp>
        <p:nvSpPr>
          <p:cNvPr id="7" name="Textfeld 6"/>
          <p:cNvSpPr txBox="1"/>
          <p:nvPr/>
        </p:nvSpPr>
        <p:spPr>
          <a:xfrm>
            <a:off x="425084" y="5334888"/>
            <a:ext cx="4128660" cy="1046440"/>
          </a:xfrm>
          <a:prstGeom prst="rect">
            <a:avLst/>
          </a:prstGeom>
          <a:noFill/>
        </p:spPr>
        <p:txBody>
          <a:bodyPr wrap="square" rtlCol="0">
            <a:spAutoFit/>
          </a:bodyPr>
          <a:lstStyle/>
          <a:p>
            <a:pPr>
              <a:spcAft>
                <a:spcPts val="600"/>
              </a:spcAft>
            </a:pPr>
            <a:r>
              <a:rPr lang="de-DE" sz="2000" b="1" dirty="0" smtClean="0">
                <a:solidFill>
                  <a:schemeClr val="bg1"/>
                </a:solidFill>
              </a:rPr>
              <a:t>Thesis Progress Report</a:t>
            </a:r>
          </a:p>
          <a:p>
            <a:pPr>
              <a:spcAft>
                <a:spcPts val="600"/>
              </a:spcAft>
            </a:pPr>
            <a:r>
              <a:rPr lang="de-DE" sz="1600" dirty="0" err="1" smtClean="0">
                <a:solidFill>
                  <a:schemeClr val="bg1"/>
                </a:solidFill>
              </a:rPr>
              <a:t>Niederwinkling</a:t>
            </a:r>
            <a:r>
              <a:rPr lang="de-DE" sz="1600" dirty="0" smtClean="0">
                <a:solidFill>
                  <a:schemeClr val="bg1"/>
                </a:solidFill>
              </a:rPr>
              <a:t>, 29.02.24</a:t>
            </a:r>
            <a:endParaRPr lang="de-DE" sz="1600" dirty="0">
              <a:solidFill>
                <a:schemeClr val="bg1"/>
              </a:solidFill>
            </a:endParaRPr>
          </a:p>
          <a:p>
            <a:pPr>
              <a:spcAft>
                <a:spcPts val="600"/>
              </a:spcAft>
            </a:pPr>
            <a:r>
              <a:rPr lang="de-DE" sz="1600" dirty="0" smtClean="0">
                <a:solidFill>
                  <a:schemeClr val="bg1"/>
                </a:solidFill>
              </a:rPr>
              <a:t>Wen-Hao Wu</a:t>
            </a:r>
            <a:endParaRPr lang="de-DE" sz="1600" dirty="0">
              <a:solidFill>
                <a:schemeClr val="bg1"/>
              </a:solidFill>
            </a:endParaRPr>
          </a:p>
        </p:txBody>
      </p:sp>
      <p:sp>
        <p:nvSpPr>
          <p:cNvPr id="3" name="Foliennummernplatzhalter 2"/>
          <p:cNvSpPr>
            <a:spLocks noGrp="1"/>
          </p:cNvSpPr>
          <p:nvPr>
            <p:ph type="sldNum" sz="quarter" idx="12"/>
          </p:nvPr>
        </p:nvSpPr>
        <p:spPr/>
        <p:txBody>
          <a:bodyPr/>
          <a:lstStyle/>
          <a:p>
            <a:pPr>
              <a:defRPr/>
            </a:pPr>
            <a:fld id="{C929A957-B8AC-4276-BB5E-21B31F81D38B}" type="slidenum">
              <a:rPr lang="de-DE" smtClean="0"/>
              <a:pPr>
                <a:defRPr/>
              </a:pPr>
              <a:t>1</a:t>
            </a:fld>
            <a:endParaRPr lang="de-DE"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p:cNvSpPr>
          <p:nvPr>
            <p:ph type="title"/>
          </p:nvPr>
        </p:nvSpPr>
        <p:spPr/>
        <p:txBody>
          <a:bodyPr/>
          <a:lstStyle/>
          <a:p>
            <a:pPr eaLnBrk="1" hangingPunct="1"/>
            <a:r>
              <a:rPr lang="de-DE" dirty="0" smtClean="0">
                <a:latin typeface="Arial" charset="0"/>
                <a:cs typeface="Arial" charset="0"/>
              </a:rPr>
              <a:t>Agenda</a:t>
            </a:r>
          </a:p>
        </p:txBody>
      </p:sp>
      <p:sp>
        <p:nvSpPr>
          <p:cNvPr id="4101" name="Rectangle 3"/>
          <p:cNvSpPr>
            <a:spLocks noGrp="1"/>
          </p:cNvSpPr>
          <p:nvPr>
            <p:ph type="body" idx="1"/>
          </p:nvPr>
        </p:nvSpPr>
        <p:spPr/>
        <p:txBody>
          <a:bodyPr/>
          <a:lstStyle/>
          <a:p>
            <a:pPr eaLnBrk="1" hangingPunct="1">
              <a:lnSpc>
                <a:spcPct val="200000"/>
              </a:lnSpc>
            </a:pPr>
            <a:r>
              <a:rPr lang="de-DE" dirty="0" smtClean="0">
                <a:solidFill>
                  <a:schemeClr val="tx1"/>
                </a:solidFill>
                <a:latin typeface="Arial" charset="0"/>
                <a:cs typeface="Arial" charset="0"/>
              </a:rPr>
              <a:t>Thesis </a:t>
            </a:r>
            <a:r>
              <a:rPr lang="de-DE" dirty="0" smtClean="0">
                <a:latin typeface="Arial" charset="0"/>
                <a:cs typeface="Arial" charset="0"/>
              </a:rPr>
              <a:t>&amp; Project </a:t>
            </a:r>
            <a:r>
              <a:rPr lang="de-DE" dirty="0" smtClean="0">
                <a:solidFill>
                  <a:schemeClr val="tx1"/>
                </a:solidFill>
                <a:latin typeface="Arial" charset="0"/>
                <a:cs typeface="Arial" charset="0"/>
              </a:rPr>
              <a:t>Progress Report</a:t>
            </a:r>
          </a:p>
          <a:p>
            <a:pPr eaLnBrk="1" hangingPunct="1">
              <a:lnSpc>
                <a:spcPct val="200000"/>
              </a:lnSpc>
            </a:pPr>
            <a:r>
              <a:rPr lang="de-DE" dirty="0" smtClean="0">
                <a:solidFill>
                  <a:schemeClr val="tx1"/>
                </a:solidFill>
                <a:latin typeface="Arial" charset="0"/>
                <a:cs typeface="Arial" charset="0"/>
              </a:rPr>
              <a:t>The </a:t>
            </a:r>
            <a:r>
              <a:rPr lang="de-DE" dirty="0" err="1" smtClean="0">
                <a:solidFill>
                  <a:schemeClr val="tx1"/>
                </a:solidFill>
                <a:latin typeface="Arial" charset="0"/>
                <a:cs typeface="Arial" charset="0"/>
              </a:rPr>
              <a:t>Present</a:t>
            </a:r>
            <a:r>
              <a:rPr lang="de-DE" dirty="0" smtClean="0">
                <a:solidFill>
                  <a:schemeClr val="tx1"/>
                </a:solidFill>
                <a:latin typeface="Arial" charset="0"/>
                <a:cs typeface="Arial" charset="0"/>
              </a:rPr>
              <a:t> &amp; Future </a:t>
            </a:r>
            <a:r>
              <a:rPr lang="de-DE" dirty="0" err="1" smtClean="0">
                <a:solidFill>
                  <a:schemeClr val="tx1"/>
                </a:solidFill>
                <a:latin typeface="Arial" charset="0"/>
                <a:cs typeface="Arial" charset="0"/>
              </a:rPr>
              <a:t>of</a:t>
            </a:r>
            <a:r>
              <a:rPr lang="de-DE" dirty="0" smtClean="0">
                <a:solidFill>
                  <a:schemeClr val="tx1"/>
                </a:solidFill>
                <a:latin typeface="Arial" charset="0"/>
                <a:cs typeface="Arial" charset="0"/>
              </a:rPr>
              <a:t> AI in W&amp;S</a:t>
            </a: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2</a:t>
            </a:fld>
            <a:endParaRPr lang="de-DE"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dirty="0" smtClean="0">
                <a:solidFill>
                  <a:schemeClr val="tx1"/>
                </a:solidFill>
                <a:latin typeface="Arial" charset="0"/>
                <a:cs typeface="Arial" charset="0"/>
              </a:rPr>
              <a:t>I </a:t>
            </a:r>
            <a:r>
              <a:rPr lang="de-DE" dirty="0" err="1" smtClean="0">
                <a:solidFill>
                  <a:schemeClr val="tx1"/>
                </a:solidFill>
                <a:latin typeface="Arial" charset="0"/>
                <a:cs typeface="Arial" charset="0"/>
              </a:rPr>
              <a:t>want</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to</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create</a:t>
            </a:r>
            <a:r>
              <a:rPr lang="de-DE" dirty="0" smtClean="0">
                <a:solidFill>
                  <a:schemeClr val="tx1"/>
                </a:solidFill>
                <a:latin typeface="Arial" charset="0"/>
                <a:cs typeface="Arial" charset="0"/>
              </a:rPr>
              <a:t> an AI </a:t>
            </a:r>
            <a:r>
              <a:rPr lang="de-DE" dirty="0" err="1" smtClean="0">
                <a:solidFill>
                  <a:schemeClr val="tx1"/>
                </a:solidFill>
                <a:latin typeface="Arial" charset="0"/>
                <a:cs typeface="Arial" charset="0"/>
              </a:rPr>
              <a:t>that</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can</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detect</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defects</a:t>
            </a:r>
            <a:r>
              <a:rPr lang="de-DE" dirty="0" smtClean="0">
                <a:solidFill>
                  <a:schemeClr val="tx1"/>
                </a:solidFill>
                <a:latin typeface="Arial" charset="0"/>
                <a:cs typeface="Arial" charset="0"/>
              </a:rPr>
              <a:t> </a:t>
            </a:r>
            <a:r>
              <a:rPr lang="de-DE" b="1" dirty="0" smtClean="0">
                <a:solidFill>
                  <a:schemeClr val="tx1"/>
                </a:solidFill>
                <a:latin typeface="Arial" charset="0"/>
                <a:cs typeface="Arial" charset="0"/>
              </a:rPr>
              <a:t>„</a:t>
            </a:r>
            <a:r>
              <a:rPr lang="de-DE" b="1" dirty="0" err="1" smtClean="0">
                <a:solidFill>
                  <a:schemeClr val="tx1"/>
                </a:solidFill>
                <a:latin typeface="Arial" charset="0"/>
                <a:cs typeface="Arial" charset="0"/>
              </a:rPr>
              <a:t>better</a:t>
            </a:r>
            <a:r>
              <a:rPr lang="de-DE" b="1" dirty="0" smtClean="0">
                <a:solidFill>
                  <a:schemeClr val="tx1"/>
                </a:solidFill>
                <a:latin typeface="Arial" charset="0"/>
                <a:cs typeface="Arial" charset="0"/>
              </a:rPr>
              <a:t>“ </a:t>
            </a:r>
            <a:r>
              <a:rPr lang="de-DE" dirty="0" err="1" smtClean="0">
                <a:solidFill>
                  <a:schemeClr val="tx1"/>
                </a:solidFill>
                <a:latin typeface="Arial" charset="0"/>
                <a:cs typeface="Arial" charset="0"/>
              </a:rPr>
              <a:t>than</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the</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current</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inspection</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machines</a:t>
            </a:r>
            <a:endParaRPr lang="de-DE" dirty="0" smtClean="0">
              <a:solidFill>
                <a:schemeClr val="tx1"/>
              </a:solidFill>
              <a:latin typeface="Arial" charset="0"/>
              <a:cs typeface="Arial" charset="0"/>
            </a:endParaRPr>
          </a:p>
          <a:p>
            <a:pPr eaLnBrk="1" hangingPunct="1"/>
            <a:r>
              <a:rPr lang="de-DE" dirty="0" err="1" smtClean="0">
                <a:latin typeface="Arial" charset="0"/>
                <a:cs typeface="Arial" charset="0"/>
              </a:rPr>
              <a:t>What</a:t>
            </a:r>
            <a:r>
              <a:rPr lang="de-DE" dirty="0" smtClean="0">
                <a:latin typeface="Arial" charset="0"/>
                <a:cs typeface="Arial" charset="0"/>
              </a:rPr>
              <a:t> </a:t>
            </a:r>
            <a:r>
              <a:rPr lang="de-DE" dirty="0" err="1" smtClean="0">
                <a:latin typeface="Arial" charset="0"/>
                <a:cs typeface="Arial" charset="0"/>
              </a:rPr>
              <a:t>means</a:t>
            </a:r>
            <a:r>
              <a:rPr lang="de-DE" dirty="0" smtClean="0">
                <a:latin typeface="Arial" charset="0"/>
                <a:cs typeface="Arial" charset="0"/>
              </a:rPr>
              <a:t> </a:t>
            </a:r>
            <a:r>
              <a:rPr lang="de-DE" b="1" dirty="0" smtClean="0">
                <a:latin typeface="Arial" charset="0"/>
                <a:cs typeface="Arial" charset="0"/>
              </a:rPr>
              <a:t>„</a:t>
            </a:r>
            <a:r>
              <a:rPr lang="de-DE" b="1" dirty="0" err="1" smtClean="0">
                <a:latin typeface="Arial" charset="0"/>
                <a:cs typeface="Arial" charset="0"/>
              </a:rPr>
              <a:t>better</a:t>
            </a:r>
            <a:r>
              <a:rPr lang="de-DE" b="1" dirty="0" smtClean="0">
                <a:latin typeface="Arial" charset="0"/>
                <a:cs typeface="Arial" charset="0"/>
              </a:rPr>
              <a:t>“</a:t>
            </a:r>
            <a:r>
              <a:rPr lang="de-DE" dirty="0" smtClean="0">
                <a:latin typeface="Arial" charset="0"/>
                <a:cs typeface="Arial" charset="0"/>
              </a:rPr>
              <a:t>?</a:t>
            </a:r>
            <a:endParaRPr lang="de-DE" dirty="0" smtClean="0">
              <a:solidFill>
                <a:schemeClr val="tx1"/>
              </a:solidFill>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smtClean="0">
                <a:cs typeface="Arial" charset="0"/>
              </a:rPr>
              <a:t>Core </a:t>
            </a:r>
            <a:r>
              <a:rPr lang="de-DE" b="1" dirty="0" err="1" smtClean="0">
                <a:cs typeface="Arial" charset="0"/>
              </a:rPr>
              <a:t>Idea</a:t>
            </a:r>
            <a:r>
              <a:rPr lang="de-DE" b="1" dirty="0" smtClean="0">
                <a:cs typeface="Arial" charset="0"/>
              </a:rPr>
              <a:t> </a:t>
            </a:r>
            <a:r>
              <a:rPr lang="de-DE" b="1" dirty="0" err="1" smtClean="0">
                <a:cs typeface="Arial" charset="0"/>
              </a:rPr>
              <a:t>of</a:t>
            </a:r>
            <a:r>
              <a:rPr lang="de-DE" b="1" dirty="0" smtClean="0">
                <a:cs typeface="Arial" charset="0"/>
              </a:rPr>
              <a:t> </a:t>
            </a:r>
            <a:r>
              <a:rPr lang="de-DE" b="1" dirty="0" err="1" smtClean="0">
                <a:cs typeface="Arial" charset="0"/>
              </a:rPr>
              <a:t>my</a:t>
            </a:r>
            <a:r>
              <a:rPr lang="de-DE" b="1" dirty="0" smtClean="0">
                <a:cs typeface="Arial" charset="0"/>
              </a:rPr>
              <a:t> Thesis in </a:t>
            </a:r>
            <a:r>
              <a:rPr lang="de-DE" b="1" dirty="0" err="1" smtClean="0">
                <a:cs typeface="Arial" charset="0"/>
              </a:rPr>
              <a:t>one</a:t>
            </a:r>
            <a:r>
              <a:rPr lang="de-DE" b="1" dirty="0" smtClean="0">
                <a:cs typeface="Arial" charset="0"/>
              </a:rPr>
              <a:t> </a:t>
            </a:r>
            <a:r>
              <a:rPr lang="de-DE" b="1" dirty="0" err="1" smtClean="0">
                <a:cs typeface="Arial" charset="0"/>
              </a:rPr>
              <a:t>Sentence</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3</a:t>
            </a:fld>
            <a:endParaRPr lang="de-D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wd">
                                    <p:tmPct val="10000"/>
                                  </p:iterate>
                                  <p:childTnLst>
                                    <p:set>
                                      <p:cBhvr>
                                        <p:cTn id="11" dur="1" fill="hold">
                                          <p:stCondLst>
                                            <p:cond delay="0"/>
                                          </p:stCondLst>
                                        </p:cTn>
                                        <p:tgtEl>
                                          <p:spTgt spid="81923">
                                            <p:txEl>
                                              <p:pRg st="1" end="1"/>
                                            </p:txEl>
                                          </p:spTgt>
                                        </p:tgtEl>
                                        <p:attrNameLst>
                                          <p:attrName>style.visibility</p:attrName>
                                        </p:attrNameLst>
                                      </p:cBhvr>
                                      <p:to>
                                        <p:strVal val="visible"/>
                                      </p:to>
                                    </p:set>
                                    <p:animEffect transition="in" filter="dissolve">
                                      <p:cBhvr>
                                        <p:cTn id="12" dur="500"/>
                                        <p:tgtEl>
                                          <p:spTgt spid="819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dirty="0" smtClean="0">
                <a:latin typeface="Arial" charset="0"/>
                <a:cs typeface="Arial" charset="0"/>
              </a:rPr>
              <a:t>Thesis Report</a:t>
            </a:r>
          </a:p>
        </p:txBody>
      </p:sp>
      <p:sp>
        <p:nvSpPr>
          <p:cNvPr id="81923" name="Rectangle 3"/>
          <p:cNvSpPr>
            <a:spLocks noGrp="1"/>
          </p:cNvSpPr>
          <p:nvPr>
            <p:ph type="body" idx="1"/>
          </p:nvPr>
        </p:nvSpPr>
        <p:spPr>
          <a:xfrm>
            <a:off x="684213" y="2060575"/>
            <a:ext cx="3887787" cy="4464050"/>
          </a:xfrm>
        </p:spPr>
        <p:txBody>
          <a:bodyPr/>
          <a:lstStyle/>
          <a:p>
            <a:pPr eaLnBrk="1" hangingPunct="1"/>
            <a:r>
              <a:rPr lang="de-DE" b="1" dirty="0" smtClean="0">
                <a:latin typeface="Arial" charset="0"/>
                <a:cs typeface="Arial" charset="0"/>
              </a:rPr>
              <a:t>Higher </a:t>
            </a:r>
            <a:r>
              <a:rPr lang="de-DE" b="1" dirty="0" err="1" smtClean="0">
                <a:latin typeface="Arial" charset="0"/>
                <a:cs typeface="Arial" charset="0"/>
              </a:rPr>
              <a:t>Accuracy</a:t>
            </a:r>
            <a:endParaRPr lang="de-DE" b="1" dirty="0" smtClean="0">
              <a:latin typeface="Arial" charset="0"/>
              <a:cs typeface="Arial" charset="0"/>
            </a:endParaRPr>
          </a:p>
          <a:p>
            <a:pPr lvl="1" eaLnBrk="1" hangingPunct="1"/>
            <a:r>
              <a:rPr lang="de-DE" dirty="0" err="1">
                <a:latin typeface="Arial" charset="0"/>
                <a:cs typeface="Arial" charset="0"/>
              </a:rPr>
              <a:t>No</a:t>
            </a:r>
            <a:r>
              <a:rPr lang="de-DE" dirty="0">
                <a:latin typeface="Arial" charset="0"/>
                <a:cs typeface="Arial" charset="0"/>
              </a:rPr>
              <a:t> </a:t>
            </a:r>
            <a:r>
              <a:rPr lang="de-DE" dirty="0" err="1">
                <a:latin typeface="Arial" charset="0"/>
                <a:cs typeface="Arial" charset="0"/>
              </a:rPr>
              <a:t>Escaped</a:t>
            </a:r>
            <a:r>
              <a:rPr lang="de-DE" dirty="0">
                <a:latin typeface="Arial" charset="0"/>
                <a:cs typeface="Arial" charset="0"/>
              </a:rPr>
              <a:t> </a:t>
            </a:r>
            <a:r>
              <a:rPr lang="de-DE" dirty="0" err="1">
                <a:latin typeface="Arial" charset="0"/>
                <a:cs typeface="Arial" charset="0"/>
              </a:rPr>
              <a:t>Defect</a:t>
            </a:r>
            <a:r>
              <a:rPr lang="de-DE" dirty="0">
                <a:latin typeface="Arial" charset="0"/>
                <a:cs typeface="Arial" charset="0"/>
              </a:rPr>
              <a:t> (</a:t>
            </a:r>
            <a:r>
              <a:rPr lang="de-DE" dirty="0" err="1">
                <a:latin typeface="Arial" charset="0"/>
                <a:cs typeface="Arial" charset="0"/>
              </a:rPr>
              <a:t>priority</a:t>
            </a:r>
            <a:r>
              <a:rPr lang="de-DE" dirty="0" smtClean="0">
                <a:latin typeface="Arial" charset="0"/>
                <a:cs typeface="Arial" charset="0"/>
              </a:rPr>
              <a:t>)</a:t>
            </a:r>
          </a:p>
          <a:p>
            <a:pPr lvl="1" eaLnBrk="1" hangingPunct="1"/>
            <a:r>
              <a:rPr lang="de-DE" dirty="0" err="1" smtClean="0">
                <a:latin typeface="Arial" charset="0"/>
                <a:cs typeface="Arial" charset="0"/>
              </a:rPr>
              <a:t>Less</a:t>
            </a:r>
            <a:r>
              <a:rPr lang="de-DE" dirty="0" smtClean="0">
                <a:latin typeface="Arial" charset="0"/>
                <a:cs typeface="Arial" charset="0"/>
              </a:rPr>
              <a:t> Pseudo </a:t>
            </a:r>
            <a:r>
              <a:rPr lang="de-DE" dirty="0" err="1" smtClean="0">
                <a:latin typeface="Arial" charset="0"/>
                <a:cs typeface="Arial" charset="0"/>
              </a:rPr>
              <a:t>Scrap</a:t>
            </a:r>
            <a:endParaRPr lang="de-DE" dirty="0" smtClean="0">
              <a:latin typeface="Arial" charset="0"/>
              <a:cs typeface="Arial" charset="0"/>
            </a:endParaRPr>
          </a:p>
          <a:p>
            <a:pPr eaLnBrk="1" hangingPunct="1"/>
            <a:r>
              <a:rPr lang="de-DE" b="1" dirty="0" err="1" smtClean="0">
                <a:solidFill>
                  <a:schemeClr val="tx1"/>
                </a:solidFill>
                <a:latin typeface="Arial" charset="0"/>
                <a:cs typeface="Arial" charset="0"/>
              </a:rPr>
              <a:t>Faster</a:t>
            </a:r>
            <a:endParaRPr lang="de-DE" b="1" dirty="0" smtClean="0">
              <a:solidFill>
                <a:schemeClr val="tx1"/>
              </a:solidFill>
              <a:latin typeface="Arial" charset="0"/>
              <a:cs typeface="Arial" charset="0"/>
            </a:endParaRPr>
          </a:p>
          <a:p>
            <a:pPr lvl="1" eaLnBrk="1" hangingPunct="1"/>
            <a:r>
              <a:rPr lang="de-DE" dirty="0" err="1" smtClean="0">
                <a:latin typeface="Arial" charset="0"/>
                <a:cs typeface="Arial" charset="0"/>
              </a:rPr>
              <a:t>Without</a:t>
            </a:r>
            <a:r>
              <a:rPr lang="de-DE" dirty="0" smtClean="0">
                <a:latin typeface="Arial" charset="0"/>
                <a:cs typeface="Arial" charset="0"/>
              </a:rPr>
              <a:t> </a:t>
            </a:r>
            <a:r>
              <a:rPr lang="de-DE" dirty="0" err="1" smtClean="0">
                <a:latin typeface="Arial" charset="0"/>
                <a:cs typeface="Arial" charset="0"/>
              </a:rPr>
              <a:t>sacrificing</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a:t>
            </a:r>
            <a:r>
              <a:rPr lang="de-DE" dirty="0" err="1" smtClean="0">
                <a:latin typeface="Arial" charset="0"/>
                <a:cs typeface="Arial" charset="0"/>
              </a:rPr>
              <a:t>cost</a:t>
            </a:r>
            <a:r>
              <a:rPr lang="de-DE" dirty="0" smtClean="0">
                <a:latin typeface="Arial" charset="0"/>
                <a:cs typeface="Arial" charset="0"/>
              </a:rPr>
              <a:t> </a:t>
            </a:r>
            <a:r>
              <a:rPr lang="de-DE" dirty="0" err="1" smtClean="0">
                <a:latin typeface="Arial" charset="0"/>
                <a:cs typeface="Arial" charset="0"/>
              </a:rPr>
              <a:t>of</a:t>
            </a:r>
            <a:r>
              <a:rPr lang="de-DE" dirty="0" smtClean="0">
                <a:latin typeface="Arial" charset="0"/>
                <a:cs typeface="Arial" charset="0"/>
              </a:rPr>
              <a:t> high-end </a:t>
            </a:r>
            <a:r>
              <a:rPr lang="de-DE" dirty="0" err="1" smtClean="0">
                <a:latin typeface="Arial" charset="0"/>
                <a:cs typeface="Arial" charset="0"/>
              </a:rPr>
              <a:t>hardware</a:t>
            </a:r>
            <a:endParaRPr lang="de-DE" dirty="0" smtClean="0">
              <a:solidFill>
                <a:schemeClr val="tx1"/>
              </a:solidFill>
              <a:latin typeface="Arial" charset="0"/>
              <a:cs typeface="Arial" charset="0"/>
            </a:endParaRPr>
          </a:p>
          <a:p>
            <a:pPr eaLnBrk="1" hangingPunct="1"/>
            <a:r>
              <a:rPr lang="de-DE" b="1" dirty="0" smtClean="0">
                <a:latin typeface="Arial" charset="0"/>
                <a:cs typeface="Arial" charset="0"/>
              </a:rPr>
              <a:t>Robust</a:t>
            </a:r>
          </a:p>
          <a:p>
            <a:pPr lvl="1" eaLnBrk="1" hangingPunct="1"/>
            <a:r>
              <a:rPr lang="de-DE" dirty="0" err="1" smtClean="0">
                <a:solidFill>
                  <a:schemeClr val="tx1"/>
                </a:solidFill>
                <a:latin typeface="Arial" charset="0"/>
                <a:cs typeface="Arial" charset="0"/>
              </a:rPr>
              <a:t>Provide</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consistent</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results</a:t>
            </a:r>
            <a:endParaRPr lang="de-DE" dirty="0" smtClean="0">
              <a:solidFill>
                <a:schemeClr val="tx1"/>
              </a:solidFill>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means</a:t>
            </a:r>
            <a:r>
              <a:rPr lang="de-DE" b="1" dirty="0" smtClean="0">
                <a:cs typeface="Arial" charset="0"/>
              </a:rPr>
              <a:t> „</a:t>
            </a:r>
            <a:r>
              <a:rPr lang="de-DE" b="1" dirty="0" err="1" smtClean="0">
                <a:cs typeface="Arial" charset="0"/>
              </a:rPr>
              <a:t>Better</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4</a:t>
            </a:fld>
            <a:endParaRPr lang="de-DE" dirty="0"/>
          </a:p>
        </p:txBody>
      </p:sp>
      <p:pic>
        <p:nvPicPr>
          <p:cNvPr id="5" name="Grafik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4048" y="1989138"/>
            <a:ext cx="3770775" cy="3770775"/>
          </a:xfrm>
          <a:prstGeom prst="rect">
            <a:avLst/>
          </a:prstGeom>
        </p:spPr>
      </p:pic>
      <p:sp>
        <p:nvSpPr>
          <p:cNvPr id="6" name="Abgerundetes Rechteck 5"/>
          <p:cNvSpPr/>
          <p:nvPr/>
        </p:nvSpPr>
        <p:spPr>
          <a:xfrm>
            <a:off x="5724128" y="4437112"/>
            <a:ext cx="1080120" cy="360040"/>
          </a:xfrm>
          <a:prstGeom prst="roundRect">
            <a:avLst/>
          </a:prstGeom>
          <a:solidFill>
            <a:srgbClr val="F7BDBD"/>
          </a:solidFill>
          <a:ln>
            <a:solidFill>
              <a:srgbClr val="F6BE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rgbClr val="797E79"/>
                </a:solidFill>
              </a:rPr>
              <a:t>Pseudo Scrap</a:t>
            </a:r>
            <a:endParaRPr lang="en-US" sz="1200" dirty="0">
              <a:solidFill>
                <a:srgbClr val="797E79"/>
              </a:solidFill>
            </a:endParaRPr>
          </a:p>
        </p:txBody>
      </p:sp>
      <p:sp>
        <p:nvSpPr>
          <p:cNvPr id="10" name="Abgerundetes Rechteck 9"/>
          <p:cNvSpPr/>
          <p:nvPr/>
        </p:nvSpPr>
        <p:spPr>
          <a:xfrm>
            <a:off x="6948264" y="3226677"/>
            <a:ext cx="1080120" cy="431899"/>
          </a:xfrm>
          <a:prstGeom prst="roundRect">
            <a:avLst/>
          </a:prstGeom>
          <a:solidFill>
            <a:srgbClr val="F7BDBD"/>
          </a:solidFill>
          <a:ln>
            <a:solidFill>
              <a:srgbClr val="F6BE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solidFill>
                  <a:srgbClr val="797E79"/>
                </a:solidFill>
              </a:rPr>
              <a:t>Escaped Defect</a:t>
            </a:r>
            <a:endParaRPr lang="en-US" sz="1050" dirty="0">
              <a:solidFill>
                <a:srgbClr val="797E79"/>
              </a:solidFill>
            </a:endParaRPr>
          </a:p>
        </p:txBody>
      </p:sp>
      <p:sp>
        <p:nvSpPr>
          <p:cNvPr id="7" name="Rechteck 6"/>
          <p:cNvSpPr/>
          <p:nvPr/>
        </p:nvSpPr>
        <p:spPr>
          <a:xfrm>
            <a:off x="5724127" y="3287555"/>
            <a:ext cx="1080121" cy="373592"/>
          </a:xfrm>
          <a:prstGeom prst="rect">
            <a:avLst/>
          </a:prstGeom>
          <a:solidFill>
            <a:srgbClr val="C7EFC4"/>
          </a:solidFill>
          <a:ln>
            <a:solidFill>
              <a:srgbClr val="C7EF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rgbClr val="797E79"/>
                </a:solidFill>
              </a:rPr>
              <a:t>Correct Scrap</a:t>
            </a:r>
            <a:endParaRPr lang="en-US" sz="1200" dirty="0">
              <a:solidFill>
                <a:srgbClr val="797E79"/>
              </a:solidFill>
            </a:endParaRPr>
          </a:p>
        </p:txBody>
      </p:sp>
      <p:sp>
        <p:nvSpPr>
          <p:cNvPr id="12" name="Rechteck 11"/>
          <p:cNvSpPr/>
          <p:nvPr/>
        </p:nvSpPr>
        <p:spPr>
          <a:xfrm>
            <a:off x="6912097" y="4437112"/>
            <a:ext cx="1080120" cy="373592"/>
          </a:xfrm>
          <a:prstGeom prst="rect">
            <a:avLst/>
          </a:prstGeom>
          <a:solidFill>
            <a:srgbClr val="C7EFC4"/>
          </a:solidFill>
          <a:ln>
            <a:solidFill>
              <a:srgbClr val="C7EF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rgbClr val="797E79"/>
                </a:solidFill>
              </a:rPr>
              <a:t>Good Parts</a:t>
            </a:r>
            <a:endParaRPr lang="en-US" sz="1200" dirty="0">
              <a:solidFill>
                <a:srgbClr val="797E79"/>
              </a:solidFill>
            </a:endParaRPr>
          </a:p>
        </p:txBody>
      </p:sp>
      <p:sp>
        <p:nvSpPr>
          <p:cNvPr id="9" name="Rechteck 8"/>
          <p:cNvSpPr/>
          <p:nvPr/>
        </p:nvSpPr>
        <p:spPr>
          <a:xfrm>
            <a:off x="8172400" y="3068960"/>
            <a:ext cx="539897" cy="4053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797E79"/>
                </a:solidFill>
              </a:rPr>
              <a:t>KO</a:t>
            </a:r>
            <a:endParaRPr lang="en-US" dirty="0">
              <a:solidFill>
                <a:srgbClr val="797E79"/>
              </a:solidFill>
            </a:endParaRPr>
          </a:p>
        </p:txBody>
      </p:sp>
      <p:sp>
        <p:nvSpPr>
          <p:cNvPr id="15" name="Rechteck 14"/>
          <p:cNvSpPr/>
          <p:nvPr/>
        </p:nvSpPr>
        <p:spPr>
          <a:xfrm>
            <a:off x="8172400" y="4292600"/>
            <a:ext cx="539897" cy="4053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797E79"/>
                </a:solidFill>
              </a:rPr>
              <a:t>OK</a:t>
            </a:r>
            <a:endParaRPr lang="en-US" dirty="0">
              <a:solidFill>
                <a:srgbClr val="797E79"/>
              </a:solidFill>
            </a:endParaRPr>
          </a:p>
        </p:txBody>
      </p:sp>
      <p:sp>
        <p:nvSpPr>
          <p:cNvPr id="17" name="Rechteck 16"/>
          <p:cNvSpPr/>
          <p:nvPr/>
        </p:nvSpPr>
        <p:spPr>
          <a:xfrm>
            <a:off x="5962975" y="5156332"/>
            <a:ext cx="602423" cy="2170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797E79"/>
                </a:solidFill>
              </a:rPr>
              <a:t>KO</a:t>
            </a:r>
            <a:endParaRPr lang="en-US" dirty="0">
              <a:solidFill>
                <a:srgbClr val="797E79"/>
              </a:solidFill>
            </a:endParaRPr>
          </a:p>
        </p:txBody>
      </p:sp>
      <p:sp>
        <p:nvSpPr>
          <p:cNvPr id="19" name="Rechteck 18"/>
          <p:cNvSpPr/>
          <p:nvPr/>
        </p:nvSpPr>
        <p:spPr>
          <a:xfrm>
            <a:off x="7150945" y="5156332"/>
            <a:ext cx="602423" cy="2170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797E79"/>
                </a:solidFill>
              </a:rPr>
              <a:t>OK</a:t>
            </a:r>
            <a:endParaRPr lang="en-US" dirty="0">
              <a:solidFill>
                <a:srgbClr val="797E79"/>
              </a:solidFill>
            </a:endParaRPr>
          </a:p>
        </p:txBody>
      </p:sp>
    </p:spTree>
    <p:extLst>
      <p:ext uri="{BB962C8B-B14F-4D97-AF65-F5344CB8AC3E}">
        <p14:creationId xmlns:p14="http://schemas.microsoft.com/office/powerpoint/2010/main" val="334291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iterate type="wd">
                                    <p:tmPct val="10000"/>
                                  </p:iterate>
                                  <p:childTnLst>
                                    <p:set>
                                      <p:cBhvr>
                                        <p:cTn id="10" dur="1" fill="hold">
                                          <p:stCondLst>
                                            <p:cond delay="0"/>
                                          </p:stCondLst>
                                        </p:cTn>
                                        <p:tgtEl>
                                          <p:spTgt spid="81923">
                                            <p:txEl>
                                              <p:pRg st="0" end="0"/>
                                            </p:txEl>
                                          </p:spTgt>
                                        </p:tgtEl>
                                        <p:attrNameLst>
                                          <p:attrName>style.visibility</p:attrName>
                                        </p:attrNameLst>
                                      </p:cBhvr>
                                      <p:to>
                                        <p:strVal val="visible"/>
                                      </p:to>
                                    </p:set>
                                    <p:animEffect transition="in" filter="dissolve">
                                      <p:cBhvr>
                                        <p:cTn id="11" dur="500"/>
                                        <p:tgtEl>
                                          <p:spTgt spid="81923">
                                            <p:txEl>
                                              <p:pRg st="0" end="0"/>
                                            </p:txEl>
                                          </p:spTgt>
                                        </p:tgtEl>
                                      </p:cBhvr>
                                    </p:animEffect>
                                  </p:childTnLst>
                                </p:cTn>
                              </p:par>
                              <p:par>
                                <p:cTn id="12" presetID="9" presetClass="entr" presetSubtype="0" fill="hold" grpId="0" nodeType="withEffect">
                                  <p:stCondLst>
                                    <p:cond delay="0"/>
                                  </p:stCondLst>
                                  <p:iterate type="wd">
                                    <p:tmPct val="10000"/>
                                  </p:iterate>
                                  <p:childTnLst>
                                    <p:set>
                                      <p:cBhvr>
                                        <p:cTn id="13" dur="1" fill="hold">
                                          <p:stCondLst>
                                            <p:cond delay="0"/>
                                          </p:stCondLst>
                                        </p:cTn>
                                        <p:tgtEl>
                                          <p:spTgt spid="81923">
                                            <p:txEl>
                                              <p:pRg st="1" end="1"/>
                                            </p:txEl>
                                          </p:spTgt>
                                        </p:tgtEl>
                                        <p:attrNameLst>
                                          <p:attrName>style.visibility</p:attrName>
                                        </p:attrNameLst>
                                      </p:cBhvr>
                                      <p:to>
                                        <p:strVal val="visible"/>
                                      </p:to>
                                    </p:set>
                                    <p:animEffect transition="in" filter="dissolve">
                                      <p:cBhvr>
                                        <p:cTn id="14" dur="500"/>
                                        <p:tgtEl>
                                          <p:spTgt spid="81923">
                                            <p:txEl>
                                              <p:pRg st="1" end="1"/>
                                            </p:txEl>
                                          </p:spTgt>
                                        </p:tgtEl>
                                      </p:cBhvr>
                                    </p:animEffect>
                                  </p:childTnLst>
                                </p:cTn>
                              </p:par>
                              <p:par>
                                <p:cTn id="15" presetID="9" presetClass="entr" presetSubtype="0" fill="hold" grpId="0" nodeType="withEffect">
                                  <p:stCondLst>
                                    <p:cond delay="0"/>
                                  </p:stCondLst>
                                  <p:iterate type="wd">
                                    <p:tmPct val="10000"/>
                                  </p:iterate>
                                  <p:childTnLst>
                                    <p:set>
                                      <p:cBhvr>
                                        <p:cTn id="16" dur="1" fill="hold">
                                          <p:stCondLst>
                                            <p:cond delay="0"/>
                                          </p:stCondLst>
                                        </p:cTn>
                                        <p:tgtEl>
                                          <p:spTgt spid="81923">
                                            <p:txEl>
                                              <p:pRg st="2" end="2"/>
                                            </p:txEl>
                                          </p:spTgt>
                                        </p:tgtEl>
                                        <p:attrNameLst>
                                          <p:attrName>style.visibility</p:attrName>
                                        </p:attrNameLst>
                                      </p:cBhvr>
                                      <p:to>
                                        <p:strVal val="visible"/>
                                      </p:to>
                                    </p:set>
                                    <p:animEffect transition="in" filter="dissolve">
                                      <p:cBhvr>
                                        <p:cTn id="17" dur="500"/>
                                        <p:tgtEl>
                                          <p:spTgt spid="819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iterate type="wd">
                                    <p:tmPct val="10000"/>
                                  </p:iterate>
                                  <p:childTnLst>
                                    <p:set>
                                      <p:cBhvr>
                                        <p:cTn id="21" dur="1" fill="hold">
                                          <p:stCondLst>
                                            <p:cond delay="0"/>
                                          </p:stCondLst>
                                        </p:cTn>
                                        <p:tgtEl>
                                          <p:spTgt spid="81923">
                                            <p:txEl>
                                              <p:pRg st="3" end="3"/>
                                            </p:txEl>
                                          </p:spTgt>
                                        </p:tgtEl>
                                        <p:attrNameLst>
                                          <p:attrName>style.visibility</p:attrName>
                                        </p:attrNameLst>
                                      </p:cBhvr>
                                      <p:to>
                                        <p:strVal val="visible"/>
                                      </p:to>
                                    </p:set>
                                    <p:animEffect transition="in" filter="dissolve">
                                      <p:cBhvr>
                                        <p:cTn id="22" dur="500"/>
                                        <p:tgtEl>
                                          <p:spTgt spid="81923">
                                            <p:txEl>
                                              <p:pRg st="3" end="3"/>
                                            </p:txEl>
                                          </p:spTgt>
                                        </p:tgtEl>
                                      </p:cBhvr>
                                    </p:animEffect>
                                  </p:childTnLst>
                                </p:cTn>
                              </p:par>
                              <p:par>
                                <p:cTn id="23" presetID="9" presetClass="entr" presetSubtype="0" fill="hold" grpId="0" nodeType="withEffect">
                                  <p:stCondLst>
                                    <p:cond delay="0"/>
                                  </p:stCondLst>
                                  <p:iterate type="wd">
                                    <p:tmPct val="10000"/>
                                  </p:iterate>
                                  <p:childTnLst>
                                    <p:set>
                                      <p:cBhvr>
                                        <p:cTn id="24" dur="1" fill="hold">
                                          <p:stCondLst>
                                            <p:cond delay="0"/>
                                          </p:stCondLst>
                                        </p:cTn>
                                        <p:tgtEl>
                                          <p:spTgt spid="81923">
                                            <p:txEl>
                                              <p:pRg st="4" end="4"/>
                                            </p:txEl>
                                          </p:spTgt>
                                        </p:tgtEl>
                                        <p:attrNameLst>
                                          <p:attrName>style.visibility</p:attrName>
                                        </p:attrNameLst>
                                      </p:cBhvr>
                                      <p:to>
                                        <p:strVal val="visible"/>
                                      </p:to>
                                    </p:set>
                                    <p:animEffect transition="in" filter="dissolve">
                                      <p:cBhvr>
                                        <p:cTn id="25" dur="500"/>
                                        <p:tgtEl>
                                          <p:spTgt spid="8192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iterate type="wd">
                                    <p:tmPct val="10000"/>
                                  </p:iterate>
                                  <p:childTnLst>
                                    <p:set>
                                      <p:cBhvr>
                                        <p:cTn id="29" dur="1" fill="hold">
                                          <p:stCondLst>
                                            <p:cond delay="0"/>
                                          </p:stCondLst>
                                        </p:cTn>
                                        <p:tgtEl>
                                          <p:spTgt spid="81923">
                                            <p:txEl>
                                              <p:pRg st="5" end="5"/>
                                            </p:txEl>
                                          </p:spTgt>
                                        </p:tgtEl>
                                        <p:attrNameLst>
                                          <p:attrName>style.visibility</p:attrName>
                                        </p:attrNameLst>
                                      </p:cBhvr>
                                      <p:to>
                                        <p:strVal val="visible"/>
                                      </p:to>
                                    </p:set>
                                    <p:animEffect transition="in" filter="dissolve">
                                      <p:cBhvr>
                                        <p:cTn id="30" dur="500"/>
                                        <p:tgtEl>
                                          <p:spTgt spid="81923">
                                            <p:txEl>
                                              <p:pRg st="5" end="5"/>
                                            </p:txEl>
                                          </p:spTgt>
                                        </p:tgtEl>
                                      </p:cBhvr>
                                    </p:animEffect>
                                  </p:childTnLst>
                                </p:cTn>
                              </p:par>
                              <p:par>
                                <p:cTn id="31" presetID="9" presetClass="entr" presetSubtype="0" fill="hold" grpId="0" nodeType="withEffect">
                                  <p:stCondLst>
                                    <p:cond delay="0"/>
                                  </p:stCondLst>
                                  <p:iterate type="wd">
                                    <p:tmPct val="10000"/>
                                  </p:iterate>
                                  <p:childTnLst>
                                    <p:set>
                                      <p:cBhvr>
                                        <p:cTn id="32" dur="1" fill="hold">
                                          <p:stCondLst>
                                            <p:cond delay="0"/>
                                          </p:stCondLst>
                                        </p:cTn>
                                        <p:tgtEl>
                                          <p:spTgt spid="81923">
                                            <p:txEl>
                                              <p:pRg st="6" end="6"/>
                                            </p:txEl>
                                          </p:spTgt>
                                        </p:tgtEl>
                                        <p:attrNameLst>
                                          <p:attrName>style.visibility</p:attrName>
                                        </p:attrNameLst>
                                      </p:cBhvr>
                                      <p:to>
                                        <p:strVal val="visible"/>
                                      </p:to>
                                    </p:set>
                                    <p:animEffect transition="in" filter="dissolve">
                                      <p:cBhvr>
                                        <p:cTn id="33" dur="500"/>
                                        <p:tgtEl>
                                          <p:spTgt spid="819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79562" y="2996952"/>
            <a:ext cx="3782987" cy="4464050"/>
          </a:xfrm>
        </p:spPr>
        <p:txBody>
          <a:bodyPr/>
          <a:lstStyle/>
          <a:p>
            <a:pPr eaLnBrk="1" hangingPunct="1"/>
            <a:r>
              <a:rPr lang="de-DE" dirty="0" err="1" smtClean="0">
                <a:latin typeface="Arial" charset="0"/>
                <a:cs typeface="Arial" charset="0"/>
              </a:rPr>
              <a:t>Comparison</a:t>
            </a:r>
            <a:r>
              <a:rPr lang="de-DE" dirty="0" smtClean="0">
                <a:latin typeface="Arial" charset="0"/>
                <a:cs typeface="Arial" charset="0"/>
              </a:rPr>
              <a:t> </a:t>
            </a:r>
            <a:r>
              <a:rPr lang="de-DE" dirty="0" err="1" smtClean="0">
                <a:latin typeface="Arial" charset="0"/>
                <a:cs typeface="Arial" charset="0"/>
              </a:rPr>
              <a:t>of</a:t>
            </a:r>
            <a:r>
              <a:rPr lang="de-DE" dirty="0" smtClean="0">
                <a:latin typeface="Arial" charset="0"/>
                <a:cs typeface="Arial" charset="0"/>
              </a:rPr>
              <a:t> 2 different DL </a:t>
            </a:r>
            <a:r>
              <a:rPr lang="de-DE" dirty="0" err="1" smtClean="0">
                <a:latin typeface="Arial" charset="0"/>
                <a:cs typeface="Arial" charset="0"/>
              </a:rPr>
              <a:t>models</a:t>
            </a:r>
            <a:endParaRPr lang="de-DE" dirty="0" smtClean="0">
              <a:latin typeface="Arial" charset="0"/>
              <a:cs typeface="Arial" charset="0"/>
            </a:endParaRPr>
          </a:p>
          <a:p>
            <a:pPr eaLnBrk="1" hangingPunct="1"/>
            <a:r>
              <a:rPr lang="de-DE" dirty="0" smtClean="0">
                <a:latin typeface="Arial" charset="0"/>
                <a:cs typeface="Arial" charset="0"/>
              </a:rPr>
              <a:t>YOLOv8 </a:t>
            </a:r>
            <a:r>
              <a:rPr lang="de-DE" dirty="0" err="1" smtClean="0">
                <a:latin typeface="Arial" charset="0"/>
                <a:cs typeface="Arial" charset="0"/>
              </a:rPr>
              <a:t>overall</a:t>
            </a:r>
            <a:r>
              <a:rPr lang="de-DE" dirty="0" smtClean="0">
                <a:latin typeface="Arial" charset="0"/>
                <a:cs typeface="Arial" charset="0"/>
              </a:rPr>
              <a:t> </a:t>
            </a:r>
            <a:r>
              <a:rPr lang="de-DE" dirty="0" err="1" smtClean="0">
                <a:latin typeface="Arial" charset="0"/>
                <a:cs typeface="Arial" charset="0"/>
              </a:rPr>
              <a:t>superior</a:t>
            </a:r>
            <a:endParaRPr lang="de-DE" dirty="0" smtClean="0">
              <a:solidFill>
                <a:schemeClr val="tx1"/>
              </a:solidFill>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My</a:t>
            </a:r>
            <a:r>
              <a:rPr lang="de-DE" b="1" dirty="0" smtClean="0">
                <a:cs typeface="Arial" charset="0"/>
              </a:rPr>
              <a:t> Approach </a:t>
            </a:r>
            <a:r>
              <a:rPr lang="de-DE" b="1" dirty="0" err="1" smtClean="0">
                <a:cs typeface="Arial" charset="0"/>
              </a:rPr>
              <a:t>to</a:t>
            </a:r>
            <a:r>
              <a:rPr lang="de-DE" b="1" dirty="0" smtClean="0">
                <a:cs typeface="Arial" charset="0"/>
              </a:rPr>
              <a:t> </a:t>
            </a:r>
            <a:r>
              <a:rPr lang="de-DE" b="1" dirty="0" err="1" smtClean="0">
                <a:cs typeface="Arial" charset="0"/>
              </a:rPr>
              <a:t>achieve</a:t>
            </a:r>
            <a:r>
              <a:rPr lang="de-DE" b="1" dirty="0" smtClean="0">
                <a:cs typeface="Arial" charset="0"/>
              </a:rPr>
              <a:t> „</a:t>
            </a:r>
            <a:r>
              <a:rPr lang="de-DE" b="1" dirty="0" err="1" smtClean="0">
                <a:cs typeface="Arial" charset="0"/>
              </a:rPr>
              <a:t>more</a:t>
            </a:r>
            <a:r>
              <a:rPr lang="de-DE" b="1" dirty="0" smtClean="0">
                <a:cs typeface="Arial" charset="0"/>
              </a:rPr>
              <a:t> </a:t>
            </a:r>
            <a:r>
              <a:rPr lang="de-DE" b="1" dirty="0" err="1" smtClean="0">
                <a:cs typeface="Arial" charset="0"/>
              </a:rPr>
              <a:t>Accurate</a:t>
            </a:r>
            <a:r>
              <a:rPr lang="de-DE" b="1" dirty="0" smtClean="0">
                <a:cs typeface="Arial" charset="0"/>
              </a:rPr>
              <a:t> </a:t>
            </a:r>
            <a:r>
              <a:rPr lang="de-DE" b="1" dirty="0" err="1" smtClean="0">
                <a:cs typeface="Arial" charset="0"/>
              </a:rPr>
              <a:t>and</a:t>
            </a:r>
            <a:r>
              <a:rPr lang="de-DE" b="1" dirty="0" smtClean="0">
                <a:cs typeface="Arial" charset="0"/>
              </a:rPr>
              <a:t> </a:t>
            </a:r>
            <a:r>
              <a:rPr lang="de-DE" b="1" dirty="0" err="1" smtClean="0">
                <a:cs typeface="Arial" charset="0"/>
              </a:rPr>
              <a:t>more</a:t>
            </a:r>
            <a:r>
              <a:rPr lang="de-DE" b="1" dirty="0" smtClean="0">
                <a:cs typeface="Arial" charset="0"/>
              </a:rPr>
              <a:t> Robust“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5</a:t>
            </a:fld>
            <a:endParaRPr lang="de-DE" dirty="0"/>
          </a:p>
        </p:txBody>
      </p:sp>
      <p:pic>
        <p:nvPicPr>
          <p:cNvPr id="3" name="Grafik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32975" y="2107360"/>
            <a:ext cx="4102100" cy="4102100"/>
          </a:xfrm>
          <a:prstGeom prst="rect">
            <a:avLst/>
          </a:prstGeom>
        </p:spPr>
      </p:pic>
    </p:spTree>
    <p:extLst>
      <p:ext uri="{BB962C8B-B14F-4D97-AF65-F5344CB8AC3E}">
        <p14:creationId xmlns:p14="http://schemas.microsoft.com/office/powerpoint/2010/main" val="139582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wd">
                                    <p:tmPct val="10000"/>
                                  </p:iterate>
                                  <p:childTnLst>
                                    <p:set>
                                      <p:cBhvr>
                                        <p:cTn id="11" dur="1" fill="hold">
                                          <p:stCondLst>
                                            <p:cond delay="0"/>
                                          </p:stCondLst>
                                        </p:cTn>
                                        <p:tgtEl>
                                          <p:spTgt spid="81923">
                                            <p:txEl>
                                              <p:pRg st="1" end="1"/>
                                            </p:txEl>
                                          </p:spTgt>
                                        </p:tgtEl>
                                        <p:attrNameLst>
                                          <p:attrName>style.visibility</p:attrName>
                                        </p:attrNameLst>
                                      </p:cBhvr>
                                      <p:to>
                                        <p:strVal val="visible"/>
                                      </p:to>
                                    </p:set>
                                    <p:animEffect transition="in" filter="dissolve">
                                      <p:cBhvr>
                                        <p:cTn id="12" dur="500"/>
                                        <p:tgtEl>
                                          <p:spTgt spid="819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dirty="0" err="1" smtClean="0">
                <a:solidFill>
                  <a:schemeClr val="tx1"/>
                </a:solidFill>
                <a:latin typeface="Arial" charset="0"/>
                <a:cs typeface="Arial" charset="0"/>
              </a:rPr>
              <a:t>Many</a:t>
            </a:r>
            <a:r>
              <a:rPr lang="de-DE" dirty="0" smtClean="0">
                <a:solidFill>
                  <a:schemeClr val="tx1"/>
                </a:solidFill>
                <a:latin typeface="Arial" charset="0"/>
                <a:cs typeface="Arial" charset="0"/>
              </a:rPr>
              <a:t> different </a:t>
            </a:r>
            <a:r>
              <a:rPr lang="de-DE" dirty="0" err="1" smtClean="0">
                <a:solidFill>
                  <a:schemeClr val="tx1"/>
                </a:solidFill>
                <a:latin typeface="Arial" charset="0"/>
                <a:cs typeface="Arial" charset="0"/>
              </a:rPr>
              <a:t>algorithms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and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deep</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learning</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models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were</a:t>
            </a:r>
            <a:r>
              <a:rPr lang="de-DE" dirty="0" smtClean="0">
                <a:solidFill>
                  <a:schemeClr val="tx1"/>
                </a:solidFill>
                <a:latin typeface="Arial" charset="0"/>
                <a:cs typeface="Arial" charset="0"/>
              </a:rPr>
              <a:t> </a:t>
            </a:r>
            <a:r>
              <a:rPr lang="de-DE" b="1" dirty="0" err="1" smtClean="0">
                <a:solidFill>
                  <a:schemeClr val="tx1"/>
                </a:solidFill>
                <a:latin typeface="Arial" charset="0"/>
                <a:cs typeface="Arial" charset="0"/>
              </a:rPr>
              <a:t>researched</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and</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tested</a:t>
            </a:r>
            <a:endParaRPr lang="de-DE" b="1" dirty="0" smtClean="0">
              <a:solidFill>
                <a:schemeClr val="tx1"/>
              </a:solidFill>
              <a:latin typeface="Arial" charset="0"/>
              <a:cs typeface="Arial" charset="0"/>
            </a:endParaRPr>
          </a:p>
          <a:p>
            <a:pPr eaLnBrk="1" hangingPunct="1"/>
            <a:r>
              <a:rPr lang="de-DE" dirty="0" smtClean="0">
                <a:latin typeface="Arial" charset="0"/>
                <a:cs typeface="Arial" charset="0"/>
              </a:rPr>
              <a:t>As a </a:t>
            </a:r>
            <a:r>
              <a:rPr lang="de-DE" dirty="0" err="1" smtClean="0">
                <a:latin typeface="Arial" charset="0"/>
                <a:cs typeface="Arial" charset="0"/>
              </a:rPr>
              <a:t>result</a:t>
            </a:r>
            <a:r>
              <a:rPr lang="de-DE" dirty="0" smtClean="0">
                <a:latin typeface="Arial" charset="0"/>
                <a:cs typeface="Arial" charset="0"/>
              </a:rPr>
              <a:t>, a </a:t>
            </a:r>
            <a:r>
              <a:rPr lang="de-DE" dirty="0" err="1" smtClean="0">
                <a:latin typeface="Arial" charset="0"/>
                <a:cs typeface="Arial" charset="0"/>
              </a:rPr>
              <a:t>collection</a:t>
            </a:r>
            <a:r>
              <a:rPr lang="de-DE" dirty="0" smtClean="0">
                <a:latin typeface="Arial" charset="0"/>
                <a:cs typeface="Arial" charset="0"/>
              </a:rPr>
              <a:t> </a:t>
            </a:r>
            <a:r>
              <a:rPr lang="de-DE" dirty="0" err="1" smtClean="0">
                <a:latin typeface="Arial" charset="0"/>
                <a:cs typeface="Arial" charset="0"/>
              </a:rPr>
              <a:t>of</a:t>
            </a:r>
            <a:r>
              <a:rPr lang="de-DE" dirty="0" smtClean="0">
                <a:latin typeface="Arial" charset="0"/>
                <a:cs typeface="Arial" charset="0"/>
              </a:rPr>
              <a:t> open-</a:t>
            </a:r>
            <a:r>
              <a:rPr lang="de-DE" dirty="0" err="1" smtClean="0">
                <a:latin typeface="Arial" charset="0"/>
                <a:cs typeface="Arial" charset="0"/>
              </a:rPr>
              <a:t>source</a:t>
            </a:r>
            <a:r>
              <a:rPr lang="de-DE" dirty="0" smtClean="0">
                <a:latin typeface="Arial" charset="0"/>
                <a:cs typeface="Arial" charset="0"/>
              </a:rPr>
              <a:t> </a:t>
            </a:r>
            <a:r>
              <a:rPr lang="de-DE" dirty="0" err="1" smtClean="0">
                <a:latin typeface="Arial" charset="0"/>
                <a:cs typeface="Arial" charset="0"/>
              </a:rPr>
              <a:t>deep</a:t>
            </a:r>
            <a:r>
              <a:rPr lang="de-DE" dirty="0" smtClean="0">
                <a:latin typeface="Arial" charset="0"/>
                <a:cs typeface="Arial" charset="0"/>
              </a:rPr>
              <a:t> </a:t>
            </a:r>
            <a:r>
              <a:rPr lang="de-DE" dirty="0" err="1" smtClean="0">
                <a:latin typeface="Arial" charset="0"/>
                <a:cs typeface="Arial" charset="0"/>
              </a:rPr>
              <a:t>learning</a:t>
            </a:r>
            <a:r>
              <a:rPr lang="de-DE" dirty="0" smtClean="0">
                <a:latin typeface="Arial" charset="0"/>
                <a:cs typeface="Arial" charset="0"/>
              </a:rPr>
              <a:t> AI </a:t>
            </a:r>
            <a:r>
              <a:rPr lang="de-DE" dirty="0" err="1" smtClean="0">
                <a:latin typeface="Arial" charset="0"/>
                <a:cs typeface="Arial" charset="0"/>
              </a:rPr>
              <a:t>models</a:t>
            </a:r>
            <a:r>
              <a:rPr lang="de-DE" dirty="0" smtClean="0">
                <a:latin typeface="Arial" charset="0"/>
                <a:cs typeface="Arial" charset="0"/>
              </a:rPr>
              <a:t> </a:t>
            </a:r>
            <a:r>
              <a:rPr lang="de-DE" dirty="0" err="1" smtClean="0">
                <a:latin typeface="Arial" charset="0"/>
                <a:cs typeface="Arial" charset="0"/>
              </a:rPr>
              <a:t>called</a:t>
            </a:r>
            <a:r>
              <a:rPr lang="de-DE" dirty="0" smtClean="0">
                <a:latin typeface="Arial" charset="0"/>
                <a:cs typeface="Arial" charset="0"/>
              </a:rPr>
              <a:t> </a:t>
            </a:r>
            <a:r>
              <a:rPr lang="de-DE" b="1" dirty="0" smtClean="0">
                <a:latin typeface="Arial" charset="0"/>
                <a:cs typeface="Arial" charset="0"/>
              </a:rPr>
              <a:t>YOLOv8</a:t>
            </a:r>
            <a:r>
              <a:rPr lang="de-DE" dirty="0" smtClean="0">
                <a:latin typeface="Arial" charset="0"/>
                <a:cs typeface="Arial" charset="0"/>
              </a:rPr>
              <a:t> </a:t>
            </a:r>
            <a:r>
              <a:rPr lang="de-DE" dirty="0" err="1" smtClean="0">
                <a:latin typeface="Arial" charset="0"/>
                <a:cs typeface="Arial" charset="0"/>
              </a:rPr>
              <a:t>are</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a:t>
            </a:r>
            <a:r>
              <a:rPr lang="de-DE" b="1" dirty="0" smtClean="0">
                <a:latin typeface="Arial" charset="0"/>
                <a:cs typeface="Arial" charset="0"/>
              </a:rPr>
              <a:t>best-</a:t>
            </a:r>
            <a:r>
              <a:rPr lang="de-DE" b="1" dirty="0" err="1" smtClean="0">
                <a:latin typeface="Arial" charset="0"/>
                <a:cs typeface="Arial" charset="0"/>
              </a:rPr>
              <a:t>performing</a:t>
            </a:r>
            <a:r>
              <a:rPr lang="de-DE" dirty="0" smtClean="0">
                <a:latin typeface="Arial" charset="0"/>
                <a:cs typeface="Arial" charset="0"/>
              </a:rPr>
              <a:t> </a:t>
            </a:r>
            <a:r>
              <a:rPr lang="de-DE" dirty="0" err="1" smtClean="0">
                <a:latin typeface="Arial" charset="0"/>
                <a:cs typeface="Arial" charset="0"/>
              </a:rPr>
              <a:t>ones</a:t>
            </a:r>
            <a:endParaRPr lang="de-DE" dirty="0" smtClean="0">
              <a:latin typeface="Arial" charset="0"/>
              <a:cs typeface="Arial" charset="0"/>
            </a:endParaRPr>
          </a:p>
          <a:p>
            <a:pPr eaLnBrk="1" hangingPunct="1"/>
            <a:r>
              <a:rPr lang="de-DE" dirty="0" smtClean="0">
                <a:solidFill>
                  <a:schemeClr val="tx1"/>
                </a:solidFill>
                <a:latin typeface="Arial" charset="0"/>
                <a:cs typeface="Arial" charset="0"/>
              </a:rPr>
              <a:t>YOLOv8 </a:t>
            </a:r>
            <a:r>
              <a:rPr lang="de-DE" dirty="0" err="1" smtClean="0">
                <a:solidFill>
                  <a:schemeClr val="tx1"/>
                </a:solidFill>
                <a:latin typeface="Arial" charset="0"/>
                <a:cs typeface="Arial" charset="0"/>
              </a:rPr>
              <a:t>models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are</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tested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and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documented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to</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be</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more</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accurate</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and</a:t>
            </a:r>
            <a:r>
              <a:rPr lang="de-DE" dirty="0" smtClean="0">
                <a:solidFill>
                  <a:schemeClr val="tx1"/>
                </a:solidFill>
                <a:latin typeface="Arial" charset="0"/>
                <a:cs typeface="Arial" charset="0"/>
              </a:rPr>
              <a:t> robust</a:t>
            </a: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My</a:t>
            </a:r>
            <a:r>
              <a:rPr lang="de-DE" b="1" dirty="0" smtClean="0">
                <a:cs typeface="Arial" charset="0"/>
              </a:rPr>
              <a:t> Approach </a:t>
            </a:r>
            <a:r>
              <a:rPr lang="de-DE" b="1" dirty="0" err="1" smtClean="0">
                <a:cs typeface="Arial" charset="0"/>
              </a:rPr>
              <a:t>to</a:t>
            </a:r>
            <a:r>
              <a:rPr lang="de-DE" b="1" dirty="0" smtClean="0">
                <a:cs typeface="Arial" charset="0"/>
              </a:rPr>
              <a:t> </a:t>
            </a:r>
            <a:r>
              <a:rPr lang="de-DE" b="1" dirty="0" err="1" smtClean="0">
                <a:cs typeface="Arial" charset="0"/>
              </a:rPr>
              <a:t>achieve</a:t>
            </a:r>
            <a:r>
              <a:rPr lang="de-DE" b="1" dirty="0" smtClean="0">
                <a:cs typeface="Arial" charset="0"/>
              </a:rPr>
              <a:t> „</a:t>
            </a:r>
            <a:r>
              <a:rPr lang="de-DE" b="1" dirty="0" err="1" smtClean="0">
                <a:cs typeface="Arial" charset="0"/>
              </a:rPr>
              <a:t>more</a:t>
            </a:r>
            <a:r>
              <a:rPr lang="de-DE" b="1" dirty="0" smtClean="0">
                <a:cs typeface="Arial" charset="0"/>
              </a:rPr>
              <a:t> </a:t>
            </a:r>
            <a:r>
              <a:rPr lang="de-DE" b="1" dirty="0" err="1" smtClean="0">
                <a:cs typeface="Arial" charset="0"/>
              </a:rPr>
              <a:t>Accurate</a:t>
            </a:r>
            <a:r>
              <a:rPr lang="de-DE" b="1" dirty="0" smtClean="0">
                <a:cs typeface="Arial" charset="0"/>
              </a:rPr>
              <a:t> </a:t>
            </a:r>
            <a:r>
              <a:rPr lang="de-DE" b="1" dirty="0" err="1" smtClean="0">
                <a:cs typeface="Arial" charset="0"/>
              </a:rPr>
              <a:t>and</a:t>
            </a:r>
            <a:r>
              <a:rPr lang="de-DE" b="1" dirty="0" smtClean="0">
                <a:cs typeface="Arial" charset="0"/>
              </a:rPr>
              <a:t> </a:t>
            </a:r>
            <a:r>
              <a:rPr lang="de-DE" b="1" dirty="0" err="1" smtClean="0">
                <a:cs typeface="Arial" charset="0"/>
              </a:rPr>
              <a:t>more</a:t>
            </a:r>
            <a:r>
              <a:rPr lang="de-DE" b="1" dirty="0" smtClean="0">
                <a:cs typeface="Arial" charset="0"/>
              </a:rPr>
              <a:t> Robust“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6</a:t>
            </a:fld>
            <a:endParaRPr lang="de-DE" dirty="0"/>
          </a:p>
        </p:txBody>
      </p:sp>
    </p:spTree>
    <p:extLst>
      <p:ext uri="{BB962C8B-B14F-4D97-AF65-F5344CB8AC3E}">
        <p14:creationId xmlns:p14="http://schemas.microsoft.com/office/powerpoint/2010/main" val="4089427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wd">
                                    <p:tmPct val="10000"/>
                                  </p:iterate>
                                  <p:childTnLst>
                                    <p:set>
                                      <p:cBhvr>
                                        <p:cTn id="11" dur="1" fill="hold">
                                          <p:stCondLst>
                                            <p:cond delay="0"/>
                                          </p:stCondLst>
                                        </p:cTn>
                                        <p:tgtEl>
                                          <p:spTgt spid="81923">
                                            <p:txEl>
                                              <p:pRg st="1" end="1"/>
                                            </p:txEl>
                                          </p:spTgt>
                                        </p:tgtEl>
                                        <p:attrNameLst>
                                          <p:attrName>style.visibility</p:attrName>
                                        </p:attrNameLst>
                                      </p:cBhvr>
                                      <p:to>
                                        <p:strVal val="visible"/>
                                      </p:to>
                                    </p:set>
                                    <p:animEffect transition="in" filter="dissolve">
                                      <p:cBhvr>
                                        <p:cTn id="12" dur="500"/>
                                        <p:tgtEl>
                                          <p:spTgt spid="819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iterate type="wd">
                                    <p:tmPct val="10000"/>
                                  </p:iterate>
                                  <p:childTnLst>
                                    <p:set>
                                      <p:cBhvr>
                                        <p:cTn id="16" dur="1" fill="hold">
                                          <p:stCondLst>
                                            <p:cond delay="0"/>
                                          </p:stCondLst>
                                        </p:cTn>
                                        <p:tgtEl>
                                          <p:spTgt spid="81923">
                                            <p:txEl>
                                              <p:pRg st="2" end="2"/>
                                            </p:txEl>
                                          </p:spTgt>
                                        </p:tgtEl>
                                        <p:attrNameLst>
                                          <p:attrName>style.visibility</p:attrName>
                                        </p:attrNameLst>
                                      </p:cBhvr>
                                      <p:to>
                                        <p:strVal val="visible"/>
                                      </p:to>
                                    </p:set>
                                    <p:animEffect transition="in" filter="dissolve">
                                      <p:cBhvr>
                                        <p:cTn id="17" dur="500"/>
                                        <p:tgtEl>
                                          <p:spTgt spid="819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4560887" cy="4464050"/>
          </a:xfrm>
        </p:spPr>
        <p:txBody>
          <a:bodyPr/>
          <a:lstStyle/>
          <a:p>
            <a:pPr eaLnBrk="1" hangingPunct="1"/>
            <a:r>
              <a:rPr lang="de-DE" dirty="0" err="1" smtClean="0">
                <a:solidFill>
                  <a:schemeClr val="tx1"/>
                </a:solidFill>
                <a:latin typeface="Arial" charset="0"/>
                <a:cs typeface="Arial" charset="0"/>
              </a:rPr>
              <a:t>Detection</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using</a:t>
            </a:r>
            <a:r>
              <a:rPr lang="de-DE" dirty="0" smtClean="0">
                <a:solidFill>
                  <a:schemeClr val="tx1"/>
                </a:solidFill>
                <a:latin typeface="Arial" charset="0"/>
                <a:cs typeface="Arial" charset="0"/>
              </a:rPr>
              <a:t> a GPU </a:t>
            </a:r>
            <a:r>
              <a:rPr lang="de-DE" dirty="0" err="1" smtClean="0">
                <a:solidFill>
                  <a:schemeClr val="tx1"/>
                </a:solidFill>
                <a:latin typeface="Arial" charset="0"/>
                <a:cs typeface="Arial" charset="0"/>
              </a:rPr>
              <a:t>is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always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faster</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than</a:t>
            </a:r>
            <a:r>
              <a:rPr lang="de-DE" dirty="0" smtClean="0">
                <a:solidFill>
                  <a:schemeClr val="tx1"/>
                </a:solidFill>
                <a:latin typeface="Arial" charset="0"/>
                <a:cs typeface="Arial" charset="0"/>
              </a:rPr>
              <a:t> a CPU</a:t>
            </a:r>
          </a:p>
          <a:p>
            <a:pPr eaLnBrk="1" hangingPunct="1"/>
            <a:r>
              <a:rPr lang="de-DE" dirty="0" smtClean="0">
                <a:latin typeface="Arial" charset="0"/>
                <a:cs typeface="Arial" charset="0"/>
              </a:rPr>
              <a:t>GPUs </a:t>
            </a:r>
            <a:r>
              <a:rPr lang="de-DE" dirty="0" err="1" smtClean="0">
                <a:latin typeface="Arial" charset="0"/>
                <a:cs typeface="Arial" charset="0"/>
              </a:rPr>
              <a:t>are</a:t>
            </a:r>
            <a:r>
              <a:rPr lang="de-DE" dirty="0" smtClean="0">
                <a:latin typeface="Arial" charset="0"/>
                <a:cs typeface="Arial" charset="0"/>
              </a:rPr>
              <a:t> </a:t>
            </a:r>
            <a:r>
              <a:rPr lang="de-DE" dirty="0" err="1" smtClean="0">
                <a:latin typeface="Arial" charset="0"/>
                <a:cs typeface="Arial" charset="0"/>
              </a:rPr>
              <a:t>costly</a:t>
            </a:r>
            <a:r>
              <a:rPr lang="de-DE" dirty="0" smtClean="0">
                <a:latin typeface="Arial" charset="0"/>
                <a:cs typeface="Arial" charset="0"/>
              </a:rPr>
              <a:t> </a:t>
            </a:r>
            <a:r>
              <a:rPr lang="de-DE" dirty="0" err="1" smtClean="0">
                <a:latin typeface="Arial" charset="0"/>
                <a:cs typeface="Arial" charset="0"/>
              </a:rPr>
              <a:t>and</a:t>
            </a:r>
            <a:r>
              <a:rPr lang="de-DE" dirty="0" smtClean="0">
                <a:latin typeface="Arial" charset="0"/>
                <a:cs typeface="Arial" charset="0"/>
              </a:rPr>
              <a:t> CPUs </a:t>
            </a:r>
            <a:r>
              <a:rPr lang="de-DE" dirty="0" err="1" smtClean="0">
                <a:latin typeface="Arial" charset="0"/>
                <a:cs typeface="Arial" charset="0"/>
              </a:rPr>
              <a:t>are</a:t>
            </a:r>
            <a:r>
              <a:rPr lang="de-DE" dirty="0" smtClean="0">
                <a:latin typeface="Arial" charset="0"/>
                <a:cs typeface="Arial" charset="0"/>
              </a:rPr>
              <a:t> </a:t>
            </a:r>
            <a:r>
              <a:rPr lang="de-DE" dirty="0" err="1" smtClean="0">
                <a:latin typeface="Arial" charset="0"/>
                <a:cs typeface="Arial" charset="0"/>
              </a:rPr>
              <a:t>cheap</a:t>
            </a:r>
            <a:endParaRPr lang="de-DE" dirty="0" smtClean="0">
              <a:latin typeface="Arial" charset="0"/>
              <a:cs typeface="Arial" charset="0"/>
            </a:endParaRPr>
          </a:p>
          <a:p>
            <a:pPr eaLnBrk="1" hangingPunct="1"/>
            <a:r>
              <a:rPr lang="de-DE" dirty="0" smtClean="0">
                <a:latin typeface="Arial" charset="0"/>
                <a:cs typeface="Arial" charset="0"/>
              </a:rPr>
              <a:t>The real </a:t>
            </a:r>
            <a:r>
              <a:rPr lang="de-DE" dirty="0" err="1" smtClean="0">
                <a:latin typeface="Arial" charset="0"/>
                <a:cs typeface="Arial" charset="0"/>
              </a:rPr>
              <a:t>question</a:t>
            </a:r>
            <a:r>
              <a:rPr lang="de-DE" dirty="0" smtClean="0">
                <a:latin typeface="Arial" charset="0"/>
                <a:cs typeface="Arial" charset="0"/>
              </a:rPr>
              <a:t> </a:t>
            </a:r>
            <a:r>
              <a:rPr lang="de-DE" dirty="0" err="1" smtClean="0">
                <a:latin typeface="Arial" charset="0"/>
                <a:cs typeface="Arial" charset="0"/>
              </a:rPr>
              <a:t>is</a:t>
            </a:r>
            <a:r>
              <a:rPr lang="de-DE" dirty="0" smtClean="0">
                <a:latin typeface="Arial" charset="0"/>
                <a:cs typeface="Arial" charset="0"/>
              </a:rPr>
              <a:t>: </a:t>
            </a:r>
            <a:r>
              <a:rPr lang="de-DE" dirty="0" err="1" smtClean="0">
                <a:latin typeface="Arial" charset="0"/>
                <a:cs typeface="Arial" charset="0"/>
              </a:rPr>
              <a:t>How</a:t>
            </a:r>
            <a:r>
              <a:rPr lang="de-DE" dirty="0" smtClean="0">
                <a:latin typeface="Arial" charset="0"/>
                <a:cs typeface="Arial" charset="0"/>
              </a:rPr>
              <a:t> </a:t>
            </a:r>
            <a:r>
              <a:rPr lang="de-DE" dirty="0" err="1" smtClean="0">
                <a:latin typeface="Arial" charset="0"/>
                <a:cs typeface="Arial" charset="0"/>
              </a:rPr>
              <a:t>to</a:t>
            </a:r>
            <a:r>
              <a:rPr lang="de-DE" dirty="0" smtClean="0">
                <a:latin typeface="Arial" charset="0"/>
                <a:cs typeface="Arial" charset="0"/>
              </a:rPr>
              <a:t> </a:t>
            </a:r>
            <a:r>
              <a:rPr lang="de-DE" dirty="0" err="1" smtClean="0">
                <a:latin typeface="Arial" charset="0"/>
                <a:cs typeface="Arial" charset="0"/>
              </a:rPr>
              <a:t>detect</a:t>
            </a:r>
            <a:r>
              <a:rPr lang="de-DE" dirty="0" smtClean="0">
                <a:latin typeface="Arial" charset="0"/>
                <a:cs typeface="Arial" charset="0"/>
              </a:rPr>
              <a:t> </a:t>
            </a:r>
            <a:r>
              <a:rPr lang="de-DE" dirty="0" err="1" smtClean="0">
                <a:latin typeface="Arial" charset="0"/>
                <a:cs typeface="Arial" charset="0"/>
              </a:rPr>
              <a:t>faster</a:t>
            </a:r>
            <a:r>
              <a:rPr lang="de-DE" dirty="0" smtClean="0">
                <a:latin typeface="Arial" charset="0"/>
                <a:cs typeface="Arial" charset="0"/>
              </a:rPr>
              <a:t> on a CPU?</a:t>
            </a:r>
          </a:p>
          <a:p>
            <a:pPr eaLnBrk="1" hangingPunct="1"/>
            <a:r>
              <a:rPr lang="de-DE" dirty="0" smtClean="0">
                <a:solidFill>
                  <a:schemeClr val="tx1"/>
                </a:solidFill>
                <a:latin typeface="Arial" charset="0"/>
                <a:cs typeface="Arial" charset="0"/>
              </a:rPr>
              <a:t>Solution: </a:t>
            </a:r>
            <a:r>
              <a:rPr lang="de-DE" dirty="0" err="1" smtClean="0">
                <a:solidFill>
                  <a:schemeClr val="tx1"/>
                </a:solidFill>
                <a:latin typeface="Arial" charset="0"/>
                <a:cs typeface="Arial" charset="0"/>
              </a:rPr>
              <a:t>Convert</a:t>
            </a:r>
            <a:r>
              <a:rPr lang="de-DE" dirty="0" smtClean="0">
                <a:solidFill>
                  <a:schemeClr val="tx1"/>
                </a:solidFill>
                <a:latin typeface="Arial" charset="0"/>
                <a:cs typeface="Arial" charset="0"/>
              </a:rPr>
              <a:t> YOLOv8 </a:t>
            </a:r>
            <a:r>
              <a:rPr lang="de-DE" dirty="0" err="1" smtClean="0">
                <a:solidFill>
                  <a:schemeClr val="tx1"/>
                </a:solidFill>
                <a:latin typeface="Arial" charset="0"/>
                <a:cs typeface="Arial" charset="0"/>
              </a:rPr>
              <a:t>model</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to</a:t>
            </a:r>
            <a:r>
              <a:rPr lang="de-DE" dirty="0" smtClean="0">
                <a:solidFill>
                  <a:schemeClr val="tx1"/>
                </a:solidFill>
                <a:latin typeface="Arial" charset="0"/>
                <a:cs typeface="Arial" charset="0"/>
              </a:rPr>
              <a:t> </a:t>
            </a:r>
            <a:r>
              <a:rPr lang="de-DE" b="1" dirty="0" smtClean="0">
                <a:solidFill>
                  <a:schemeClr val="tx1"/>
                </a:solidFill>
                <a:latin typeface="Arial" charset="0"/>
                <a:cs typeface="Arial" charset="0"/>
              </a:rPr>
              <a:t>ONNX</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format</a:t>
            </a:r>
            <a:r>
              <a:rPr lang="de-DE" dirty="0" smtClean="0">
                <a:solidFill>
                  <a:schemeClr val="tx1"/>
                </a:solidFill>
                <a:latin typeface="Arial" charset="0"/>
                <a:cs typeface="Arial" charset="0"/>
              </a:rPr>
              <a:t> (open-</a:t>
            </a:r>
            <a:r>
              <a:rPr lang="de-DE" dirty="0" err="1" smtClean="0">
                <a:solidFill>
                  <a:schemeClr val="tx1"/>
                </a:solidFill>
                <a:latin typeface="Arial" charset="0"/>
                <a:cs typeface="Arial" charset="0"/>
              </a:rPr>
              <a:t>sourced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by</a:t>
            </a:r>
            <a:r>
              <a:rPr lang="de-DE" dirty="0" smtClean="0">
                <a:solidFill>
                  <a:schemeClr val="tx1"/>
                </a:solidFill>
                <a:latin typeface="Arial" charset="0"/>
                <a:cs typeface="Arial" charset="0"/>
              </a:rPr>
              <a:t> Microsoft)</a:t>
            </a:r>
          </a:p>
          <a:p>
            <a:pPr eaLnBrk="1" hangingPunct="1"/>
            <a:r>
              <a:rPr lang="de-DE" dirty="0" err="1" smtClean="0">
                <a:solidFill>
                  <a:schemeClr val="tx1"/>
                </a:solidFill>
                <a:latin typeface="Arial" charset="0"/>
                <a:cs typeface="Arial" charset="0"/>
              </a:rPr>
              <a:t>Inference</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speed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is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increased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up</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to</a:t>
            </a:r>
            <a:r>
              <a:rPr lang="de-DE" dirty="0" smtClean="0">
                <a:solidFill>
                  <a:schemeClr val="tx1"/>
                </a:solidFill>
                <a:latin typeface="Arial" charset="0"/>
                <a:cs typeface="Arial" charset="0"/>
              </a:rPr>
              <a:t> </a:t>
            </a:r>
            <a:r>
              <a:rPr lang="de-DE" b="1" dirty="0" smtClean="0">
                <a:solidFill>
                  <a:schemeClr val="tx1"/>
                </a:solidFill>
                <a:latin typeface="Arial" charset="0"/>
                <a:cs typeface="Arial" charset="0"/>
              </a:rPr>
              <a:t>3 </a:t>
            </a:r>
            <a:r>
              <a:rPr lang="de-DE" b="1" dirty="0" err="1" smtClean="0">
                <a:solidFill>
                  <a:schemeClr val="tx1"/>
                </a:solidFill>
                <a:latin typeface="Arial" charset="0"/>
                <a:cs typeface="Arial" charset="0"/>
              </a:rPr>
              <a:t>times</a:t>
            </a:r>
            <a:endParaRPr lang="de-DE" b="1" dirty="0" smtClean="0">
              <a:solidFill>
                <a:schemeClr val="tx1"/>
              </a:solidFill>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My</a:t>
            </a:r>
            <a:r>
              <a:rPr lang="de-DE" b="1" dirty="0" smtClean="0">
                <a:cs typeface="Arial" charset="0"/>
              </a:rPr>
              <a:t> Approach </a:t>
            </a:r>
            <a:r>
              <a:rPr lang="de-DE" b="1" dirty="0" err="1" smtClean="0">
                <a:cs typeface="Arial" charset="0"/>
              </a:rPr>
              <a:t>to</a:t>
            </a:r>
            <a:r>
              <a:rPr lang="de-DE" b="1" dirty="0" smtClean="0">
                <a:cs typeface="Arial" charset="0"/>
              </a:rPr>
              <a:t> </a:t>
            </a:r>
            <a:r>
              <a:rPr lang="de-DE" b="1" dirty="0" err="1" smtClean="0">
                <a:cs typeface="Arial" charset="0"/>
              </a:rPr>
              <a:t>achieve</a:t>
            </a:r>
            <a:r>
              <a:rPr lang="de-DE" b="1" dirty="0" smtClean="0">
                <a:cs typeface="Arial" charset="0"/>
              </a:rPr>
              <a:t> „</a:t>
            </a:r>
            <a:r>
              <a:rPr lang="de-DE" b="1" dirty="0" err="1" smtClean="0">
                <a:cs typeface="Arial" charset="0"/>
              </a:rPr>
              <a:t>Faster</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7</a:t>
            </a:fld>
            <a:endParaRPr lang="de-DE" dirty="0"/>
          </a:p>
        </p:txBody>
      </p:sp>
      <p:pic>
        <p:nvPicPr>
          <p:cNvPr id="3" name="Grafik 2"/>
          <p:cNvPicPr>
            <a:picLocks noChangeAspect="1"/>
          </p:cNvPicPr>
          <p:nvPr/>
        </p:nvPicPr>
        <p:blipFill>
          <a:blip r:embed="rId3"/>
          <a:stretch>
            <a:fillRect/>
          </a:stretch>
        </p:blipFill>
        <p:spPr>
          <a:xfrm>
            <a:off x="5886450" y="2348880"/>
            <a:ext cx="2990850" cy="2628900"/>
          </a:xfrm>
          <a:prstGeom prst="rect">
            <a:avLst/>
          </a:prstGeom>
        </p:spPr>
      </p:pic>
    </p:spTree>
    <p:extLst>
      <p:ext uri="{BB962C8B-B14F-4D97-AF65-F5344CB8AC3E}">
        <p14:creationId xmlns:p14="http://schemas.microsoft.com/office/powerpoint/2010/main" val="3935817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wd">
                                    <p:tmPct val="10000"/>
                                  </p:iterate>
                                  <p:childTnLst>
                                    <p:set>
                                      <p:cBhvr>
                                        <p:cTn id="11" dur="1" fill="hold">
                                          <p:stCondLst>
                                            <p:cond delay="0"/>
                                          </p:stCondLst>
                                        </p:cTn>
                                        <p:tgtEl>
                                          <p:spTgt spid="81923">
                                            <p:txEl>
                                              <p:pRg st="1" end="1"/>
                                            </p:txEl>
                                          </p:spTgt>
                                        </p:tgtEl>
                                        <p:attrNameLst>
                                          <p:attrName>style.visibility</p:attrName>
                                        </p:attrNameLst>
                                      </p:cBhvr>
                                      <p:to>
                                        <p:strVal val="visible"/>
                                      </p:to>
                                    </p:set>
                                    <p:animEffect transition="in" filter="dissolve">
                                      <p:cBhvr>
                                        <p:cTn id="12" dur="500"/>
                                        <p:tgtEl>
                                          <p:spTgt spid="819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iterate type="wd">
                                    <p:tmPct val="10000"/>
                                  </p:iterate>
                                  <p:childTnLst>
                                    <p:set>
                                      <p:cBhvr>
                                        <p:cTn id="16" dur="1" fill="hold">
                                          <p:stCondLst>
                                            <p:cond delay="0"/>
                                          </p:stCondLst>
                                        </p:cTn>
                                        <p:tgtEl>
                                          <p:spTgt spid="81923">
                                            <p:txEl>
                                              <p:pRg st="2" end="2"/>
                                            </p:txEl>
                                          </p:spTgt>
                                        </p:tgtEl>
                                        <p:attrNameLst>
                                          <p:attrName>style.visibility</p:attrName>
                                        </p:attrNameLst>
                                      </p:cBhvr>
                                      <p:to>
                                        <p:strVal val="visible"/>
                                      </p:to>
                                    </p:set>
                                    <p:animEffect transition="in" filter="dissolve">
                                      <p:cBhvr>
                                        <p:cTn id="17" dur="500"/>
                                        <p:tgtEl>
                                          <p:spTgt spid="819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iterate type="wd">
                                    <p:tmPct val="10000"/>
                                  </p:iterate>
                                  <p:childTnLst>
                                    <p:set>
                                      <p:cBhvr>
                                        <p:cTn id="21" dur="1" fill="hold">
                                          <p:stCondLst>
                                            <p:cond delay="0"/>
                                          </p:stCondLst>
                                        </p:cTn>
                                        <p:tgtEl>
                                          <p:spTgt spid="81923">
                                            <p:txEl>
                                              <p:pRg st="3" end="3"/>
                                            </p:txEl>
                                          </p:spTgt>
                                        </p:tgtEl>
                                        <p:attrNameLst>
                                          <p:attrName>style.visibility</p:attrName>
                                        </p:attrNameLst>
                                      </p:cBhvr>
                                      <p:to>
                                        <p:strVal val="visible"/>
                                      </p:to>
                                    </p:set>
                                    <p:animEffect transition="in" filter="dissolve">
                                      <p:cBhvr>
                                        <p:cTn id="22" dur="500"/>
                                        <p:tgtEl>
                                          <p:spTgt spid="819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iterate type="wd">
                                    <p:tmPct val="10000"/>
                                  </p:iterate>
                                  <p:childTnLst>
                                    <p:set>
                                      <p:cBhvr>
                                        <p:cTn id="26" dur="1" fill="hold">
                                          <p:stCondLst>
                                            <p:cond delay="0"/>
                                          </p:stCondLst>
                                        </p:cTn>
                                        <p:tgtEl>
                                          <p:spTgt spid="81923">
                                            <p:txEl>
                                              <p:pRg st="4" end="4"/>
                                            </p:txEl>
                                          </p:spTgt>
                                        </p:tgtEl>
                                        <p:attrNameLst>
                                          <p:attrName>style.visibility</p:attrName>
                                        </p:attrNameLst>
                                      </p:cBhvr>
                                      <p:to>
                                        <p:strVal val="visible"/>
                                      </p:to>
                                    </p:set>
                                    <p:animEffect transition="in" filter="dissolve">
                                      <p:cBhvr>
                                        <p:cTn id="27" dur="500"/>
                                        <p:tgtEl>
                                          <p:spTgt spid="819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dirty="0" smtClean="0">
                <a:solidFill>
                  <a:schemeClr val="tx1"/>
                </a:solidFill>
                <a:latin typeface="Arial" charset="0"/>
                <a:cs typeface="Arial" charset="0"/>
              </a:rPr>
              <a:t>I </a:t>
            </a:r>
            <a:r>
              <a:rPr lang="de-DE" dirty="0" err="1" smtClean="0">
                <a:solidFill>
                  <a:schemeClr val="tx1"/>
                </a:solidFill>
                <a:latin typeface="Arial" charset="0"/>
                <a:cs typeface="Arial" charset="0"/>
              </a:rPr>
              <a:t>trained</a:t>
            </a:r>
            <a:r>
              <a:rPr lang="de-DE" dirty="0" smtClean="0">
                <a:solidFill>
                  <a:schemeClr val="tx1"/>
                </a:solidFill>
                <a:latin typeface="Arial" charset="0"/>
                <a:cs typeface="Arial" charset="0"/>
              </a:rPr>
              <a:t> a </a:t>
            </a:r>
            <a:r>
              <a:rPr lang="de-DE" b="1" dirty="0" smtClean="0">
                <a:solidFill>
                  <a:schemeClr val="tx1"/>
                </a:solidFill>
                <a:latin typeface="Arial" charset="0"/>
                <a:cs typeface="Arial" charset="0"/>
              </a:rPr>
              <a:t>YOLOv8</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model</a:t>
            </a:r>
            <a:r>
              <a:rPr lang="de-DE" dirty="0">
                <a:latin typeface="Arial" charset="0"/>
                <a:cs typeface="Arial" charset="0"/>
              </a:rPr>
              <a:t> </a:t>
            </a:r>
            <a:r>
              <a:rPr lang="de-DE" dirty="0" err="1" smtClean="0">
                <a:latin typeface="Arial" charset="0"/>
                <a:cs typeface="Arial" charset="0"/>
              </a:rPr>
              <a:t>that</a:t>
            </a:r>
            <a:r>
              <a:rPr lang="de-DE" dirty="0" smtClean="0">
                <a:latin typeface="Arial" charset="0"/>
                <a:cs typeface="Arial" charset="0"/>
              </a:rPr>
              <a:t> </a:t>
            </a:r>
            <a:r>
              <a:rPr lang="de-DE" dirty="0" err="1" smtClean="0">
                <a:latin typeface="Arial" charset="0"/>
                <a:cs typeface="Arial" charset="0"/>
              </a:rPr>
              <a:t>is</a:t>
            </a:r>
            <a:r>
              <a:rPr lang="de-DE" dirty="0" smtClean="0">
                <a:latin typeface="Arial" charset="0"/>
                <a:cs typeface="Arial" charset="0"/>
              </a:rPr>
              <a:t> </a:t>
            </a:r>
            <a:r>
              <a:rPr lang="de-DE" b="1" dirty="0" smtClean="0">
                <a:latin typeface="Arial" charset="0"/>
                <a:cs typeface="Arial" charset="0"/>
              </a:rPr>
              <a:t>fast, </a:t>
            </a:r>
            <a:r>
              <a:rPr lang="de-DE" b="1" dirty="0" err="1" smtClean="0">
                <a:latin typeface="Arial" charset="0"/>
                <a:cs typeface="Arial" charset="0"/>
              </a:rPr>
              <a:t>accurate</a:t>
            </a:r>
            <a:r>
              <a:rPr lang="de-DE" b="1" dirty="0" smtClean="0">
                <a:latin typeface="Arial" charset="0"/>
                <a:cs typeface="Arial" charset="0"/>
              </a:rPr>
              <a:t>, robust</a:t>
            </a:r>
          </a:p>
          <a:p>
            <a:pPr eaLnBrk="1" hangingPunct="1"/>
            <a:r>
              <a:rPr lang="de-DE" dirty="0" smtClean="0">
                <a:solidFill>
                  <a:schemeClr val="tx1"/>
                </a:solidFill>
                <a:latin typeface="Arial" charset="0"/>
                <a:cs typeface="Arial" charset="0"/>
              </a:rPr>
              <a:t>The </a:t>
            </a:r>
            <a:r>
              <a:rPr lang="de-DE" dirty="0" err="1" smtClean="0">
                <a:solidFill>
                  <a:schemeClr val="tx1"/>
                </a:solidFill>
                <a:latin typeface="Arial" charset="0"/>
                <a:cs typeface="Arial" charset="0"/>
              </a:rPr>
              <a:t>model</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is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trained</a:t>
            </a:r>
            <a:r>
              <a:rPr lang="de-DE" dirty="0" smtClean="0">
                <a:solidFill>
                  <a:schemeClr val="tx1"/>
                </a:solidFill>
                <a:latin typeface="Arial" charset="0"/>
                <a:cs typeface="Arial" charset="0"/>
              </a:rPr>
              <a:t> on a </a:t>
            </a:r>
            <a:r>
              <a:rPr lang="de-DE" dirty="0" err="1" smtClean="0">
                <a:solidFill>
                  <a:schemeClr val="tx1"/>
                </a:solidFill>
                <a:latin typeface="Arial" charset="0"/>
                <a:cs typeface="Arial" charset="0"/>
              </a:rPr>
              <a:t>dataset</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collected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from</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the</a:t>
            </a:r>
            <a:r>
              <a:rPr lang="de-DE" dirty="0" smtClean="0">
                <a:solidFill>
                  <a:schemeClr val="tx1"/>
                </a:solidFill>
                <a:latin typeface="Arial" charset="0"/>
                <a:cs typeface="Arial" charset="0"/>
              </a:rPr>
              <a:t> </a:t>
            </a:r>
            <a:r>
              <a:rPr lang="de-DE" b="1" dirty="0" err="1" smtClean="0">
                <a:solidFill>
                  <a:schemeClr val="tx1"/>
                </a:solidFill>
                <a:latin typeface="Arial" charset="0"/>
                <a:cs typeface="Arial" charset="0"/>
              </a:rPr>
              <a:t>BigX</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machines</a:t>
            </a:r>
            <a:endParaRPr lang="de-DE" dirty="0" smtClean="0">
              <a:solidFill>
                <a:schemeClr val="tx1"/>
              </a:solidFill>
              <a:latin typeface="Arial" charset="0"/>
              <a:cs typeface="Arial" charset="0"/>
            </a:endParaRPr>
          </a:p>
          <a:p>
            <a:pPr eaLnBrk="1" hangingPunct="1"/>
            <a:r>
              <a:rPr lang="de-DE" dirty="0" err="1" smtClean="0">
                <a:latin typeface="Arial" charset="0"/>
                <a:cs typeface="Arial" charset="0"/>
              </a:rPr>
              <a:t>To</a:t>
            </a:r>
            <a:r>
              <a:rPr lang="de-DE" dirty="0" smtClean="0">
                <a:latin typeface="Arial" charset="0"/>
                <a:cs typeface="Arial" charset="0"/>
              </a:rPr>
              <a:t> </a:t>
            </a:r>
            <a:r>
              <a:rPr lang="de-DE" dirty="0" err="1" smtClean="0">
                <a:latin typeface="Arial" charset="0"/>
                <a:cs typeface="Arial" charset="0"/>
              </a:rPr>
              <a:t>boost</a:t>
            </a:r>
            <a:r>
              <a:rPr lang="de-DE" dirty="0" smtClean="0">
                <a:latin typeface="Arial" charset="0"/>
                <a:cs typeface="Arial" charset="0"/>
              </a:rPr>
              <a:t> </a:t>
            </a:r>
            <a:r>
              <a:rPr lang="de-DE" dirty="0" err="1" smtClean="0">
                <a:latin typeface="Arial" charset="0"/>
                <a:cs typeface="Arial" charset="0"/>
              </a:rPr>
              <a:t>up</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a:t>
            </a:r>
            <a:r>
              <a:rPr lang="de-DE" dirty="0" err="1" smtClean="0">
                <a:latin typeface="Arial" charset="0"/>
                <a:cs typeface="Arial" charset="0"/>
              </a:rPr>
              <a:t>performance</a:t>
            </a:r>
            <a:r>
              <a:rPr lang="de-DE" dirty="0" smtClean="0">
                <a:latin typeface="Arial" charset="0"/>
                <a:cs typeface="Arial" charset="0"/>
              </a:rPr>
              <a:t> </a:t>
            </a:r>
            <a:r>
              <a:rPr lang="de-DE" dirty="0" err="1" smtClean="0">
                <a:latin typeface="Arial" charset="0"/>
                <a:cs typeface="Arial" charset="0"/>
              </a:rPr>
              <a:t>even</a:t>
            </a:r>
            <a:r>
              <a:rPr lang="de-DE" dirty="0" smtClean="0">
                <a:latin typeface="Arial" charset="0"/>
                <a:cs typeface="Arial" charset="0"/>
              </a:rPr>
              <a:t> </a:t>
            </a:r>
            <a:r>
              <a:rPr lang="de-DE" dirty="0" err="1" smtClean="0">
                <a:latin typeface="Arial" charset="0"/>
                <a:cs typeface="Arial" charset="0"/>
              </a:rPr>
              <a:t>more</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a:t>
            </a:r>
            <a:r>
              <a:rPr lang="de-DE" dirty="0" err="1" smtClean="0">
                <a:latin typeface="Arial" charset="0"/>
                <a:cs typeface="Arial" charset="0"/>
              </a:rPr>
              <a:t>model</a:t>
            </a:r>
            <a:r>
              <a:rPr lang="de-DE" dirty="0" smtClean="0">
                <a:latin typeface="Arial" charset="0"/>
                <a:cs typeface="Arial" charset="0"/>
              </a:rPr>
              <a:t> </a:t>
            </a:r>
            <a:r>
              <a:rPr lang="de-DE" dirty="0" err="1" smtClean="0">
                <a:latin typeface="Arial" charset="0"/>
                <a:cs typeface="Arial" charset="0"/>
              </a:rPr>
              <a:t>is</a:t>
            </a:r>
            <a:r>
              <a:rPr lang="de-DE" dirty="0" smtClean="0">
                <a:latin typeface="Arial" charset="0"/>
                <a:cs typeface="Arial" charset="0"/>
              </a:rPr>
              <a:t> </a:t>
            </a:r>
            <a:r>
              <a:rPr lang="de-DE" dirty="0" err="1" smtClean="0">
                <a:latin typeface="Arial" charset="0"/>
                <a:cs typeface="Arial" charset="0"/>
              </a:rPr>
              <a:t>converted</a:t>
            </a:r>
            <a:r>
              <a:rPr lang="de-DE" dirty="0" smtClean="0">
                <a:latin typeface="Arial" charset="0"/>
                <a:cs typeface="Arial" charset="0"/>
              </a:rPr>
              <a:t> </a:t>
            </a:r>
            <a:r>
              <a:rPr lang="de-DE" dirty="0" err="1" smtClean="0">
                <a:latin typeface="Arial" charset="0"/>
                <a:cs typeface="Arial" charset="0"/>
              </a:rPr>
              <a:t>to</a:t>
            </a:r>
            <a:r>
              <a:rPr lang="de-DE" dirty="0" smtClean="0">
                <a:latin typeface="Arial" charset="0"/>
                <a:cs typeface="Arial" charset="0"/>
              </a:rPr>
              <a:t> </a:t>
            </a:r>
            <a:r>
              <a:rPr lang="de-DE" b="1" dirty="0" smtClean="0">
                <a:latin typeface="Arial" charset="0"/>
                <a:cs typeface="Arial" charset="0"/>
              </a:rPr>
              <a:t>ONNX</a:t>
            </a:r>
            <a:r>
              <a:rPr lang="de-DE" dirty="0" smtClean="0">
                <a:latin typeface="Arial" charset="0"/>
                <a:cs typeface="Arial" charset="0"/>
              </a:rPr>
              <a:t> </a:t>
            </a:r>
            <a:r>
              <a:rPr lang="de-DE" dirty="0" err="1" smtClean="0">
                <a:latin typeface="Arial" charset="0"/>
                <a:cs typeface="Arial" charset="0"/>
              </a:rPr>
              <a:t>format</a:t>
            </a:r>
            <a:endParaRPr lang="de-DE" dirty="0" smtClean="0">
              <a:solidFill>
                <a:schemeClr val="tx1"/>
              </a:solidFill>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Conclusion</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8</a:t>
            </a:fld>
            <a:endParaRPr lang="de-DE" dirty="0"/>
          </a:p>
        </p:txBody>
      </p:sp>
    </p:spTree>
    <p:extLst>
      <p:ext uri="{BB962C8B-B14F-4D97-AF65-F5344CB8AC3E}">
        <p14:creationId xmlns:p14="http://schemas.microsoft.com/office/powerpoint/2010/main" val="7932686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wd">
                                    <p:tmPct val="10000"/>
                                  </p:iterate>
                                  <p:childTnLst>
                                    <p:set>
                                      <p:cBhvr>
                                        <p:cTn id="11" dur="1" fill="hold">
                                          <p:stCondLst>
                                            <p:cond delay="0"/>
                                          </p:stCondLst>
                                        </p:cTn>
                                        <p:tgtEl>
                                          <p:spTgt spid="81923">
                                            <p:txEl>
                                              <p:pRg st="1" end="1"/>
                                            </p:txEl>
                                          </p:spTgt>
                                        </p:tgtEl>
                                        <p:attrNameLst>
                                          <p:attrName>style.visibility</p:attrName>
                                        </p:attrNameLst>
                                      </p:cBhvr>
                                      <p:to>
                                        <p:strVal val="visible"/>
                                      </p:to>
                                    </p:set>
                                    <p:animEffect transition="in" filter="dissolve">
                                      <p:cBhvr>
                                        <p:cTn id="12" dur="500"/>
                                        <p:tgtEl>
                                          <p:spTgt spid="819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iterate type="wd">
                                    <p:tmPct val="10000"/>
                                  </p:iterate>
                                  <p:childTnLst>
                                    <p:set>
                                      <p:cBhvr>
                                        <p:cTn id="16" dur="1" fill="hold">
                                          <p:stCondLst>
                                            <p:cond delay="0"/>
                                          </p:stCondLst>
                                        </p:cTn>
                                        <p:tgtEl>
                                          <p:spTgt spid="81923">
                                            <p:txEl>
                                              <p:pRg st="2" end="2"/>
                                            </p:txEl>
                                          </p:spTgt>
                                        </p:tgtEl>
                                        <p:attrNameLst>
                                          <p:attrName>style.visibility</p:attrName>
                                        </p:attrNameLst>
                                      </p:cBhvr>
                                      <p:to>
                                        <p:strVal val="visible"/>
                                      </p:to>
                                    </p:set>
                                    <p:animEffect transition="in" filter="dissolve">
                                      <p:cBhvr>
                                        <p:cTn id="17" dur="500"/>
                                        <p:tgtEl>
                                          <p:spTgt spid="819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dirty="0" smtClean="0">
                <a:solidFill>
                  <a:schemeClr val="tx1"/>
                </a:solidFill>
                <a:latin typeface="Arial" charset="0"/>
                <a:cs typeface="Arial" charset="0"/>
              </a:rPr>
              <a:t>~2200 </a:t>
            </a:r>
            <a:r>
              <a:rPr lang="de-DE" dirty="0" err="1" smtClean="0">
                <a:solidFill>
                  <a:schemeClr val="tx1"/>
                </a:solidFill>
                <a:latin typeface="Arial" charset="0"/>
                <a:cs typeface="Arial" charset="0"/>
              </a:rPr>
              <a:t>pictures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with</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careful</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markings</a:t>
            </a:r>
            <a:endParaRPr lang="de-DE" b="1"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else</a:t>
            </a:r>
            <a:r>
              <a:rPr lang="de-DE" b="1" dirty="0" smtClean="0">
                <a:cs typeface="Arial" charset="0"/>
              </a:rPr>
              <a:t> was </a:t>
            </a:r>
            <a:r>
              <a:rPr lang="de-DE" b="1" dirty="0" err="1" smtClean="0">
                <a:cs typeface="Arial" charset="0"/>
              </a:rPr>
              <a:t>done</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9</a:t>
            </a:fld>
            <a:endParaRPr lang="de-DE" dirty="0"/>
          </a:p>
        </p:txBody>
      </p:sp>
      <p:pic>
        <p:nvPicPr>
          <p:cNvPr id="6" name="Grafik 5"/>
          <p:cNvPicPr>
            <a:picLocks noChangeAspect="1"/>
          </p:cNvPicPr>
          <p:nvPr/>
        </p:nvPicPr>
        <p:blipFill>
          <a:blip r:embed="rId3"/>
          <a:stretch>
            <a:fillRect/>
          </a:stretch>
        </p:blipFill>
        <p:spPr>
          <a:xfrm>
            <a:off x="480070" y="2460427"/>
            <a:ext cx="8261648" cy="4064198"/>
          </a:xfrm>
          <a:prstGeom prst="rect">
            <a:avLst/>
          </a:prstGeom>
        </p:spPr>
      </p:pic>
    </p:spTree>
    <p:extLst>
      <p:ext uri="{BB962C8B-B14F-4D97-AF65-F5344CB8AC3E}">
        <p14:creationId xmlns:p14="http://schemas.microsoft.com/office/powerpoint/2010/main" val="1075545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3743771" cy="4464050"/>
          </a:xfrm>
        </p:spPr>
        <p:txBody>
          <a:bodyPr/>
          <a:lstStyle/>
          <a:p>
            <a:pPr eaLnBrk="1" hangingPunct="1"/>
            <a:r>
              <a:rPr lang="de-DE" dirty="0" smtClean="0">
                <a:solidFill>
                  <a:schemeClr val="tx1"/>
                </a:solidFill>
                <a:latin typeface="Arial" charset="0"/>
                <a:cs typeface="Arial" charset="0"/>
              </a:rPr>
              <a:t>Cut, </a:t>
            </a:r>
            <a:r>
              <a:rPr lang="de-DE" dirty="0" err="1" smtClean="0">
                <a:solidFill>
                  <a:schemeClr val="tx1"/>
                </a:solidFill>
                <a:latin typeface="Arial" charset="0"/>
                <a:cs typeface="Arial" charset="0"/>
              </a:rPr>
              <a:t>Missing</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Rough</a:t>
            </a:r>
            <a:r>
              <a:rPr lang="de-DE" dirty="0" smtClean="0">
                <a:solidFill>
                  <a:schemeClr val="tx1"/>
                </a:solidFill>
                <a:latin typeface="Arial" charset="0"/>
                <a:cs typeface="Arial" charset="0"/>
              </a:rPr>
              <a:t> Surface, </a:t>
            </a:r>
            <a:r>
              <a:rPr lang="de-DE" dirty="0" err="1" smtClean="0">
                <a:solidFill>
                  <a:schemeClr val="tx1"/>
                </a:solidFill>
                <a:latin typeface="Arial" charset="0"/>
                <a:cs typeface="Arial" charset="0"/>
              </a:rPr>
              <a:t>Excess</a:t>
            </a:r>
            <a:r>
              <a:rPr lang="de-DE" dirty="0" smtClean="0">
                <a:solidFill>
                  <a:schemeClr val="tx1"/>
                </a:solidFill>
                <a:latin typeface="Arial" charset="0"/>
                <a:cs typeface="Arial" charset="0"/>
              </a:rPr>
              <a:t> Material</a:t>
            </a: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else</a:t>
            </a:r>
            <a:r>
              <a:rPr lang="de-DE" b="1" dirty="0" smtClean="0">
                <a:cs typeface="Arial" charset="0"/>
              </a:rPr>
              <a:t> was </a:t>
            </a:r>
            <a:r>
              <a:rPr lang="de-DE" b="1" dirty="0" err="1" smtClean="0">
                <a:cs typeface="Arial" charset="0"/>
              </a:rPr>
              <a:t>done</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10</a:t>
            </a:fld>
            <a:endParaRPr lang="de-DE" dirty="0"/>
          </a:p>
        </p:txBody>
      </p:sp>
      <p:pic>
        <p:nvPicPr>
          <p:cNvPr id="3" name="Grafik 2"/>
          <p:cNvPicPr>
            <a:picLocks noChangeAspect="1"/>
          </p:cNvPicPr>
          <p:nvPr/>
        </p:nvPicPr>
        <p:blipFill>
          <a:blip r:embed="rId3"/>
          <a:stretch>
            <a:fillRect/>
          </a:stretch>
        </p:blipFill>
        <p:spPr>
          <a:xfrm>
            <a:off x="978914" y="2564904"/>
            <a:ext cx="3337279" cy="2607940"/>
          </a:xfrm>
          <a:prstGeom prst="rect">
            <a:avLst/>
          </a:prstGeom>
        </p:spPr>
      </p:pic>
      <p:pic>
        <p:nvPicPr>
          <p:cNvPr id="4" name="Grafik 3"/>
          <p:cNvPicPr>
            <a:picLocks noChangeAspect="1"/>
          </p:cNvPicPr>
          <p:nvPr/>
        </p:nvPicPr>
        <p:blipFill>
          <a:blip r:embed="rId4"/>
          <a:stretch>
            <a:fillRect/>
          </a:stretch>
        </p:blipFill>
        <p:spPr>
          <a:xfrm>
            <a:off x="4610894" y="1962096"/>
            <a:ext cx="4117209" cy="4334619"/>
          </a:xfrm>
          <a:prstGeom prst="rect">
            <a:avLst/>
          </a:prstGeom>
        </p:spPr>
      </p:pic>
      <p:pic>
        <p:nvPicPr>
          <p:cNvPr id="5" name="Grafik 4"/>
          <p:cNvPicPr>
            <a:picLocks noChangeAspect="1"/>
          </p:cNvPicPr>
          <p:nvPr/>
        </p:nvPicPr>
        <p:blipFill>
          <a:blip r:embed="rId5"/>
          <a:stretch>
            <a:fillRect/>
          </a:stretch>
        </p:blipFill>
        <p:spPr>
          <a:xfrm>
            <a:off x="1059665" y="5222711"/>
            <a:ext cx="3129954" cy="1074004"/>
          </a:xfrm>
          <a:prstGeom prst="rect">
            <a:avLst/>
          </a:prstGeom>
        </p:spPr>
      </p:pic>
    </p:spTree>
    <p:extLst>
      <p:ext uri="{BB962C8B-B14F-4D97-AF65-F5344CB8AC3E}">
        <p14:creationId xmlns:p14="http://schemas.microsoft.com/office/powerpoint/2010/main" val="596156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dirty="0" smtClean="0">
                <a:solidFill>
                  <a:schemeClr val="tx1"/>
                </a:solidFill>
                <a:latin typeface="Arial" charset="0"/>
                <a:cs typeface="Arial" charset="0"/>
              </a:rPr>
              <a:t>An </a:t>
            </a:r>
            <a:r>
              <a:rPr lang="de-DE" dirty="0" err="1" smtClean="0">
                <a:solidFill>
                  <a:schemeClr val="tx1"/>
                </a:solidFill>
                <a:latin typeface="Arial" charset="0"/>
                <a:cs typeface="Arial" charset="0"/>
              </a:rPr>
              <a:t>operation</a:t>
            </a:r>
            <a:r>
              <a:rPr lang="de-DE" dirty="0" smtClean="0">
                <a:solidFill>
                  <a:schemeClr val="tx1"/>
                </a:solidFill>
                <a:latin typeface="Arial" charset="0"/>
                <a:cs typeface="Arial" charset="0"/>
              </a:rPr>
              <a:t> </a:t>
            </a:r>
            <a:r>
              <a:rPr lang="de-DE" b="1" dirty="0" err="1" smtClean="0">
                <a:solidFill>
                  <a:schemeClr val="tx1"/>
                </a:solidFill>
                <a:latin typeface="Arial" charset="0"/>
                <a:cs typeface="Arial" charset="0"/>
              </a:rPr>
              <a:t>pipeline</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that</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automates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the</a:t>
            </a:r>
            <a:r>
              <a:rPr lang="de-DE" dirty="0" smtClean="0">
                <a:solidFill>
                  <a:schemeClr val="tx1"/>
                </a:solidFill>
                <a:latin typeface="Arial" charset="0"/>
                <a:cs typeface="Arial" charset="0"/>
              </a:rPr>
              <a:t> ML </a:t>
            </a:r>
            <a:r>
              <a:rPr lang="de-DE" dirty="0" err="1" smtClean="0">
                <a:solidFill>
                  <a:schemeClr val="tx1"/>
                </a:solidFill>
                <a:latin typeface="Arial" charset="0"/>
                <a:cs typeface="Arial" charset="0"/>
              </a:rPr>
              <a:t>Process</a:t>
            </a:r>
            <a:r>
              <a:rPr lang="de-DE" dirty="0" smtClean="0">
                <a:solidFill>
                  <a:schemeClr val="tx1"/>
                </a:solidFill>
                <a:latin typeface="Arial" charset="0"/>
                <a:cs typeface="Arial" charset="0"/>
              </a:rPr>
              <a:t> </a:t>
            </a:r>
            <a:r>
              <a:rPr lang="de-DE" dirty="0" smtClean="0">
                <a:latin typeface="Arial" charset="0"/>
                <a:cs typeface="Arial" charset="0"/>
              </a:rPr>
              <a:t>(</a:t>
            </a:r>
            <a:r>
              <a:rPr lang="de-DE" b="1" dirty="0">
                <a:latin typeface="Arial" charset="0"/>
                <a:cs typeface="Arial" charset="0"/>
              </a:rPr>
              <a:t>Train, Export, Evaluation, </a:t>
            </a:r>
            <a:r>
              <a:rPr lang="de-DE" b="1" dirty="0" err="1">
                <a:latin typeface="Arial" charset="0"/>
                <a:cs typeface="Arial" charset="0"/>
              </a:rPr>
              <a:t>Predict</a:t>
            </a:r>
            <a:r>
              <a:rPr lang="de-DE" dirty="0">
                <a:latin typeface="Arial" charset="0"/>
                <a:cs typeface="Arial" charset="0"/>
              </a:rPr>
              <a:t>)</a:t>
            </a:r>
          </a:p>
          <a:p>
            <a:pPr eaLnBrk="1" hangingPunct="1"/>
            <a:endParaRPr lang="de-DE" b="1"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else</a:t>
            </a:r>
            <a:r>
              <a:rPr lang="de-DE" b="1" dirty="0" smtClean="0">
                <a:cs typeface="Arial" charset="0"/>
              </a:rPr>
              <a:t> was </a:t>
            </a:r>
            <a:r>
              <a:rPr lang="de-DE" b="1" dirty="0" err="1" smtClean="0">
                <a:cs typeface="Arial" charset="0"/>
              </a:rPr>
              <a:t>done</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11</a:t>
            </a:fld>
            <a:endParaRPr lang="de-DE" dirty="0"/>
          </a:p>
        </p:txBody>
      </p:sp>
      <p:pic>
        <p:nvPicPr>
          <p:cNvPr id="3" name="Grafik 2"/>
          <p:cNvPicPr>
            <a:picLocks noChangeAspect="1"/>
          </p:cNvPicPr>
          <p:nvPr/>
        </p:nvPicPr>
        <p:blipFill>
          <a:blip r:embed="rId3"/>
          <a:stretch>
            <a:fillRect/>
          </a:stretch>
        </p:blipFill>
        <p:spPr>
          <a:xfrm>
            <a:off x="730436" y="2708920"/>
            <a:ext cx="7760916" cy="3509061"/>
          </a:xfrm>
          <a:prstGeom prst="rect">
            <a:avLst/>
          </a:prstGeom>
        </p:spPr>
      </p:pic>
    </p:spTree>
    <p:extLst>
      <p:ext uri="{BB962C8B-B14F-4D97-AF65-F5344CB8AC3E}">
        <p14:creationId xmlns:p14="http://schemas.microsoft.com/office/powerpoint/2010/main" val="1532280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b="1" dirty="0" smtClean="0">
                <a:solidFill>
                  <a:schemeClr val="tx1"/>
                </a:solidFill>
                <a:latin typeface="Arial" charset="0"/>
                <a:cs typeface="Arial" charset="0"/>
              </a:rPr>
              <a:t>Store </a:t>
            </a:r>
            <a:r>
              <a:rPr lang="de-DE" b="1" dirty="0" err="1" smtClean="0">
                <a:solidFill>
                  <a:schemeClr val="tx1"/>
                </a:solidFill>
                <a:latin typeface="Arial" charset="0"/>
                <a:cs typeface="Arial" charset="0"/>
              </a:rPr>
              <a:t>and</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index</a:t>
            </a:r>
            <a:r>
              <a:rPr lang="de-DE" b="1" dirty="0" smtClean="0">
                <a:solidFill>
                  <a:schemeClr val="tx1"/>
                </a:solidFill>
                <a:latin typeface="Arial" charset="0"/>
                <a:cs typeface="Arial" charset="0"/>
              </a:rPr>
              <a:t> </a:t>
            </a:r>
            <a:r>
              <a:rPr lang="de-DE" dirty="0" err="1" smtClean="0">
                <a:solidFill>
                  <a:schemeClr val="tx1"/>
                </a:solidFill>
                <a:latin typeface="Arial" charset="0"/>
                <a:cs typeface="Arial" charset="0"/>
              </a:rPr>
              <a:t>training</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parameters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and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results</a:t>
            </a:r>
            <a:r>
              <a:rPr lang="de-DE" dirty="0" smtClean="0">
                <a:solidFill>
                  <a:schemeClr val="tx1"/>
                </a:solidFill>
                <a:latin typeface="Arial" charset="0"/>
                <a:cs typeface="Arial" charset="0"/>
              </a:rPr>
              <a:t> in a </a:t>
            </a:r>
            <a:r>
              <a:rPr lang="de-DE" dirty="0" err="1" smtClean="0">
                <a:solidFill>
                  <a:schemeClr val="tx1"/>
                </a:solidFill>
                <a:latin typeface="Arial" charset="0"/>
                <a:cs typeface="Arial" charset="0"/>
              </a:rPr>
              <a:t>cloud</a:t>
            </a:r>
            <a:r>
              <a:rPr lang="de-DE" dirty="0" err="1" smtClean="0">
                <a:latin typeface="Arial" charset="0"/>
                <a:cs typeface="Arial" charset="0"/>
              </a:rPr>
              <a:t>-based</a:t>
            </a:r>
            <a:r>
              <a:rPr lang="de-DE" dirty="0" smtClean="0">
                <a:latin typeface="Arial" charset="0"/>
                <a:cs typeface="Arial" charset="0"/>
              </a:rPr>
              <a:t> </a:t>
            </a:r>
            <a:r>
              <a:rPr lang="de-DE" dirty="0" err="1" smtClean="0">
                <a:latin typeface="Arial" charset="0"/>
                <a:cs typeface="Arial" charset="0"/>
              </a:rPr>
              <a:t>database</a:t>
            </a:r>
            <a:endParaRPr lang="de-DE" dirty="0">
              <a:latin typeface="Arial" charset="0"/>
              <a:cs typeface="Arial" charset="0"/>
            </a:endParaRPr>
          </a:p>
          <a:p>
            <a:pPr eaLnBrk="1" hangingPunct="1"/>
            <a:endParaRPr lang="de-DE" b="1"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else</a:t>
            </a:r>
            <a:r>
              <a:rPr lang="de-DE" b="1" dirty="0" smtClean="0">
                <a:cs typeface="Arial" charset="0"/>
              </a:rPr>
              <a:t> was </a:t>
            </a:r>
            <a:r>
              <a:rPr lang="de-DE" b="1" dirty="0" err="1" smtClean="0">
                <a:cs typeface="Arial" charset="0"/>
              </a:rPr>
              <a:t>done</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12</a:t>
            </a:fld>
            <a:endParaRPr lang="de-DE" dirty="0"/>
          </a:p>
        </p:txBody>
      </p:sp>
      <p:pic>
        <p:nvPicPr>
          <p:cNvPr id="4" name="Grafik 3"/>
          <p:cNvPicPr>
            <a:picLocks noChangeAspect="1"/>
          </p:cNvPicPr>
          <p:nvPr/>
        </p:nvPicPr>
        <p:blipFill>
          <a:blip r:embed="rId3"/>
          <a:stretch>
            <a:fillRect/>
          </a:stretch>
        </p:blipFill>
        <p:spPr>
          <a:xfrm>
            <a:off x="623549" y="2492896"/>
            <a:ext cx="7974689" cy="3780871"/>
          </a:xfrm>
          <a:prstGeom prst="rect">
            <a:avLst/>
          </a:prstGeom>
        </p:spPr>
      </p:pic>
    </p:spTree>
    <p:extLst>
      <p:ext uri="{BB962C8B-B14F-4D97-AF65-F5344CB8AC3E}">
        <p14:creationId xmlns:p14="http://schemas.microsoft.com/office/powerpoint/2010/main" val="398151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b="1" dirty="0" smtClean="0">
                <a:solidFill>
                  <a:schemeClr val="tx1"/>
                </a:solidFill>
                <a:latin typeface="Arial" charset="0"/>
                <a:cs typeface="Arial" charset="0"/>
              </a:rPr>
              <a:t>Store </a:t>
            </a:r>
            <a:r>
              <a:rPr lang="de-DE" b="1" dirty="0" err="1" smtClean="0">
                <a:solidFill>
                  <a:schemeClr val="tx1"/>
                </a:solidFill>
                <a:latin typeface="Arial" charset="0"/>
                <a:cs typeface="Arial" charset="0"/>
              </a:rPr>
              <a:t>and</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index</a:t>
            </a:r>
            <a:r>
              <a:rPr lang="de-DE" b="1" dirty="0" smtClean="0">
                <a:solidFill>
                  <a:schemeClr val="tx1"/>
                </a:solidFill>
                <a:latin typeface="Arial" charset="0"/>
                <a:cs typeface="Arial" charset="0"/>
              </a:rPr>
              <a:t> </a:t>
            </a:r>
            <a:r>
              <a:rPr lang="de-DE" dirty="0" err="1" smtClean="0">
                <a:solidFill>
                  <a:schemeClr val="tx1"/>
                </a:solidFill>
                <a:latin typeface="Arial" charset="0"/>
                <a:cs typeface="Arial" charset="0"/>
              </a:rPr>
              <a:t>training</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parameters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and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results</a:t>
            </a:r>
            <a:r>
              <a:rPr lang="de-DE" dirty="0" smtClean="0">
                <a:solidFill>
                  <a:schemeClr val="tx1"/>
                </a:solidFill>
                <a:latin typeface="Arial" charset="0"/>
                <a:cs typeface="Arial" charset="0"/>
              </a:rPr>
              <a:t> in a </a:t>
            </a:r>
            <a:r>
              <a:rPr lang="de-DE" dirty="0" err="1" smtClean="0">
                <a:solidFill>
                  <a:schemeClr val="tx1"/>
                </a:solidFill>
                <a:latin typeface="Arial" charset="0"/>
                <a:cs typeface="Arial" charset="0"/>
              </a:rPr>
              <a:t>cloud</a:t>
            </a:r>
            <a:r>
              <a:rPr lang="de-DE" dirty="0" err="1" smtClean="0">
                <a:latin typeface="Arial" charset="0"/>
                <a:cs typeface="Arial" charset="0"/>
              </a:rPr>
              <a:t>-based</a:t>
            </a:r>
            <a:r>
              <a:rPr lang="de-DE" dirty="0" smtClean="0">
                <a:latin typeface="Arial" charset="0"/>
                <a:cs typeface="Arial" charset="0"/>
              </a:rPr>
              <a:t> </a:t>
            </a:r>
            <a:r>
              <a:rPr lang="de-DE" dirty="0" err="1" smtClean="0">
                <a:latin typeface="Arial" charset="0"/>
                <a:cs typeface="Arial" charset="0"/>
              </a:rPr>
              <a:t>database</a:t>
            </a:r>
            <a:endParaRPr lang="de-DE" dirty="0">
              <a:latin typeface="Arial" charset="0"/>
              <a:cs typeface="Arial" charset="0"/>
            </a:endParaRPr>
          </a:p>
          <a:p>
            <a:pPr eaLnBrk="1" hangingPunct="1"/>
            <a:endParaRPr lang="de-DE" b="1"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else</a:t>
            </a:r>
            <a:r>
              <a:rPr lang="de-DE" b="1" dirty="0" smtClean="0">
                <a:cs typeface="Arial" charset="0"/>
              </a:rPr>
              <a:t> was </a:t>
            </a:r>
            <a:r>
              <a:rPr lang="de-DE" b="1" dirty="0" err="1" smtClean="0">
                <a:cs typeface="Arial" charset="0"/>
              </a:rPr>
              <a:t>done</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13</a:t>
            </a:fld>
            <a:endParaRPr lang="de-DE" dirty="0"/>
          </a:p>
        </p:txBody>
      </p:sp>
      <p:pic>
        <p:nvPicPr>
          <p:cNvPr id="6" name="Grafik 5"/>
          <p:cNvPicPr>
            <a:picLocks noChangeAspect="1"/>
          </p:cNvPicPr>
          <p:nvPr/>
        </p:nvPicPr>
        <p:blipFill>
          <a:blip r:embed="rId3"/>
          <a:stretch>
            <a:fillRect/>
          </a:stretch>
        </p:blipFill>
        <p:spPr>
          <a:xfrm>
            <a:off x="894109" y="2780928"/>
            <a:ext cx="7571682" cy="3240283"/>
          </a:xfrm>
          <a:prstGeom prst="rect">
            <a:avLst/>
          </a:prstGeom>
        </p:spPr>
      </p:pic>
    </p:spTree>
    <p:extLst>
      <p:ext uri="{BB962C8B-B14F-4D97-AF65-F5344CB8AC3E}">
        <p14:creationId xmlns:p14="http://schemas.microsoft.com/office/powerpoint/2010/main" val="3480448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b="1" dirty="0" smtClean="0">
                <a:solidFill>
                  <a:schemeClr val="tx1"/>
                </a:solidFill>
                <a:latin typeface="Arial" charset="0"/>
                <a:cs typeface="Arial" charset="0"/>
              </a:rPr>
              <a:t>Store </a:t>
            </a:r>
            <a:r>
              <a:rPr lang="de-DE" b="1" dirty="0" err="1" smtClean="0">
                <a:solidFill>
                  <a:schemeClr val="tx1"/>
                </a:solidFill>
                <a:latin typeface="Arial" charset="0"/>
                <a:cs typeface="Arial" charset="0"/>
              </a:rPr>
              <a:t>and</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index</a:t>
            </a:r>
            <a:r>
              <a:rPr lang="de-DE" b="1" dirty="0" smtClean="0">
                <a:solidFill>
                  <a:schemeClr val="tx1"/>
                </a:solidFill>
                <a:latin typeface="Arial" charset="0"/>
                <a:cs typeface="Arial" charset="0"/>
              </a:rPr>
              <a:t> </a:t>
            </a:r>
            <a:r>
              <a:rPr lang="de-DE" dirty="0" err="1" smtClean="0">
                <a:solidFill>
                  <a:schemeClr val="tx1"/>
                </a:solidFill>
                <a:latin typeface="Arial" charset="0"/>
                <a:cs typeface="Arial" charset="0"/>
              </a:rPr>
              <a:t>training</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parameters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and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results</a:t>
            </a:r>
            <a:r>
              <a:rPr lang="de-DE" dirty="0" smtClean="0">
                <a:solidFill>
                  <a:schemeClr val="tx1"/>
                </a:solidFill>
                <a:latin typeface="Arial" charset="0"/>
                <a:cs typeface="Arial" charset="0"/>
              </a:rPr>
              <a:t> in a </a:t>
            </a:r>
            <a:r>
              <a:rPr lang="de-DE" dirty="0" err="1" smtClean="0">
                <a:solidFill>
                  <a:schemeClr val="tx1"/>
                </a:solidFill>
                <a:latin typeface="Arial" charset="0"/>
                <a:cs typeface="Arial" charset="0"/>
              </a:rPr>
              <a:t>cloud</a:t>
            </a:r>
            <a:r>
              <a:rPr lang="de-DE" dirty="0" err="1" smtClean="0">
                <a:latin typeface="Arial" charset="0"/>
                <a:cs typeface="Arial" charset="0"/>
              </a:rPr>
              <a:t>-based</a:t>
            </a:r>
            <a:r>
              <a:rPr lang="de-DE" dirty="0" smtClean="0">
                <a:latin typeface="Arial" charset="0"/>
                <a:cs typeface="Arial" charset="0"/>
              </a:rPr>
              <a:t> </a:t>
            </a:r>
            <a:r>
              <a:rPr lang="de-DE" dirty="0" err="1" smtClean="0">
                <a:latin typeface="Arial" charset="0"/>
                <a:cs typeface="Arial" charset="0"/>
              </a:rPr>
              <a:t>database</a:t>
            </a:r>
            <a:endParaRPr lang="de-DE" dirty="0">
              <a:latin typeface="Arial" charset="0"/>
              <a:cs typeface="Arial" charset="0"/>
            </a:endParaRPr>
          </a:p>
          <a:p>
            <a:pPr eaLnBrk="1" hangingPunct="1"/>
            <a:endParaRPr lang="de-DE" b="1"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else</a:t>
            </a:r>
            <a:r>
              <a:rPr lang="de-DE" b="1" dirty="0" smtClean="0">
                <a:cs typeface="Arial" charset="0"/>
              </a:rPr>
              <a:t> was </a:t>
            </a:r>
            <a:r>
              <a:rPr lang="de-DE" b="1" dirty="0" err="1" smtClean="0">
                <a:cs typeface="Arial" charset="0"/>
              </a:rPr>
              <a:t>done</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14</a:t>
            </a:fld>
            <a:endParaRPr lang="de-DE" dirty="0"/>
          </a:p>
        </p:txBody>
      </p:sp>
      <p:pic>
        <p:nvPicPr>
          <p:cNvPr id="5" name="Grafik 4"/>
          <p:cNvPicPr>
            <a:picLocks noChangeAspect="1"/>
          </p:cNvPicPr>
          <p:nvPr/>
        </p:nvPicPr>
        <p:blipFill>
          <a:blip r:embed="rId3"/>
          <a:stretch>
            <a:fillRect/>
          </a:stretch>
        </p:blipFill>
        <p:spPr>
          <a:xfrm>
            <a:off x="2003623" y="2492896"/>
            <a:ext cx="5352653" cy="3915989"/>
          </a:xfrm>
          <a:prstGeom prst="rect">
            <a:avLst/>
          </a:prstGeom>
        </p:spPr>
      </p:pic>
    </p:spTree>
    <p:extLst>
      <p:ext uri="{BB962C8B-B14F-4D97-AF65-F5344CB8AC3E}">
        <p14:creationId xmlns:p14="http://schemas.microsoft.com/office/powerpoint/2010/main" val="3138213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b="1" dirty="0" smtClean="0">
                <a:solidFill>
                  <a:schemeClr val="tx1"/>
                </a:solidFill>
                <a:latin typeface="Arial" charset="0"/>
                <a:cs typeface="Arial" charset="0"/>
              </a:rPr>
              <a:t>GUI</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for</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training</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and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detection</a:t>
            </a:r>
            <a:endParaRPr lang="de-DE" dirty="0">
              <a:latin typeface="Arial" charset="0"/>
              <a:cs typeface="Arial" charset="0"/>
            </a:endParaRPr>
          </a:p>
          <a:p>
            <a:pPr eaLnBrk="1" hangingPunct="1"/>
            <a:endParaRPr lang="de-DE" b="1"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else</a:t>
            </a:r>
            <a:r>
              <a:rPr lang="de-DE" b="1" dirty="0" smtClean="0">
                <a:cs typeface="Arial" charset="0"/>
              </a:rPr>
              <a:t> was </a:t>
            </a:r>
            <a:r>
              <a:rPr lang="de-DE" b="1" dirty="0" err="1" smtClean="0">
                <a:cs typeface="Arial" charset="0"/>
              </a:rPr>
              <a:t>done</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15</a:t>
            </a:fld>
            <a:endParaRPr lang="de-DE" dirty="0"/>
          </a:p>
        </p:txBody>
      </p:sp>
      <p:pic>
        <p:nvPicPr>
          <p:cNvPr id="3" name="Grafik 2"/>
          <p:cNvPicPr>
            <a:picLocks noChangeAspect="1"/>
          </p:cNvPicPr>
          <p:nvPr/>
        </p:nvPicPr>
        <p:blipFill>
          <a:blip r:embed="rId3"/>
          <a:stretch>
            <a:fillRect/>
          </a:stretch>
        </p:blipFill>
        <p:spPr>
          <a:xfrm>
            <a:off x="751271" y="2564904"/>
            <a:ext cx="7719245" cy="3354512"/>
          </a:xfrm>
          <a:prstGeom prst="rect">
            <a:avLst/>
          </a:prstGeom>
        </p:spPr>
      </p:pic>
    </p:spTree>
    <p:extLst>
      <p:ext uri="{BB962C8B-B14F-4D97-AF65-F5344CB8AC3E}">
        <p14:creationId xmlns:p14="http://schemas.microsoft.com/office/powerpoint/2010/main" val="2703114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b="1" dirty="0" smtClean="0">
                <a:solidFill>
                  <a:schemeClr val="tx1"/>
                </a:solidFill>
                <a:latin typeface="Arial" charset="0"/>
                <a:cs typeface="Arial" charset="0"/>
              </a:rPr>
              <a:t>GUI</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for</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training</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and</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detection</a:t>
            </a:r>
            <a:endParaRPr lang="de-DE" dirty="0">
              <a:latin typeface="Arial" charset="0"/>
              <a:cs typeface="Arial" charset="0"/>
            </a:endParaRPr>
          </a:p>
          <a:p>
            <a:pPr eaLnBrk="1" hangingPunct="1"/>
            <a:endParaRPr lang="de-DE" b="1"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else</a:t>
            </a:r>
            <a:r>
              <a:rPr lang="de-DE" b="1" dirty="0" smtClean="0">
                <a:cs typeface="Arial" charset="0"/>
              </a:rPr>
              <a:t> was </a:t>
            </a:r>
            <a:r>
              <a:rPr lang="de-DE" b="1" dirty="0" err="1" smtClean="0">
                <a:cs typeface="Arial" charset="0"/>
              </a:rPr>
              <a:t>done</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16</a:t>
            </a:fld>
            <a:endParaRPr lang="de-DE" dirty="0"/>
          </a:p>
        </p:txBody>
      </p:sp>
      <p:pic>
        <p:nvPicPr>
          <p:cNvPr id="4" name="Grafik 3"/>
          <p:cNvPicPr>
            <a:picLocks noChangeAspect="1"/>
          </p:cNvPicPr>
          <p:nvPr/>
        </p:nvPicPr>
        <p:blipFill>
          <a:blip r:embed="rId3"/>
          <a:stretch>
            <a:fillRect/>
          </a:stretch>
        </p:blipFill>
        <p:spPr>
          <a:xfrm>
            <a:off x="1262522" y="2708920"/>
            <a:ext cx="6696744" cy="3501766"/>
          </a:xfrm>
          <a:prstGeom prst="rect">
            <a:avLst/>
          </a:prstGeom>
        </p:spPr>
      </p:pic>
    </p:spTree>
    <p:extLst>
      <p:ext uri="{BB962C8B-B14F-4D97-AF65-F5344CB8AC3E}">
        <p14:creationId xmlns:p14="http://schemas.microsoft.com/office/powerpoint/2010/main" val="324172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dirty="0" err="1" smtClean="0">
                <a:latin typeface="Arial" charset="0"/>
                <a:cs typeface="Arial" charset="0"/>
              </a:rPr>
              <a:t>We</a:t>
            </a:r>
            <a:r>
              <a:rPr lang="de-DE" dirty="0" smtClean="0">
                <a:latin typeface="Arial" charset="0"/>
                <a:cs typeface="Arial" charset="0"/>
              </a:rPr>
              <a:t> </a:t>
            </a:r>
            <a:r>
              <a:rPr lang="de-DE" dirty="0" err="1" smtClean="0">
                <a:latin typeface="Arial" charset="0"/>
                <a:cs typeface="Arial" charset="0"/>
              </a:rPr>
              <a:t>implemented</a:t>
            </a:r>
            <a:r>
              <a:rPr lang="de-DE" dirty="0" smtClean="0">
                <a:latin typeface="Arial" charset="0"/>
                <a:cs typeface="Arial" charset="0"/>
              </a:rPr>
              <a:t> an </a:t>
            </a:r>
            <a:r>
              <a:rPr lang="de-DE" dirty="0" err="1" smtClean="0">
                <a:latin typeface="Arial" charset="0"/>
                <a:cs typeface="Arial" charset="0"/>
              </a:rPr>
              <a:t>operation</a:t>
            </a:r>
            <a:r>
              <a:rPr lang="de-DE" dirty="0" smtClean="0">
                <a:latin typeface="Arial" charset="0"/>
                <a:cs typeface="Arial" charset="0"/>
              </a:rPr>
              <a:t> </a:t>
            </a:r>
            <a:r>
              <a:rPr lang="de-DE" dirty="0" err="1" smtClean="0">
                <a:latin typeface="Arial" charset="0"/>
                <a:cs typeface="Arial" charset="0"/>
              </a:rPr>
              <a:t>pipeline</a:t>
            </a:r>
            <a:r>
              <a:rPr lang="de-DE" dirty="0" smtClean="0">
                <a:latin typeface="Arial" charset="0"/>
                <a:cs typeface="Arial" charset="0"/>
              </a:rPr>
              <a:t> </a:t>
            </a:r>
            <a:r>
              <a:rPr lang="de-DE" dirty="0" err="1" smtClean="0">
                <a:latin typeface="Arial" charset="0"/>
                <a:cs typeface="Arial" charset="0"/>
              </a:rPr>
              <a:t>that</a:t>
            </a:r>
            <a:r>
              <a:rPr lang="de-DE" dirty="0" smtClean="0">
                <a:latin typeface="Arial" charset="0"/>
                <a:cs typeface="Arial" charset="0"/>
              </a:rPr>
              <a:t> </a:t>
            </a:r>
            <a:r>
              <a:rPr lang="de-DE" dirty="0" err="1" smtClean="0">
                <a:latin typeface="Arial" charset="0"/>
                <a:cs typeface="Arial" charset="0"/>
              </a:rPr>
              <a:t>does</a:t>
            </a:r>
            <a:r>
              <a:rPr lang="de-DE" dirty="0" smtClean="0">
                <a:latin typeface="Arial" charset="0"/>
                <a:cs typeface="Arial" charset="0"/>
              </a:rPr>
              <a:t> </a:t>
            </a:r>
            <a:r>
              <a:rPr lang="de-DE" dirty="0" err="1" smtClean="0">
                <a:latin typeface="Arial" charset="0"/>
                <a:cs typeface="Arial" charset="0"/>
              </a:rPr>
              <a:t>several</a:t>
            </a:r>
            <a:r>
              <a:rPr lang="de-DE" dirty="0" smtClean="0">
                <a:latin typeface="Arial" charset="0"/>
                <a:cs typeface="Arial" charset="0"/>
              </a:rPr>
              <a:t> </a:t>
            </a:r>
            <a:r>
              <a:rPr lang="de-DE" dirty="0" err="1" smtClean="0">
                <a:latin typeface="Arial" charset="0"/>
                <a:cs typeface="Arial" charset="0"/>
              </a:rPr>
              <a:t>thing</a:t>
            </a:r>
            <a:endParaRPr lang="de-DE" dirty="0" smtClean="0">
              <a:latin typeface="Arial" charset="0"/>
              <a:cs typeface="Arial" charset="0"/>
            </a:endParaRPr>
          </a:p>
          <a:p>
            <a:pPr lvl="1" eaLnBrk="1" hangingPunct="1"/>
            <a:r>
              <a:rPr lang="de-DE" dirty="0" smtClean="0">
                <a:latin typeface="Arial" charset="0"/>
                <a:cs typeface="Arial" charset="0"/>
              </a:rPr>
              <a:t>A </a:t>
            </a:r>
            <a:r>
              <a:rPr lang="de-DE" dirty="0" err="1" smtClean="0">
                <a:latin typeface="Arial" charset="0"/>
                <a:cs typeface="Arial" charset="0"/>
              </a:rPr>
              <a:t>pipeline</a:t>
            </a:r>
            <a:r>
              <a:rPr lang="de-DE" dirty="0" smtClean="0">
                <a:latin typeface="Arial" charset="0"/>
                <a:cs typeface="Arial" charset="0"/>
              </a:rPr>
              <a:t> </a:t>
            </a:r>
            <a:r>
              <a:rPr lang="de-DE" dirty="0" err="1" smtClean="0">
                <a:latin typeface="Arial" charset="0"/>
                <a:cs typeface="Arial" charset="0"/>
              </a:rPr>
              <a:t>that</a:t>
            </a:r>
            <a:r>
              <a:rPr lang="de-DE" dirty="0" smtClean="0">
                <a:latin typeface="Arial" charset="0"/>
                <a:cs typeface="Arial" charset="0"/>
              </a:rPr>
              <a:t> </a:t>
            </a:r>
            <a:r>
              <a:rPr lang="de-DE" b="1" dirty="0" err="1" smtClean="0">
                <a:latin typeface="Arial" charset="0"/>
                <a:cs typeface="Arial" charset="0"/>
              </a:rPr>
              <a:t>automates</a:t>
            </a:r>
            <a:r>
              <a:rPr lang="de-DE" b="1" dirty="0" smtClean="0">
                <a:latin typeface="Arial" charset="0"/>
                <a:cs typeface="Arial" charset="0"/>
              </a:rPr>
              <a:t> </a:t>
            </a:r>
            <a:r>
              <a:rPr lang="de-DE" b="1" dirty="0" err="1" smtClean="0">
                <a:latin typeface="Arial" charset="0"/>
                <a:cs typeface="Arial" charset="0"/>
              </a:rPr>
              <a:t>the</a:t>
            </a:r>
            <a:r>
              <a:rPr lang="de-DE" b="1" dirty="0" smtClean="0">
                <a:latin typeface="Arial" charset="0"/>
                <a:cs typeface="Arial" charset="0"/>
              </a:rPr>
              <a:t> </a:t>
            </a:r>
            <a:r>
              <a:rPr lang="de-DE" b="1" dirty="0" err="1" smtClean="0">
                <a:latin typeface="Arial" charset="0"/>
                <a:cs typeface="Arial" charset="0"/>
              </a:rPr>
              <a:t>whole</a:t>
            </a:r>
            <a:r>
              <a:rPr lang="de-DE" b="1" dirty="0" smtClean="0">
                <a:latin typeface="Arial" charset="0"/>
                <a:cs typeface="Arial" charset="0"/>
              </a:rPr>
              <a:t> </a:t>
            </a:r>
            <a:r>
              <a:rPr lang="de-DE" b="1" dirty="0" err="1" smtClean="0">
                <a:latin typeface="Arial" charset="0"/>
                <a:cs typeface="Arial" charset="0"/>
              </a:rPr>
              <a:t>Machine</a:t>
            </a:r>
            <a:r>
              <a:rPr lang="de-DE" b="1" dirty="0" smtClean="0">
                <a:latin typeface="Arial" charset="0"/>
                <a:cs typeface="Arial" charset="0"/>
              </a:rPr>
              <a:t> Learning </a:t>
            </a:r>
            <a:r>
              <a:rPr lang="de-DE" b="1" dirty="0" err="1" smtClean="0">
                <a:latin typeface="Arial" charset="0"/>
                <a:cs typeface="Arial" charset="0"/>
              </a:rPr>
              <a:t>Process</a:t>
            </a:r>
            <a:r>
              <a:rPr lang="de-DE" b="1" dirty="0" smtClean="0">
                <a:latin typeface="Arial" charset="0"/>
                <a:cs typeface="Arial" charset="0"/>
              </a:rPr>
              <a:t> </a:t>
            </a:r>
            <a:r>
              <a:rPr lang="de-DE" dirty="0" smtClean="0">
                <a:latin typeface="Arial" charset="0"/>
                <a:cs typeface="Arial" charset="0"/>
              </a:rPr>
              <a:t>(Train, Export, Evaluation, </a:t>
            </a:r>
            <a:r>
              <a:rPr lang="de-DE" dirty="0" err="1" smtClean="0">
                <a:latin typeface="Arial" charset="0"/>
                <a:cs typeface="Arial" charset="0"/>
              </a:rPr>
              <a:t>Predict</a:t>
            </a:r>
            <a:r>
              <a:rPr lang="de-DE" dirty="0" smtClean="0">
                <a:latin typeface="Arial" charset="0"/>
                <a:cs typeface="Arial" charset="0"/>
              </a:rPr>
              <a:t>)</a:t>
            </a:r>
          </a:p>
          <a:p>
            <a:pPr lvl="1" eaLnBrk="1" hangingPunct="1"/>
            <a:r>
              <a:rPr lang="en-US" b="1" dirty="0" smtClean="0"/>
              <a:t>Store and index training parameters and results </a:t>
            </a:r>
            <a:r>
              <a:rPr lang="en-US" dirty="0" smtClean="0"/>
              <a:t>in a cloud-based database</a:t>
            </a:r>
          </a:p>
          <a:p>
            <a:pPr lvl="1" eaLnBrk="1" hangingPunct="1"/>
            <a:r>
              <a:rPr lang="en-US" dirty="0" smtClean="0">
                <a:latin typeface="Arial" charset="0"/>
                <a:cs typeface="Arial" charset="0"/>
              </a:rPr>
              <a:t>A </a:t>
            </a:r>
            <a:r>
              <a:rPr lang="en-US" b="1" dirty="0" smtClean="0">
                <a:latin typeface="Arial" charset="0"/>
                <a:cs typeface="Arial" charset="0"/>
              </a:rPr>
              <a:t>simple GUI </a:t>
            </a:r>
            <a:r>
              <a:rPr lang="en-US" dirty="0" smtClean="0">
                <a:latin typeface="Arial" charset="0"/>
                <a:cs typeface="Arial" charset="0"/>
              </a:rPr>
              <a:t>to start detection for users who don’t know how to work with the command line</a:t>
            </a:r>
          </a:p>
          <a:p>
            <a:pPr eaLnBrk="1" hangingPunct="1"/>
            <a:r>
              <a:rPr lang="de-DE" dirty="0" smtClean="0">
                <a:latin typeface="Arial" charset="0"/>
                <a:cs typeface="Arial" charset="0"/>
              </a:rPr>
              <a:t>A large </a:t>
            </a:r>
            <a:r>
              <a:rPr lang="de-DE" dirty="0" err="1" smtClean="0">
                <a:latin typeface="Arial" charset="0"/>
                <a:cs typeface="Arial" charset="0"/>
              </a:rPr>
              <a:t>amount</a:t>
            </a:r>
            <a:r>
              <a:rPr lang="de-DE" dirty="0" smtClean="0">
                <a:latin typeface="Arial" charset="0"/>
                <a:cs typeface="Arial" charset="0"/>
              </a:rPr>
              <a:t> </a:t>
            </a:r>
            <a:r>
              <a:rPr lang="de-DE" dirty="0" err="1" smtClean="0">
                <a:latin typeface="Arial" charset="0"/>
                <a:cs typeface="Arial" charset="0"/>
              </a:rPr>
              <a:t>of</a:t>
            </a:r>
            <a:r>
              <a:rPr lang="de-DE" dirty="0" smtClean="0">
                <a:latin typeface="Arial" charset="0"/>
                <a:cs typeface="Arial" charset="0"/>
              </a:rPr>
              <a:t> time was </a:t>
            </a:r>
            <a:r>
              <a:rPr lang="de-DE" dirty="0" err="1" smtClean="0">
                <a:latin typeface="Arial" charset="0"/>
                <a:cs typeface="Arial" charset="0"/>
              </a:rPr>
              <a:t>invested</a:t>
            </a:r>
            <a:r>
              <a:rPr lang="de-DE" dirty="0" smtClean="0">
                <a:latin typeface="Arial" charset="0"/>
                <a:cs typeface="Arial" charset="0"/>
              </a:rPr>
              <a:t> in </a:t>
            </a:r>
            <a:r>
              <a:rPr lang="de-DE" b="1" dirty="0" err="1" smtClean="0">
                <a:latin typeface="Arial" charset="0"/>
                <a:cs typeface="Arial" charset="0"/>
              </a:rPr>
              <a:t>data</a:t>
            </a:r>
            <a:r>
              <a:rPr lang="de-DE" b="1" dirty="0" smtClean="0">
                <a:latin typeface="Arial" charset="0"/>
                <a:cs typeface="Arial" charset="0"/>
              </a:rPr>
              <a:t> </a:t>
            </a:r>
            <a:r>
              <a:rPr lang="de-DE" b="1" dirty="0" err="1" smtClean="0">
                <a:latin typeface="Arial" charset="0"/>
                <a:cs typeface="Arial" charset="0"/>
              </a:rPr>
              <a:t>acquisition</a:t>
            </a:r>
            <a:r>
              <a:rPr lang="de-DE" dirty="0" smtClean="0">
                <a:latin typeface="Arial" charset="0"/>
                <a:cs typeface="Arial" charset="0"/>
              </a:rPr>
              <a:t>, </a:t>
            </a:r>
            <a:r>
              <a:rPr lang="de-DE" dirty="0" err="1" smtClean="0">
                <a:latin typeface="Arial" charset="0"/>
                <a:cs typeface="Arial" charset="0"/>
              </a:rPr>
              <a:t>namely</a:t>
            </a:r>
            <a:r>
              <a:rPr lang="de-DE" dirty="0" smtClean="0">
                <a:latin typeface="Arial" charset="0"/>
                <a:cs typeface="Arial" charset="0"/>
              </a:rPr>
              <a:t> ~2200 </a:t>
            </a:r>
            <a:r>
              <a:rPr lang="de-DE" dirty="0" err="1" smtClean="0">
                <a:latin typeface="Arial" charset="0"/>
                <a:cs typeface="Arial" charset="0"/>
              </a:rPr>
              <a:t>pictures</a:t>
            </a:r>
            <a:r>
              <a:rPr lang="de-DE" dirty="0" smtClean="0">
                <a:latin typeface="Arial" charset="0"/>
                <a:cs typeface="Arial" charset="0"/>
              </a:rPr>
              <a:t> </a:t>
            </a:r>
            <a:r>
              <a:rPr lang="de-DE" dirty="0" err="1" smtClean="0">
                <a:latin typeface="Arial" charset="0"/>
                <a:cs typeface="Arial" charset="0"/>
              </a:rPr>
              <a:t>with</a:t>
            </a:r>
            <a:r>
              <a:rPr lang="de-DE" dirty="0" smtClean="0">
                <a:latin typeface="Arial" charset="0"/>
                <a:cs typeface="Arial" charset="0"/>
              </a:rPr>
              <a:t> </a:t>
            </a:r>
            <a:r>
              <a:rPr lang="de-DE" b="1" dirty="0" err="1" smtClean="0">
                <a:latin typeface="Arial" charset="0"/>
                <a:cs typeface="Arial" charset="0"/>
              </a:rPr>
              <a:t>careful</a:t>
            </a:r>
            <a:r>
              <a:rPr lang="de-DE" b="1" dirty="0" smtClean="0">
                <a:latin typeface="Arial" charset="0"/>
                <a:cs typeface="Arial" charset="0"/>
              </a:rPr>
              <a:t> </a:t>
            </a:r>
            <a:r>
              <a:rPr lang="de-DE" b="1" dirty="0" err="1" smtClean="0">
                <a:latin typeface="Arial" charset="0"/>
                <a:cs typeface="Arial" charset="0"/>
              </a:rPr>
              <a:t>markings</a:t>
            </a:r>
            <a:endParaRPr lang="de-DE" b="1" dirty="0" smtClean="0">
              <a:latin typeface="Arial" charset="0"/>
              <a:cs typeface="Arial" charset="0"/>
            </a:endParaRPr>
          </a:p>
          <a:p>
            <a:pPr marL="0" indent="0" eaLnBrk="1" hangingPunct="1">
              <a:buNone/>
            </a:pPr>
            <a:endParaRPr lang="de-DE"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else</a:t>
            </a:r>
            <a:r>
              <a:rPr lang="de-DE" b="1" dirty="0" smtClean="0">
                <a:cs typeface="Arial" charset="0"/>
              </a:rPr>
              <a:t> was </a:t>
            </a:r>
            <a:r>
              <a:rPr lang="de-DE" b="1" dirty="0" err="1" smtClean="0">
                <a:cs typeface="Arial" charset="0"/>
              </a:rPr>
              <a:t>done</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17</a:t>
            </a:fld>
            <a:endParaRPr lang="de-DE" dirty="0"/>
          </a:p>
        </p:txBody>
      </p:sp>
    </p:spTree>
    <p:extLst>
      <p:ext uri="{BB962C8B-B14F-4D97-AF65-F5344CB8AC3E}">
        <p14:creationId xmlns:p14="http://schemas.microsoft.com/office/powerpoint/2010/main" val="26386176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par>
                                <p:cTn id="8" presetID="9" presetClass="entr" presetSubtype="0" fill="hold" grpId="0" nodeType="withEffect">
                                  <p:stCondLst>
                                    <p:cond delay="0"/>
                                  </p:stCondLst>
                                  <p:iterate type="wd">
                                    <p:tmPct val="10000"/>
                                  </p:iterate>
                                  <p:childTnLst>
                                    <p:set>
                                      <p:cBhvr>
                                        <p:cTn id="9" dur="1" fill="hold">
                                          <p:stCondLst>
                                            <p:cond delay="0"/>
                                          </p:stCondLst>
                                        </p:cTn>
                                        <p:tgtEl>
                                          <p:spTgt spid="81923">
                                            <p:txEl>
                                              <p:pRg st="3" end="3"/>
                                            </p:txEl>
                                          </p:spTgt>
                                        </p:tgtEl>
                                        <p:attrNameLst>
                                          <p:attrName>style.visibility</p:attrName>
                                        </p:attrNameLst>
                                      </p:cBhvr>
                                      <p:to>
                                        <p:strVal val="visible"/>
                                      </p:to>
                                    </p:set>
                                    <p:animEffect transition="in" filter="dissolve">
                                      <p:cBhvr>
                                        <p:cTn id="10" dur="500"/>
                                        <p:tgtEl>
                                          <p:spTgt spid="81923">
                                            <p:txEl>
                                              <p:pRg st="3" end="3"/>
                                            </p:txEl>
                                          </p:spTgt>
                                        </p:tgtEl>
                                      </p:cBhvr>
                                    </p:animEffect>
                                  </p:childTnLst>
                                </p:cTn>
                              </p:par>
                              <p:par>
                                <p:cTn id="11" presetID="9" presetClass="entr" presetSubtype="0" fill="hold" grpId="0" nodeType="withEffect">
                                  <p:stCondLst>
                                    <p:cond delay="0"/>
                                  </p:stCondLst>
                                  <p:iterate type="wd">
                                    <p:tmPct val="10000"/>
                                  </p:iterate>
                                  <p:childTnLst>
                                    <p:set>
                                      <p:cBhvr>
                                        <p:cTn id="12" dur="1" fill="hold">
                                          <p:stCondLst>
                                            <p:cond delay="0"/>
                                          </p:stCondLst>
                                        </p:cTn>
                                        <p:tgtEl>
                                          <p:spTgt spid="81923">
                                            <p:txEl>
                                              <p:pRg st="1" end="1"/>
                                            </p:txEl>
                                          </p:spTgt>
                                        </p:tgtEl>
                                        <p:attrNameLst>
                                          <p:attrName>style.visibility</p:attrName>
                                        </p:attrNameLst>
                                      </p:cBhvr>
                                      <p:to>
                                        <p:strVal val="visible"/>
                                      </p:to>
                                    </p:set>
                                    <p:animEffect transition="in" filter="dissolve">
                                      <p:cBhvr>
                                        <p:cTn id="13" dur="500"/>
                                        <p:tgtEl>
                                          <p:spTgt spid="81923">
                                            <p:txEl>
                                              <p:pRg st="1" end="1"/>
                                            </p:txEl>
                                          </p:spTgt>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8192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iterate type="wd">
                                    <p:tmPct val="10000"/>
                                  </p:iterate>
                                  <p:childTnLst>
                                    <p:set>
                                      <p:cBhvr>
                                        <p:cTn id="19" dur="1" fill="hold">
                                          <p:stCondLst>
                                            <p:cond delay="0"/>
                                          </p:stCondLst>
                                        </p:cTn>
                                        <p:tgtEl>
                                          <p:spTgt spid="81923">
                                            <p:txEl>
                                              <p:pRg st="4" end="4"/>
                                            </p:txEl>
                                          </p:spTgt>
                                        </p:tgtEl>
                                        <p:attrNameLst>
                                          <p:attrName>style.visibility</p:attrName>
                                        </p:attrNameLst>
                                      </p:cBhvr>
                                      <p:to>
                                        <p:strVal val="visible"/>
                                      </p:to>
                                    </p:set>
                                    <p:animEffect transition="in" filter="dissolve">
                                      <p:cBhvr>
                                        <p:cTn id="20" dur="500"/>
                                        <p:tgtEl>
                                          <p:spTgt spid="819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dirty="0" smtClean="0">
                <a:latin typeface="Arial" charset="0"/>
                <a:cs typeface="Arial" charset="0"/>
              </a:rPr>
              <a:t>I </a:t>
            </a:r>
            <a:r>
              <a:rPr lang="de-DE" dirty="0" err="1" smtClean="0">
                <a:latin typeface="Arial" charset="0"/>
                <a:cs typeface="Arial" charset="0"/>
              </a:rPr>
              <a:t>documented</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a:t>
            </a:r>
            <a:r>
              <a:rPr lang="de-DE" dirty="0" err="1" smtClean="0">
                <a:latin typeface="Arial" charset="0"/>
                <a:cs typeface="Arial" charset="0"/>
              </a:rPr>
              <a:t>whole</a:t>
            </a:r>
            <a:r>
              <a:rPr lang="de-DE" dirty="0" smtClean="0">
                <a:latin typeface="Arial" charset="0"/>
                <a:cs typeface="Arial" charset="0"/>
              </a:rPr>
              <a:t> </a:t>
            </a:r>
            <a:r>
              <a:rPr lang="de-DE" dirty="0" err="1" smtClean="0">
                <a:latin typeface="Arial" charset="0"/>
                <a:cs typeface="Arial" charset="0"/>
              </a:rPr>
              <a:t>journey</a:t>
            </a:r>
            <a:r>
              <a:rPr lang="de-DE" dirty="0" smtClean="0">
                <a:latin typeface="Arial" charset="0"/>
                <a:cs typeface="Arial" charset="0"/>
              </a:rPr>
              <a:t> </a:t>
            </a:r>
            <a:r>
              <a:rPr lang="de-DE" dirty="0" err="1" smtClean="0">
                <a:latin typeface="Arial" charset="0"/>
                <a:cs typeface="Arial" charset="0"/>
              </a:rPr>
              <a:t>of</a:t>
            </a:r>
            <a:r>
              <a:rPr lang="de-DE" dirty="0" smtClean="0">
                <a:latin typeface="Arial" charset="0"/>
                <a:cs typeface="Arial" charset="0"/>
              </a:rPr>
              <a:t> </a:t>
            </a:r>
            <a:r>
              <a:rPr lang="de-DE" dirty="0" err="1" smtClean="0">
                <a:latin typeface="Arial" charset="0"/>
                <a:cs typeface="Arial" charset="0"/>
              </a:rPr>
              <a:t>my</a:t>
            </a:r>
            <a:r>
              <a:rPr lang="de-DE" dirty="0" smtClean="0">
                <a:latin typeface="Arial" charset="0"/>
                <a:cs typeface="Arial" charset="0"/>
              </a:rPr>
              <a:t> </a:t>
            </a:r>
            <a:r>
              <a:rPr lang="de-DE" dirty="0" err="1" smtClean="0">
                <a:latin typeface="Arial" charset="0"/>
                <a:cs typeface="Arial" charset="0"/>
              </a:rPr>
              <a:t>project</a:t>
            </a:r>
            <a:r>
              <a:rPr lang="de-DE" dirty="0" smtClean="0">
                <a:latin typeface="Arial" charset="0"/>
                <a:cs typeface="Arial" charset="0"/>
              </a:rPr>
              <a:t> </a:t>
            </a:r>
            <a:r>
              <a:rPr lang="de-DE" dirty="0" err="1" smtClean="0">
                <a:latin typeface="Arial" charset="0"/>
                <a:cs typeface="Arial" charset="0"/>
              </a:rPr>
              <a:t>of</a:t>
            </a:r>
            <a:r>
              <a:rPr lang="de-DE" dirty="0" smtClean="0">
                <a:latin typeface="Arial" charset="0"/>
                <a:cs typeface="Arial" charset="0"/>
              </a:rPr>
              <a:t> </a:t>
            </a:r>
            <a:r>
              <a:rPr lang="de-DE" dirty="0" err="1" smtClean="0">
                <a:latin typeface="Arial" charset="0"/>
                <a:cs typeface="Arial" charset="0"/>
              </a:rPr>
              <a:t>my</a:t>
            </a:r>
            <a:r>
              <a:rPr lang="de-DE" dirty="0" smtClean="0">
                <a:latin typeface="Arial" charset="0"/>
                <a:cs typeface="Arial" charset="0"/>
              </a:rPr>
              <a:t> </a:t>
            </a:r>
            <a:r>
              <a:rPr lang="de-DE" dirty="0" err="1" smtClean="0">
                <a:latin typeface="Arial" charset="0"/>
                <a:cs typeface="Arial" charset="0"/>
              </a:rPr>
              <a:t>approach</a:t>
            </a:r>
            <a:r>
              <a:rPr lang="de-DE" dirty="0" smtClean="0">
                <a:latin typeface="Arial" charset="0"/>
                <a:cs typeface="Arial" charset="0"/>
              </a:rPr>
              <a:t> </a:t>
            </a:r>
            <a:r>
              <a:rPr lang="de-DE" dirty="0" err="1" smtClean="0">
                <a:latin typeface="Arial" charset="0"/>
                <a:cs typeface="Arial" charset="0"/>
              </a:rPr>
              <a:t>to</a:t>
            </a:r>
            <a:r>
              <a:rPr lang="de-DE" dirty="0" smtClean="0">
                <a:latin typeface="Arial" charset="0"/>
                <a:cs typeface="Arial" charset="0"/>
              </a:rPr>
              <a:t> </a:t>
            </a:r>
            <a:r>
              <a:rPr lang="de-DE" dirty="0" err="1" smtClean="0">
                <a:latin typeface="Arial" charset="0"/>
                <a:cs typeface="Arial" charset="0"/>
              </a:rPr>
              <a:t>achieve</a:t>
            </a:r>
            <a:r>
              <a:rPr lang="de-DE" dirty="0" smtClean="0">
                <a:latin typeface="Arial" charset="0"/>
                <a:cs typeface="Arial" charset="0"/>
              </a:rPr>
              <a:t> „</a:t>
            </a:r>
            <a:r>
              <a:rPr lang="de-DE" dirty="0" err="1" smtClean="0">
                <a:latin typeface="Arial" charset="0"/>
                <a:cs typeface="Arial" charset="0"/>
              </a:rPr>
              <a:t>better</a:t>
            </a:r>
            <a:r>
              <a:rPr lang="de-DE" dirty="0" smtClean="0">
                <a:latin typeface="Arial" charset="0"/>
                <a:cs typeface="Arial" charset="0"/>
              </a:rPr>
              <a:t>“</a:t>
            </a:r>
          </a:p>
          <a:p>
            <a:pPr lvl="1" eaLnBrk="1" hangingPunct="1"/>
            <a:r>
              <a:rPr lang="de-DE" dirty="0" smtClean="0">
                <a:latin typeface="Arial" charset="0"/>
                <a:cs typeface="Arial" charset="0"/>
              </a:rPr>
              <a:t>Motivation </a:t>
            </a:r>
            <a:r>
              <a:rPr lang="de-DE" dirty="0" err="1" smtClean="0">
                <a:latin typeface="Arial" charset="0"/>
                <a:cs typeface="Arial" charset="0"/>
              </a:rPr>
              <a:t>and</a:t>
            </a:r>
            <a:r>
              <a:rPr lang="de-DE" dirty="0" smtClean="0">
                <a:latin typeface="Arial" charset="0"/>
                <a:cs typeface="Arial" charset="0"/>
              </a:rPr>
              <a:t> </a:t>
            </a:r>
            <a:r>
              <a:rPr lang="de-DE" dirty="0" err="1" smtClean="0">
                <a:latin typeface="Arial" charset="0"/>
                <a:cs typeface="Arial" charset="0"/>
              </a:rPr>
              <a:t>Objectives</a:t>
            </a:r>
            <a:endParaRPr lang="de-DE" dirty="0" smtClean="0">
              <a:latin typeface="Arial" charset="0"/>
              <a:cs typeface="Arial" charset="0"/>
            </a:endParaRPr>
          </a:p>
          <a:p>
            <a:pPr lvl="1" eaLnBrk="1" hangingPunct="1"/>
            <a:r>
              <a:rPr lang="de-DE" dirty="0" err="1" smtClean="0">
                <a:latin typeface="Arial" charset="0"/>
                <a:cs typeface="Arial" charset="0"/>
              </a:rPr>
              <a:t>Literature</a:t>
            </a:r>
            <a:r>
              <a:rPr lang="de-DE" dirty="0" smtClean="0">
                <a:latin typeface="Arial" charset="0"/>
                <a:cs typeface="Arial" charset="0"/>
              </a:rPr>
              <a:t> </a:t>
            </a:r>
            <a:r>
              <a:rPr lang="de-DE" dirty="0" err="1" smtClean="0">
                <a:latin typeface="Arial" charset="0"/>
                <a:cs typeface="Arial" charset="0"/>
              </a:rPr>
              <a:t>Reivew</a:t>
            </a:r>
            <a:endParaRPr lang="de-DE" dirty="0" smtClean="0">
              <a:latin typeface="Arial" charset="0"/>
              <a:cs typeface="Arial" charset="0"/>
            </a:endParaRPr>
          </a:p>
          <a:p>
            <a:pPr lvl="1" eaLnBrk="1" hangingPunct="1"/>
            <a:r>
              <a:rPr lang="de-DE" dirty="0" err="1" smtClean="0">
                <a:latin typeface="Arial" charset="0"/>
                <a:cs typeface="Arial" charset="0"/>
              </a:rPr>
              <a:t>Methodologies</a:t>
            </a:r>
            <a:endParaRPr lang="de-DE" dirty="0" smtClean="0">
              <a:latin typeface="Arial" charset="0"/>
              <a:cs typeface="Arial" charset="0"/>
            </a:endParaRPr>
          </a:p>
          <a:p>
            <a:pPr lvl="1" eaLnBrk="1" hangingPunct="1"/>
            <a:r>
              <a:rPr lang="de-DE" dirty="0" err="1" smtClean="0">
                <a:latin typeface="Arial" charset="0"/>
                <a:cs typeface="Arial" charset="0"/>
              </a:rPr>
              <a:t>Results</a:t>
            </a:r>
            <a:r>
              <a:rPr lang="de-DE" dirty="0" smtClean="0">
                <a:latin typeface="Arial" charset="0"/>
                <a:cs typeface="Arial" charset="0"/>
              </a:rPr>
              <a:t> Evaluation</a:t>
            </a:r>
          </a:p>
          <a:p>
            <a:pPr lvl="1" eaLnBrk="1" hangingPunct="1"/>
            <a:r>
              <a:rPr lang="de-DE" dirty="0" smtClean="0">
                <a:latin typeface="Arial" charset="0"/>
                <a:cs typeface="Arial" charset="0"/>
              </a:rPr>
              <a:t>Future Outlook</a:t>
            </a: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did</a:t>
            </a:r>
            <a:r>
              <a:rPr lang="de-DE" b="1" dirty="0" smtClean="0">
                <a:cs typeface="Arial" charset="0"/>
              </a:rPr>
              <a:t> I </a:t>
            </a:r>
            <a:r>
              <a:rPr lang="de-DE" b="1" dirty="0" err="1" smtClean="0">
                <a:cs typeface="Arial" charset="0"/>
              </a:rPr>
              <a:t>write</a:t>
            </a:r>
            <a:r>
              <a:rPr lang="de-DE" b="1" dirty="0" smtClean="0">
                <a:cs typeface="Arial" charset="0"/>
              </a:rPr>
              <a:t> in </a:t>
            </a:r>
            <a:r>
              <a:rPr lang="de-DE" b="1" dirty="0" err="1" smtClean="0">
                <a:cs typeface="Arial" charset="0"/>
              </a:rPr>
              <a:t>my</a:t>
            </a:r>
            <a:r>
              <a:rPr lang="de-DE" b="1" dirty="0" smtClean="0">
                <a:cs typeface="Arial" charset="0"/>
              </a:rPr>
              <a:t> Thesis?</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18</a:t>
            </a:fld>
            <a:endParaRPr lang="de-DE" dirty="0"/>
          </a:p>
        </p:txBody>
      </p:sp>
    </p:spTree>
    <p:extLst>
      <p:ext uri="{BB962C8B-B14F-4D97-AF65-F5344CB8AC3E}">
        <p14:creationId xmlns:p14="http://schemas.microsoft.com/office/powerpoint/2010/main" val="543971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par>
                                <p:cTn id="8" presetID="9" presetClass="entr" presetSubtype="0" fill="hold" grpId="0" nodeType="withEffect">
                                  <p:stCondLst>
                                    <p:cond delay="0"/>
                                  </p:stCondLst>
                                  <p:iterate type="wd">
                                    <p:tmPct val="10000"/>
                                  </p:iterate>
                                  <p:childTnLst>
                                    <p:set>
                                      <p:cBhvr>
                                        <p:cTn id="9" dur="1" fill="hold">
                                          <p:stCondLst>
                                            <p:cond delay="0"/>
                                          </p:stCondLst>
                                        </p:cTn>
                                        <p:tgtEl>
                                          <p:spTgt spid="81923">
                                            <p:txEl>
                                              <p:pRg st="1" end="1"/>
                                            </p:txEl>
                                          </p:spTgt>
                                        </p:tgtEl>
                                        <p:attrNameLst>
                                          <p:attrName>style.visibility</p:attrName>
                                        </p:attrNameLst>
                                      </p:cBhvr>
                                      <p:to>
                                        <p:strVal val="visible"/>
                                      </p:to>
                                    </p:set>
                                    <p:animEffect transition="in" filter="dissolve">
                                      <p:cBhvr>
                                        <p:cTn id="10" dur="500"/>
                                        <p:tgtEl>
                                          <p:spTgt spid="81923">
                                            <p:txEl>
                                              <p:pRg st="1" end="1"/>
                                            </p:txEl>
                                          </p:spTgt>
                                        </p:tgtEl>
                                      </p:cBhvr>
                                    </p:animEffect>
                                  </p:childTnLst>
                                </p:cTn>
                              </p:par>
                              <p:par>
                                <p:cTn id="11" presetID="9" presetClass="entr" presetSubtype="0" fill="hold" grpId="0" nodeType="withEffect">
                                  <p:stCondLst>
                                    <p:cond delay="0"/>
                                  </p:stCondLst>
                                  <p:iterate type="wd">
                                    <p:tmPct val="10000"/>
                                  </p:iterate>
                                  <p:childTnLst>
                                    <p:set>
                                      <p:cBhvr>
                                        <p:cTn id="12" dur="1" fill="hold">
                                          <p:stCondLst>
                                            <p:cond delay="0"/>
                                          </p:stCondLst>
                                        </p:cTn>
                                        <p:tgtEl>
                                          <p:spTgt spid="81923">
                                            <p:txEl>
                                              <p:pRg st="2" end="2"/>
                                            </p:txEl>
                                          </p:spTgt>
                                        </p:tgtEl>
                                        <p:attrNameLst>
                                          <p:attrName>style.visibility</p:attrName>
                                        </p:attrNameLst>
                                      </p:cBhvr>
                                      <p:to>
                                        <p:strVal val="visible"/>
                                      </p:to>
                                    </p:set>
                                    <p:animEffect transition="in" filter="dissolve">
                                      <p:cBhvr>
                                        <p:cTn id="13" dur="500"/>
                                        <p:tgtEl>
                                          <p:spTgt spid="81923">
                                            <p:txEl>
                                              <p:pRg st="2" end="2"/>
                                            </p:txEl>
                                          </p:spTgt>
                                        </p:tgtEl>
                                      </p:cBhvr>
                                    </p:animEffect>
                                  </p:childTnLst>
                                </p:cTn>
                              </p:par>
                              <p:par>
                                <p:cTn id="14" presetID="9" presetClass="entr" presetSubtype="0" fill="hold" grpId="0" nodeType="withEffect">
                                  <p:stCondLst>
                                    <p:cond delay="0"/>
                                  </p:stCondLst>
                                  <p:iterate type="wd">
                                    <p:tmPct val="10000"/>
                                  </p:iterate>
                                  <p:childTnLst>
                                    <p:set>
                                      <p:cBhvr>
                                        <p:cTn id="15" dur="1" fill="hold">
                                          <p:stCondLst>
                                            <p:cond delay="0"/>
                                          </p:stCondLst>
                                        </p:cTn>
                                        <p:tgtEl>
                                          <p:spTgt spid="81923">
                                            <p:txEl>
                                              <p:pRg st="3" end="3"/>
                                            </p:txEl>
                                          </p:spTgt>
                                        </p:tgtEl>
                                        <p:attrNameLst>
                                          <p:attrName>style.visibility</p:attrName>
                                        </p:attrNameLst>
                                      </p:cBhvr>
                                      <p:to>
                                        <p:strVal val="visible"/>
                                      </p:to>
                                    </p:set>
                                    <p:animEffect transition="in" filter="dissolve">
                                      <p:cBhvr>
                                        <p:cTn id="16" dur="500"/>
                                        <p:tgtEl>
                                          <p:spTgt spid="81923">
                                            <p:txEl>
                                              <p:pRg st="3" end="3"/>
                                            </p:txEl>
                                          </p:spTgt>
                                        </p:tgtEl>
                                      </p:cBhvr>
                                    </p:animEffect>
                                  </p:childTnLst>
                                </p:cTn>
                              </p:par>
                              <p:par>
                                <p:cTn id="17" presetID="9" presetClass="entr" presetSubtype="0" fill="hold" grpId="0" nodeType="withEffect">
                                  <p:stCondLst>
                                    <p:cond delay="0"/>
                                  </p:stCondLst>
                                  <p:iterate type="wd">
                                    <p:tmPct val="10000"/>
                                  </p:iterate>
                                  <p:childTnLst>
                                    <p:set>
                                      <p:cBhvr>
                                        <p:cTn id="18" dur="1" fill="hold">
                                          <p:stCondLst>
                                            <p:cond delay="0"/>
                                          </p:stCondLst>
                                        </p:cTn>
                                        <p:tgtEl>
                                          <p:spTgt spid="81923">
                                            <p:txEl>
                                              <p:pRg st="4" end="4"/>
                                            </p:txEl>
                                          </p:spTgt>
                                        </p:tgtEl>
                                        <p:attrNameLst>
                                          <p:attrName>style.visibility</p:attrName>
                                        </p:attrNameLst>
                                      </p:cBhvr>
                                      <p:to>
                                        <p:strVal val="visible"/>
                                      </p:to>
                                    </p:set>
                                    <p:animEffect transition="in" filter="dissolve">
                                      <p:cBhvr>
                                        <p:cTn id="19" dur="500"/>
                                        <p:tgtEl>
                                          <p:spTgt spid="81923">
                                            <p:txEl>
                                              <p:pRg st="4" end="4"/>
                                            </p:txEl>
                                          </p:spTgt>
                                        </p:tgtEl>
                                      </p:cBhvr>
                                    </p:animEffect>
                                  </p:childTnLst>
                                </p:cTn>
                              </p:par>
                              <p:par>
                                <p:cTn id="20" presetID="9" presetClass="entr" presetSubtype="0" fill="hold" grpId="0" nodeType="withEffect">
                                  <p:stCondLst>
                                    <p:cond delay="0"/>
                                  </p:stCondLst>
                                  <p:iterate type="wd">
                                    <p:tmPct val="10000"/>
                                  </p:iterate>
                                  <p:childTnLst>
                                    <p:set>
                                      <p:cBhvr>
                                        <p:cTn id="21" dur="1" fill="hold">
                                          <p:stCondLst>
                                            <p:cond delay="0"/>
                                          </p:stCondLst>
                                        </p:cTn>
                                        <p:tgtEl>
                                          <p:spTgt spid="81923">
                                            <p:txEl>
                                              <p:pRg st="5" end="5"/>
                                            </p:txEl>
                                          </p:spTgt>
                                        </p:tgtEl>
                                        <p:attrNameLst>
                                          <p:attrName>style.visibility</p:attrName>
                                        </p:attrNameLst>
                                      </p:cBhvr>
                                      <p:to>
                                        <p:strVal val="visible"/>
                                      </p:to>
                                    </p:set>
                                    <p:animEffect transition="in" filter="dissolve">
                                      <p:cBhvr>
                                        <p:cTn id="22" dur="500"/>
                                        <p:tgtEl>
                                          <p:spTgt spid="819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smtClean="0">
                <a:latin typeface="Arial" charset="0"/>
                <a:cs typeface="Arial" charset="0"/>
              </a:rPr>
              <a:t>Thesis Report</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dirty="0" smtClean="0">
                <a:latin typeface="Arial" charset="0"/>
                <a:cs typeface="Arial" charset="0"/>
              </a:rPr>
              <a:t>Add </a:t>
            </a:r>
            <a:r>
              <a:rPr lang="de-DE" b="1" dirty="0" err="1" smtClean="0">
                <a:latin typeface="Arial" charset="0"/>
                <a:cs typeface="Arial" charset="0"/>
              </a:rPr>
              <a:t>more</a:t>
            </a:r>
            <a:r>
              <a:rPr lang="de-DE" b="1" dirty="0" smtClean="0">
                <a:latin typeface="Arial" charset="0"/>
                <a:cs typeface="Arial" charset="0"/>
              </a:rPr>
              <a:t> </a:t>
            </a:r>
            <a:r>
              <a:rPr lang="de-DE" b="1" dirty="0" err="1" smtClean="0">
                <a:latin typeface="Arial" charset="0"/>
                <a:cs typeface="Arial" charset="0"/>
              </a:rPr>
              <a:t>features</a:t>
            </a:r>
            <a:r>
              <a:rPr lang="de-DE" b="1" dirty="0" smtClean="0">
                <a:latin typeface="Arial" charset="0"/>
                <a:cs typeface="Arial" charset="0"/>
              </a:rPr>
              <a:t> </a:t>
            </a:r>
            <a:r>
              <a:rPr lang="de-DE" dirty="0" err="1" smtClean="0">
                <a:latin typeface="Arial" charset="0"/>
                <a:cs typeface="Arial" charset="0"/>
              </a:rPr>
              <a:t>to</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a:t>
            </a:r>
            <a:r>
              <a:rPr lang="de-DE" dirty="0" err="1" smtClean="0">
                <a:latin typeface="Arial" charset="0"/>
                <a:cs typeface="Arial" charset="0"/>
              </a:rPr>
              <a:t>system</a:t>
            </a:r>
            <a:r>
              <a:rPr lang="de-DE" dirty="0" smtClean="0">
                <a:latin typeface="Arial" charset="0"/>
                <a:cs typeface="Arial" charset="0"/>
              </a:rPr>
              <a:t>:</a:t>
            </a:r>
          </a:p>
          <a:p>
            <a:pPr lvl="1" eaLnBrk="1" hangingPunct="1"/>
            <a:r>
              <a:rPr lang="de-DE" dirty="0" smtClean="0">
                <a:latin typeface="Arial" charset="0"/>
                <a:cs typeface="Arial" charset="0"/>
              </a:rPr>
              <a:t>Generating a </a:t>
            </a:r>
            <a:r>
              <a:rPr lang="de-DE" dirty="0" err="1" smtClean="0">
                <a:latin typeface="Arial" charset="0"/>
                <a:cs typeface="Arial" charset="0"/>
              </a:rPr>
              <a:t>report</a:t>
            </a:r>
            <a:r>
              <a:rPr lang="de-DE" dirty="0" smtClean="0">
                <a:latin typeface="Arial" charset="0"/>
                <a:cs typeface="Arial" charset="0"/>
              </a:rPr>
              <a:t> after </a:t>
            </a:r>
            <a:r>
              <a:rPr lang="de-DE" dirty="0" err="1" smtClean="0">
                <a:latin typeface="Arial" charset="0"/>
                <a:cs typeface="Arial" charset="0"/>
              </a:rPr>
              <a:t>detection</a:t>
            </a:r>
            <a:endParaRPr lang="de-DE" dirty="0" smtClean="0">
              <a:latin typeface="Arial" charset="0"/>
              <a:cs typeface="Arial" charset="0"/>
            </a:endParaRPr>
          </a:p>
          <a:p>
            <a:pPr lvl="1" eaLnBrk="1" hangingPunct="1"/>
            <a:r>
              <a:rPr lang="de-DE" dirty="0" smtClean="0">
                <a:latin typeface="Arial" charset="0"/>
                <a:cs typeface="Arial" charset="0"/>
              </a:rPr>
              <a:t>Further </a:t>
            </a:r>
            <a:r>
              <a:rPr lang="de-DE" dirty="0" err="1" smtClean="0">
                <a:latin typeface="Arial" charset="0"/>
                <a:cs typeface="Arial" charset="0"/>
              </a:rPr>
              <a:t>improve</a:t>
            </a:r>
            <a:r>
              <a:rPr lang="de-DE" dirty="0" smtClean="0">
                <a:latin typeface="Arial" charset="0"/>
                <a:cs typeface="Arial" charset="0"/>
              </a:rPr>
              <a:t> </a:t>
            </a:r>
            <a:r>
              <a:rPr lang="de-DE" dirty="0" err="1" smtClean="0">
                <a:latin typeface="Arial" charset="0"/>
                <a:cs typeface="Arial" charset="0"/>
              </a:rPr>
              <a:t>error</a:t>
            </a:r>
            <a:r>
              <a:rPr lang="de-DE" dirty="0" smtClean="0">
                <a:latin typeface="Arial" charset="0"/>
                <a:cs typeface="Arial" charset="0"/>
              </a:rPr>
              <a:t> </a:t>
            </a:r>
            <a:r>
              <a:rPr lang="de-DE" dirty="0" err="1" smtClean="0">
                <a:latin typeface="Arial" charset="0"/>
                <a:cs typeface="Arial" charset="0"/>
              </a:rPr>
              <a:t>handling</a:t>
            </a:r>
            <a:endParaRPr lang="de-DE" dirty="0" smtClean="0">
              <a:latin typeface="Arial" charset="0"/>
              <a:cs typeface="Arial" charset="0"/>
            </a:endParaRPr>
          </a:p>
          <a:p>
            <a:pPr lvl="1" eaLnBrk="1" hangingPunct="1"/>
            <a:r>
              <a:rPr lang="de-DE" dirty="0" smtClean="0">
                <a:latin typeface="Arial" charset="0"/>
                <a:cs typeface="Arial" charset="0"/>
              </a:rPr>
              <a:t>Further </a:t>
            </a:r>
            <a:r>
              <a:rPr lang="de-DE" dirty="0" err="1" smtClean="0">
                <a:latin typeface="Arial" charset="0"/>
                <a:cs typeface="Arial" charset="0"/>
              </a:rPr>
              <a:t>refine</a:t>
            </a:r>
            <a:r>
              <a:rPr lang="de-DE" dirty="0" smtClean="0">
                <a:latin typeface="Arial" charset="0"/>
                <a:cs typeface="Arial" charset="0"/>
              </a:rPr>
              <a:t> GUI</a:t>
            </a:r>
          </a:p>
          <a:p>
            <a:pPr lvl="1" eaLnBrk="1" hangingPunct="1"/>
            <a:r>
              <a:rPr lang="de-DE" dirty="0" smtClean="0">
                <a:latin typeface="Arial" charset="0"/>
                <a:cs typeface="Arial" charset="0"/>
              </a:rPr>
              <a:t>Further </a:t>
            </a:r>
            <a:r>
              <a:rPr lang="de-DE" dirty="0" err="1" smtClean="0">
                <a:latin typeface="Arial" charset="0"/>
                <a:cs typeface="Arial" charset="0"/>
              </a:rPr>
              <a:t>refine</a:t>
            </a:r>
            <a:r>
              <a:rPr lang="de-DE" dirty="0" smtClean="0">
                <a:latin typeface="Arial" charset="0"/>
                <a:cs typeface="Arial" charset="0"/>
              </a:rPr>
              <a:t> </a:t>
            </a:r>
            <a:r>
              <a:rPr lang="de-DE" dirty="0" err="1" smtClean="0">
                <a:latin typeface="Arial" charset="0"/>
                <a:cs typeface="Arial" charset="0"/>
              </a:rPr>
              <a:t>unit</a:t>
            </a:r>
            <a:r>
              <a:rPr lang="de-DE" dirty="0" smtClean="0">
                <a:latin typeface="Arial" charset="0"/>
                <a:cs typeface="Arial" charset="0"/>
              </a:rPr>
              <a:t> </a:t>
            </a:r>
            <a:r>
              <a:rPr lang="de-DE" dirty="0" err="1" smtClean="0">
                <a:latin typeface="Arial" charset="0"/>
                <a:cs typeface="Arial" charset="0"/>
              </a:rPr>
              <a:t>testing</a:t>
            </a:r>
            <a:r>
              <a:rPr lang="de-DE" dirty="0" smtClean="0">
                <a:latin typeface="Arial" charset="0"/>
                <a:cs typeface="Arial" charset="0"/>
              </a:rPr>
              <a:t> </a:t>
            </a:r>
            <a:r>
              <a:rPr lang="de-DE" dirty="0" err="1" smtClean="0">
                <a:latin typeface="Arial" charset="0"/>
                <a:cs typeface="Arial" charset="0"/>
              </a:rPr>
              <a:t>and</a:t>
            </a:r>
            <a:r>
              <a:rPr lang="de-DE" dirty="0" smtClean="0">
                <a:latin typeface="Arial" charset="0"/>
                <a:cs typeface="Arial" charset="0"/>
              </a:rPr>
              <a:t> </a:t>
            </a:r>
            <a:r>
              <a:rPr lang="de-DE" dirty="0" err="1" smtClean="0">
                <a:latin typeface="Arial" charset="0"/>
                <a:cs typeface="Arial" charset="0"/>
              </a:rPr>
              <a:t>validation</a:t>
            </a:r>
            <a:r>
              <a:rPr lang="de-DE" dirty="0" smtClean="0">
                <a:latin typeface="Arial" charset="0"/>
                <a:cs typeface="Arial" charset="0"/>
              </a:rPr>
              <a:t> </a:t>
            </a:r>
            <a:r>
              <a:rPr lang="de-DE" dirty="0" err="1" smtClean="0">
                <a:latin typeface="Arial" charset="0"/>
                <a:cs typeface="Arial" charset="0"/>
              </a:rPr>
              <a:t>testing</a:t>
            </a:r>
            <a:endParaRPr lang="de-DE" dirty="0" smtClean="0">
              <a:latin typeface="Arial" charset="0"/>
              <a:cs typeface="Arial" charset="0"/>
            </a:endParaRPr>
          </a:p>
          <a:p>
            <a:pPr lvl="1" eaLnBrk="1" hangingPunct="1"/>
            <a:r>
              <a:rPr lang="de-DE" dirty="0" smtClean="0">
                <a:latin typeface="Arial" charset="0"/>
                <a:cs typeface="Arial" charset="0"/>
              </a:rPr>
              <a:t>..</a:t>
            </a:r>
          </a:p>
          <a:p>
            <a:pPr eaLnBrk="1" hangingPunct="1"/>
            <a:r>
              <a:rPr lang="de-DE" dirty="0" smtClean="0">
                <a:latin typeface="Arial" charset="0"/>
                <a:cs typeface="Arial" charset="0"/>
              </a:rPr>
              <a:t>Further </a:t>
            </a:r>
            <a:r>
              <a:rPr lang="de-DE" dirty="0" err="1" smtClean="0">
                <a:latin typeface="Arial" charset="0"/>
                <a:cs typeface="Arial" charset="0"/>
              </a:rPr>
              <a:t>improve</a:t>
            </a:r>
            <a:r>
              <a:rPr lang="de-DE" dirty="0" smtClean="0">
                <a:latin typeface="Arial" charset="0"/>
                <a:cs typeface="Arial" charset="0"/>
              </a:rPr>
              <a:t> </a:t>
            </a:r>
            <a:r>
              <a:rPr lang="de-DE" b="1" dirty="0" err="1" smtClean="0">
                <a:latin typeface="Arial" charset="0"/>
                <a:cs typeface="Arial" charset="0"/>
              </a:rPr>
              <a:t>dataset</a:t>
            </a:r>
            <a:r>
              <a:rPr lang="de-DE" b="1" dirty="0" smtClean="0">
                <a:latin typeface="Arial" charset="0"/>
                <a:cs typeface="Arial" charset="0"/>
              </a:rPr>
              <a:t> </a:t>
            </a:r>
            <a:r>
              <a:rPr lang="de-DE" b="1" dirty="0" err="1" smtClean="0">
                <a:latin typeface="Arial" charset="0"/>
                <a:cs typeface="Arial" charset="0"/>
              </a:rPr>
              <a:t>quality</a:t>
            </a:r>
            <a:endParaRPr lang="de-DE" b="1" dirty="0" smtClean="0">
              <a:latin typeface="Arial" charset="0"/>
              <a:cs typeface="Arial" charset="0"/>
            </a:endParaRPr>
          </a:p>
          <a:p>
            <a:pPr eaLnBrk="1" hangingPunct="1"/>
            <a:r>
              <a:rPr lang="de-DE" dirty="0" err="1" smtClean="0">
                <a:latin typeface="Arial" charset="0"/>
                <a:cs typeface="Arial" charset="0"/>
              </a:rPr>
              <a:t>Explore</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a:t>
            </a:r>
            <a:r>
              <a:rPr lang="de-DE" dirty="0" err="1" smtClean="0">
                <a:latin typeface="Arial" charset="0"/>
                <a:cs typeface="Arial" charset="0"/>
              </a:rPr>
              <a:t>opportunity</a:t>
            </a:r>
            <a:r>
              <a:rPr lang="de-DE" dirty="0" smtClean="0">
                <a:latin typeface="Arial" charset="0"/>
                <a:cs typeface="Arial" charset="0"/>
              </a:rPr>
              <a:t> </a:t>
            </a:r>
            <a:r>
              <a:rPr lang="de-DE" dirty="0" err="1" smtClean="0">
                <a:latin typeface="Arial" charset="0"/>
                <a:cs typeface="Arial" charset="0"/>
              </a:rPr>
              <a:t>to</a:t>
            </a:r>
            <a:r>
              <a:rPr lang="de-DE" dirty="0" smtClean="0">
                <a:latin typeface="Arial" charset="0"/>
                <a:cs typeface="Arial" charset="0"/>
              </a:rPr>
              <a:t> </a:t>
            </a:r>
            <a:r>
              <a:rPr lang="de-DE" b="1" dirty="0" err="1" smtClean="0">
                <a:latin typeface="Arial" charset="0"/>
                <a:cs typeface="Arial" charset="0"/>
              </a:rPr>
              <a:t>scale</a:t>
            </a:r>
            <a:r>
              <a:rPr lang="de-DE" b="1" dirty="0" smtClean="0">
                <a:latin typeface="Arial" charset="0"/>
                <a:cs typeface="Arial" charset="0"/>
              </a:rPr>
              <a:t> </a:t>
            </a:r>
            <a:r>
              <a:rPr lang="de-DE" b="1" dirty="0" err="1" smtClean="0">
                <a:latin typeface="Arial" charset="0"/>
                <a:cs typeface="Arial" charset="0"/>
              </a:rPr>
              <a:t>the</a:t>
            </a:r>
            <a:r>
              <a:rPr lang="de-DE" b="1" dirty="0" smtClean="0">
                <a:latin typeface="Arial" charset="0"/>
                <a:cs typeface="Arial" charset="0"/>
              </a:rPr>
              <a:t> </a:t>
            </a:r>
            <a:r>
              <a:rPr lang="de-DE" b="1" dirty="0" err="1" smtClean="0">
                <a:latin typeface="Arial" charset="0"/>
                <a:cs typeface="Arial" charset="0"/>
              </a:rPr>
              <a:t>system</a:t>
            </a:r>
            <a:r>
              <a:rPr lang="de-DE" b="1" dirty="0" smtClean="0">
                <a:latin typeface="Arial" charset="0"/>
                <a:cs typeface="Arial" charset="0"/>
              </a:rPr>
              <a:t> </a:t>
            </a:r>
            <a:r>
              <a:rPr lang="de-DE" dirty="0" err="1" smtClean="0">
                <a:latin typeface="Arial" charset="0"/>
                <a:cs typeface="Arial" charset="0"/>
              </a:rPr>
              <a:t>to</a:t>
            </a:r>
            <a:r>
              <a:rPr lang="de-DE" dirty="0" smtClean="0">
                <a:latin typeface="Arial" charset="0"/>
                <a:cs typeface="Arial" charset="0"/>
              </a:rPr>
              <a:t> </a:t>
            </a:r>
            <a:r>
              <a:rPr lang="de-DE" dirty="0" err="1" smtClean="0">
                <a:latin typeface="Arial" charset="0"/>
                <a:cs typeface="Arial" charset="0"/>
              </a:rPr>
              <a:t>detect</a:t>
            </a:r>
            <a:r>
              <a:rPr lang="de-DE" dirty="0" smtClean="0">
                <a:latin typeface="Arial" charset="0"/>
                <a:cs typeface="Arial" charset="0"/>
              </a:rPr>
              <a:t> on </a:t>
            </a:r>
            <a:r>
              <a:rPr lang="de-DE" dirty="0" err="1" smtClean="0">
                <a:latin typeface="Arial" charset="0"/>
                <a:cs typeface="Arial" charset="0"/>
              </a:rPr>
              <a:t>other</a:t>
            </a:r>
            <a:r>
              <a:rPr lang="de-DE" dirty="0" smtClean="0">
                <a:latin typeface="Arial" charset="0"/>
                <a:cs typeface="Arial" charset="0"/>
              </a:rPr>
              <a:t> </a:t>
            </a:r>
            <a:r>
              <a:rPr lang="de-DE" dirty="0" err="1" smtClean="0">
                <a:latin typeface="Arial" charset="0"/>
                <a:cs typeface="Arial" charset="0"/>
              </a:rPr>
              <a:t>articles</a:t>
            </a:r>
            <a:endParaRPr lang="de-DE" dirty="0" smtClean="0">
              <a:latin typeface="Arial" charset="0"/>
              <a:cs typeface="Arial" charset="0"/>
            </a:endParaRPr>
          </a:p>
          <a:p>
            <a:pPr eaLnBrk="1" hangingPunct="1"/>
            <a:r>
              <a:rPr lang="de-DE" dirty="0" err="1" smtClean="0">
                <a:latin typeface="Arial" charset="0"/>
                <a:cs typeface="Arial" charset="0"/>
              </a:rPr>
              <a:t>Explore</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a:t>
            </a:r>
            <a:r>
              <a:rPr lang="de-DE" dirty="0" err="1" smtClean="0">
                <a:latin typeface="Arial" charset="0"/>
                <a:cs typeface="Arial" charset="0"/>
              </a:rPr>
              <a:t>methods</a:t>
            </a:r>
            <a:r>
              <a:rPr lang="de-DE" dirty="0" smtClean="0">
                <a:latin typeface="Arial" charset="0"/>
                <a:cs typeface="Arial" charset="0"/>
              </a:rPr>
              <a:t> </a:t>
            </a:r>
            <a:r>
              <a:rPr lang="de-DE" dirty="0" err="1" smtClean="0">
                <a:latin typeface="Arial" charset="0"/>
                <a:cs typeface="Arial" charset="0"/>
              </a:rPr>
              <a:t>to</a:t>
            </a:r>
            <a:r>
              <a:rPr lang="de-DE" dirty="0" smtClean="0">
                <a:latin typeface="Arial" charset="0"/>
                <a:cs typeface="Arial" charset="0"/>
              </a:rPr>
              <a:t> </a:t>
            </a:r>
            <a:r>
              <a:rPr lang="de-DE" dirty="0" err="1" smtClean="0">
                <a:latin typeface="Arial" charset="0"/>
                <a:cs typeface="Arial" charset="0"/>
              </a:rPr>
              <a:t>further</a:t>
            </a:r>
            <a:r>
              <a:rPr lang="de-DE" dirty="0" smtClean="0">
                <a:latin typeface="Arial" charset="0"/>
                <a:cs typeface="Arial" charset="0"/>
              </a:rPr>
              <a:t> </a:t>
            </a:r>
            <a:r>
              <a:rPr lang="de-DE" b="1" dirty="0" err="1" smtClean="0">
                <a:latin typeface="Arial" charset="0"/>
                <a:cs typeface="Arial" charset="0"/>
              </a:rPr>
              <a:t>improve</a:t>
            </a:r>
            <a:r>
              <a:rPr lang="de-DE" b="1" dirty="0" smtClean="0">
                <a:latin typeface="Arial" charset="0"/>
                <a:cs typeface="Arial" charset="0"/>
              </a:rPr>
              <a:t> </a:t>
            </a:r>
            <a:r>
              <a:rPr lang="de-DE" b="1" dirty="0" err="1" smtClean="0">
                <a:latin typeface="Arial" charset="0"/>
                <a:cs typeface="Arial" charset="0"/>
              </a:rPr>
              <a:t>inference</a:t>
            </a:r>
            <a:r>
              <a:rPr lang="de-DE" b="1" dirty="0" smtClean="0">
                <a:latin typeface="Arial" charset="0"/>
                <a:cs typeface="Arial" charset="0"/>
              </a:rPr>
              <a:t> </a:t>
            </a:r>
            <a:r>
              <a:rPr lang="de-DE" b="1" dirty="0" err="1" smtClean="0">
                <a:latin typeface="Arial" charset="0"/>
                <a:cs typeface="Arial" charset="0"/>
              </a:rPr>
              <a:t>speed</a:t>
            </a:r>
            <a:endParaRPr lang="de-DE" b="1" dirty="0" smtClean="0">
              <a:latin typeface="Arial" charset="0"/>
              <a:cs typeface="Arial" charset="0"/>
            </a:endParaRPr>
          </a:p>
          <a:p>
            <a:pPr lvl="1" eaLnBrk="1" hangingPunct="1"/>
            <a:r>
              <a:rPr lang="de-DE" dirty="0" err="1" smtClean="0">
                <a:latin typeface="Arial" charset="0"/>
                <a:cs typeface="Arial" charset="0"/>
              </a:rPr>
              <a:t>Deploying</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a:t>
            </a:r>
            <a:r>
              <a:rPr lang="de-DE" dirty="0" err="1" smtClean="0">
                <a:latin typeface="Arial" charset="0"/>
                <a:cs typeface="Arial" charset="0"/>
              </a:rPr>
              <a:t>system</a:t>
            </a:r>
            <a:r>
              <a:rPr lang="de-DE" dirty="0" smtClean="0">
                <a:latin typeface="Arial" charset="0"/>
                <a:cs typeface="Arial" charset="0"/>
              </a:rPr>
              <a:t> on a Linux </a:t>
            </a:r>
            <a:r>
              <a:rPr lang="de-DE" dirty="0" err="1" smtClean="0">
                <a:latin typeface="Arial" charset="0"/>
                <a:cs typeface="Arial" charset="0"/>
              </a:rPr>
              <a:t>environment</a:t>
            </a:r>
            <a:endParaRPr lang="de-DE" dirty="0" smtClean="0">
              <a:latin typeface="Arial" charset="0"/>
              <a:cs typeface="Arial" charset="0"/>
            </a:endParaRPr>
          </a:p>
          <a:p>
            <a:pPr lvl="1" eaLnBrk="1" hangingPunct="1"/>
            <a:r>
              <a:rPr lang="de-DE" dirty="0" err="1" smtClean="0">
                <a:latin typeface="Arial" charset="0"/>
                <a:cs typeface="Arial" charset="0"/>
              </a:rPr>
              <a:t>Convert</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AI </a:t>
            </a:r>
            <a:r>
              <a:rPr lang="de-DE" dirty="0" err="1" smtClean="0">
                <a:latin typeface="Arial" charset="0"/>
                <a:cs typeface="Arial" charset="0"/>
              </a:rPr>
              <a:t>model</a:t>
            </a:r>
            <a:r>
              <a:rPr lang="de-DE" dirty="0" smtClean="0">
                <a:latin typeface="Arial" charset="0"/>
                <a:cs typeface="Arial" charset="0"/>
              </a:rPr>
              <a:t> </a:t>
            </a:r>
            <a:r>
              <a:rPr lang="de-DE" dirty="0" err="1" smtClean="0">
                <a:latin typeface="Arial" charset="0"/>
                <a:cs typeface="Arial" charset="0"/>
              </a:rPr>
              <a:t>to</a:t>
            </a:r>
            <a:r>
              <a:rPr lang="de-DE" dirty="0" smtClean="0">
                <a:latin typeface="Arial" charset="0"/>
                <a:cs typeface="Arial" charset="0"/>
              </a:rPr>
              <a:t> a different </a:t>
            </a:r>
            <a:r>
              <a:rPr lang="de-DE" dirty="0" err="1" smtClean="0">
                <a:latin typeface="Arial" charset="0"/>
                <a:cs typeface="Arial" charset="0"/>
              </a:rPr>
              <a:t>format</a:t>
            </a:r>
            <a:endParaRPr lang="de-DE" dirty="0" smtClean="0">
              <a:latin typeface="Arial" charset="0"/>
              <a:cs typeface="Arial" charset="0"/>
            </a:endParaRPr>
          </a:p>
          <a:p>
            <a:pPr eaLnBrk="1" hangingPunct="1"/>
            <a:r>
              <a:rPr lang="de-DE" dirty="0" err="1">
                <a:latin typeface="Arial" charset="0"/>
                <a:cs typeface="Arial" charset="0"/>
              </a:rPr>
              <a:t>Deploy</a:t>
            </a:r>
            <a:r>
              <a:rPr lang="de-DE" dirty="0">
                <a:latin typeface="Arial" charset="0"/>
                <a:cs typeface="Arial" charset="0"/>
              </a:rPr>
              <a:t> </a:t>
            </a:r>
            <a:r>
              <a:rPr lang="de-DE" dirty="0" err="1">
                <a:latin typeface="Arial" charset="0"/>
                <a:cs typeface="Arial" charset="0"/>
              </a:rPr>
              <a:t>the</a:t>
            </a:r>
            <a:r>
              <a:rPr lang="de-DE" dirty="0">
                <a:latin typeface="Arial" charset="0"/>
                <a:cs typeface="Arial" charset="0"/>
              </a:rPr>
              <a:t> </a:t>
            </a:r>
            <a:r>
              <a:rPr lang="de-DE" dirty="0" err="1">
                <a:latin typeface="Arial" charset="0"/>
                <a:cs typeface="Arial" charset="0"/>
              </a:rPr>
              <a:t>system</a:t>
            </a:r>
            <a:r>
              <a:rPr lang="de-DE" dirty="0">
                <a:latin typeface="Arial" charset="0"/>
                <a:cs typeface="Arial" charset="0"/>
              </a:rPr>
              <a:t> </a:t>
            </a:r>
            <a:r>
              <a:rPr lang="de-DE" dirty="0" err="1">
                <a:latin typeface="Arial" charset="0"/>
                <a:cs typeface="Arial" charset="0"/>
              </a:rPr>
              <a:t>onto</a:t>
            </a:r>
            <a:r>
              <a:rPr lang="de-DE" dirty="0">
                <a:latin typeface="Arial" charset="0"/>
                <a:cs typeface="Arial" charset="0"/>
              </a:rPr>
              <a:t> </a:t>
            </a:r>
            <a:r>
              <a:rPr lang="de-DE" b="1" dirty="0" err="1" smtClean="0">
                <a:latin typeface="Arial" charset="0"/>
                <a:cs typeface="Arial" charset="0"/>
              </a:rPr>
              <a:t>inspection</a:t>
            </a:r>
            <a:r>
              <a:rPr lang="de-DE" b="1" dirty="0" smtClean="0">
                <a:latin typeface="Arial" charset="0"/>
                <a:cs typeface="Arial" charset="0"/>
              </a:rPr>
              <a:t> </a:t>
            </a:r>
            <a:r>
              <a:rPr lang="de-DE" b="1" dirty="0" err="1">
                <a:latin typeface="Arial" charset="0"/>
                <a:cs typeface="Arial" charset="0"/>
              </a:rPr>
              <a:t>platforms</a:t>
            </a:r>
            <a:r>
              <a:rPr lang="de-DE" b="1" dirty="0">
                <a:latin typeface="Arial" charset="0"/>
                <a:cs typeface="Arial" charset="0"/>
              </a:rPr>
              <a:t> </a:t>
            </a:r>
            <a:r>
              <a:rPr lang="de-DE" dirty="0">
                <a:latin typeface="Arial" charset="0"/>
                <a:cs typeface="Arial" charset="0"/>
              </a:rPr>
              <a:t>(</a:t>
            </a:r>
            <a:r>
              <a:rPr lang="de-DE" dirty="0" err="1">
                <a:latin typeface="Arial" charset="0"/>
                <a:cs typeface="Arial" charset="0"/>
              </a:rPr>
              <a:t>prototyping</a:t>
            </a:r>
            <a:r>
              <a:rPr lang="de-DE" dirty="0" smtClean="0">
                <a:latin typeface="Arial" charset="0"/>
                <a:cs typeface="Arial" charset="0"/>
              </a:rPr>
              <a:t>)</a:t>
            </a:r>
          </a:p>
          <a:p>
            <a:pPr lvl="1" eaLnBrk="1" hangingPunct="1"/>
            <a:r>
              <a:rPr lang="de-DE" dirty="0" smtClean="0">
                <a:latin typeface="Arial" charset="0"/>
                <a:cs typeface="Arial" charset="0"/>
              </a:rPr>
              <a:t>Cloud</a:t>
            </a:r>
          </a:p>
          <a:p>
            <a:pPr lvl="1" eaLnBrk="1" hangingPunct="1"/>
            <a:r>
              <a:rPr lang="de-DE" dirty="0" err="1">
                <a:latin typeface="Arial" charset="0"/>
                <a:cs typeface="Arial" charset="0"/>
              </a:rPr>
              <a:t>L</a:t>
            </a:r>
            <a:r>
              <a:rPr lang="de-DE" dirty="0" err="1" smtClean="0">
                <a:latin typeface="Arial" charset="0"/>
                <a:cs typeface="Arial" charset="0"/>
              </a:rPr>
              <a:t>ocally</a:t>
            </a:r>
            <a:endParaRPr lang="de-DE"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smtClean="0">
                <a:cs typeface="Arial" charset="0"/>
              </a:rPr>
              <a:t>Future Outlook</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19</a:t>
            </a:fld>
            <a:endParaRPr lang="de-DE" dirty="0"/>
          </a:p>
        </p:txBody>
      </p:sp>
    </p:spTree>
    <p:extLst>
      <p:ext uri="{BB962C8B-B14F-4D97-AF65-F5344CB8AC3E}">
        <p14:creationId xmlns:p14="http://schemas.microsoft.com/office/powerpoint/2010/main" val="2064584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par>
                                <p:cTn id="8" presetID="9" presetClass="entr" presetSubtype="0" fill="hold" grpId="0" nodeType="withEffect">
                                  <p:stCondLst>
                                    <p:cond delay="0"/>
                                  </p:stCondLst>
                                  <p:iterate type="wd">
                                    <p:tmPct val="10000"/>
                                  </p:iterate>
                                  <p:childTnLst>
                                    <p:set>
                                      <p:cBhvr>
                                        <p:cTn id="9" dur="1" fill="hold">
                                          <p:stCondLst>
                                            <p:cond delay="0"/>
                                          </p:stCondLst>
                                        </p:cTn>
                                        <p:tgtEl>
                                          <p:spTgt spid="81923">
                                            <p:txEl>
                                              <p:pRg st="1" end="1"/>
                                            </p:txEl>
                                          </p:spTgt>
                                        </p:tgtEl>
                                        <p:attrNameLst>
                                          <p:attrName>style.visibility</p:attrName>
                                        </p:attrNameLst>
                                      </p:cBhvr>
                                      <p:to>
                                        <p:strVal val="visible"/>
                                      </p:to>
                                    </p:set>
                                    <p:animEffect transition="in" filter="dissolve">
                                      <p:cBhvr>
                                        <p:cTn id="10" dur="500"/>
                                        <p:tgtEl>
                                          <p:spTgt spid="81923">
                                            <p:txEl>
                                              <p:pRg st="1" end="1"/>
                                            </p:txEl>
                                          </p:spTgt>
                                        </p:tgtEl>
                                      </p:cBhvr>
                                    </p:animEffect>
                                  </p:childTnLst>
                                </p:cTn>
                              </p:par>
                              <p:par>
                                <p:cTn id="11" presetID="9" presetClass="entr" presetSubtype="0" fill="hold" grpId="0" nodeType="withEffect">
                                  <p:stCondLst>
                                    <p:cond delay="0"/>
                                  </p:stCondLst>
                                  <p:iterate type="wd">
                                    <p:tmPct val="10000"/>
                                  </p:iterate>
                                  <p:childTnLst>
                                    <p:set>
                                      <p:cBhvr>
                                        <p:cTn id="12" dur="1" fill="hold">
                                          <p:stCondLst>
                                            <p:cond delay="0"/>
                                          </p:stCondLst>
                                        </p:cTn>
                                        <p:tgtEl>
                                          <p:spTgt spid="81923">
                                            <p:txEl>
                                              <p:pRg st="2" end="2"/>
                                            </p:txEl>
                                          </p:spTgt>
                                        </p:tgtEl>
                                        <p:attrNameLst>
                                          <p:attrName>style.visibility</p:attrName>
                                        </p:attrNameLst>
                                      </p:cBhvr>
                                      <p:to>
                                        <p:strVal val="visible"/>
                                      </p:to>
                                    </p:set>
                                    <p:animEffect transition="in" filter="dissolve">
                                      <p:cBhvr>
                                        <p:cTn id="13" dur="500"/>
                                        <p:tgtEl>
                                          <p:spTgt spid="81923">
                                            <p:txEl>
                                              <p:pRg st="2" end="2"/>
                                            </p:txEl>
                                          </p:spTgt>
                                        </p:tgtEl>
                                      </p:cBhvr>
                                    </p:animEffect>
                                  </p:childTnLst>
                                </p:cTn>
                              </p:par>
                              <p:par>
                                <p:cTn id="14" presetID="9" presetClass="entr" presetSubtype="0" fill="hold" grpId="0" nodeType="withEffect">
                                  <p:stCondLst>
                                    <p:cond delay="0"/>
                                  </p:stCondLst>
                                  <p:iterate type="wd">
                                    <p:tmPct val="10000"/>
                                  </p:iterate>
                                  <p:childTnLst>
                                    <p:set>
                                      <p:cBhvr>
                                        <p:cTn id="15" dur="1" fill="hold">
                                          <p:stCondLst>
                                            <p:cond delay="0"/>
                                          </p:stCondLst>
                                        </p:cTn>
                                        <p:tgtEl>
                                          <p:spTgt spid="81923">
                                            <p:txEl>
                                              <p:pRg st="3" end="3"/>
                                            </p:txEl>
                                          </p:spTgt>
                                        </p:tgtEl>
                                        <p:attrNameLst>
                                          <p:attrName>style.visibility</p:attrName>
                                        </p:attrNameLst>
                                      </p:cBhvr>
                                      <p:to>
                                        <p:strVal val="visible"/>
                                      </p:to>
                                    </p:set>
                                    <p:animEffect transition="in" filter="dissolve">
                                      <p:cBhvr>
                                        <p:cTn id="16" dur="500"/>
                                        <p:tgtEl>
                                          <p:spTgt spid="81923">
                                            <p:txEl>
                                              <p:pRg st="3" end="3"/>
                                            </p:txEl>
                                          </p:spTgt>
                                        </p:tgtEl>
                                      </p:cBhvr>
                                    </p:animEffect>
                                  </p:childTnLst>
                                </p:cTn>
                              </p:par>
                              <p:par>
                                <p:cTn id="17" presetID="9" presetClass="entr" presetSubtype="0" fill="hold" grpId="0" nodeType="withEffect">
                                  <p:stCondLst>
                                    <p:cond delay="0"/>
                                  </p:stCondLst>
                                  <p:iterate type="wd">
                                    <p:tmPct val="10000"/>
                                  </p:iterate>
                                  <p:childTnLst>
                                    <p:set>
                                      <p:cBhvr>
                                        <p:cTn id="18" dur="1" fill="hold">
                                          <p:stCondLst>
                                            <p:cond delay="0"/>
                                          </p:stCondLst>
                                        </p:cTn>
                                        <p:tgtEl>
                                          <p:spTgt spid="81923">
                                            <p:txEl>
                                              <p:pRg st="4" end="4"/>
                                            </p:txEl>
                                          </p:spTgt>
                                        </p:tgtEl>
                                        <p:attrNameLst>
                                          <p:attrName>style.visibility</p:attrName>
                                        </p:attrNameLst>
                                      </p:cBhvr>
                                      <p:to>
                                        <p:strVal val="visible"/>
                                      </p:to>
                                    </p:set>
                                    <p:animEffect transition="in" filter="dissolve">
                                      <p:cBhvr>
                                        <p:cTn id="19" dur="500"/>
                                        <p:tgtEl>
                                          <p:spTgt spid="81923">
                                            <p:txEl>
                                              <p:pRg st="4" end="4"/>
                                            </p:txEl>
                                          </p:spTgt>
                                        </p:tgtEl>
                                      </p:cBhvr>
                                    </p:animEffect>
                                  </p:childTnLst>
                                </p:cTn>
                              </p:par>
                              <p:par>
                                <p:cTn id="20" presetID="9" presetClass="entr" presetSubtype="0" fill="hold" grpId="0" nodeType="withEffect">
                                  <p:stCondLst>
                                    <p:cond delay="0"/>
                                  </p:stCondLst>
                                  <p:iterate type="wd">
                                    <p:tmPct val="10000"/>
                                  </p:iterate>
                                  <p:childTnLst>
                                    <p:set>
                                      <p:cBhvr>
                                        <p:cTn id="21" dur="1" fill="hold">
                                          <p:stCondLst>
                                            <p:cond delay="0"/>
                                          </p:stCondLst>
                                        </p:cTn>
                                        <p:tgtEl>
                                          <p:spTgt spid="81923">
                                            <p:txEl>
                                              <p:pRg st="5" end="5"/>
                                            </p:txEl>
                                          </p:spTgt>
                                        </p:tgtEl>
                                        <p:attrNameLst>
                                          <p:attrName>style.visibility</p:attrName>
                                        </p:attrNameLst>
                                      </p:cBhvr>
                                      <p:to>
                                        <p:strVal val="visible"/>
                                      </p:to>
                                    </p:set>
                                    <p:animEffect transition="in" filter="dissolve">
                                      <p:cBhvr>
                                        <p:cTn id="22" dur="500"/>
                                        <p:tgtEl>
                                          <p:spTgt spid="8192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iterate type="wd">
                                    <p:tmPct val="10000"/>
                                  </p:iterate>
                                  <p:childTnLst>
                                    <p:set>
                                      <p:cBhvr>
                                        <p:cTn id="26" dur="1" fill="hold">
                                          <p:stCondLst>
                                            <p:cond delay="0"/>
                                          </p:stCondLst>
                                        </p:cTn>
                                        <p:tgtEl>
                                          <p:spTgt spid="81923">
                                            <p:txEl>
                                              <p:pRg st="6" end="6"/>
                                            </p:txEl>
                                          </p:spTgt>
                                        </p:tgtEl>
                                        <p:attrNameLst>
                                          <p:attrName>style.visibility</p:attrName>
                                        </p:attrNameLst>
                                      </p:cBhvr>
                                      <p:to>
                                        <p:strVal val="visible"/>
                                      </p:to>
                                    </p:set>
                                    <p:animEffect transition="in" filter="dissolve">
                                      <p:cBhvr>
                                        <p:cTn id="27" dur="500"/>
                                        <p:tgtEl>
                                          <p:spTgt spid="8192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iterate type="wd">
                                    <p:tmPct val="10000"/>
                                  </p:iterate>
                                  <p:childTnLst>
                                    <p:set>
                                      <p:cBhvr>
                                        <p:cTn id="31" dur="1" fill="hold">
                                          <p:stCondLst>
                                            <p:cond delay="0"/>
                                          </p:stCondLst>
                                        </p:cTn>
                                        <p:tgtEl>
                                          <p:spTgt spid="81923">
                                            <p:txEl>
                                              <p:pRg st="7" end="7"/>
                                            </p:txEl>
                                          </p:spTgt>
                                        </p:tgtEl>
                                        <p:attrNameLst>
                                          <p:attrName>style.visibility</p:attrName>
                                        </p:attrNameLst>
                                      </p:cBhvr>
                                      <p:to>
                                        <p:strVal val="visible"/>
                                      </p:to>
                                    </p:set>
                                    <p:animEffect transition="in" filter="dissolve">
                                      <p:cBhvr>
                                        <p:cTn id="32" dur="500"/>
                                        <p:tgtEl>
                                          <p:spTgt spid="8192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iterate type="wd">
                                    <p:tmPct val="10000"/>
                                  </p:iterate>
                                  <p:childTnLst>
                                    <p:set>
                                      <p:cBhvr>
                                        <p:cTn id="36" dur="1" fill="hold">
                                          <p:stCondLst>
                                            <p:cond delay="0"/>
                                          </p:stCondLst>
                                        </p:cTn>
                                        <p:tgtEl>
                                          <p:spTgt spid="81923">
                                            <p:txEl>
                                              <p:pRg st="8" end="8"/>
                                            </p:txEl>
                                          </p:spTgt>
                                        </p:tgtEl>
                                        <p:attrNameLst>
                                          <p:attrName>style.visibility</p:attrName>
                                        </p:attrNameLst>
                                      </p:cBhvr>
                                      <p:to>
                                        <p:strVal val="visible"/>
                                      </p:to>
                                    </p:set>
                                    <p:animEffect transition="in" filter="dissolve">
                                      <p:cBhvr>
                                        <p:cTn id="37" dur="500"/>
                                        <p:tgtEl>
                                          <p:spTgt spid="81923">
                                            <p:txEl>
                                              <p:pRg st="8" end="8"/>
                                            </p:txEl>
                                          </p:spTgt>
                                        </p:tgtEl>
                                      </p:cBhvr>
                                    </p:animEffect>
                                  </p:childTnLst>
                                </p:cTn>
                              </p:par>
                              <p:par>
                                <p:cTn id="38" presetID="9" presetClass="entr" presetSubtype="0" fill="hold" grpId="0" nodeType="withEffect">
                                  <p:stCondLst>
                                    <p:cond delay="0"/>
                                  </p:stCondLst>
                                  <p:iterate type="wd">
                                    <p:tmPct val="10000"/>
                                  </p:iterate>
                                  <p:childTnLst>
                                    <p:set>
                                      <p:cBhvr>
                                        <p:cTn id="39" dur="1" fill="hold">
                                          <p:stCondLst>
                                            <p:cond delay="0"/>
                                          </p:stCondLst>
                                        </p:cTn>
                                        <p:tgtEl>
                                          <p:spTgt spid="81923">
                                            <p:txEl>
                                              <p:pRg st="9" end="9"/>
                                            </p:txEl>
                                          </p:spTgt>
                                        </p:tgtEl>
                                        <p:attrNameLst>
                                          <p:attrName>style.visibility</p:attrName>
                                        </p:attrNameLst>
                                      </p:cBhvr>
                                      <p:to>
                                        <p:strVal val="visible"/>
                                      </p:to>
                                    </p:set>
                                    <p:animEffect transition="in" filter="dissolve">
                                      <p:cBhvr>
                                        <p:cTn id="40" dur="500"/>
                                        <p:tgtEl>
                                          <p:spTgt spid="81923">
                                            <p:txEl>
                                              <p:pRg st="9" end="9"/>
                                            </p:txEl>
                                          </p:spTgt>
                                        </p:tgtEl>
                                      </p:cBhvr>
                                    </p:animEffect>
                                  </p:childTnLst>
                                </p:cTn>
                              </p:par>
                              <p:par>
                                <p:cTn id="41" presetID="9" presetClass="entr" presetSubtype="0" fill="hold" grpId="0" nodeType="withEffect">
                                  <p:stCondLst>
                                    <p:cond delay="0"/>
                                  </p:stCondLst>
                                  <p:iterate type="wd">
                                    <p:tmPct val="10000"/>
                                  </p:iterate>
                                  <p:childTnLst>
                                    <p:set>
                                      <p:cBhvr>
                                        <p:cTn id="42" dur="1" fill="hold">
                                          <p:stCondLst>
                                            <p:cond delay="0"/>
                                          </p:stCondLst>
                                        </p:cTn>
                                        <p:tgtEl>
                                          <p:spTgt spid="81923">
                                            <p:txEl>
                                              <p:pRg st="10" end="10"/>
                                            </p:txEl>
                                          </p:spTgt>
                                        </p:tgtEl>
                                        <p:attrNameLst>
                                          <p:attrName>style.visibility</p:attrName>
                                        </p:attrNameLst>
                                      </p:cBhvr>
                                      <p:to>
                                        <p:strVal val="visible"/>
                                      </p:to>
                                    </p:set>
                                    <p:animEffect transition="in" filter="dissolve">
                                      <p:cBhvr>
                                        <p:cTn id="43" dur="500"/>
                                        <p:tgtEl>
                                          <p:spTgt spid="81923">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iterate type="wd">
                                    <p:tmPct val="10000"/>
                                  </p:iterate>
                                  <p:childTnLst>
                                    <p:set>
                                      <p:cBhvr>
                                        <p:cTn id="47" dur="1" fill="hold">
                                          <p:stCondLst>
                                            <p:cond delay="0"/>
                                          </p:stCondLst>
                                        </p:cTn>
                                        <p:tgtEl>
                                          <p:spTgt spid="81923">
                                            <p:txEl>
                                              <p:pRg st="11" end="11"/>
                                            </p:txEl>
                                          </p:spTgt>
                                        </p:tgtEl>
                                        <p:attrNameLst>
                                          <p:attrName>style.visibility</p:attrName>
                                        </p:attrNameLst>
                                      </p:cBhvr>
                                      <p:to>
                                        <p:strVal val="visible"/>
                                      </p:to>
                                    </p:set>
                                    <p:animEffect transition="in" filter="dissolve">
                                      <p:cBhvr>
                                        <p:cTn id="48" dur="500"/>
                                        <p:tgtEl>
                                          <p:spTgt spid="81923">
                                            <p:txEl>
                                              <p:pRg st="11" end="11"/>
                                            </p:txEl>
                                          </p:spTgt>
                                        </p:tgtEl>
                                      </p:cBhvr>
                                    </p:animEffect>
                                  </p:childTnLst>
                                </p:cTn>
                              </p:par>
                              <p:par>
                                <p:cTn id="49" presetID="9" presetClass="entr" presetSubtype="0" fill="hold" grpId="0" nodeType="withEffect">
                                  <p:stCondLst>
                                    <p:cond delay="0"/>
                                  </p:stCondLst>
                                  <p:iterate type="wd">
                                    <p:tmPct val="10000"/>
                                  </p:iterate>
                                  <p:childTnLst>
                                    <p:set>
                                      <p:cBhvr>
                                        <p:cTn id="50" dur="1" fill="hold">
                                          <p:stCondLst>
                                            <p:cond delay="0"/>
                                          </p:stCondLst>
                                        </p:cTn>
                                        <p:tgtEl>
                                          <p:spTgt spid="81923">
                                            <p:txEl>
                                              <p:pRg st="12" end="12"/>
                                            </p:txEl>
                                          </p:spTgt>
                                        </p:tgtEl>
                                        <p:attrNameLst>
                                          <p:attrName>style.visibility</p:attrName>
                                        </p:attrNameLst>
                                      </p:cBhvr>
                                      <p:to>
                                        <p:strVal val="visible"/>
                                      </p:to>
                                    </p:set>
                                    <p:animEffect transition="in" filter="dissolve">
                                      <p:cBhvr>
                                        <p:cTn id="51" dur="500"/>
                                        <p:tgtEl>
                                          <p:spTgt spid="81923">
                                            <p:txEl>
                                              <p:pRg st="12" end="12"/>
                                            </p:txEl>
                                          </p:spTgt>
                                        </p:tgtEl>
                                      </p:cBhvr>
                                    </p:animEffect>
                                  </p:childTnLst>
                                </p:cTn>
                              </p:par>
                              <p:par>
                                <p:cTn id="52" presetID="9" presetClass="entr" presetSubtype="0" fill="hold" grpId="0" nodeType="withEffect">
                                  <p:stCondLst>
                                    <p:cond delay="0"/>
                                  </p:stCondLst>
                                  <p:iterate type="wd">
                                    <p:tmPct val="10000"/>
                                  </p:iterate>
                                  <p:childTnLst>
                                    <p:set>
                                      <p:cBhvr>
                                        <p:cTn id="53" dur="1" fill="hold">
                                          <p:stCondLst>
                                            <p:cond delay="0"/>
                                          </p:stCondLst>
                                        </p:cTn>
                                        <p:tgtEl>
                                          <p:spTgt spid="81923">
                                            <p:txEl>
                                              <p:pRg st="13" end="13"/>
                                            </p:txEl>
                                          </p:spTgt>
                                        </p:tgtEl>
                                        <p:attrNameLst>
                                          <p:attrName>style.visibility</p:attrName>
                                        </p:attrNameLst>
                                      </p:cBhvr>
                                      <p:to>
                                        <p:strVal val="visible"/>
                                      </p:to>
                                    </p:set>
                                    <p:animEffect transition="in" filter="dissolve">
                                      <p:cBhvr>
                                        <p:cTn id="54" dur="500"/>
                                        <p:tgtEl>
                                          <p:spTgt spid="8192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en-US" dirty="0"/>
              <a:t>The Present &amp; Future of AI in W&amp;S</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3815779" cy="4464050"/>
          </a:xfrm>
        </p:spPr>
        <p:txBody>
          <a:bodyPr/>
          <a:lstStyle/>
          <a:p>
            <a:pPr eaLnBrk="1" hangingPunct="1"/>
            <a:r>
              <a:rPr lang="de-DE" dirty="0" smtClean="0">
                <a:latin typeface="Arial" charset="0"/>
                <a:cs typeface="Arial" charset="0"/>
              </a:rPr>
              <a:t>A </a:t>
            </a:r>
            <a:r>
              <a:rPr lang="de-DE" b="1" dirty="0" err="1" smtClean="0">
                <a:latin typeface="Arial" charset="0"/>
                <a:cs typeface="Arial" charset="0"/>
              </a:rPr>
              <a:t>collection</a:t>
            </a:r>
            <a:r>
              <a:rPr lang="de-DE" b="1" dirty="0" smtClean="0">
                <a:latin typeface="Arial" charset="0"/>
                <a:cs typeface="Arial" charset="0"/>
              </a:rPr>
              <a:t> </a:t>
            </a:r>
            <a:r>
              <a:rPr lang="de-DE" b="1" dirty="0" err="1" smtClean="0">
                <a:latin typeface="Arial" charset="0"/>
                <a:cs typeface="Arial" charset="0"/>
              </a:rPr>
              <a:t>of</a:t>
            </a:r>
            <a:r>
              <a:rPr lang="de-DE" b="1" dirty="0" smtClean="0">
                <a:latin typeface="Arial" charset="0"/>
                <a:cs typeface="Arial" charset="0"/>
              </a:rPr>
              <a:t> </a:t>
            </a:r>
            <a:r>
              <a:rPr lang="de-DE" b="1" dirty="0" err="1" smtClean="0">
                <a:latin typeface="Arial" charset="0"/>
                <a:cs typeface="Arial" charset="0"/>
              </a:rPr>
              <a:t>developed</a:t>
            </a:r>
            <a:r>
              <a:rPr lang="de-DE" b="1" dirty="0" smtClean="0">
                <a:latin typeface="Arial" charset="0"/>
                <a:cs typeface="Arial" charset="0"/>
              </a:rPr>
              <a:t> </a:t>
            </a:r>
            <a:r>
              <a:rPr lang="de-DE" b="1" dirty="0" err="1" smtClean="0">
                <a:latin typeface="Arial" charset="0"/>
                <a:cs typeface="Arial" charset="0"/>
              </a:rPr>
              <a:t>software</a:t>
            </a:r>
            <a:r>
              <a:rPr lang="de-DE" b="1" dirty="0" smtClean="0">
                <a:latin typeface="Arial" charset="0"/>
                <a:cs typeface="Arial" charset="0"/>
              </a:rPr>
              <a:t> </a:t>
            </a:r>
            <a:r>
              <a:rPr lang="de-DE" dirty="0" err="1" smtClean="0">
                <a:latin typeface="Arial" charset="0"/>
                <a:cs typeface="Arial" charset="0"/>
              </a:rPr>
              <a:t>is</a:t>
            </a:r>
            <a:r>
              <a:rPr lang="de-DE" dirty="0" smtClean="0">
                <a:latin typeface="Arial" charset="0"/>
                <a:cs typeface="Arial" charset="0"/>
              </a:rPr>
              <a:t> </a:t>
            </a:r>
            <a:r>
              <a:rPr lang="de-DE" dirty="0" err="1" smtClean="0">
                <a:latin typeface="Arial" charset="0"/>
                <a:cs typeface="Arial" charset="0"/>
              </a:rPr>
              <a:t>stored</a:t>
            </a:r>
            <a:r>
              <a:rPr lang="de-DE" dirty="0" smtClean="0">
                <a:latin typeface="Arial" charset="0"/>
                <a:cs typeface="Arial" charset="0"/>
              </a:rPr>
              <a:t> on </a:t>
            </a:r>
            <a:r>
              <a:rPr lang="de-DE" dirty="0" err="1" smtClean="0">
                <a:latin typeface="Arial" charset="0"/>
                <a:cs typeface="Arial" charset="0"/>
              </a:rPr>
              <a:t>Github</a:t>
            </a:r>
            <a:r>
              <a:rPr lang="de-DE" dirty="0" smtClean="0">
                <a:latin typeface="Arial" charset="0"/>
                <a:cs typeface="Arial" charset="0"/>
              </a:rPr>
              <a:t> </a:t>
            </a:r>
            <a:r>
              <a:rPr lang="de-DE" dirty="0" err="1" smtClean="0">
                <a:latin typeface="Arial" charset="0"/>
                <a:cs typeface="Arial" charset="0"/>
              </a:rPr>
              <a:t>under</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W&amp;S </a:t>
            </a:r>
            <a:r>
              <a:rPr lang="de-DE" dirty="0" err="1" smtClean="0">
                <a:latin typeface="Arial" charset="0"/>
                <a:cs typeface="Arial" charset="0"/>
              </a:rPr>
              <a:t>page</a:t>
            </a:r>
            <a:endParaRPr lang="de-DE" dirty="0" smtClean="0">
              <a:latin typeface="Arial" charset="0"/>
              <a:cs typeface="Arial" charset="0"/>
            </a:endParaRPr>
          </a:p>
          <a:p>
            <a:pPr lvl="1" eaLnBrk="1" hangingPunct="1"/>
            <a:r>
              <a:rPr lang="de-DE" dirty="0" smtClean="0">
                <a:latin typeface="Arial" charset="0"/>
                <a:cs typeface="Arial" charset="0"/>
              </a:rPr>
              <a:t>Bayer-image-</a:t>
            </a:r>
            <a:r>
              <a:rPr lang="de-DE" dirty="0" err="1" smtClean="0">
                <a:latin typeface="Arial" charset="0"/>
                <a:cs typeface="Arial" charset="0"/>
              </a:rPr>
              <a:t>converter</a:t>
            </a:r>
            <a:endParaRPr lang="de-DE" dirty="0" smtClean="0">
              <a:latin typeface="Arial" charset="0"/>
              <a:cs typeface="Arial" charset="0"/>
            </a:endParaRPr>
          </a:p>
          <a:p>
            <a:pPr lvl="1" eaLnBrk="1" hangingPunct="1"/>
            <a:r>
              <a:rPr lang="de-DE" dirty="0" smtClean="0">
                <a:latin typeface="Arial" charset="0"/>
                <a:cs typeface="Arial" charset="0"/>
              </a:rPr>
              <a:t>Yolov8-spring-detection</a:t>
            </a:r>
          </a:p>
          <a:p>
            <a:pPr lvl="1" eaLnBrk="1" hangingPunct="1"/>
            <a:r>
              <a:rPr lang="de-DE" dirty="0" smtClean="0">
                <a:latin typeface="Arial" charset="0"/>
                <a:cs typeface="Arial" charset="0"/>
              </a:rPr>
              <a:t>Yolov8-defect-detection</a:t>
            </a:r>
          </a:p>
          <a:p>
            <a:pPr lvl="1" eaLnBrk="1" hangingPunct="1"/>
            <a:r>
              <a:rPr lang="de-DE" dirty="0" smtClean="0">
                <a:latin typeface="Arial" charset="0"/>
                <a:cs typeface="Arial" charset="0"/>
              </a:rPr>
              <a:t>Yolov8-orientation-detection</a:t>
            </a:r>
          </a:p>
          <a:p>
            <a:pPr lvl="1" eaLnBrk="1" hangingPunct="1"/>
            <a:r>
              <a:rPr lang="de-DE" dirty="0" err="1" smtClean="0">
                <a:latin typeface="Arial" charset="0"/>
                <a:cs typeface="Arial" charset="0"/>
              </a:rPr>
              <a:t>Tfod-defect-detection</a:t>
            </a:r>
            <a:r>
              <a:rPr lang="de-DE" dirty="0">
                <a:latin typeface="Arial" charset="0"/>
                <a:cs typeface="Arial" charset="0"/>
              </a:rPr>
              <a:t> </a:t>
            </a:r>
            <a:r>
              <a:rPr lang="de-DE" dirty="0" smtClean="0">
                <a:latin typeface="Arial" charset="0"/>
                <a:cs typeface="Arial" charset="0"/>
              </a:rPr>
              <a:t>(</a:t>
            </a:r>
            <a:r>
              <a:rPr lang="de-DE" dirty="0" err="1" smtClean="0">
                <a:latin typeface="Arial" charset="0"/>
                <a:cs typeface="Arial" charset="0"/>
              </a:rPr>
              <a:t>deprecated</a:t>
            </a:r>
            <a:r>
              <a:rPr lang="de-DE" dirty="0" smtClean="0">
                <a:latin typeface="Arial" charset="0"/>
                <a:cs typeface="Arial" charset="0"/>
              </a:rPr>
              <a:t>)</a:t>
            </a:r>
          </a:p>
          <a:p>
            <a:pPr lvl="1" eaLnBrk="1" hangingPunct="1"/>
            <a:r>
              <a:rPr lang="de-DE" dirty="0" smtClean="0">
                <a:latin typeface="Arial" charset="0"/>
                <a:cs typeface="Arial" charset="0"/>
              </a:rPr>
              <a:t>…</a:t>
            </a:r>
          </a:p>
          <a:p>
            <a:pPr eaLnBrk="1" hangingPunct="1"/>
            <a:r>
              <a:rPr lang="de-DE" dirty="0" smtClean="0">
                <a:latin typeface="Arial" charset="0"/>
                <a:cs typeface="Arial" charset="0"/>
              </a:rPr>
              <a:t>The </a:t>
            </a:r>
            <a:r>
              <a:rPr lang="de-DE" dirty="0" err="1" smtClean="0">
                <a:latin typeface="Arial" charset="0"/>
                <a:cs typeface="Arial" charset="0"/>
              </a:rPr>
              <a:t>source</a:t>
            </a:r>
            <a:r>
              <a:rPr lang="de-DE" dirty="0" smtClean="0">
                <a:latin typeface="Arial" charset="0"/>
                <a:cs typeface="Arial" charset="0"/>
              </a:rPr>
              <a:t> </a:t>
            </a:r>
            <a:r>
              <a:rPr lang="de-DE" dirty="0" err="1" smtClean="0">
                <a:latin typeface="Arial" charset="0"/>
                <a:cs typeface="Arial" charset="0"/>
              </a:rPr>
              <a:t>code</a:t>
            </a:r>
            <a:r>
              <a:rPr lang="de-DE" dirty="0" smtClean="0">
                <a:latin typeface="Arial" charset="0"/>
                <a:cs typeface="Arial" charset="0"/>
              </a:rPr>
              <a:t> </a:t>
            </a:r>
            <a:r>
              <a:rPr lang="de-DE" dirty="0" err="1" smtClean="0">
                <a:latin typeface="Arial" charset="0"/>
                <a:cs typeface="Arial" charset="0"/>
              </a:rPr>
              <a:t>and</a:t>
            </a:r>
            <a:r>
              <a:rPr lang="de-DE" dirty="0" smtClean="0">
                <a:latin typeface="Arial" charset="0"/>
                <a:cs typeface="Arial" charset="0"/>
              </a:rPr>
              <a:t> </a:t>
            </a:r>
            <a:r>
              <a:rPr lang="de-DE" dirty="0" err="1" smtClean="0">
                <a:latin typeface="Arial" charset="0"/>
                <a:cs typeface="Arial" charset="0"/>
              </a:rPr>
              <a:t>user</a:t>
            </a:r>
            <a:r>
              <a:rPr lang="de-DE" dirty="0" smtClean="0">
                <a:latin typeface="Arial" charset="0"/>
                <a:cs typeface="Arial" charset="0"/>
              </a:rPr>
              <a:t> </a:t>
            </a:r>
            <a:r>
              <a:rPr lang="de-DE" dirty="0" err="1" smtClean="0">
                <a:latin typeface="Arial" charset="0"/>
                <a:cs typeface="Arial" charset="0"/>
              </a:rPr>
              <a:t>guidelines</a:t>
            </a:r>
            <a:r>
              <a:rPr lang="de-DE" dirty="0" smtClean="0">
                <a:latin typeface="Arial" charset="0"/>
                <a:cs typeface="Arial" charset="0"/>
              </a:rPr>
              <a:t> </a:t>
            </a:r>
            <a:r>
              <a:rPr lang="de-DE" dirty="0" err="1" smtClean="0">
                <a:latin typeface="Arial" charset="0"/>
                <a:cs typeface="Arial" charset="0"/>
              </a:rPr>
              <a:t>are</a:t>
            </a:r>
            <a:r>
              <a:rPr lang="de-DE" dirty="0" smtClean="0">
                <a:latin typeface="Arial" charset="0"/>
                <a:cs typeface="Arial" charset="0"/>
              </a:rPr>
              <a:t> </a:t>
            </a:r>
            <a:r>
              <a:rPr lang="de-DE" dirty="0" err="1" smtClean="0">
                <a:latin typeface="Arial" charset="0"/>
                <a:cs typeface="Arial" charset="0"/>
              </a:rPr>
              <a:t>stored</a:t>
            </a:r>
            <a:r>
              <a:rPr lang="de-DE" dirty="0" smtClean="0">
                <a:latin typeface="Arial" charset="0"/>
                <a:cs typeface="Arial" charset="0"/>
              </a:rPr>
              <a:t> in </a:t>
            </a:r>
            <a:r>
              <a:rPr lang="de-DE" dirty="0" err="1" smtClean="0">
                <a:latin typeface="Arial" charset="0"/>
                <a:cs typeface="Arial" charset="0"/>
              </a:rPr>
              <a:t>each</a:t>
            </a:r>
            <a:r>
              <a:rPr lang="de-DE" dirty="0" smtClean="0">
                <a:latin typeface="Arial" charset="0"/>
                <a:cs typeface="Arial" charset="0"/>
              </a:rPr>
              <a:t> </a:t>
            </a:r>
            <a:r>
              <a:rPr lang="de-DE" dirty="0" err="1" smtClean="0">
                <a:latin typeface="Arial" charset="0"/>
                <a:cs typeface="Arial" charset="0"/>
              </a:rPr>
              <a:t>repository</a:t>
            </a:r>
            <a:endParaRPr lang="de-DE" dirty="0" smtClean="0">
              <a:latin typeface="Arial" charset="0"/>
              <a:cs typeface="Arial" charset="0"/>
            </a:endParaRPr>
          </a:p>
          <a:p>
            <a:pPr eaLnBrk="1" hangingPunct="1"/>
            <a:r>
              <a:rPr lang="de-DE" dirty="0" err="1" smtClean="0">
                <a:latin typeface="Arial" charset="0"/>
                <a:cs typeface="Arial" charset="0"/>
              </a:rPr>
              <a:t>Documentation</a:t>
            </a:r>
            <a:r>
              <a:rPr lang="de-DE" dirty="0" smtClean="0">
                <a:latin typeface="Arial" charset="0"/>
                <a:cs typeface="Arial" charset="0"/>
              </a:rPr>
              <a:t> </a:t>
            </a:r>
            <a:r>
              <a:rPr lang="de-DE" dirty="0" err="1" smtClean="0">
                <a:latin typeface="Arial" charset="0"/>
                <a:cs typeface="Arial" charset="0"/>
              </a:rPr>
              <a:t>of</a:t>
            </a:r>
            <a:r>
              <a:rPr lang="de-DE" dirty="0" smtClean="0">
                <a:latin typeface="Arial" charset="0"/>
                <a:cs typeface="Arial" charset="0"/>
              </a:rPr>
              <a:t> UTP AI</a:t>
            </a: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Current</a:t>
            </a:r>
            <a:r>
              <a:rPr lang="de-DE" b="1" dirty="0" smtClean="0">
                <a:cs typeface="Arial" charset="0"/>
              </a:rPr>
              <a:t> AI </a:t>
            </a:r>
            <a:r>
              <a:rPr lang="de-DE" b="1" dirty="0" err="1" smtClean="0">
                <a:cs typeface="Arial" charset="0"/>
              </a:rPr>
              <a:t>Achievements</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20</a:t>
            </a:fld>
            <a:endParaRPr lang="de-DE" dirty="0"/>
          </a:p>
        </p:txBody>
      </p:sp>
      <p:pic>
        <p:nvPicPr>
          <p:cNvPr id="6" name="Grafik 5"/>
          <p:cNvPicPr>
            <a:picLocks noChangeAspect="1"/>
          </p:cNvPicPr>
          <p:nvPr/>
        </p:nvPicPr>
        <p:blipFill>
          <a:blip r:embed="rId3"/>
          <a:stretch>
            <a:fillRect/>
          </a:stretch>
        </p:blipFill>
        <p:spPr>
          <a:xfrm>
            <a:off x="4610894" y="1974850"/>
            <a:ext cx="4474328" cy="3456384"/>
          </a:xfrm>
          <a:prstGeom prst="rect">
            <a:avLst/>
          </a:prstGeom>
        </p:spPr>
      </p:pic>
    </p:spTree>
    <p:extLst>
      <p:ext uri="{BB962C8B-B14F-4D97-AF65-F5344CB8AC3E}">
        <p14:creationId xmlns:p14="http://schemas.microsoft.com/office/powerpoint/2010/main" val="3406379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par>
                                <p:cTn id="8" presetID="9" presetClass="entr" presetSubtype="0" fill="hold" grpId="0" nodeType="withEffect">
                                  <p:stCondLst>
                                    <p:cond delay="0"/>
                                  </p:stCondLst>
                                  <p:iterate type="wd">
                                    <p:tmPct val="10000"/>
                                  </p:iterate>
                                  <p:childTnLst>
                                    <p:set>
                                      <p:cBhvr>
                                        <p:cTn id="9" dur="1" fill="hold">
                                          <p:stCondLst>
                                            <p:cond delay="0"/>
                                          </p:stCondLst>
                                        </p:cTn>
                                        <p:tgtEl>
                                          <p:spTgt spid="81923">
                                            <p:txEl>
                                              <p:pRg st="1" end="1"/>
                                            </p:txEl>
                                          </p:spTgt>
                                        </p:tgtEl>
                                        <p:attrNameLst>
                                          <p:attrName>style.visibility</p:attrName>
                                        </p:attrNameLst>
                                      </p:cBhvr>
                                      <p:to>
                                        <p:strVal val="visible"/>
                                      </p:to>
                                    </p:set>
                                    <p:animEffect transition="in" filter="dissolve">
                                      <p:cBhvr>
                                        <p:cTn id="10" dur="500"/>
                                        <p:tgtEl>
                                          <p:spTgt spid="81923">
                                            <p:txEl>
                                              <p:pRg st="1" end="1"/>
                                            </p:txEl>
                                          </p:spTgt>
                                        </p:tgtEl>
                                      </p:cBhvr>
                                    </p:animEffect>
                                  </p:childTnLst>
                                </p:cTn>
                              </p:par>
                              <p:par>
                                <p:cTn id="11" presetID="9" presetClass="entr" presetSubtype="0" fill="hold" grpId="0" nodeType="withEffect">
                                  <p:stCondLst>
                                    <p:cond delay="0"/>
                                  </p:stCondLst>
                                  <p:iterate type="wd">
                                    <p:tmPct val="10000"/>
                                  </p:iterate>
                                  <p:childTnLst>
                                    <p:set>
                                      <p:cBhvr>
                                        <p:cTn id="12" dur="1" fill="hold">
                                          <p:stCondLst>
                                            <p:cond delay="0"/>
                                          </p:stCondLst>
                                        </p:cTn>
                                        <p:tgtEl>
                                          <p:spTgt spid="81923">
                                            <p:txEl>
                                              <p:pRg st="2" end="2"/>
                                            </p:txEl>
                                          </p:spTgt>
                                        </p:tgtEl>
                                        <p:attrNameLst>
                                          <p:attrName>style.visibility</p:attrName>
                                        </p:attrNameLst>
                                      </p:cBhvr>
                                      <p:to>
                                        <p:strVal val="visible"/>
                                      </p:to>
                                    </p:set>
                                    <p:animEffect transition="in" filter="dissolve">
                                      <p:cBhvr>
                                        <p:cTn id="13" dur="500"/>
                                        <p:tgtEl>
                                          <p:spTgt spid="81923">
                                            <p:txEl>
                                              <p:pRg st="2" end="2"/>
                                            </p:txEl>
                                          </p:spTgt>
                                        </p:tgtEl>
                                      </p:cBhvr>
                                    </p:animEffect>
                                  </p:childTnLst>
                                </p:cTn>
                              </p:par>
                              <p:par>
                                <p:cTn id="14" presetID="9" presetClass="entr" presetSubtype="0" fill="hold" grpId="0" nodeType="withEffect">
                                  <p:stCondLst>
                                    <p:cond delay="0"/>
                                  </p:stCondLst>
                                  <p:iterate type="wd">
                                    <p:tmPct val="10000"/>
                                  </p:iterate>
                                  <p:childTnLst>
                                    <p:set>
                                      <p:cBhvr>
                                        <p:cTn id="15" dur="1" fill="hold">
                                          <p:stCondLst>
                                            <p:cond delay="0"/>
                                          </p:stCondLst>
                                        </p:cTn>
                                        <p:tgtEl>
                                          <p:spTgt spid="81923">
                                            <p:txEl>
                                              <p:pRg st="3" end="3"/>
                                            </p:txEl>
                                          </p:spTgt>
                                        </p:tgtEl>
                                        <p:attrNameLst>
                                          <p:attrName>style.visibility</p:attrName>
                                        </p:attrNameLst>
                                      </p:cBhvr>
                                      <p:to>
                                        <p:strVal val="visible"/>
                                      </p:to>
                                    </p:set>
                                    <p:animEffect transition="in" filter="dissolve">
                                      <p:cBhvr>
                                        <p:cTn id="16" dur="500"/>
                                        <p:tgtEl>
                                          <p:spTgt spid="81923">
                                            <p:txEl>
                                              <p:pRg st="3" end="3"/>
                                            </p:txEl>
                                          </p:spTgt>
                                        </p:tgtEl>
                                      </p:cBhvr>
                                    </p:animEffect>
                                  </p:childTnLst>
                                </p:cTn>
                              </p:par>
                              <p:par>
                                <p:cTn id="17" presetID="9" presetClass="entr" presetSubtype="0" fill="hold" grpId="0" nodeType="withEffect">
                                  <p:stCondLst>
                                    <p:cond delay="0"/>
                                  </p:stCondLst>
                                  <p:iterate type="wd">
                                    <p:tmPct val="10000"/>
                                  </p:iterate>
                                  <p:childTnLst>
                                    <p:set>
                                      <p:cBhvr>
                                        <p:cTn id="18" dur="1" fill="hold">
                                          <p:stCondLst>
                                            <p:cond delay="0"/>
                                          </p:stCondLst>
                                        </p:cTn>
                                        <p:tgtEl>
                                          <p:spTgt spid="81923">
                                            <p:txEl>
                                              <p:pRg st="4" end="4"/>
                                            </p:txEl>
                                          </p:spTgt>
                                        </p:tgtEl>
                                        <p:attrNameLst>
                                          <p:attrName>style.visibility</p:attrName>
                                        </p:attrNameLst>
                                      </p:cBhvr>
                                      <p:to>
                                        <p:strVal val="visible"/>
                                      </p:to>
                                    </p:set>
                                    <p:animEffect transition="in" filter="dissolve">
                                      <p:cBhvr>
                                        <p:cTn id="19" dur="500"/>
                                        <p:tgtEl>
                                          <p:spTgt spid="81923">
                                            <p:txEl>
                                              <p:pRg st="4" end="4"/>
                                            </p:txEl>
                                          </p:spTgt>
                                        </p:tgtEl>
                                      </p:cBhvr>
                                    </p:animEffect>
                                  </p:childTnLst>
                                </p:cTn>
                              </p:par>
                              <p:par>
                                <p:cTn id="20" presetID="9" presetClass="entr" presetSubtype="0" fill="hold" grpId="0" nodeType="withEffect">
                                  <p:stCondLst>
                                    <p:cond delay="0"/>
                                  </p:stCondLst>
                                  <p:iterate type="wd">
                                    <p:tmPct val="10000"/>
                                  </p:iterate>
                                  <p:childTnLst>
                                    <p:set>
                                      <p:cBhvr>
                                        <p:cTn id="21" dur="1" fill="hold">
                                          <p:stCondLst>
                                            <p:cond delay="0"/>
                                          </p:stCondLst>
                                        </p:cTn>
                                        <p:tgtEl>
                                          <p:spTgt spid="81923">
                                            <p:txEl>
                                              <p:pRg st="5" end="5"/>
                                            </p:txEl>
                                          </p:spTgt>
                                        </p:tgtEl>
                                        <p:attrNameLst>
                                          <p:attrName>style.visibility</p:attrName>
                                        </p:attrNameLst>
                                      </p:cBhvr>
                                      <p:to>
                                        <p:strVal val="visible"/>
                                      </p:to>
                                    </p:set>
                                    <p:animEffect transition="in" filter="dissolve">
                                      <p:cBhvr>
                                        <p:cTn id="22" dur="500"/>
                                        <p:tgtEl>
                                          <p:spTgt spid="81923">
                                            <p:txEl>
                                              <p:pRg st="5" end="5"/>
                                            </p:txEl>
                                          </p:spTgt>
                                        </p:tgtEl>
                                      </p:cBhvr>
                                    </p:animEffect>
                                  </p:childTnLst>
                                </p:cTn>
                              </p:par>
                              <p:par>
                                <p:cTn id="23" presetID="9" presetClass="entr" presetSubtype="0" fill="hold" grpId="0" nodeType="withEffect">
                                  <p:stCondLst>
                                    <p:cond delay="0"/>
                                  </p:stCondLst>
                                  <p:iterate type="wd">
                                    <p:tmPct val="10000"/>
                                  </p:iterate>
                                  <p:childTnLst>
                                    <p:set>
                                      <p:cBhvr>
                                        <p:cTn id="24" dur="1" fill="hold">
                                          <p:stCondLst>
                                            <p:cond delay="0"/>
                                          </p:stCondLst>
                                        </p:cTn>
                                        <p:tgtEl>
                                          <p:spTgt spid="81923">
                                            <p:txEl>
                                              <p:pRg st="6" end="6"/>
                                            </p:txEl>
                                          </p:spTgt>
                                        </p:tgtEl>
                                        <p:attrNameLst>
                                          <p:attrName>style.visibility</p:attrName>
                                        </p:attrNameLst>
                                      </p:cBhvr>
                                      <p:to>
                                        <p:strVal val="visible"/>
                                      </p:to>
                                    </p:set>
                                    <p:animEffect transition="in" filter="dissolve">
                                      <p:cBhvr>
                                        <p:cTn id="25" dur="500"/>
                                        <p:tgtEl>
                                          <p:spTgt spid="8192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iterate type="wd">
                                    <p:tmPct val="10000"/>
                                  </p:iterate>
                                  <p:childTnLst>
                                    <p:set>
                                      <p:cBhvr>
                                        <p:cTn id="29" dur="1" fill="hold">
                                          <p:stCondLst>
                                            <p:cond delay="0"/>
                                          </p:stCondLst>
                                        </p:cTn>
                                        <p:tgtEl>
                                          <p:spTgt spid="81923">
                                            <p:txEl>
                                              <p:pRg st="7" end="7"/>
                                            </p:txEl>
                                          </p:spTgt>
                                        </p:tgtEl>
                                        <p:attrNameLst>
                                          <p:attrName>style.visibility</p:attrName>
                                        </p:attrNameLst>
                                      </p:cBhvr>
                                      <p:to>
                                        <p:strVal val="visible"/>
                                      </p:to>
                                    </p:set>
                                    <p:animEffect transition="in" filter="dissolve">
                                      <p:cBhvr>
                                        <p:cTn id="30" dur="500"/>
                                        <p:tgtEl>
                                          <p:spTgt spid="8192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iterate type="wd">
                                    <p:tmPct val="10000"/>
                                  </p:iterate>
                                  <p:childTnLst>
                                    <p:set>
                                      <p:cBhvr>
                                        <p:cTn id="34" dur="1" fill="hold">
                                          <p:stCondLst>
                                            <p:cond delay="0"/>
                                          </p:stCondLst>
                                        </p:cTn>
                                        <p:tgtEl>
                                          <p:spTgt spid="81923">
                                            <p:txEl>
                                              <p:pRg st="8" end="8"/>
                                            </p:txEl>
                                          </p:spTgt>
                                        </p:tgtEl>
                                        <p:attrNameLst>
                                          <p:attrName>style.visibility</p:attrName>
                                        </p:attrNameLst>
                                      </p:cBhvr>
                                      <p:to>
                                        <p:strVal val="visible"/>
                                      </p:to>
                                    </p:set>
                                    <p:animEffect transition="in" filter="dissolve">
                                      <p:cBhvr>
                                        <p:cTn id="35" dur="500"/>
                                        <p:tgtEl>
                                          <p:spTgt spid="8192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en-US" dirty="0"/>
              <a:t>The Present &amp; Future of AI in W&amp;S</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891462" cy="4464050"/>
          </a:xfrm>
        </p:spPr>
        <p:txBody>
          <a:bodyPr/>
          <a:lstStyle/>
          <a:p>
            <a:pPr eaLnBrk="1" hangingPunct="1"/>
            <a:r>
              <a:rPr lang="de-DE" dirty="0" smtClean="0">
                <a:latin typeface="Arial" charset="0"/>
                <a:cs typeface="Arial" charset="0"/>
              </a:rPr>
              <a:t>A </a:t>
            </a:r>
            <a:r>
              <a:rPr lang="de-DE" dirty="0" err="1" smtClean="0">
                <a:latin typeface="Arial" charset="0"/>
                <a:cs typeface="Arial" charset="0"/>
              </a:rPr>
              <a:t>small</a:t>
            </a:r>
            <a:r>
              <a:rPr lang="de-DE" dirty="0" smtClean="0">
                <a:latin typeface="Arial" charset="0"/>
                <a:cs typeface="Arial" charset="0"/>
              </a:rPr>
              <a:t> </a:t>
            </a:r>
            <a:r>
              <a:rPr lang="de-DE" dirty="0" err="1" smtClean="0">
                <a:latin typeface="Arial" charset="0"/>
                <a:cs typeface="Arial" charset="0"/>
              </a:rPr>
              <a:t>team</a:t>
            </a:r>
            <a:r>
              <a:rPr lang="de-DE" dirty="0" smtClean="0">
                <a:latin typeface="Arial" charset="0"/>
                <a:cs typeface="Arial" charset="0"/>
              </a:rPr>
              <a:t> </a:t>
            </a:r>
            <a:r>
              <a:rPr lang="de-DE" dirty="0" err="1" smtClean="0">
                <a:latin typeface="Arial" charset="0"/>
                <a:cs typeface="Arial" charset="0"/>
              </a:rPr>
              <a:t>of</a:t>
            </a:r>
            <a:r>
              <a:rPr lang="de-DE" dirty="0" smtClean="0">
                <a:latin typeface="Arial" charset="0"/>
                <a:cs typeface="Arial" charset="0"/>
              </a:rPr>
              <a:t> 2 </a:t>
            </a:r>
            <a:r>
              <a:rPr lang="de-DE" dirty="0" err="1" smtClean="0">
                <a:latin typeface="Arial" charset="0"/>
                <a:cs typeface="Arial" charset="0"/>
              </a:rPr>
              <a:t>students</a:t>
            </a:r>
            <a:r>
              <a:rPr lang="de-DE" dirty="0" smtClean="0">
                <a:latin typeface="Arial" charset="0"/>
                <a:cs typeface="Arial" charset="0"/>
              </a:rPr>
              <a:t> </a:t>
            </a:r>
            <a:r>
              <a:rPr lang="de-DE" dirty="0" err="1" smtClean="0">
                <a:latin typeface="Arial" charset="0"/>
                <a:cs typeface="Arial" charset="0"/>
              </a:rPr>
              <a:t>that</a:t>
            </a:r>
            <a:r>
              <a:rPr lang="de-DE" dirty="0" smtClean="0">
                <a:latin typeface="Arial" charset="0"/>
                <a:cs typeface="Arial" charset="0"/>
              </a:rPr>
              <a:t> </a:t>
            </a:r>
            <a:r>
              <a:rPr lang="de-DE" dirty="0" err="1" smtClean="0">
                <a:latin typeface="Arial" charset="0"/>
                <a:cs typeface="Arial" charset="0"/>
              </a:rPr>
              <a:t>is</a:t>
            </a:r>
            <a:r>
              <a:rPr lang="de-DE" dirty="0" smtClean="0">
                <a:latin typeface="Arial" charset="0"/>
                <a:cs typeface="Arial" charset="0"/>
              </a:rPr>
              <a:t> </a:t>
            </a:r>
            <a:r>
              <a:rPr lang="de-DE" dirty="0" err="1" smtClean="0">
                <a:latin typeface="Arial" charset="0"/>
                <a:cs typeface="Arial" charset="0"/>
              </a:rPr>
              <a:t>located</a:t>
            </a:r>
            <a:r>
              <a:rPr lang="de-DE" dirty="0" smtClean="0">
                <a:latin typeface="Arial" charset="0"/>
                <a:cs typeface="Arial" charset="0"/>
              </a:rPr>
              <a:t> in </a:t>
            </a:r>
            <a:r>
              <a:rPr lang="de-DE" dirty="0" err="1" smtClean="0">
                <a:latin typeface="Arial" charset="0"/>
                <a:cs typeface="Arial" charset="0"/>
              </a:rPr>
              <a:t>the</a:t>
            </a:r>
            <a:r>
              <a:rPr lang="de-DE" dirty="0" smtClean="0">
                <a:latin typeface="Arial" charset="0"/>
                <a:cs typeface="Arial" charset="0"/>
              </a:rPr>
              <a:t> Automaten Kontrolle </a:t>
            </a:r>
            <a:r>
              <a:rPr lang="de-DE" dirty="0" err="1" smtClean="0">
                <a:latin typeface="Arial" charset="0"/>
                <a:cs typeface="Arial" charset="0"/>
              </a:rPr>
              <a:t>department</a:t>
            </a:r>
            <a:endParaRPr lang="de-DE" dirty="0" smtClean="0">
              <a:latin typeface="Arial" charset="0"/>
              <a:cs typeface="Arial" charset="0"/>
            </a:endParaRPr>
          </a:p>
          <a:p>
            <a:pPr eaLnBrk="1" hangingPunct="1"/>
            <a:r>
              <a:rPr lang="de-DE" dirty="0">
                <a:latin typeface="Arial" charset="0"/>
                <a:cs typeface="Arial" charset="0"/>
              </a:rPr>
              <a:t>Free </a:t>
            </a:r>
            <a:r>
              <a:rPr lang="de-DE" dirty="0" err="1">
                <a:latin typeface="Arial" charset="0"/>
                <a:cs typeface="Arial" charset="0"/>
              </a:rPr>
              <a:t>and</a:t>
            </a:r>
            <a:r>
              <a:rPr lang="de-DE" dirty="0">
                <a:latin typeface="Arial" charset="0"/>
                <a:cs typeface="Arial" charset="0"/>
              </a:rPr>
              <a:t> </a:t>
            </a:r>
            <a:r>
              <a:rPr lang="de-DE" dirty="0" err="1">
                <a:latin typeface="Arial" charset="0"/>
                <a:cs typeface="Arial" charset="0"/>
              </a:rPr>
              <a:t>creative</a:t>
            </a:r>
            <a:r>
              <a:rPr lang="de-DE" dirty="0">
                <a:latin typeface="Arial" charset="0"/>
                <a:cs typeface="Arial" charset="0"/>
              </a:rPr>
              <a:t> </a:t>
            </a:r>
            <a:r>
              <a:rPr lang="de-DE" dirty="0" err="1">
                <a:latin typeface="Arial" charset="0"/>
                <a:cs typeface="Arial" charset="0"/>
              </a:rPr>
              <a:t>working</a:t>
            </a:r>
            <a:r>
              <a:rPr lang="de-DE" dirty="0">
                <a:latin typeface="Arial" charset="0"/>
                <a:cs typeface="Arial" charset="0"/>
              </a:rPr>
              <a:t> </a:t>
            </a:r>
            <a:r>
              <a:rPr lang="de-DE" dirty="0" err="1" smtClean="0">
                <a:latin typeface="Arial" charset="0"/>
                <a:cs typeface="Arial" charset="0"/>
              </a:rPr>
              <a:t>environment</a:t>
            </a:r>
            <a:endParaRPr lang="de-DE" dirty="0" smtClean="0">
              <a:latin typeface="Arial" charset="0"/>
              <a:cs typeface="Arial" charset="0"/>
            </a:endParaRPr>
          </a:p>
          <a:p>
            <a:pPr eaLnBrk="1" hangingPunct="1"/>
            <a:r>
              <a:rPr lang="de-DE" dirty="0">
                <a:latin typeface="Arial" charset="0"/>
                <a:cs typeface="Arial" charset="0"/>
              </a:rPr>
              <a:t>Lack </a:t>
            </a:r>
            <a:r>
              <a:rPr lang="de-DE" dirty="0" err="1">
                <a:latin typeface="Arial" charset="0"/>
                <a:cs typeface="Arial" charset="0"/>
              </a:rPr>
              <a:t>of</a:t>
            </a:r>
            <a:r>
              <a:rPr lang="de-DE" dirty="0">
                <a:latin typeface="Arial" charset="0"/>
                <a:cs typeface="Arial" charset="0"/>
              </a:rPr>
              <a:t> </a:t>
            </a:r>
            <a:r>
              <a:rPr lang="de-DE" dirty="0" err="1">
                <a:latin typeface="Arial" charset="0"/>
                <a:cs typeface="Arial" charset="0"/>
              </a:rPr>
              <a:t>organized</a:t>
            </a:r>
            <a:r>
              <a:rPr lang="de-DE" dirty="0">
                <a:latin typeface="Arial" charset="0"/>
                <a:cs typeface="Arial" charset="0"/>
              </a:rPr>
              <a:t> </a:t>
            </a:r>
            <a:r>
              <a:rPr lang="de-DE" dirty="0" err="1">
                <a:latin typeface="Arial" charset="0"/>
                <a:cs typeface="Arial" charset="0"/>
              </a:rPr>
              <a:t>project</a:t>
            </a:r>
            <a:r>
              <a:rPr lang="de-DE" dirty="0">
                <a:latin typeface="Arial" charset="0"/>
                <a:cs typeface="Arial" charset="0"/>
              </a:rPr>
              <a:t> </a:t>
            </a:r>
            <a:r>
              <a:rPr lang="de-DE" dirty="0" err="1">
                <a:latin typeface="Arial" charset="0"/>
                <a:cs typeface="Arial" charset="0"/>
              </a:rPr>
              <a:t>management</a:t>
            </a:r>
            <a:r>
              <a:rPr lang="de-DE" dirty="0">
                <a:latin typeface="Arial" charset="0"/>
                <a:cs typeface="Arial" charset="0"/>
              </a:rPr>
              <a:t> </a:t>
            </a:r>
            <a:r>
              <a:rPr lang="de-DE" dirty="0" err="1">
                <a:latin typeface="Arial" charset="0"/>
                <a:cs typeface="Arial" charset="0"/>
              </a:rPr>
              <a:t>standards</a:t>
            </a:r>
            <a:r>
              <a:rPr lang="de-DE" dirty="0">
                <a:latin typeface="Arial" charset="0"/>
                <a:cs typeface="Arial" charset="0"/>
              </a:rPr>
              <a:t> </a:t>
            </a:r>
            <a:r>
              <a:rPr lang="de-DE" dirty="0" err="1">
                <a:latin typeface="Arial" charset="0"/>
                <a:cs typeface="Arial" charset="0"/>
              </a:rPr>
              <a:t>and</a:t>
            </a:r>
            <a:r>
              <a:rPr lang="de-DE" dirty="0">
                <a:latin typeface="Arial" charset="0"/>
                <a:cs typeface="Arial" charset="0"/>
              </a:rPr>
              <a:t> </a:t>
            </a:r>
            <a:r>
              <a:rPr lang="de-DE" dirty="0" err="1" smtClean="0">
                <a:latin typeface="Arial" charset="0"/>
                <a:cs typeface="Arial" charset="0"/>
              </a:rPr>
              <a:t>leadership</a:t>
            </a:r>
            <a:endParaRPr lang="de-DE" dirty="0" smtClean="0">
              <a:latin typeface="Arial" charset="0"/>
              <a:cs typeface="Arial" charset="0"/>
            </a:endParaRPr>
          </a:p>
          <a:p>
            <a:pPr eaLnBrk="1" hangingPunct="1"/>
            <a:r>
              <a:rPr lang="de-DE" dirty="0" smtClean="0">
                <a:latin typeface="Arial" charset="0"/>
                <a:cs typeface="Arial" charset="0"/>
              </a:rPr>
              <a:t>Low </a:t>
            </a:r>
            <a:r>
              <a:rPr lang="de-DE" dirty="0" err="1" smtClean="0">
                <a:latin typeface="Arial" charset="0"/>
                <a:cs typeface="Arial" charset="0"/>
              </a:rPr>
              <a:t>working</a:t>
            </a:r>
            <a:r>
              <a:rPr lang="de-DE" dirty="0" smtClean="0">
                <a:latin typeface="Arial" charset="0"/>
                <a:cs typeface="Arial" charset="0"/>
              </a:rPr>
              <a:t> </a:t>
            </a:r>
            <a:r>
              <a:rPr lang="de-DE" dirty="0" err="1" smtClean="0">
                <a:latin typeface="Arial" charset="0"/>
                <a:cs typeface="Arial" charset="0"/>
              </a:rPr>
              <a:t>efficiency</a:t>
            </a:r>
            <a:r>
              <a:rPr lang="de-DE" dirty="0" smtClean="0">
                <a:latin typeface="Arial" charset="0"/>
                <a:cs typeface="Arial" charset="0"/>
              </a:rPr>
              <a:t> due </a:t>
            </a:r>
            <a:r>
              <a:rPr lang="de-DE" dirty="0" err="1" smtClean="0">
                <a:latin typeface="Arial" charset="0"/>
                <a:cs typeface="Arial" charset="0"/>
              </a:rPr>
              <a:t>to</a:t>
            </a:r>
            <a:r>
              <a:rPr lang="de-DE" dirty="0" smtClean="0">
                <a:latin typeface="Arial" charset="0"/>
                <a:cs typeface="Arial" charset="0"/>
              </a:rPr>
              <a:t> lack </a:t>
            </a:r>
            <a:r>
              <a:rPr lang="de-DE" dirty="0" err="1" smtClean="0">
                <a:latin typeface="Arial" charset="0"/>
                <a:cs typeface="Arial" charset="0"/>
              </a:rPr>
              <a:t>of</a:t>
            </a:r>
            <a:r>
              <a:rPr lang="de-DE" dirty="0" smtClean="0">
                <a:latin typeface="Arial" charset="0"/>
                <a:cs typeface="Arial" charset="0"/>
              </a:rPr>
              <a:t> </a:t>
            </a:r>
            <a:r>
              <a:rPr lang="de-DE" dirty="0" err="1" smtClean="0">
                <a:latin typeface="Arial" charset="0"/>
                <a:cs typeface="Arial" charset="0"/>
              </a:rPr>
              <a:t>admin</a:t>
            </a:r>
            <a:r>
              <a:rPr lang="de-DE" dirty="0" smtClean="0">
                <a:latin typeface="Arial" charset="0"/>
                <a:cs typeface="Arial" charset="0"/>
              </a:rPr>
              <a:t> </a:t>
            </a:r>
            <a:r>
              <a:rPr lang="de-DE" dirty="0" err="1" smtClean="0">
                <a:latin typeface="Arial" charset="0"/>
                <a:cs typeface="Arial" charset="0"/>
              </a:rPr>
              <a:t>rights</a:t>
            </a:r>
            <a:endParaRPr lang="de-DE"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Current</a:t>
            </a:r>
            <a:r>
              <a:rPr lang="de-DE" b="1" dirty="0" smtClean="0">
                <a:cs typeface="Arial" charset="0"/>
              </a:rPr>
              <a:t> Situation</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21</a:t>
            </a:fld>
            <a:endParaRPr lang="de-DE" dirty="0"/>
          </a:p>
        </p:txBody>
      </p:sp>
    </p:spTree>
    <p:extLst>
      <p:ext uri="{BB962C8B-B14F-4D97-AF65-F5344CB8AC3E}">
        <p14:creationId xmlns:p14="http://schemas.microsoft.com/office/powerpoint/2010/main" val="32334775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wd">
                                    <p:tmPct val="10000"/>
                                  </p:iterate>
                                  <p:childTnLst>
                                    <p:set>
                                      <p:cBhvr>
                                        <p:cTn id="11" dur="1" fill="hold">
                                          <p:stCondLst>
                                            <p:cond delay="0"/>
                                          </p:stCondLst>
                                        </p:cTn>
                                        <p:tgtEl>
                                          <p:spTgt spid="81923">
                                            <p:txEl>
                                              <p:pRg st="1" end="1"/>
                                            </p:txEl>
                                          </p:spTgt>
                                        </p:tgtEl>
                                        <p:attrNameLst>
                                          <p:attrName>style.visibility</p:attrName>
                                        </p:attrNameLst>
                                      </p:cBhvr>
                                      <p:to>
                                        <p:strVal val="visible"/>
                                      </p:to>
                                    </p:set>
                                    <p:animEffect transition="in" filter="dissolve">
                                      <p:cBhvr>
                                        <p:cTn id="12" dur="500"/>
                                        <p:tgtEl>
                                          <p:spTgt spid="819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iterate type="wd">
                                    <p:tmPct val="10000"/>
                                  </p:iterate>
                                  <p:childTnLst>
                                    <p:set>
                                      <p:cBhvr>
                                        <p:cTn id="16" dur="1" fill="hold">
                                          <p:stCondLst>
                                            <p:cond delay="0"/>
                                          </p:stCondLst>
                                        </p:cTn>
                                        <p:tgtEl>
                                          <p:spTgt spid="81923">
                                            <p:txEl>
                                              <p:pRg st="2" end="2"/>
                                            </p:txEl>
                                          </p:spTgt>
                                        </p:tgtEl>
                                        <p:attrNameLst>
                                          <p:attrName>style.visibility</p:attrName>
                                        </p:attrNameLst>
                                      </p:cBhvr>
                                      <p:to>
                                        <p:strVal val="visible"/>
                                      </p:to>
                                    </p:set>
                                    <p:animEffect transition="in" filter="dissolve">
                                      <p:cBhvr>
                                        <p:cTn id="17" dur="500"/>
                                        <p:tgtEl>
                                          <p:spTgt spid="819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iterate type="wd">
                                    <p:tmPct val="10000"/>
                                  </p:iterate>
                                  <p:childTnLst>
                                    <p:set>
                                      <p:cBhvr>
                                        <p:cTn id="21" dur="1" fill="hold">
                                          <p:stCondLst>
                                            <p:cond delay="0"/>
                                          </p:stCondLst>
                                        </p:cTn>
                                        <p:tgtEl>
                                          <p:spTgt spid="81923">
                                            <p:txEl>
                                              <p:pRg st="3" end="3"/>
                                            </p:txEl>
                                          </p:spTgt>
                                        </p:tgtEl>
                                        <p:attrNameLst>
                                          <p:attrName>style.visibility</p:attrName>
                                        </p:attrNameLst>
                                      </p:cBhvr>
                                      <p:to>
                                        <p:strVal val="visible"/>
                                      </p:to>
                                    </p:set>
                                    <p:animEffect transition="in" filter="dissolve">
                                      <p:cBhvr>
                                        <p:cTn id="22" dur="500"/>
                                        <p:tgtEl>
                                          <p:spTgt spid="819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en-US" dirty="0"/>
              <a:t>The Present &amp; Future of AI in W&amp;S</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pPr eaLnBrk="1" hangingPunct="1"/>
            <a:r>
              <a:rPr lang="de-DE" b="1" dirty="0" smtClean="0">
                <a:latin typeface="Arial" charset="0"/>
                <a:cs typeface="Arial" charset="0"/>
              </a:rPr>
              <a:t>AI </a:t>
            </a:r>
            <a:r>
              <a:rPr lang="de-DE" b="1" dirty="0" err="1" smtClean="0">
                <a:latin typeface="Arial" charset="0"/>
                <a:cs typeface="Arial" charset="0"/>
              </a:rPr>
              <a:t>team</a:t>
            </a:r>
            <a:r>
              <a:rPr lang="de-DE" b="1" dirty="0" smtClean="0">
                <a:latin typeface="Arial" charset="0"/>
                <a:cs typeface="Arial" charset="0"/>
              </a:rPr>
              <a:t> </a:t>
            </a:r>
            <a:r>
              <a:rPr lang="de-DE" b="1" dirty="0" err="1" smtClean="0">
                <a:latin typeface="Arial" charset="0"/>
                <a:cs typeface="Arial" charset="0"/>
              </a:rPr>
              <a:t>as</a:t>
            </a:r>
            <a:r>
              <a:rPr lang="de-DE" b="1" dirty="0" smtClean="0">
                <a:latin typeface="Arial" charset="0"/>
                <a:cs typeface="Arial" charset="0"/>
              </a:rPr>
              <a:t> a sub-department/ </a:t>
            </a:r>
            <a:r>
              <a:rPr lang="de-DE" b="1" dirty="0" err="1" smtClean="0">
                <a:latin typeface="Arial" charset="0"/>
                <a:cs typeface="Arial" charset="0"/>
              </a:rPr>
              <a:t>focus</a:t>
            </a:r>
            <a:r>
              <a:rPr lang="de-DE" b="1" dirty="0" smtClean="0">
                <a:latin typeface="Arial" charset="0"/>
                <a:cs typeface="Arial" charset="0"/>
              </a:rPr>
              <a:t>-team</a:t>
            </a:r>
          </a:p>
          <a:p>
            <a:pPr lvl="1" eaLnBrk="1" hangingPunct="1"/>
            <a:r>
              <a:rPr lang="de-DE" dirty="0" smtClean="0">
                <a:latin typeface="Arial" charset="0"/>
                <a:cs typeface="Arial" charset="0"/>
              </a:rPr>
              <a:t>Cross-</a:t>
            </a:r>
            <a:r>
              <a:rPr lang="de-DE" dirty="0" err="1" smtClean="0">
                <a:latin typeface="Arial" charset="0"/>
                <a:cs typeface="Arial" charset="0"/>
              </a:rPr>
              <a:t>departmental</a:t>
            </a:r>
            <a:r>
              <a:rPr lang="de-DE" dirty="0" smtClean="0">
                <a:latin typeface="Arial" charset="0"/>
                <a:cs typeface="Arial" charset="0"/>
              </a:rPr>
              <a:t> </a:t>
            </a:r>
            <a:r>
              <a:rPr lang="de-DE" dirty="0" err="1" smtClean="0">
                <a:latin typeface="Arial" charset="0"/>
                <a:cs typeface="Arial" charset="0"/>
              </a:rPr>
              <a:t>collaboration</a:t>
            </a:r>
            <a:endParaRPr lang="de-DE" dirty="0" smtClean="0">
              <a:latin typeface="Arial" charset="0"/>
              <a:cs typeface="Arial" charset="0"/>
            </a:endParaRPr>
          </a:p>
          <a:p>
            <a:pPr eaLnBrk="1" hangingPunct="1"/>
            <a:r>
              <a:rPr lang="de-DE" b="1" dirty="0" smtClean="0">
                <a:latin typeface="Arial" charset="0"/>
                <a:cs typeface="Arial" charset="0"/>
              </a:rPr>
              <a:t>Leadership </a:t>
            </a:r>
            <a:r>
              <a:rPr lang="de-DE" b="1" dirty="0" err="1" smtClean="0">
                <a:latin typeface="Arial" charset="0"/>
                <a:cs typeface="Arial" charset="0"/>
              </a:rPr>
              <a:t>and</a:t>
            </a:r>
            <a:r>
              <a:rPr lang="de-DE" b="1" dirty="0" smtClean="0">
                <a:latin typeface="Arial" charset="0"/>
                <a:cs typeface="Arial" charset="0"/>
              </a:rPr>
              <a:t> </a:t>
            </a:r>
            <a:r>
              <a:rPr lang="de-DE" b="1" dirty="0" err="1">
                <a:latin typeface="Arial" charset="0"/>
                <a:cs typeface="Arial" charset="0"/>
              </a:rPr>
              <a:t>o</a:t>
            </a:r>
            <a:r>
              <a:rPr lang="de-DE" b="1" dirty="0" err="1" smtClean="0">
                <a:latin typeface="Arial" charset="0"/>
                <a:cs typeface="Arial" charset="0"/>
              </a:rPr>
              <a:t>rganizational</a:t>
            </a:r>
            <a:r>
              <a:rPr lang="de-DE" b="1" dirty="0" smtClean="0">
                <a:latin typeface="Arial" charset="0"/>
                <a:cs typeface="Arial" charset="0"/>
              </a:rPr>
              <a:t> </a:t>
            </a:r>
            <a:r>
              <a:rPr lang="de-DE" b="1" dirty="0" err="1" smtClean="0">
                <a:latin typeface="Arial" charset="0"/>
                <a:cs typeface="Arial" charset="0"/>
              </a:rPr>
              <a:t>structure</a:t>
            </a:r>
            <a:endParaRPr lang="de-DE" b="1" dirty="0" smtClean="0">
              <a:latin typeface="Arial" charset="0"/>
              <a:cs typeface="Arial" charset="0"/>
            </a:endParaRPr>
          </a:p>
          <a:p>
            <a:pPr lvl="1" eaLnBrk="1" hangingPunct="1"/>
            <a:r>
              <a:rPr lang="de-DE" dirty="0" smtClean="0">
                <a:latin typeface="Arial" charset="0"/>
                <a:cs typeface="Arial" charset="0"/>
              </a:rPr>
              <a:t>Senior AI-</a:t>
            </a:r>
            <a:r>
              <a:rPr lang="de-DE" dirty="0" err="1" smtClean="0">
                <a:latin typeface="Arial" charset="0"/>
                <a:cs typeface="Arial" charset="0"/>
              </a:rPr>
              <a:t>experienced</a:t>
            </a:r>
            <a:r>
              <a:rPr lang="de-DE" dirty="0" smtClean="0">
                <a:latin typeface="Arial" charset="0"/>
                <a:cs typeface="Arial" charset="0"/>
              </a:rPr>
              <a:t> </a:t>
            </a:r>
            <a:r>
              <a:rPr lang="de-DE" dirty="0" err="1" smtClean="0">
                <a:latin typeface="Arial" charset="0"/>
                <a:cs typeface="Arial" charset="0"/>
              </a:rPr>
              <a:t>leadership</a:t>
            </a:r>
            <a:r>
              <a:rPr lang="de-DE" dirty="0" smtClean="0">
                <a:latin typeface="Arial" charset="0"/>
                <a:cs typeface="Arial" charset="0"/>
              </a:rPr>
              <a:t> </a:t>
            </a:r>
            <a:r>
              <a:rPr lang="de-DE" dirty="0" err="1" smtClean="0">
                <a:latin typeface="Arial" charset="0"/>
                <a:cs typeface="Arial" charset="0"/>
              </a:rPr>
              <a:t>to</a:t>
            </a:r>
            <a:r>
              <a:rPr lang="de-DE" dirty="0" smtClean="0">
                <a:latin typeface="Arial" charset="0"/>
                <a:cs typeface="Arial" charset="0"/>
              </a:rPr>
              <a:t> </a:t>
            </a:r>
            <a:r>
              <a:rPr lang="de-DE" dirty="0" err="1" smtClean="0">
                <a:latin typeface="Arial" charset="0"/>
                <a:cs typeface="Arial" charset="0"/>
              </a:rPr>
              <a:t>guide</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AI </a:t>
            </a:r>
            <a:r>
              <a:rPr lang="de-DE" dirty="0" err="1" smtClean="0">
                <a:latin typeface="Arial" charset="0"/>
                <a:cs typeface="Arial" charset="0"/>
              </a:rPr>
              <a:t>team</a:t>
            </a:r>
            <a:endParaRPr lang="de-DE" dirty="0" smtClean="0">
              <a:latin typeface="Arial" charset="0"/>
              <a:cs typeface="Arial" charset="0"/>
            </a:endParaRPr>
          </a:p>
          <a:p>
            <a:pPr lvl="2" eaLnBrk="1" hangingPunct="1"/>
            <a:r>
              <a:rPr lang="de-DE" sz="1600" dirty="0" err="1" smtClean="0">
                <a:latin typeface="Arial" charset="0"/>
                <a:cs typeface="Arial" charset="0"/>
              </a:rPr>
              <a:t>Establish</a:t>
            </a:r>
            <a:r>
              <a:rPr lang="de-DE" sz="1600" dirty="0" smtClean="0">
                <a:latin typeface="Arial" charset="0"/>
                <a:cs typeface="Arial" charset="0"/>
              </a:rPr>
              <a:t> </a:t>
            </a:r>
            <a:r>
              <a:rPr lang="de-DE" sz="1600" dirty="0" err="1" smtClean="0">
                <a:latin typeface="Arial" charset="0"/>
                <a:cs typeface="Arial" charset="0"/>
              </a:rPr>
              <a:t>best</a:t>
            </a:r>
            <a:r>
              <a:rPr lang="de-DE" sz="1600" dirty="0">
                <a:latin typeface="Arial" charset="0"/>
                <a:cs typeface="Arial" charset="0"/>
              </a:rPr>
              <a:t> </a:t>
            </a:r>
            <a:r>
              <a:rPr lang="de-DE" sz="1600" dirty="0" err="1" smtClean="0">
                <a:latin typeface="Arial" charset="0"/>
                <a:cs typeface="Arial" charset="0"/>
              </a:rPr>
              <a:t>practices</a:t>
            </a:r>
            <a:endParaRPr lang="de-DE" sz="1600" dirty="0" smtClean="0">
              <a:latin typeface="Arial" charset="0"/>
              <a:cs typeface="Arial" charset="0"/>
            </a:endParaRPr>
          </a:p>
          <a:p>
            <a:pPr lvl="2" eaLnBrk="1" hangingPunct="1"/>
            <a:r>
              <a:rPr lang="de-DE" sz="1600" dirty="0" err="1" smtClean="0">
                <a:latin typeface="Arial" charset="0"/>
                <a:cs typeface="Arial" charset="0"/>
              </a:rPr>
              <a:t>Organize</a:t>
            </a:r>
            <a:r>
              <a:rPr lang="de-DE" sz="1600" dirty="0" smtClean="0">
                <a:latin typeface="Arial" charset="0"/>
                <a:cs typeface="Arial" charset="0"/>
              </a:rPr>
              <a:t> </a:t>
            </a:r>
            <a:r>
              <a:rPr lang="de-DE" sz="1600" dirty="0" err="1" smtClean="0">
                <a:latin typeface="Arial" charset="0"/>
                <a:cs typeface="Arial" charset="0"/>
              </a:rPr>
              <a:t>project</a:t>
            </a:r>
            <a:r>
              <a:rPr lang="de-DE" sz="1600" dirty="0" smtClean="0">
                <a:latin typeface="Arial" charset="0"/>
                <a:cs typeface="Arial" charset="0"/>
              </a:rPr>
              <a:t> </a:t>
            </a:r>
            <a:r>
              <a:rPr lang="de-DE" sz="1600" dirty="0" err="1" smtClean="0">
                <a:latin typeface="Arial" charset="0"/>
                <a:cs typeface="Arial" charset="0"/>
              </a:rPr>
              <a:t>management</a:t>
            </a:r>
            <a:endParaRPr lang="de-DE" sz="1600" dirty="0" smtClean="0">
              <a:latin typeface="Arial" charset="0"/>
              <a:cs typeface="Arial" charset="0"/>
            </a:endParaRPr>
          </a:p>
          <a:p>
            <a:pPr lvl="2" eaLnBrk="1" hangingPunct="1"/>
            <a:r>
              <a:rPr lang="de-DE" sz="1600" dirty="0" err="1" smtClean="0">
                <a:latin typeface="Arial" charset="0"/>
                <a:cs typeface="Arial" charset="0"/>
              </a:rPr>
              <a:t>Communicate</a:t>
            </a:r>
            <a:r>
              <a:rPr lang="de-DE" sz="1600" dirty="0" smtClean="0">
                <a:latin typeface="Arial" charset="0"/>
                <a:cs typeface="Arial" charset="0"/>
              </a:rPr>
              <a:t> </a:t>
            </a:r>
            <a:r>
              <a:rPr lang="de-DE" sz="1600" dirty="0" err="1" smtClean="0">
                <a:latin typeface="Arial" charset="0"/>
                <a:cs typeface="Arial" charset="0"/>
              </a:rPr>
              <a:t>as</a:t>
            </a:r>
            <a:r>
              <a:rPr lang="de-DE" sz="1600" dirty="0" smtClean="0">
                <a:latin typeface="Arial" charset="0"/>
                <a:cs typeface="Arial" charset="0"/>
              </a:rPr>
              <a:t> a </a:t>
            </a:r>
            <a:r>
              <a:rPr lang="de-DE" sz="1600" dirty="0" err="1" smtClean="0">
                <a:latin typeface="Arial" charset="0"/>
                <a:cs typeface="Arial" charset="0"/>
              </a:rPr>
              <a:t>bridge</a:t>
            </a:r>
            <a:r>
              <a:rPr lang="de-DE" sz="1600" dirty="0" smtClean="0">
                <a:latin typeface="Arial" charset="0"/>
                <a:cs typeface="Arial" charset="0"/>
              </a:rPr>
              <a:t> </a:t>
            </a:r>
            <a:r>
              <a:rPr lang="de-DE" sz="1600" dirty="0" err="1" smtClean="0">
                <a:latin typeface="Arial" charset="0"/>
                <a:cs typeface="Arial" charset="0"/>
              </a:rPr>
              <a:t>between</a:t>
            </a:r>
            <a:r>
              <a:rPr lang="de-DE" sz="1600" dirty="0" smtClean="0">
                <a:latin typeface="Arial" charset="0"/>
                <a:cs typeface="Arial" charset="0"/>
              </a:rPr>
              <a:t> different </a:t>
            </a:r>
            <a:r>
              <a:rPr lang="de-DE" sz="1600" dirty="0" err="1" smtClean="0">
                <a:latin typeface="Arial" charset="0"/>
                <a:cs typeface="Arial" charset="0"/>
              </a:rPr>
              <a:t>departments</a:t>
            </a:r>
            <a:endParaRPr lang="de-DE" sz="1600" dirty="0" smtClean="0">
              <a:latin typeface="Arial" charset="0"/>
              <a:cs typeface="Arial" charset="0"/>
            </a:endParaRPr>
          </a:p>
          <a:p>
            <a:pPr lvl="2" eaLnBrk="1" hangingPunct="1"/>
            <a:r>
              <a:rPr lang="de-DE" sz="1600" dirty="0" err="1" smtClean="0">
                <a:latin typeface="Arial" charset="0"/>
                <a:cs typeface="Arial" charset="0"/>
              </a:rPr>
              <a:t>Ensure</a:t>
            </a:r>
            <a:r>
              <a:rPr lang="de-DE" sz="1600" dirty="0" smtClean="0">
                <a:latin typeface="Arial" charset="0"/>
                <a:cs typeface="Arial" charset="0"/>
              </a:rPr>
              <a:t> </a:t>
            </a:r>
            <a:r>
              <a:rPr lang="de-DE" sz="1600" dirty="0" err="1" smtClean="0">
                <a:latin typeface="Arial" charset="0"/>
                <a:cs typeface="Arial" charset="0"/>
              </a:rPr>
              <a:t>strategic</a:t>
            </a:r>
            <a:r>
              <a:rPr lang="de-DE" sz="1600" dirty="0" smtClean="0">
                <a:latin typeface="Arial" charset="0"/>
                <a:cs typeface="Arial" charset="0"/>
              </a:rPr>
              <a:t> </a:t>
            </a:r>
            <a:r>
              <a:rPr lang="de-DE" sz="1600" dirty="0" err="1" smtClean="0">
                <a:latin typeface="Arial" charset="0"/>
                <a:cs typeface="Arial" charset="0"/>
              </a:rPr>
              <a:t>alignment</a:t>
            </a:r>
            <a:r>
              <a:rPr lang="de-DE" sz="1600" dirty="0" smtClean="0">
                <a:latin typeface="Arial" charset="0"/>
                <a:cs typeface="Arial" charset="0"/>
              </a:rPr>
              <a:t> </a:t>
            </a:r>
            <a:r>
              <a:rPr lang="de-DE" sz="1600" dirty="0" err="1" smtClean="0">
                <a:latin typeface="Arial" charset="0"/>
                <a:cs typeface="Arial" charset="0"/>
              </a:rPr>
              <a:t>of</a:t>
            </a:r>
            <a:r>
              <a:rPr lang="de-DE" sz="1600" dirty="0" smtClean="0">
                <a:latin typeface="Arial" charset="0"/>
                <a:cs typeface="Arial" charset="0"/>
              </a:rPr>
              <a:t> AI </a:t>
            </a:r>
            <a:r>
              <a:rPr lang="de-DE" sz="1600" dirty="0" err="1" smtClean="0">
                <a:latin typeface="Arial" charset="0"/>
                <a:cs typeface="Arial" charset="0"/>
              </a:rPr>
              <a:t>efforts</a:t>
            </a:r>
            <a:r>
              <a:rPr lang="de-DE" sz="1600" dirty="0" smtClean="0">
                <a:latin typeface="Arial" charset="0"/>
                <a:cs typeface="Arial" charset="0"/>
              </a:rPr>
              <a:t> </a:t>
            </a:r>
            <a:r>
              <a:rPr lang="de-DE" sz="1600" dirty="0" err="1" smtClean="0">
                <a:latin typeface="Arial" charset="0"/>
                <a:cs typeface="Arial" charset="0"/>
              </a:rPr>
              <a:t>with</a:t>
            </a:r>
            <a:r>
              <a:rPr lang="de-DE" sz="1600" dirty="0" smtClean="0">
                <a:latin typeface="Arial" charset="0"/>
                <a:cs typeface="Arial" charset="0"/>
              </a:rPr>
              <a:t> </a:t>
            </a:r>
            <a:r>
              <a:rPr lang="de-DE" sz="1600" dirty="0" err="1" smtClean="0">
                <a:latin typeface="Arial" charset="0"/>
                <a:cs typeface="Arial" charset="0"/>
              </a:rPr>
              <a:t>company</a:t>
            </a:r>
            <a:r>
              <a:rPr lang="de-DE" sz="1600" dirty="0" smtClean="0">
                <a:latin typeface="Arial" charset="0"/>
                <a:cs typeface="Arial" charset="0"/>
              </a:rPr>
              <a:t> </a:t>
            </a:r>
            <a:r>
              <a:rPr lang="de-DE" sz="1600" dirty="0" err="1" smtClean="0">
                <a:latin typeface="Arial" charset="0"/>
                <a:cs typeface="Arial" charset="0"/>
              </a:rPr>
              <a:t>goals</a:t>
            </a:r>
            <a:endParaRPr lang="de-DE" sz="1200" dirty="0">
              <a:latin typeface="Arial" charset="0"/>
              <a:cs typeface="Arial" charset="0"/>
            </a:endParaRPr>
          </a:p>
          <a:p>
            <a:pPr eaLnBrk="1" hangingPunct="1"/>
            <a:r>
              <a:rPr lang="de-DE" b="1" dirty="0" smtClean="0">
                <a:latin typeface="Arial" charset="0"/>
                <a:cs typeface="Arial" charset="0"/>
              </a:rPr>
              <a:t>Work </a:t>
            </a:r>
            <a:r>
              <a:rPr lang="de-DE" b="1" dirty="0" err="1">
                <a:latin typeface="Arial" charset="0"/>
                <a:cs typeface="Arial" charset="0"/>
              </a:rPr>
              <a:t>closer</a:t>
            </a:r>
            <a:r>
              <a:rPr lang="de-DE" b="1" dirty="0">
                <a:latin typeface="Arial" charset="0"/>
                <a:cs typeface="Arial" charset="0"/>
              </a:rPr>
              <a:t> </a:t>
            </a:r>
            <a:r>
              <a:rPr lang="de-DE" b="1" dirty="0" err="1">
                <a:latin typeface="Arial" charset="0"/>
                <a:cs typeface="Arial" charset="0"/>
              </a:rPr>
              <a:t>to</a:t>
            </a:r>
            <a:r>
              <a:rPr lang="de-DE" b="1" dirty="0">
                <a:latin typeface="Arial" charset="0"/>
                <a:cs typeface="Arial" charset="0"/>
              </a:rPr>
              <a:t> </a:t>
            </a:r>
            <a:r>
              <a:rPr lang="de-DE" b="1" dirty="0" err="1">
                <a:latin typeface="Arial" charset="0"/>
                <a:cs typeface="Arial" charset="0"/>
              </a:rPr>
              <a:t>the</a:t>
            </a:r>
            <a:r>
              <a:rPr lang="de-DE" b="1" dirty="0">
                <a:latin typeface="Arial" charset="0"/>
                <a:cs typeface="Arial" charset="0"/>
              </a:rPr>
              <a:t> IT </a:t>
            </a:r>
            <a:r>
              <a:rPr lang="de-DE" b="1" dirty="0" err="1">
                <a:latin typeface="Arial" charset="0"/>
                <a:cs typeface="Arial" charset="0"/>
              </a:rPr>
              <a:t>department</a:t>
            </a:r>
            <a:endParaRPr lang="de-DE" b="1" dirty="0">
              <a:latin typeface="Arial" charset="0"/>
              <a:cs typeface="Arial" charset="0"/>
            </a:endParaRPr>
          </a:p>
          <a:p>
            <a:pPr lvl="1" eaLnBrk="1" hangingPunct="1"/>
            <a:endParaRPr lang="de-DE"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smtClean="0">
                <a:cs typeface="Arial" charset="0"/>
              </a:rPr>
              <a:t>Strategic </a:t>
            </a:r>
            <a:r>
              <a:rPr lang="de-DE" b="1" dirty="0" err="1" smtClean="0">
                <a:cs typeface="Arial" charset="0"/>
              </a:rPr>
              <a:t>Steps</a:t>
            </a:r>
            <a:r>
              <a:rPr lang="de-DE" b="1" dirty="0" smtClean="0">
                <a:cs typeface="Arial" charset="0"/>
              </a:rPr>
              <a:t> </a:t>
            </a:r>
            <a:r>
              <a:rPr lang="de-DE" b="1" dirty="0" err="1" smtClean="0">
                <a:cs typeface="Arial" charset="0"/>
              </a:rPr>
              <a:t>Towards</a:t>
            </a:r>
            <a:r>
              <a:rPr lang="de-DE" b="1" dirty="0" smtClean="0">
                <a:cs typeface="Arial" charset="0"/>
              </a:rPr>
              <a:t> </a:t>
            </a:r>
            <a:r>
              <a:rPr lang="de-DE" b="1" dirty="0" err="1" smtClean="0">
                <a:cs typeface="Arial" charset="0"/>
              </a:rPr>
              <a:t>the</a:t>
            </a:r>
            <a:r>
              <a:rPr lang="de-DE" b="1" dirty="0" smtClean="0">
                <a:cs typeface="Arial" charset="0"/>
              </a:rPr>
              <a:t> Future (</a:t>
            </a:r>
            <a:r>
              <a:rPr lang="de-DE" b="1" dirty="0" err="1" smtClean="0">
                <a:cs typeface="Arial" charset="0"/>
              </a:rPr>
              <a:t>my</a:t>
            </a:r>
            <a:r>
              <a:rPr lang="de-DE" b="1" dirty="0" smtClean="0">
                <a:cs typeface="Arial" charset="0"/>
              </a:rPr>
              <a:t> </a:t>
            </a:r>
            <a:r>
              <a:rPr lang="de-DE" b="1" dirty="0" err="1" smtClean="0">
                <a:cs typeface="Arial" charset="0"/>
              </a:rPr>
              <a:t>opinion</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22</a:t>
            </a:fld>
            <a:endParaRPr lang="de-DE" dirty="0"/>
          </a:p>
        </p:txBody>
      </p:sp>
    </p:spTree>
    <p:extLst>
      <p:ext uri="{BB962C8B-B14F-4D97-AF65-F5344CB8AC3E}">
        <p14:creationId xmlns:p14="http://schemas.microsoft.com/office/powerpoint/2010/main" val="3019276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par>
                                <p:cTn id="8" presetID="9" presetClass="entr" presetSubtype="0" fill="hold" grpId="0" nodeType="withEffect">
                                  <p:stCondLst>
                                    <p:cond delay="0"/>
                                  </p:stCondLst>
                                  <p:iterate type="wd">
                                    <p:tmPct val="10000"/>
                                  </p:iterate>
                                  <p:childTnLst>
                                    <p:set>
                                      <p:cBhvr>
                                        <p:cTn id="9" dur="1" fill="hold">
                                          <p:stCondLst>
                                            <p:cond delay="0"/>
                                          </p:stCondLst>
                                        </p:cTn>
                                        <p:tgtEl>
                                          <p:spTgt spid="81923">
                                            <p:txEl>
                                              <p:pRg st="1" end="1"/>
                                            </p:txEl>
                                          </p:spTgt>
                                        </p:tgtEl>
                                        <p:attrNameLst>
                                          <p:attrName>style.visibility</p:attrName>
                                        </p:attrNameLst>
                                      </p:cBhvr>
                                      <p:to>
                                        <p:strVal val="visible"/>
                                      </p:to>
                                    </p:set>
                                    <p:animEffect transition="in" filter="dissolve">
                                      <p:cBhvr>
                                        <p:cTn id="10" dur="500"/>
                                        <p:tgtEl>
                                          <p:spTgt spid="8192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iterate type="wd">
                                    <p:tmPct val="10000"/>
                                  </p:iterate>
                                  <p:childTnLst>
                                    <p:set>
                                      <p:cBhvr>
                                        <p:cTn id="14" dur="1" fill="hold">
                                          <p:stCondLst>
                                            <p:cond delay="0"/>
                                          </p:stCondLst>
                                        </p:cTn>
                                        <p:tgtEl>
                                          <p:spTgt spid="81923">
                                            <p:txEl>
                                              <p:pRg st="2" end="2"/>
                                            </p:txEl>
                                          </p:spTgt>
                                        </p:tgtEl>
                                        <p:attrNameLst>
                                          <p:attrName>style.visibility</p:attrName>
                                        </p:attrNameLst>
                                      </p:cBhvr>
                                      <p:to>
                                        <p:strVal val="visible"/>
                                      </p:to>
                                    </p:set>
                                    <p:animEffect transition="in" filter="dissolve">
                                      <p:cBhvr>
                                        <p:cTn id="15" dur="500"/>
                                        <p:tgtEl>
                                          <p:spTgt spid="81923">
                                            <p:txEl>
                                              <p:pRg st="2" end="2"/>
                                            </p:txEl>
                                          </p:spTgt>
                                        </p:tgtEl>
                                      </p:cBhvr>
                                    </p:animEffect>
                                  </p:childTnLst>
                                </p:cTn>
                              </p:par>
                              <p:par>
                                <p:cTn id="16" presetID="9" presetClass="entr" presetSubtype="0" fill="hold" grpId="0" nodeType="withEffect">
                                  <p:stCondLst>
                                    <p:cond delay="0"/>
                                  </p:stCondLst>
                                  <p:iterate type="wd">
                                    <p:tmPct val="10000"/>
                                  </p:iterate>
                                  <p:childTnLst>
                                    <p:set>
                                      <p:cBhvr>
                                        <p:cTn id="17" dur="1" fill="hold">
                                          <p:stCondLst>
                                            <p:cond delay="0"/>
                                          </p:stCondLst>
                                        </p:cTn>
                                        <p:tgtEl>
                                          <p:spTgt spid="81923">
                                            <p:txEl>
                                              <p:pRg st="3" end="3"/>
                                            </p:txEl>
                                          </p:spTgt>
                                        </p:tgtEl>
                                        <p:attrNameLst>
                                          <p:attrName>style.visibility</p:attrName>
                                        </p:attrNameLst>
                                      </p:cBhvr>
                                      <p:to>
                                        <p:strVal val="visible"/>
                                      </p:to>
                                    </p:set>
                                    <p:animEffect transition="in" filter="dissolve">
                                      <p:cBhvr>
                                        <p:cTn id="18" dur="500"/>
                                        <p:tgtEl>
                                          <p:spTgt spid="81923">
                                            <p:txEl>
                                              <p:pRg st="3" end="3"/>
                                            </p:txEl>
                                          </p:spTgt>
                                        </p:tgtEl>
                                      </p:cBhvr>
                                    </p:animEffect>
                                  </p:childTnLst>
                                </p:cTn>
                              </p:par>
                              <p:par>
                                <p:cTn id="19" presetID="9" presetClass="entr" presetSubtype="0" fill="hold" grpId="0" nodeType="withEffect">
                                  <p:stCondLst>
                                    <p:cond delay="0"/>
                                  </p:stCondLst>
                                  <p:iterate type="wd">
                                    <p:tmPct val="10000"/>
                                  </p:iterate>
                                  <p:childTnLst>
                                    <p:set>
                                      <p:cBhvr>
                                        <p:cTn id="20" dur="1" fill="hold">
                                          <p:stCondLst>
                                            <p:cond delay="0"/>
                                          </p:stCondLst>
                                        </p:cTn>
                                        <p:tgtEl>
                                          <p:spTgt spid="81923">
                                            <p:txEl>
                                              <p:pRg st="4" end="4"/>
                                            </p:txEl>
                                          </p:spTgt>
                                        </p:tgtEl>
                                        <p:attrNameLst>
                                          <p:attrName>style.visibility</p:attrName>
                                        </p:attrNameLst>
                                      </p:cBhvr>
                                      <p:to>
                                        <p:strVal val="visible"/>
                                      </p:to>
                                    </p:set>
                                    <p:animEffect transition="in" filter="dissolve">
                                      <p:cBhvr>
                                        <p:cTn id="21" dur="500"/>
                                        <p:tgtEl>
                                          <p:spTgt spid="81923">
                                            <p:txEl>
                                              <p:pRg st="4" end="4"/>
                                            </p:txEl>
                                          </p:spTgt>
                                        </p:tgtEl>
                                      </p:cBhvr>
                                    </p:animEffect>
                                  </p:childTnLst>
                                </p:cTn>
                              </p:par>
                              <p:par>
                                <p:cTn id="22" presetID="9" presetClass="entr" presetSubtype="0" fill="hold" grpId="0" nodeType="withEffect">
                                  <p:stCondLst>
                                    <p:cond delay="0"/>
                                  </p:stCondLst>
                                  <p:iterate type="wd">
                                    <p:tmPct val="10000"/>
                                  </p:iterate>
                                  <p:childTnLst>
                                    <p:set>
                                      <p:cBhvr>
                                        <p:cTn id="23" dur="1" fill="hold">
                                          <p:stCondLst>
                                            <p:cond delay="0"/>
                                          </p:stCondLst>
                                        </p:cTn>
                                        <p:tgtEl>
                                          <p:spTgt spid="81923">
                                            <p:txEl>
                                              <p:pRg st="5" end="5"/>
                                            </p:txEl>
                                          </p:spTgt>
                                        </p:tgtEl>
                                        <p:attrNameLst>
                                          <p:attrName>style.visibility</p:attrName>
                                        </p:attrNameLst>
                                      </p:cBhvr>
                                      <p:to>
                                        <p:strVal val="visible"/>
                                      </p:to>
                                    </p:set>
                                    <p:animEffect transition="in" filter="dissolve">
                                      <p:cBhvr>
                                        <p:cTn id="24" dur="500"/>
                                        <p:tgtEl>
                                          <p:spTgt spid="81923">
                                            <p:txEl>
                                              <p:pRg st="5" end="5"/>
                                            </p:txEl>
                                          </p:spTgt>
                                        </p:tgtEl>
                                      </p:cBhvr>
                                    </p:animEffect>
                                  </p:childTnLst>
                                </p:cTn>
                              </p:par>
                              <p:par>
                                <p:cTn id="25" presetID="9" presetClass="entr" presetSubtype="0" fill="hold" grpId="0" nodeType="withEffect">
                                  <p:stCondLst>
                                    <p:cond delay="0"/>
                                  </p:stCondLst>
                                  <p:iterate type="wd">
                                    <p:tmPct val="10000"/>
                                  </p:iterate>
                                  <p:childTnLst>
                                    <p:set>
                                      <p:cBhvr>
                                        <p:cTn id="26" dur="1" fill="hold">
                                          <p:stCondLst>
                                            <p:cond delay="0"/>
                                          </p:stCondLst>
                                        </p:cTn>
                                        <p:tgtEl>
                                          <p:spTgt spid="81923">
                                            <p:txEl>
                                              <p:pRg st="6" end="6"/>
                                            </p:txEl>
                                          </p:spTgt>
                                        </p:tgtEl>
                                        <p:attrNameLst>
                                          <p:attrName>style.visibility</p:attrName>
                                        </p:attrNameLst>
                                      </p:cBhvr>
                                      <p:to>
                                        <p:strVal val="visible"/>
                                      </p:to>
                                    </p:set>
                                    <p:animEffect transition="in" filter="dissolve">
                                      <p:cBhvr>
                                        <p:cTn id="27" dur="500"/>
                                        <p:tgtEl>
                                          <p:spTgt spid="81923">
                                            <p:txEl>
                                              <p:pRg st="6" end="6"/>
                                            </p:txEl>
                                          </p:spTgt>
                                        </p:tgtEl>
                                      </p:cBhvr>
                                    </p:animEffect>
                                  </p:childTnLst>
                                </p:cTn>
                              </p:par>
                              <p:par>
                                <p:cTn id="28" presetID="9" presetClass="entr" presetSubtype="0" fill="hold" grpId="0" nodeType="withEffect">
                                  <p:stCondLst>
                                    <p:cond delay="0"/>
                                  </p:stCondLst>
                                  <p:iterate type="wd">
                                    <p:tmPct val="10000"/>
                                  </p:iterate>
                                  <p:childTnLst>
                                    <p:set>
                                      <p:cBhvr>
                                        <p:cTn id="29" dur="1" fill="hold">
                                          <p:stCondLst>
                                            <p:cond delay="0"/>
                                          </p:stCondLst>
                                        </p:cTn>
                                        <p:tgtEl>
                                          <p:spTgt spid="81923">
                                            <p:txEl>
                                              <p:pRg st="7" end="7"/>
                                            </p:txEl>
                                          </p:spTgt>
                                        </p:tgtEl>
                                        <p:attrNameLst>
                                          <p:attrName>style.visibility</p:attrName>
                                        </p:attrNameLst>
                                      </p:cBhvr>
                                      <p:to>
                                        <p:strVal val="visible"/>
                                      </p:to>
                                    </p:set>
                                    <p:animEffect transition="in" filter="dissolve">
                                      <p:cBhvr>
                                        <p:cTn id="30" dur="500"/>
                                        <p:tgtEl>
                                          <p:spTgt spid="8192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iterate type="wd">
                                    <p:tmPct val="10000"/>
                                  </p:iterate>
                                  <p:childTnLst>
                                    <p:set>
                                      <p:cBhvr>
                                        <p:cTn id="34" dur="1" fill="hold">
                                          <p:stCondLst>
                                            <p:cond delay="0"/>
                                          </p:stCondLst>
                                        </p:cTn>
                                        <p:tgtEl>
                                          <p:spTgt spid="81923">
                                            <p:txEl>
                                              <p:pRg st="8" end="8"/>
                                            </p:txEl>
                                          </p:spTgt>
                                        </p:tgtEl>
                                        <p:attrNameLst>
                                          <p:attrName>style.visibility</p:attrName>
                                        </p:attrNameLst>
                                      </p:cBhvr>
                                      <p:to>
                                        <p:strVal val="visible"/>
                                      </p:to>
                                    </p:set>
                                    <p:animEffect transition="in" filter="dissolve">
                                      <p:cBhvr>
                                        <p:cTn id="35" dur="500"/>
                                        <p:tgtEl>
                                          <p:spTgt spid="8192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en-US" dirty="0"/>
              <a:t>The Present &amp; Future of AI in W&amp;S</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r>
              <a:rPr lang="en-US" b="1" dirty="0" smtClean="0"/>
              <a:t>Requirements:</a:t>
            </a:r>
          </a:p>
          <a:p>
            <a:pPr lvl="1"/>
            <a:r>
              <a:rPr lang="en-US" altLang="zh-CN" b="1" dirty="0" smtClean="0"/>
              <a:t>Flexible</a:t>
            </a:r>
            <a:r>
              <a:rPr lang="en-US" altLang="zh-CN" dirty="0" smtClean="0"/>
              <a:t> software installation and access to essential tools to address project needs and adapt to technological advancements</a:t>
            </a:r>
            <a:endParaRPr lang="en-US" dirty="0"/>
          </a:p>
          <a:p>
            <a:r>
              <a:rPr lang="en-US" b="1" dirty="0" smtClean="0"/>
              <a:t>Secure </a:t>
            </a:r>
            <a:r>
              <a:rPr lang="en-US" b="1" dirty="0"/>
              <a:t>Workstation Solutions:</a:t>
            </a:r>
            <a:endParaRPr lang="en-US" dirty="0"/>
          </a:p>
          <a:p>
            <a:pPr lvl="1"/>
            <a:r>
              <a:rPr lang="en-US" dirty="0"/>
              <a:t>IT-</a:t>
            </a:r>
            <a:r>
              <a:rPr lang="en-US" dirty="0" err="1"/>
              <a:t>Technik</a:t>
            </a:r>
            <a:r>
              <a:rPr lang="en-US" dirty="0"/>
              <a:t> suggests building workstations outside the network to install software without risking network security.</a:t>
            </a:r>
          </a:p>
          <a:p>
            <a:pPr lvl="1"/>
            <a:r>
              <a:rPr lang="en-US" dirty="0"/>
              <a:t>For needs like Gary’s </a:t>
            </a:r>
            <a:r>
              <a:rPr lang="en-US" dirty="0" smtClean="0"/>
              <a:t>Bachelor </a:t>
            </a:r>
            <a:r>
              <a:rPr lang="en-US" dirty="0"/>
              <a:t>Thesis, which requires network access and admin rights, the traditional approach is suboptimal.</a:t>
            </a:r>
          </a:p>
          <a:p>
            <a:pPr lvl="1"/>
            <a:r>
              <a:rPr lang="en-US" dirty="0"/>
              <a:t>Proposed solutions:</a:t>
            </a:r>
          </a:p>
          <a:p>
            <a:pPr lvl="2"/>
            <a:r>
              <a:rPr lang="en-US" sz="1400" b="1" dirty="0"/>
              <a:t>Virtual </a:t>
            </a:r>
            <a:r>
              <a:rPr lang="en-US" sz="1400" b="1" dirty="0" smtClean="0"/>
              <a:t>Machine</a:t>
            </a:r>
            <a:endParaRPr lang="en-US" sz="1400" dirty="0"/>
          </a:p>
          <a:p>
            <a:pPr lvl="2"/>
            <a:r>
              <a:rPr lang="en-US" sz="1400" b="1" dirty="0"/>
              <a:t>Dual </a:t>
            </a:r>
            <a:r>
              <a:rPr lang="en-US" sz="1400" b="1" dirty="0" smtClean="0"/>
              <a:t>Boot</a:t>
            </a:r>
            <a:endParaRPr lang="en-US" sz="1400" dirty="0" smtClean="0"/>
          </a:p>
          <a:p>
            <a:pPr lvl="2"/>
            <a:r>
              <a:rPr lang="en-US" sz="1400" b="1" dirty="0" smtClean="0"/>
              <a:t>VPN</a:t>
            </a:r>
            <a:r>
              <a:rPr lang="en-US" sz="1400" dirty="0" smtClean="0"/>
              <a:t>?</a:t>
            </a:r>
            <a:endParaRPr lang="en-US" sz="1400" dirty="0"/>
          </a:p>
          <a:p>
            <a:pPr lvl="1"/>
            <a:r>
              <a:rPr lang="en-US" dirty="0"/>
              <a:t>Additional suggestions from Heinz </a:t>
            </a:r>
            <a:r>
              <a:rPr lang="en-US" dirty="0" smtClean="0"/>
              <a:t>are to </a:t>
            </a:r>
            <a:r>
              <a:rPr lang="en-US" dirty="0"/>
              <a:t>be considered</a:t>
            </a:r>
            <a:r>
              <a:rPr lang="en-US" dirty="0" smtClean="0"/>
              <a:t>.</a:t>
            </a:r>
            <a:endParaRPr lang="en-US" dirty="0"/>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Resource</a:t>
            </a:r>
            <a:r>
              <a:rPr lang="de-DE" b="1" dirty="0" smtClean="0">
                <a:cs typeface="Arial" charset="0"/>
              </a:rPr>
              <a:t> </a:t>
            </a:r>
            <a:r>
              <a:rPr lang="de-DE" b="1" dirty="0" err="1" smtClean="0">
                <a:cs typeface="Arial" charset="0"/>
              </a:rPr>
              <a:t>Allocation</a:t>
            </a:r>
            <a:r>
              <a:rPr lang="de-DE" b="1" dirty="0" smtClean="0">
                <a:cs typeface="Arial" charset="0"/>
              </a:rPr>
              <a:t> </a:t>
            </a:r>
            <a:r>
              <a:rPr lang="de-DE" b="1" dirty="0" err="1" smtClean="0">
                <a:cs typeface="Arial" charset="0"/>
              </a:rPr>
              <a:t>and</a:t>
            </a:r>
            <a:r>
              <a:rPr lang="de-DE" b="1" dirty="0" smtClean="0">
                <a:cs typeface="Arial" charset="0"/>
              </a:rPr>
              <a:t> </a:t>
            </a:r>
            <a:r>
              <a:rPr lang="de-DE" b="1" dirty="0" err="1" smtClean="0">
                <a:cs typeface="Arial" charset="0"/>
              </a:rPr>
              <a:t>Empowerment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23</a:t>
            </a:fld>
            <a:endParaRPr lang="de-DE" dirty="0"/>
          </a:p>
        </p:txBody>
      </p:sp>
    </p:spTree>
    <p:extLst>
      <p:ext uri="{BB962C8B-B14F-4D97-AF65-F5344CB8AC3E}">
        <p14:creationId xmlns:p14="http://schemas.microsoft.com/office/powerpoint/2010/main" val="337236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par>
                                <p:cTn id="8" presetID="9" presetClass="entr" presetSubtype="0" fill="hold" grpId="0" nodeType="withEffect">
                                  <p:stCondLst>
                                    <p:cond delay="0"/>
                                  </p:stCondLst>
                                  <p:iterate type="wd">
                                    <p:tmPct val="10000"/>
                                  </p:iterate>
                                  <p:childTnLst>
                                    <p:set>
                                      <p:cBhvr>
                                        <p:cTn id="9" dur="1" fill="hold">
                                          <p:stCondLst>
                                            <p:cond delay="0"/>
                                          </p:stCondLst>
                                        </p:cTn>
                                        <p:tgtEl>
                                          <p:spTgt spid="81923">
                                            <p:txEl>
                                              <p:pRg st="1" end="1"/>
                                            </p:txEl>
                                          </p:spTgt>
                                        </p:tgtEl>
                                        <p:attrNameLst>
                                          <p:attrName>style.visibility</p:attrName>
                                        </p:attrNameLst>
                                      </p:cBhvr>
                                      <p:to>
                                        <p:strVal val="visible"/>
                                      </p:to>
                                    </p:set>
                                    <p:animEffect transition="in" filter="dissolve">
                                      <p:cBhvr>
                                        <p:cTn id="10" dur="500"/>
                                        <p:tgtEl>
                                          <p:spTgt spid="8192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iterate type="wd">
                                    <p:tmPct val="10000"/>
                                  </p:iterate>
                                  <p:childTnLst>
                                    <p:set>
                                      <p:cBhvr>
                                        <p:cTn id="14" dur="1" fill="hold">
                                          <p:stCondLst>
                                            <p:cond delay="0"/>
                                          </p:stCondLst>
                                        </p:cTn>
                                        <p:tgtEl>
                                          <p:spTgt spid="81923">
                                            <p:txEl>
                                              <p:pRg st="2" end="2"/>
                                            </p:txEl>
                                          </p:spTgt>
                                        </p:tgtEl>
                                        <p:attrNameLst>
                                          <p:attrName>style.visibility</p:attrName>
                                        </p:attrNameLst>
                                      </p:cBhvr>
                                      <p:to>
                                        <p:strVal val="visible"/>
                                      </p:to>
                                    </p:set>
                                    <p:animEffect transition="in" filter="dissolve">
                                      <p:cBhvr>
                                        <p:cTn id="15" dur="500"/>
                                        <p:tgtEl>
                                          <p:spTgt spid="81923">
                                            <p:txEl>
                                              <p:pRg st="2" end="2"/>
                                            </p:txEl>
                                          </p:spTgt>
                                        </p:tgtEl>
                                      </p:cBhvr>
                                    </p:animEffect>
                                  </p:childTnLst>
                                </p:cTn>
                              </p:par>
                              <p:par>
                                <p:cTn id="16" presetID="9" presetClass="entr" presetSubtype="0" fill="hold" grpId="0" nodeType="withEffect">
                                  <p:stCondLst>
                                    <p:cond delay="0"/>
                                  </p:stCondLst>
                                  <p:iterate type="wd">
                                    <p:tmPct val="10000"/>
                                  </p:iterate>
                                  <p:childTnLst>
                                    <p:set>
                                      <p:cBhvr>
                                        <p:cTn id="17" dur="1" fill="hold">
                                          <p:stCondLst>
                                            <p:cond delay="0"/>
                                          </p:stCondLst>
                                        </p:cTn>
                                        <p:tgtEl>
                                          <p:spTgt spid="81923">
                                            <p:txEl>
                                              <p:pRg st="3" end="3"/>
                                            </p:txEl>
                                          </p:spTgt>
                                        </p:tgtEl>
                                        <p:attrNameLst>
                                          <p:attrName>style.visibility</p:attrName>
                                        </p:attrNameLst>
                                      </p:cBhvr>
                                      <p:to>
                                        <p:strVal val="visible"/>
                                      </p:to>
                                    </p:set>
                                    <p:animEffect transition="in" filter="dissolve">
                                      <p:cBhvr>
                                        <p:cTn id="18" dur="500"/>
                                        <p:tgtEl>
                                          <p:spTgt spid="81923">
                                            <p:txEl>
                                              <p:pRg st="3" end="3"/>
                                            </p:txEl>
                                          </p:spTgt>
                                        </p:tgtEl>
                                      </p:cBhvr>
                                    </p:animEffect>
                                  </p:childTnLst>
                                </p:cTn>
                              </p:par>
                              <p:par>
                                <p:cTn id="19" presetID="9" presetClass="entr" presetSubtype="0" fill="hold" grpId="0" nodeType="withEffect">
                                  <p:stCondLst>
                                    <p:cond delay="0"/>
                                  </p:stCondLst>
                                  <p:iterate type="wd">
                                    <p:tmPct val="10000"/>
                                  </p:iterate>
                                  <p:childTnLst>
                                    <p:set>
                                      <p:cBhvr>
                                        <p:cTn id="20" dur="1" fill="hold">
                                          <p:stCondLst>
                                            <p:cond delay="0"/>
                                          </p:stCondLst>
                                        </p:cTn>
                                        <p:tgtEl>
                                          <p:spTgt spid="81923">
                                            <p:txEl>
                                              <p:pRg st="4" end="4"/>
                                            </p:txEl>
                                          </p:spTgt>
                                        </p:tgtEl>
                                        <p:attrNameLst>
                                          <p:attrName>style.visibility</p:attrName>
                                        </p:attrNameLst>
                                      </p:cBhvr>
                                      <p:to>
                                        <p:strVal val="visible"/>
                                      </p:to>
                                    </p:set>
                                    <p:animEffect transition="in" filter="dissolve">
                                      <p:cBhvr>
                                        <p:cTn id="21" dur="500"/>
                                        <p:tgtEl>
                                          <p:spTgt spid="81923">
                                            <p:txEl>
                                              <p:pRg st="4" end="4"/>
                                            </p:txEl>
                                          </p:spTgt>
                                        </p:tgtEl>
                                      </p:cBhvr>
                                    </p:animEffect>
                                  </p:childTnLst>
                                </p:cTn>
                              </p:par>
                              <p:par>
                                <p:cTn id="22" presetID="9" presetClass="entr" presetSubtype="0" fill="hold" grpId="0" nodeType="withEffect">
                                  <p:stCondLst>
                                    <p:cond delay="0"/>
                                  </p:stCondLst>
                                  <p:iterate type="wd">
                                    <p:tmPct val="10000"/>
                                  </p:iterate>
                                  <p:childTnLst>
                                    <p:set>
                                      <p:cBhvr>
                                        <p:cTn id="23" dur="1" fill="hold">
                                          <p:stCondLst>
                                            <p:cond delay="0"/>
                                          </p:stCondLst>
                                        </p:cTn>
                                        <p:tgtEl>
                                          <p:spTgt spid="81923">
                                            <p:txEl>
                                              <p:pRg st="5" end="5"/>
                                            </p:txEl>
                                          </p:spTgt>
                                        </p:tgtEl>
                                        <p:attrNameLst>
                                          <p:attrName>style.visibility</p:attrName>
                                        </p:attrNameLst>
                                      </p:cBhvr>
                                      <p:to>
                                        <p:strVal val="visible"/>
                                      </p:to>
                                    </p:set>
                                    <p:animEffect transition="in" filter="dissolve">
                                      <p:cBhvr>
                                        <p:cTn id="24" dur="500"/>
                                        <p:tgtEl>
                                          <p:spTgt spid="81923">
                                            <p:txEl>
                                              <p:pRg st="5" end="5"/>
                                            </p:txEl>
                                          </p:spTgt>
                                        </p:tgtEl>
                                      </p:cBhvr>
                                    </p:animEffect>
                                  </p:childTnLst>
                                </p:cTn>
                              </p:par>
                              <p:par>
                                <p:cTn id="25" presetID="9" presetClass="entr" presetSubtype="0" fill="hold" grpId="0" nodeType="withEffect">
                                  <p:stCondLst>
                                    <p:cond delay="0"/>
                                  </p:stCondLst>
                                  <p:iterate type="wd">
                                    <p:tmPct val="10000"/>
                                  </p:iterate>
                                  <p:childTnLst>
                                    <p:set>
                                      <p:cBhvr>
                                        <p:cTn id="26" dur="1" fill="hold">
                                          <p:stCondLst>
                                            <p:cond delay="0"/>
                                          </p:stCondLst>
                                        </p:cTn>
                                        <p:tgtEl>
                                          <p:spTgt spid="81923">
                                            <p:txEl>
                                              <p:pRg st="6" end="6"/>
                                            </p:txEl>
                                          </p:spTgt>
                                        </p:tgtEl>
                                        <p:attrNameLst>
                                          <p:attrName>style.visibility</p:attrName>
                                        </p:attrNameLst>
                                      </p:cBhvr>
                                      <p:to>
                                        <p:strVal val="visible"/>
                                      </p:to>
                                    </p:set>
                                    <p:animEffect transition="in" filter="dissolve">
                                      <p:cBhvr>
                                        <p:cTn id="27" dur="500"/>
                                        <p:tgtEl>
                                          <p:spTgt spid="81923">
                                            <p:txEl>
                                              <p:pRg st="6" end="6"/>
                                            </p:txEl>
                                          </p:spTgt>
                                        </p:tgtEl>
                                      </p:cBhvr>
                                    </p:animEffect>
                                  </p:childTnLst>
                                </p:cTn>
                              </p:par>
                              <p:par>
                                <p:cTn id="28" presetID="9" presetClass="entr" presetSubtype="0" fill="hold" grpId="0" nodeType="withEffect">
                                  <p:stCondLst>
                                    <p:cond delay="0"/>
                                  </p:stCondLst>
                                  <p:iterate type="wd">
                                    <p:tmPct val="10000"/>
                                  </p:iterate>
                                  <p:childTnLst>
                                    <p:set>
                                      <p:cBhvr>
                                        <p:cTn id="29" dur="1" fill="hold">
                                          <p:stCondLst>
                                            <p:cond delay="0"/>
                                          </p:stCondLst>
                                        </p:cTn>
                                        <p:tgtEl>
                                          <p:spTgt spid="81923">
                                            <p:txEl>
                                              <p:pRg st="7" end="7"/>
                                            </p:txEl>
                                          </p:spTgt>
                                        </p:tgtEl>
                                        <p:attrNameLst>
                                          <p:attrName>style.visibility</p:attrName>
                                        </p:attrNameLst>
                                      </p:cBhvr>
                                      <p:to>
                                        <p:strVal val="visible"/>
                                      </p:to>
                                    </p:set>
                                    <p:animEffect transition="in" filter="dissolve">
                                      <p:cBhvr>
                                        <p:cTn id="30" dur="500"/>
                                        <p:tgtEl>
                                          <p:spTgt spid="81923">
                                            <p:txEl>
                                              <p:pRg st="7" end="7"/>
                                            </p:txEl>
                                          </p:spTgt>
                                        </p:tgtEl>
                                      </p:cBhvr>
                                    </p:animEffect>
                                  </p:childTnLst>
                                </p:cTn>
                              </p:par>
                              <p:par>
                                <p:cTn id="31" presetID="9" presetClass="entr" presetSubtype="0" fill="hold" grpId="0" nodeType="withEffect">
                                  <p:stCondLst>
                                    <p:cond delay="0"/>
                                  </p:stCondLst>
                                  <p:iterate type="wd">
                                    <p:tmPct val="10000"/>
                                  </p:iterate>
                                  <p:childTnLst>
                                    <p:set>
                                      <p:cBhvr>
                                        <p:cTn id="32" dur="1" fill="hold">
                                          <p:stCondLst>
                                            <p:cond delay="0"/>
                                          </p:stCondLst>
                                        </p:cTn>
                                        <p:tgtEl>
                                          <p:spTgt spid="81923">
                                            <p:txEl>
                                              <p:pRg st="8" end="8"/>
                                            </p:txEl>
                                          </p:spTgt>
                                        </p:tgtEl>
                                        <p:attrNameLst>
                                          <p:attrName>style.visibility</p:attrName>
                                        </p:attrNameLst>
                                      </p:cBhvr>
                                      <p:to>
                                        <p:strVal val="visible"/>
                                      </p:to>
                                    </p:set>
                                    <p:animEffect transition="in" filter="dissolve">
                                      <p:cBhvr>
                                        <p:cTn id="33" dur="500"/>
                                        <p:tgtEl>
                                          <p:spTgt spid="81923">
                                            <p:txEl>
                                              <p:pRg st="8" end="8"/>
                                            </p:txEl>
                                          </p:spTgt>
                                        </p:tgtEl>
                                      </p:cBhvr>
                                    </p:animEffect>
                                  </p:childTnLst>
                                </p:cTn>
                              </p:par>
                              <p:par>
                                <p:cTn id="34" presetID="9" presetClass="entr" presetSubtype="0" fill="hold" grpId="0" nodeType="withEffect">
                                  <p:stCondLst>
                                    <p:cond delay="0"/>
                                  </p:stCondLst>
                                  <p:iterate type="wd">
                                    <p:tmPct val="10000"/>
                                  </p:iterate>
                                  <p:childTnLst>
                                    <p:set>
                                      <p:cBhvr>
                                        <p:cTn id="35" dur="1" fill="hold">
                                          <p:stCondLst>
                                            <p:cond delay="0"/>
                                          </p:stCondLst>
                                        </p:cTn>
                                        <p:tgtEl>
                                          <p:spTgt spid="81923">
                                            <p:txEl>
                                              <p:pRg st="9" end="9"/>
                                            </p:txEl>
                                          </p:spTgt>
                                        </p:tgtEl>
                                        <p:attrNameLst>
                                          <p:attrName>style.visibility</p:attrName>
                                        </p:attrNameLst>
                                      </p:cBhvr>
                                      <p:to>
                                        <p:strVal val="visible"/>
                                      </p:to>
                                    </p:set>
                                    <p:animEffect transition="in" filter="dissolve">
                                      <p:cBhvr>
                                        <p:cTn id="36" dur="500"/>
                                        <p:tgtEl>
                                          <p:spTgt spid="8192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en-US" dirty="0"/>
              <a:t>The Present &amp; Future of AI in W&amp;S</a:t>
            </a:r>
            <a:endParaRPr lang="de-DE" dirty="0" smtClean="0">
              <a:latin typeface="Arial" charset="0"/>
              <a:cs typeface="Arial" charset="0"/>
            </a:endParaRPr>
          </a:p>
        </p:txBody>
      </p:sp>
      <p:sp>
        <p:nvSpPr>
          <p:cNvPr id="81923" name="Rectangle 3"/>
          <p:cNvSpPr>
            <a:spLocks noGrp="1"/>
          </p:cNvSpPr>
          <p:nvPr>
            <p:ph type="body" idx="1"/>
          </p:nvPr>
        </p:nvSpPr>
        <p:spPr>
          <a:xfrm>
            <a:off x="684213" y="2060575"/>
            <a:ext cx="7991475" cy="4464050"/>
          </a:xfrm>
        </p:spPr>
        <p:txBody>
          <a:bodyPr/>
          <a:lstStyle/>
          <a:p>
            <a:r>
              <a:rPr lang="en-US" b="1" dirty="0" smtClean="0"/>
              <a:t>Defect </a:t>
            </a:r>
            <a:r>
              <a:rPr lang="en-US" b="1" dirty="0"/>
              <a:t>and Product Images:</a:t>
            </a:r>
            <a:endParaRPr lang="en-US" dirty="0"/>
          </a:p>
          <a:p>
            <a:pPr lvl="1"/>
            <a:r>
              <a:rPr lang="en-US" dirty="0"/>
              <a:t>Utilize </a:t>
            </a:r>
            <a:r>
              <a:rPr lang="en-US" dirty="0" err="1"/>
              <a:t>Roboflow</a:t>
            </a:r>
            <a:r>
              <a:rPr lang="en-US" dirty="0"/>
              <a:t> for image annotation; it's efficient and free.</a:t>
            </a:r>
          </a:p>
          <a:p>
            <a:pPr lvl="1"/>
            <a:r>
              <a:rPr lang="en-US" dirty="0"/>
              <a:t>Public vs. Private: </a:t>
            </a:r>
            <a:endParaRPr lang="en-US" dirty="0" smtClean="0"/>
          </a:p>
          <a:p>
            <a:pPr lvl="2"/>
            <a:r>
              <a:rPr lang="en-US" sz="1600" dirty="0" smtClean="0"/>
              <a:t>Continue </a:t>
            </a:r>
            <a:r>
              <a:rPr lang="en-US" sz="1600" dirty="0"/>
              <a:t>with </a:t>
            </a:r>
            <a:r>
              <a:rPr lang="en-US" sz="1600" dirty="0" smtClean="0"/>
              <a:t>a public</a:t>
            </a:r>
            <a:r>
              <a:rPr lang="en-US" sz="1600" dirty="0"/>
              <a:t>, free plan.</a:t>
            </a:r>
          </a:p>
          <a:p>
            <a:pPr lvl="2"/>
            <a:r>
              <a:rPr lang="en-US" sz="1600" dirty="0"/>
              <a:t>Opt for privacy at ~€250/month.</a:t>
            </a:r>
          </a:p>
          <a:p>
            <a:r>
              <a:rPr lang="en-US" b="1" dirty="0"/>
              <a:t>Experiment Data (AI Training):</a:t>
            </a:r>
            <a:endParaRPr lang="en-US" dirty="0"/>
          </a:p>
          <a:p>
            <a:pPr lvl="1"/>
            <a:r>
              <a:rPr lang="en-US" dirty="0"/>
              <a:t>Stored in </a:t>
            </a:r>
            <a:r>
              <a:rPr lang="en-US" dirty="0" err="1"/>
              <a:t>Dagshub</a:t>
            </a:r>
            <a:r>
              <a:rPr lang="en-US" dirty="0"/>
              <a:t> (S3 bucket), outside company storage. Seeking opinions on this approach.</a:t>
            </a:r>
          </a:p>
          <a:p>
            <a:r>
              <a:rPr lang="en-US" b="1" dirty="0"/>
              <a:t>Output Data from Rubber Spring Project:</a:t>
            </a:r>
            <a:endParaRPr lang="en-US" dirty="0"/>
          </a:p>
          <a:p>
            <a:pPr lvl="1"/>
            <a:r>
              <a:rPr lang="en-US" dirty="0"/>
              <a:t>Anticipated storage issue due to accumulating detection images.</a:t>
            </a:r>
          </a:p>
          <a:p>
            <a:pPr lvl="1"/>
            <a:r>
              <a:rPr lang="en-US" dirty="0"/>
              <a:t>Potential solutions: External or cloud storage to manage the growing library.</a:t>
            </a: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smtClean="0">
                <a:cs typeface="Arial" charset="0"/>
              </a:rPr>
              <a:t>Data Storage </a:t>
            </a:r>
            <a:r>
              <a:rPr lang="de-DE" b="1" dirty="0" err="1" smtClean="0">
                <a:cs typeface="Arial" charset="0"/>
              </a:rPr>
              <a:t>Challenges</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24</a:t>
            </a:fld>
            <a:endParaRPr lang="de-DE" dirty="0"/>
          </a:p>
        </p:txBody>
      </p:sp>
    </p:spTree>
    <p:extLst>
      <p:ext uri="{BB962C8B-B14F-4D97-AF65-F5344CB8AC3E}">
        <p14:creationId xmlns:p14="http://schemas.microsoft.com/office/powerpoint/2010/main" val="2529440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dissolve">
                                      <p:cBhvr>
                                        <p:cTn id="7" dur="500"/>
                                        <p:tgtEl>
                                          <p:spTgt spid="81923">
                                            <p:txEl>
                                              <p:pRg st="0" end="0"/>
                                            </p:txEl>
                                          </p:spTgt>
                                        </p:tgtEl>
                                      </p:cBhvr>
                                    </p:animEffect>
                                  </p:childTnLst>
                                </p:cTn>
                              </p:par>
                              <p:par>
                                <p:cTn id="8" presetID="9" presetClass="entr" presetSubtype="0" fill="hold" grpId="0" nodeType="withEffect">
                                  <p:stCondLst>
                                    <p:cond delay="0"/>
                                  </p:stCondLst>
                                  <p:iterate type="wd">
                                    <p:tmPct val="10000"/>
                                  </p:iterate>
                                  <p:childTnLst>
                                    <p:set>
                                      <p:cBhvr>
                                        <p:cTn id="9" dur="1" fill="hold">
                                          <p:stCondLst>
                                            <p:cond delay="0"/>
                                          </p:stCondLst>
                                        </p:cTn>
                                        <p:tgtEl>
                                          <p:spTgt spid="81923">
                                            <p:txEl>
                                              <p:pRg st="1" end="1"/>
                                            </p:txEl>
                                          </p:spTgt>
                                        </p:tgtEl>
                                        <p:attrNameLst>
                                          <p:attrName>style.visibility</p:attrName>
                                        </p:attrNameLst>
                                      </p:cBhvr>
                                      <p:to>
                                        <p:strVal val="visible"/>
                                      </p:to>
                                    </p:set>
                                    <p:animEffect transition="in" filter="dissolve">
                                      <p:cBhvr>
                                        <p:cTn id="10" dur="500"/>
                                        <p:tgtEl>
                                          <p:spTgt spid="81923">
                                            <p:txEl>
                                              <p:pRg st="1" end="1"/>
                                            </p:txEl>
                                          </p:spTgt>
                                        </p:tgtEl>
                                      </p:cBhvr>
                                    </p:animEffect>
                                  </p:childTnLst>
                                </p:cTn>
                              </p:par>
                              <p:par>
                                <p:cTn id="11" presetID="9" presetClass="entr" presetSubtype="0" fill="hold" grpId="0" nodeType="withEffect">
                                  <p:stCondLst>
                                    <p:cond delay="0"/>
                                  </p:stCondLst>
                                  <p:iterate type="wd">
                                    <p:tmPct val="10000"/>
                                  </p:iterate>
                                  <p:childTnLst>
                                    <p:set>
                                      <p:cBhvr>
                                        <p:cTn id="12" dur="1" fill="hold">
                                          <p:stCondLst>
                                            <p:cond delay="0"/>
                                          </p:stCondLst>
                                        </p:cTn>
                                        <p:tgtEl>
                                          <p:spTgt spid="81923">
                                            <p:txEl>
                                              <p:pRg st="2" end="2"/>
                                            </p:txEl>
                                          </p:spTgt>
                                        </p:tgtEl>
                                        <p:attrNameLst>
                                          <p:attrName>style.visibility</p:attrName>
                                        </p:attrNameLst>
                                      </p:cBhvr>
                                      <p:to>
                                        <p:strVal val="visible"/>
                                      </p:to>
                                    </p:set>
                                    <p:animEffect transition="in" filter="dissolve">
                                      <p:cBhvr>
                                        <p:cTn id="13" dur="500"/>
                                        <p:tgtEl>
                                          <p:spTgt spid="81923">
                                            <p:txEl>
                                              <p:pRg st="2" end="2"/>
                                            </p:txEl>
                                          </p:spTgt>
                                        </p:tgtEl>
                                      </p:cBhvr>
                                    </p:animEffect>
                                  </p:childTnLst>
                                </p:cTn>
                              </p:par>
                              <p:par>
                                <p:cTn id="14" presetID="9" presetClass="entr" presetSubtype="0" fill="hold" grpId="0" nodeType="withEffect">
                                  <p:stCondLst>
                                    <p:cond delay="0"/>
                                  </p:stCondLst>
                                  <p:iterate type="wd">
                                    <p:tmPct val="10000"/>
                                  </p:iterate>
                                  <p:childTnLst>
                                    <p:set>
                                      <p:cBhvr>
                                        <p:cTn id="15" dur="1" fill="hold">
                                          <p:stCondLst>
                                            <p:cond delay="0"/>
                                          </p:stCondLst>
                                        </p:cTn>
                                        <p:tgtEl>
                                          <p:spTgt spid="81923">
                                            <p:txEl>
                                              <p:pRg st="3" end="3"/>
                                            </p:txEl>
                                          </p:spTgt>
                                        </p:tgtEl>
                                        <p:attrNameLst>
                                          <p:attrName>style.visibility</p:attrName>
                                        </p:attrNameLst>
                                      </p:cBhvr>
                                      <p:to>
                                        <p:strVal val="visible"/>
                                      </p:to>
                                    </p:set>
                                    <p:animEffect transition="in" filter="dissolve">
                                      <p:cBhvr>
                                        <p:cTn id="16" dur="500"/>
                                        <p:tgtEl>
                                          <p:spTgt spid="81923">
                                            <p:txEl>
                                              <p:pRg st="3" end="3"/>
                                            </p:txEl>
                                          </p:spTgt>
                                        </p:tgtEl>
                                      </p:cBhvr>
                                    </p:animEffect>
                                  </p:childTnLst>
                                </p:cTn>
                              </p:par>
                              <p:par>
                                <p:cTn id="17" presetID="9" presetClass="entr" presetSubtype="0" fill="hold" grpId="0" nodeType="withEffect">
                                  <p:stCondLst>
                                    <p:cond delay="0"/>
                                  </p:stCondLst>
                                  <p:iterate type="wd">
                                    <p:tmPct val="10000"/>
                                  </p:iterate>
                                  <p:childTnLst>
                                    <p:set>
                                      <p:cBhvr>
                                        <p:cTn id="18" dur="1" fill="hold">
                                          <p:stCondLst>
                                            <p:cond delay="0"/>
                                          </p:stCondLst>
                                        </p:cTn>
                                        <p:tgtEl>
                                          <p:spTgt spid="81923">
                                            <p:txEl>
                                              <p:pRg st="4" end="4"/>
                                            </p:txEl>
                                          </p:spTgt>
                                        </p:tgtEl>
                                        <p:attrNameLst>
                                          <p:attrName>style.visibility</p:attrName>
                                        </p:attrNameLst>
                                      </p:cBhvr>
                                      <p:to>
                                        <p:strVal val="visible"/>
                                      </p:to>
                                    </p:set>
                                    <p:animEffect transition="in" filter="dissolve">
                                      <p:cBhvr>
                                        <p:cTn id="19" dur="500"/>
                                        <p:tgtEl>
                                          <p:spTgt spid="8192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iterate type="wd">
                                    <p:tmPct val="10000"/>
                                  </p:iterate>
                                  <p:childTnLst>
                                    <p:set>
                                      <p:cBhvr>
                                        <p:cTn id="23" dur="1" fill="hold">
                                          <p:stCondLst>
                                            <p:cond delay="0"/>
                                          </p:stCondLst>
                                        </p:cTn>
                                        <p:tgtEl>
                                          <p:spTgt spid="81923">
                                            <p:txEl>
                                              <p:pRg st="5" end="5"/>
                                            </p:txEl>
                                          </p:spTgt>
                                        </p:tgtEl>
                                        <p:attrNameLst>
                                          <p:attrName>style.visibility</p:attrName>
                                        </p:attrNameLst>
                                      </p:cBhvr>
                                      <p:to>
                                        <p:strVal val="visible"/>
                                      </p:to>
                                    </p:set>
                                    <p:animEffect transition="in" filter="dissolve">
                                      <p:cBhvr>
                                        <p:cTn id="24" dur="500"/>
                                        <p:tgtEl>
                                          <p:spTgt spid="81923">
                                            <p:txEl>
                                              <p:pRg st="5" end="5"/>
                                            </p:txEl>
                                          </p:spTgt>
                                        </p:tgtEl>
                                      </p:cBhvr>
                                    </p:animEffect>
                                  </p:childTnLst>
                                </p:cTn>
                              </p:par>
                              <p:par>
                                <p:cTn id="25" presetID="9" presetClass="entr" presetSubtype="0" fill="hold" grpId="0" nodeType="withEffect">
                                  <p:stCondLst>
                                    <p:cond delay="0"/>
                                  </p:stCondLst>
                                  <p:iterate type="wd">
                                    <p:tmPct val="10000"/>
                                  </p:iterate>
                                  <p:childTnLst>
                                    <p:set>
                                      <p:cBhvr>
                                        <p:cTn id="26" dur="1" fill="hold">
                                          <p:stCondLst>
                                            <p:cond delay="0"/>
                                          </p:stCondLst>
                                        </p:cTn>
                                        <p:tgtEl>
                                          <p:spTgt spid="81923">
                                            <p:txEl>
                                              <p:pRg st="6" end="6"/>
                                            </p:txEl>
                                          </p:spTgt>
                                        </p:tgtEl>
                                        <p:attrNameLst>
                                          <p:attrName>style.visibility</p:attrName>
                                        </p:attrNameLst>
                                      </p:cBhvr>
                                      <p:to>
                                        <p:strVal val="visible"/>
                                      </p:to>
                                    </p:set>
                                    <p:animEffect transition="in" filter="dissolve">
                                      <p:cBhvr>
                                        <p:cTn id="27" dur="500"/>
                                        <p:tgtEl>
                                          <p:spTgt spid="8192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iterate type="wd">
                                    <p:tmPct val="10000"/>
                                  </p:iterate>
                                  <p:childTnLst>
                                    <p:set>
                                      <p:cBhvr>
                                        <p:cTn id="31" dur="1" fill="hold">
                                          <p:stCondLst>
                                            <p:cond delay="0"/>
                                          </p:stCondLst>
                                        </p:cTn>
                                        <p:tgtEl>
                                          <p:spTgt spid="81923">
                                            <p:txEl>
                                              <p:pRg st="7" end="7"/>
                                            </p:txEl>
                                          </p:spTgt>
                                        </p:tgtEl>
                                        <p:attrNameLst>
                                          <p:attrName>style.visibility</p:attrName>
                                        </p:attrNameLst>
                                      </p:cBhvr>
                                      <p:to>
                                        <p:strVal val="visible"/>
                                      </p:to>
                                    </p:set>
                                    <p:animEffect transition="in" filter="dissolve">
                                      <p:cBhvr>
                                        <p:cTn id="32" dur="500"/>
                                        <p:tgtEl>
                                          <p:spTgt spid="81923">
                                            <p:txEl>
                                              <p:pRg st="7" end="7"/>
                                            </p:txEl>
                                          </p:spTgt>
                                        </p:tgtEl>
                                      </p:cBhvr>
                                    </p:animEffect>
                                  </p:childTnLst>
                                </p:cTn>
                              </p:par>
                              <p:par>
                                <p:cTn id="33" presetID="9" presetClass="entr" presetSubtype="0" fill="hold" grpId="0" nodeType="withEffect">
                                  <p:stCondLst>
                                    <p:cond delay="0"/>
                                  </p:stCondLst>
                                  <p:iterate type="wd">
                                    <p:tmPct val="10000"/>
                                  </p:iterate>
                                  <p:childTnLst>
                                    <p:set>
                                      <p:cBhvr>
                                        <p:cTn id="34" dur="1" fill="hold">
                                          <p:stCondLst>
                                            <p:cond delay="0"/>
                                          </p:stCondLst>
                                        </p:cTn>
                                        <p:tgtEl>
                                          <p:spTgt spid="81923">
                                            <p:txEl>
                                              <p:pRg st="8" end="8"/>
                                            </p:txEl>
                                          </p:spTgt>
                                        </p:tgtEl>
                                        <p:attrNameLst>
                                          <p:attrName>style.visibility</p:attrName>
                                        </p:attrNameLst>
                                      </p:cBhvr>
                                      <p:to>
                                        <p:strVal val="visible"/>
                                      </p:to>
                                    </p:set>
                                    <p:animEffect transition="in" filter="dissolve">
                                      <p:cBhvr>
                                        <p:cTn id="35" dur="500"/>
                                        <p:tgtEl>
                                          <p:spTgt spid="81923">
                                            <p:txEl>
                                              <p:pRg st="8" end="8"/>
                                            </p:txEl>
                                          </p:spTgt>
                                        </p:tgtEl>
                                      </p:cBhvr>
                                    </p:animEffect>
                                  </p:childTnLst>
                                </p:cTn>
                              </p:par>
                              <p:par>
                                <p:cTn id="36" presetID="9" presetClass="entr" presetSubtype="0" fill="hold" grpId="0" nodeType="withEffect">
                                  <p:stCondLst>
                                    <p:cond delay="0"/>
                                  </p:stCondLst>
                                  <p:iterate type="wd">
                                    <p:tmPct val="10000"/>
                                  </p:iterate>
                                  <p:childTnLst>
                                    <p:set>
                                      <p:cBhvr>
                                        <p:cTn id="37" dur="1" fill="hold">
                                          <p:stCondLst>
                                            <p:cond delay="0"/>
                                          </p:stCondLst>
                                        </p:cTn>
                                        <p:tgtEl>
                                          <p:spTgt spid="81923">
                                            <p:txEl>
                                              <p:pRg st="9" end="9"/>
                                            </p:txEl>
                                          </p:spTgt>
                                        </p:tgtEl>
                                        <p:attrNameLst>
                                          <p:attrName>style.visibility</p:attrName>
                                        </p:attrNameLst>
                                      </p:cBhvr>
                                      <p:to>
                                        <p:strVal val="visible"/>
                                      </p:to>
                                    </p:set>
                                    <p:animEffect transition="in" filter="dissolve">
                                      <p:cBhvr>
                                        <p:cTn id="38" dur="500"/>
                                        <p:tgtEl>
                                          <p:spTgt spid="8192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4" name="Rectangle 6"/>
          <p:cNvSpPr>
            <a:spLocks noGrp="1"/>
          </p:cNvSpPr>
          <p:nvPr>
            <p:ph type="body" idx="1"/>
          </p:nvPr>
        </p:nvSpPr>
        <p:spPr>
          <a:xfrm>
            <a:off x="576263" y="2925763"/>
            <a:ext cx="7991475" cy="2016125"/>
          </a:xfrm>
          <a:noFill/>
        </p:spPr>
        <p:txBody>
          <a:bodyPr/>
          <a:lstStyle/>
          <a:p>
            <a:pPr algn="ctr" eaLnBrk="1" hangingPunct="1">
              <a:buFontTx/>
              <a:buNone/>
            </a:pPr>
            <a:r>
              <a:rPr lang="de-DE" sz="3400" dirty="0" err="1" smtClean="0">
                <a:solidFill>
                  <a:schemeClr val="tx1"/>
                </a:solidFill>
                <a:latin typeface="Arial" charset="0"/>
                <a:cs typeface="Arial" charset="0"/>
              </a:rPr>
              <a:t>Thank</a:t>
            </a:r>
            <a:r>
              <a:rPr lang="de-DE" sz="3400" dirty="0" smtClean="0">
                <a:solidFill>
                  <a:schemeClr val="tx1"/>
                </a:solidFill>
                <a:latin typeface="Arial" charset="0"/>
                <a:cs typeface="Arial" charset="0"/>
              </a:rPr>
              <a:t> </a:t>
            </a:r>
            <a:r>
              <a:rPr lang="de-DE" sz="3400" dirty="0" err="1" smtClean="0">
                <a:solidFill>
                  <a:schemeClr val="tx1"/>
                </a:solidFill>
                <a:latin typeface="Arial" charset="0"/>
                <a:cs typeface="Arial" charset="0"/>
              </a:rPr>
              <a:t>you</a:t>
            </a:r>
            <a:r>
              <a:rPr lang="de-DE" sz="3400" dirty="0" smtClean="0">
                <a:solidFill>
                  <a:schemeClr val="tx1"/>
                </a:solidFill>
                <a:latin typeface="Arial" charset="0"/>
                <a:cs typeface="Arial" charset="0"/>
              </a:rPr>
              <a:t>!</a:t>
            </a:r>
          </a:p>
          <a:p>
            <a:pPr algn="ctr" eaLnBrk="1" hangingPunct="1">
              <a:buFontTx/>
              <a:buNone/>
            </a:pPr>
            <a:endParaRPr lang="de-DE" sz="3400" dirty="0" smtClean="0">
              <a:latin typeface="Arial" charset="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25</a:t>
            </a:fld>
            <a:endParaRPr lang="de-D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68614">
                                            <p:txEl>
                                              <p:pRg st="0" end="0"/>
                                            </p:txEl>
                                          </p:spTgt>
                                        </p:tgtEl>
                                        <p:attrNameLst>
                                          <p:attrName>style.visibility</p:attrName>
                                        </p:attrNameLst>
                                      </p:cBhvr>
                                      <p:to>
                                        <p:strVal val="visible"/>
                                      </p:to>
                                    </p:set>
                                    <p:animEffect transition="in" filter="dissolve">
                                      <p:cBhvr>
                                        <p:cTn id="7" dur="500"/>
                                        <p:tgtEl>
                                          <p:spTgt spid="686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4" grpId="0" build="p"/>
    </p:bldLst>
  </p:timing>
</p:sld>
</file>

<file path=ppt/theme/theme1.xml><?xml version="1.0" encoding="utf-8"?>
<a:theme xmlns:a="http://schemas.openxmlformats.org/drawingml/2006/main" name="Wallstabe &amp; Schneider">
  <a:themeElements>
    <a:clrScheme name="Benutzerdefiniert 1">
      <a:dk1>
        <a:sysClr val="windowText" lastClr="000000"/>
      </a:dk1>
      <a:lt1>
        <a:sysClr val="window" lastClr="FFFFFF"/>
      </a:lt1>
      <a:dk2>
        <a:srgbClr val="000000"/>
      </a:dk2>
      <a:lt2>
        <a:srgbClr val="F8F8F8"/>
      </a:lt2>
      <a:accent1>
        <a:srgbClr val="2369AF"/>
      </a:accent1>
      <a:accent2>
        <a:srgbClr val="3C8AD8"/>
      </a:accent2>
      <a:accent3>
        <a:srgbClr val="77ADE3"/>
      </a:accent3>
      <a:accent4>
        <a:srgbClr val="CBE0F5"/>
      </a:accent4>
      <a:accent5>
        <a:srgbClr val="5F5F5F"/>
      </a:accent5>
      <a:accent6>
        <a:srgbClr val="4D4D4D"/>
      </a:accent6>
      <a:hlink>
        <a:srgbClr val="5F5F5F"/>
      </a:hlink>
      <a:folHlink>
        <a:srgbClr val="919191"/>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hoebe">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3893</Words>
  <Application>Microsoft Office PowerPoint</Application>
  <PresentationFormat>Bildschirmpräsentation (4:3)</PresentationFormat>
  <Paragraphs>257</Paragraphs>
  <Slides>25</Slides>
  <Notes>24</Notes>
  <HiddenSlides>4</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25</vt:i4>
      </vt:variant>
    </vt:vector>
  </HeadingPairs>
  <TitlesOfParts>
    <vt:vector size="29" baseType="lpstr">
      <vt:lpstr>宋体</vt:lpstr>
      <vt:lpstr>Arial</vt:lpstr>
      <vt:lpstr>Calibri</vt:lpstr>
      <vt:lpstr>Wallstabe &amp; Schneider</vt:lpstr>
      <vt:lpstr>PowerPoint-Präsentation</vt:lpstr>
      <vt:lpstr>Agenda</vt:lpstr>
      <vt:lpstr>Thesis Report</vt:lpstr>
      <vt:lpstr>Thesis Report</vt:lpstr>
      <vt:lpstr>Thesis Report</vt:lpstr>
      <vt:lpstr>Thesis Report</vt:lpstr>
      <vt:lpstr>Thesis Report</vt:lpstr>
      <vt:lpstr>Thesis Report</vt:lpstr>
      <vt:lpstr>Thesis Report</vt:lpstr>
      <vt:lpstr>Thesis Report</vt:lpstr>
      <vt:lpstr>Thesis Report</vt:lpstr>
      <vt:lpstr>Thesis Report</vt:lpstr>
      <vt:lpstr>Thesis Report</vt:lpstr>
      <vt:lpstr>Thesis Report</vt:lpstr>
      <vt:lpstr>Thesis Report</vt:lpstr>
      <vt:lpstr>Thesis Report</vt:lpstr>
      <vt:lpstr>Thesis Report</vt:lpstr>
      <vt:lpstr>Thesis Report</vt:lpstr>
      <vt:lpstr>Thesis Report</vt:lpstr>
      <vt:lpstr>The Present &amp; Future of AI in W&amp;S</vt:lpstr>
      <vt:lpstr>The Present &amp; Future of AI in W&amp;S</vt:lpstr>
      <vt:lpstr>The Present &amp; Future of AI in W&amp;S</vt:lpstr>
      <vt:lpstr>The Present &amp; Future of AI in W&amp;S</vt:lpstr>
      <vt:lpstr>The Present &amp; Future of AI in W&amp;S</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Ruth Rabl</dc:creator>
  <cp:lastModifiedBy>Wu Wen-Hao</cp:lastModifiedBy>
  <cp:revision>213</cp:revision>
  <dcterms:created xsi:type="dcterms:W3CDTF">2009-10-13T09:19:07Z</dcterms:created>
  <dcterms:modified xsi:type="dcterms:W3CDTF">2024-02-29T13:51:48Z</dcterms:modified>
</cp:coreProperties>
</file>