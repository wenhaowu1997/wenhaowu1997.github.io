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CD9E64-1FB1-4C05-BF93-B00215897EED}">
  <a:tblStyle styleId="{56CD9E64-1FB1-4C05-BF93-B00215897EE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1bbc751b4f_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1bbc751b4f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11bbc751b4f_4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11bbc751b4f_4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1bbc751b4f_4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1bbc751b4f_4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1bbc751b4f_4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1bbc751b4f_4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1bbc751b4f_4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1bbc751b4f_4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1bbc751b4f_4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1bbc751b4f_4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1bbc751b4f_4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1bbc751b4f_4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1bbc751b4f_4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1bbc751b4f_4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2823e36a4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12823e36a4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In the upcoming slides, I will talk about the main methodologies that was used in this paper. I will go through CNN, Bootstrapping, and Triplet loss. There are a lot more topics mentioned in this paper. However, I will just go through the core topics which in my opinion are worth talking about.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2823e36a47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12823e36a4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So, before we dive into CNN, first question, what are ANNs?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2823e36a47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12823e36a4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ANNs are inpired by biological neural networks. The basic structure is Input, Hidden, and Output layers. There are weights between layers to adjust the inputs and eventually have an impact on the outputs.  As simple as that.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2823e36a47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12823e36a4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So, What is the difference between ANN and CNN?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12823e36a47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12823e36a47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CNN also has the same structure as ANNs but the hidden layers are called Convolutional layers. a Convolution layer receives input, transforms input, and pass it to the next layer. Just like the other ANNs.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2823e36a47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2823e36a47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What makes the CNN different is, each convolutional layer is a filter or a set of filters. Each filter convolves with the image and creates an activation map. The output of the Convolutional Layer is generated by stacking the activation map of the filters along the path. Let’s look at the image on the right side. A filter will go through the whole image step by step and record the dot products as so-called activation maps. If this is still not clear will can look at the next slide.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2823e36a47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2823e36a47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This is an example of hand-written number recognition using a CNN. In the top left corner, is a hand written number seven. When this image passes through the CNN, these four filters detect the edges of the pattern. For example, the filter one detects the bottom edge of the number. The filter 2 detects the right edge of the number. and so on and so fourth. In the end the output of this CNN is the combination of all the edge detection, and therefore the machine is able to recognize this image as a number 7</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2823e36a47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2823e36a4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A short conclusion, CNNs are essentially ANNs with specialization that can pick out or detect patterns and make sense of it. Because of it’s characteristics, CNNs are generally popular of analyzing images.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2823e36a47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12823e36a47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The next topic is Bootstrapping. Bootstrapping is a resampling technique that is used to estimate statistics on a population by sampling a dataset with replacement. What does that mean?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2823e36a47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12823e36a47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And why Bootstrapping?</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12823e36a47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12823e36a47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Imagine there were 8 people taking the same drug against the same diseas. 5 of those said that they felt better after taking the drug. 3 of those said otherwise. With this dataset, we can calculate the mean of the reponse to the drug is 0.5. After replicating this experiment on different people, we get a gaussian distribution of the mean value. Which should look like something like this: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12823e36a47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12823e36a47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This is perfectly fine. However, replicating the same experiment is very time consuming and required a lot or participants. And this is where bootstrapping comes into play.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12823e36a47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12823e36a47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To start bootstrapping, we first need to form a Bootstrapped dataset. First we select the same amount of data from the original dataset. Something to note here is: the selection is totally random and duplicates are allowed. This is so-called sampling with replacement. If you look at the Bootstrapped dataset, you can see blue and pink are duplicated. And that is totally fine. After we have a bootstrapped dataset, calculate something. In this example, we calculated the mean value. After that we keep in track with the calculation and analyze them. And then just repeat. In the end we should also get something like this: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12823e36a47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12823e36a47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also a gaussian distribution diagram but only with the orginal dataset and the bootstrapped dataset. Short conclusion, we can say that bootstrapping sort of enlarges the dataset. And it is benefitial on saving resources.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12823e36a47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12823e36a4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Next topic we will talk about Triplet Loss. What is a Triplet Loss?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2823e36a47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2823e36a47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This is a Triplet loss. Mathematically.</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12823e36a47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2823e36a47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Don’t have a clue what it means? Don’t worry, me neither.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12823e36a47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12823e36a47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So by definition, triplet loss is a type of loss funtion for machine learning algorithm. The core idea is to compare the distance between the reference Input, also called as Anchor. The Matching Input, also called as Positive. and the Non-matching Input, also called as Negative. The algorithm is aiming to minimize the distance between positive and anchor and maximize the distance between anchor and negative.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2823e36a47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2823e36a47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In the case of face recognition, 3 pictures are looked at once. Anchor and positive are the same person, and Anchor and positive are different persons. It compares the distances and apply gradient descent to have a backpropogating effect on the neural network parameters such as weights, biases and so on.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2823e36a47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2823e36a47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Conclusion, CNNs are mostly used for pattern recognition or image analysis due to it’s characteristics. Bootstrapping is used to solve dataset issues and improve the size of the dataset. Triplet loss is used for optimzing the accuracy of the results.</a:t>
            </a:r>
            <a:endParaRPr/>
          </a:p>
          <a:p>
            <a:pPr marL="0" lvl="0" indent="0" algn="l" rtl="0">
              <a:spcBef>
                <a:spcPts val="0"/>
              </a:spcBef>
              <a:spcAft>
                <a:spcPts val="0"/>
              </a:spcAft>
              <a:buNone/>
            </a:pPr>
            <a:endParaRPr/>
          </a:p>
          <a:p>
            <a:pPr marL="0" lvl="0" indent="0" algn="l" rtl="0">
              <a:spcBef>
                <a:spcPts val="0"/>
              </a:spcBef>
              <a:spcAft>
                <a:spcPts val="0"/>
              </a:spcAft>
              <a:buNone/>
            </a:pPr>
            <a:r>
              <a:rPr lang="zh-TW"/>
              <a:t>These are the topics from the methodology chapter that I think are worth presenting, hope you learned something. Thank you.</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11bbc751b4f_7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11bbc751b4f_7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11bbc751b4f_7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11bbc751b4f_7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1bbc751b4f_7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11bbc751b4f_7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1bbc751b4f_7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1bbc751b4f_7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11bbc751b4f_7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11bbc751b4f_7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11bbc751b4f_7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11bbc751b4f_7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128e176d0a4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128e176d0a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rot="10800000" flipH="1">
            <a:off x="0" y="1476925"/>
            <a:ext cx="3000000" cy="97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zh-TW" sz="2400">
                <a:solidFill>
                  <a:srgbClr val="FFFFFF"/>
                </a:solidFill>
              </a:rPr>
              <a:t>De</a:t>
            </a:r>
            <a:endParaRPr sz="2400">
              <a:solidFill>
                <a:srgbClr val="FFFFFF"/>
              </a:solidFill>
            </a:endParaRPr>
          </a:p>
          <a:p>
            <a:pPr marL="0" lvl="0" indent="0" algn="l" rtl="0">
              <a:lnSpc>
                <a:spcPct val="115000"/>
              </a:lnSpc>
              <a:spcBef>
                <a:spcPts val="0"/>
              </a:spcBef>
              <a:spcAft>
                <a:spcPts val="0"/>
              </a:spcAft>
              <a:buClr>
                <a:schemeClr val="dk1"/>
              </a:buClr>
              <a:buSzPts val="1100"/>
              <a:buFont typeface="Arial"/>
              <a:buNone/>
            </a:pPr>
            <a:r>
              <a:rPr lang="zh-TW" sz="2400">
                <a:solidFill>
                  <a:srgbClr val="FFFFFF"/>
                </a:solidFill>
              </a:rPr>
              <a:t>ep Face Recognition</a:t>
            </a:r>
            <a:endParaRPr sz="2400">
              <a:solidFill>
                <a:srgbClr val="FFFFFF"/>
              </a:solidFill>
            </a:endParaRPr>
          </a:p>
        </p:txBody>
      </p:sp>
      <p:sp>
        <p:nvSpPr>
          <p:cNvPr id="55" name="Google Shape;55;p13"/>
          <p:cNvSpPr txBox="1"/>
          <p:nvPr/>
        </p:nvSpPr>
        <p:spPr>
          <a:xfrm>
            <a:off x="577350" y="1330750"/>
            <a:ext cx="7989300" cy="954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zh-TW" sz="5000">
                <a:solidFill>
                  <a:schemeClr val="dk1"/>
                </a:solidFill>
              </a:rPr>
              <a:t>Deep Face Recognition</a:t>
            </a:r>
            <a:endParaRPr sz="5000">
              <a:solidFill>
                <a:schemeClr val="dk1"/>
              </a:solidFill>
            </a:endParaRPr>
          </a:p>
        </p:txBody>
      </p:sp>
      <p:sp>
        <p:nvSpPr>
          <p:cNvPr id="56" name="Google Shape;56;p13"/>
          <p:cNvSpPr txBox="1"/>
          <p:nvPr/>
        </p:nvSpPr>
        <p:spPr>
          <a:xfrm>
            <a:off x="2478600" y="3056700"/>
            <a:ext cx="41868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TW" sz="1600">
                <a:solidFill>
                  <a:schemeClr val="dk1"/>
                </a:solidFill>
              </a:rPr>
              <a:t>Wen-Hao Wu</a:t>
            </a:r>
            <a:endParaRPr sz="1600">
              <a:solidFill>
                <a:schemeClr val="dk1"/>
              </a:solidFill>
            </a:endParaRPr>
          </a:p>
          <a:p>
            <a:pPr marL="0" lvl="0" indent="0" algn="ctr" rtl="0">
              <a:spcBef>
                <a:spcPts val="0"/>
              </a:spcBef>
              <a:spcAft>
                <a:spcPts val="0"/>
              </a:spcAft>
              <a:buNone/>
            </a:pPr>
            <a:r>
              <a:rPr lang="zh-TW" sz="1600">
                <a:solidFill>
                  <a:schemeClr val="dk1"/>
                </a:solidFill>
              </a:rPr>
              <a:t>Ibrahim Kemal Yasar</a:t>
            </a:r>
            <a:endParaRPr sz="1600">
              <a:solidFill>
                <a:schemeClr val="dk1"/>
              </a:solidFill>
            </a:endParaRPr>
          </a:p>
          <a:p>
            <a:pPr marL="0" lvl="0" indent="0" algn="ctr" rtl="0">
              <a:spcBef>
                <a:spcPts val="0"/>
              </a:spcBef>
              <a:spcAft>
                <a:spcPts val="0"/>
              </a:spcAft>
              <a:buNone/>
            </a:pPr>
            <a:r>
              <a:rPr lang="zh-TW" sz="1600">
                <a:solidFill>
                  <a:schemeClr val="dk1"/>
                </a:solidFill>
              </a:rPr>
              <a:t>Vivek Patel</a:t>
            </a:r>
            <a:endParaRPr sz="1600">
              <a:solidFill>
                <a:schemeClr val="dk1"/>
              </a:solidFill>
            </a:endParaRPr>
          </a:p>
        </p:txBody>
      </p:sp>
      <p:sp>
        <p:nvSpPr>
          <p:cNvPr id="57" name="Google Shape;5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p:nvPr/>
        </p:nvSpPr>
        <p:spPr>
          <a:xfrm>
            <a:off x="526600" y="293700"/>
            <a:ext cx="4766700" cy="4556100"/>
          </a:xfrm>
          <a:prstGeom prst="rect">
            <a:avLst/>
          </a:prstGeom>
          <a:noFill/>
          <a:ln>
            <a:noFill/>
          </a:ln>
        </p:spPr>
        <p:txBody>
          <a:bodyPr spcFirstLastPara="1" wrap="square" lIns="91425" tIns="91425" rIns="91425" bIns="91425" anchor="t" anchorCtr="0">
            <a:spAutoFit/>
          </a:bodyPr>
          <a:lstStyle/>
          <a:p>
            <a:pPr marL="0" lvl="0" indent="0" algn="l" rtl="0">
              <a:lnSpc>
                <a:spcPct val="200000"/>
              </a:lnSpc>
              <a:spcBef>
                <a:spcPts val="0"/>
              </a:spcBef>
              <a:spcAft>
                <a:spcPts val="0"/>
              </a:spcAft>
              <a:buNone/>
            </a:pPr>
            <a:r>
              <a:rPr lang="zh-TW" sz="2500">
                <a:solidFill>
                  <a:schemeClr val="dk1"/>
                </a:solidFill>
              </a:rPr>
              <a:t>Table of Contents</a:t>
            </a:r>
            <a:endParaRPr sz="2500">
              <a:solidFill>
                <a:schemeClr val="dk1"/>
              </a:solidFill>
            </a:endParaRPr>
          </a:p>
          <a:p>
            <a:pPr marL="457200" lvl="0" indent="-342900" algn="l" rtl="0">
              <a:lnSpc>
                <a:spcPct val="200000"/>
              </a:lnSpc>
              <a:spcBef>
                <a:spcPts val="0"/>
              </a:spcBef>
              <a:spcAft>
                <a:spcPts val="0"/>
              </a:spcAft>
              <a:buClr>
                <a:schemeClr val="dk1"/>
              </a:buClr>
              <a:buSzPts val="1800"/>
              <a:buAutoNum type="arabicPeriod"/>
            </a:pPr>
            <a:r>
              <a:rPr lang="zh-TW" sz="1800">
                <a:solidFill>
                  <a:schemeClr val="dk1"/>
                </a:solidFill>
              </a:rPr>
              <a:t>Introduction</a:t>
            </a:r>
            <a:endParaRPr sz="1800">
              <a:solidFill>
                <a:schemeClr val="dk1"/>
              </a:solidFill>
            </a:endParaRPr>
          </a:p>
          <a:p>
            <a:pPr marL="457200" lvl="0" indent="-342900" algn="l" rtl="0">
              <a:lnSpc>
                <a:spcPct val="200000"/>
              </a:lnSpc>
              <a:spcBef>
                <a:spcPts val="0"/>
              </a:spcBef>
              <a:spcAft>
                <a:spcPts val="0"/>
              </a:spcAft>
              <a:buClr>
                <a:schemeClr val="dk1"/>
              </a:buClr>
              <a:buSzPts val="1800"/>
              <a:buAutoNum type="arabicPeriod"/>
            </a:pPr>
            <a:r>
              <a:rPr lang="zh-TW" sz="1800">
                <a:solidFill>
                  <a:schemeClr val="dk1"/>
                </a:solidFill>
              </a:rPr>
              <a:t>Related Work</a:t>
            </a:r>
            <a:endParaRPr sz="1800">
              <a:solidFill>
                <a:schemeClr val="dk1"/>
              </a:solidFill>
            </a:endParaRPr>
          </a:p>
          <a:p>
            <a:pPr marL="457200" lvl="0" indent="-342900" algn="l" rtl="0">
              <a:lnSpc>
                <a:spcPct val="200000"/>
              </a:lnSpc>
              <a:spcBef>
                <a:spcPts val="0"/>
              </a:spcBef>
              <a:spcAft>
                <a:spcPts val="0"/>
              </a:spcAft>
              <a:buClr>
                <a:schemeClr val="dk1"/>
              </a:buClr>
              <a:buSzPts val="1800"/>
              <a:buAutoNum type="arabicPeriod"/>
            </a:pPr>
            <a:r>
              <a:rPr lang="zh-TW" sz="1800">
                <a:solidFill>
                  <a:schemeClr val="dk1"/>
                </a:solidFill>
              </a:rPr>
              <a:t>Dataset Collection</a:t>
            </a:r>
            <a:endParaRPr sz="1800">
              <a:solidFill>
                <a:schemeClr val="dk1"/>
              </a:solidFill>
            </a:endParaRPr>
          </a:p>
          <a:p>
            <a:pPr marL="457200" lvl="0" indent="-342900" algn="l" rtl="0">
              <a:lnSpc>
                <a:spcPct val="200000"/>
              </a:lnSpc>
              <a:spcBef>
                <a:spcPts val="0"/>
              </a:spcBef>
              <a:spcAft>
                <a:spcPts val="0"/>
              </a:spcAft>
              <a:buClr>
                <a:schemeClr val="dk1"/>
              </a:buClr>
              <a:buSzPts val="1800"/>
              <a:buAutoNum type="arabicPeriod"/>
            </a:pPr>
            <a:r>
              <a:rPr lang="zh-TW" sz="1800">
                <a:solidFill>
                  <a:schemeClr val="dk1"/>
                </a:solidFill>
              </a:rPr>
              <a:t>Methodologies</a:t>
            </a:r>
            <a:endParaRPr sz="1800">
              <a:solidFill>
                <a:schemeClr val="dk1"/>
              </a:solidFill>
            </a:endParaRPr>
          </a:p>
          <a:p>
            <a:pPr marL="457200" lvl="0" indent="-342900" algn="l" rtl="0">
              <a:lnSpc>
                <a:spcPct val="200000"/>
              </a:lnSpc>
              <a:spcBef>
                <a:spcPts val="0"/>
              </a:spcBef>
              <a:spcAft>
                <a:spcPts val="0"/>
              </a:spcAft>
              <a:buClr>
                <a:schemeClr val="dk1"/>
              </a:buClr>
              <a:buSzPts val="1800"/>
              <a:buAutoNum type="arabicPeriod"/>
            </a:pPr>
            <a:r>
              <a:rPr lang="zh-TW" sz="1800">
                <a:solidFill>
                  <a:schemeClr val="dk1"/>
                </a:solidFill>
              </a:rPr>
              <a:t>Datasets and evaluation protocols</a:t>
            </a:r>
            <a:endParaRPr sz="1800">
              <a:solidFill>
                <a:schemeClr val="dk1"/>
              </a:solidFill>
            </a:endParaRPr>
          </a:p>
          <a:p>
            <a:pPr marL="457200" lvl="0" indent="-342900" algn="l" rtl="0">
              <a:lnSpc>
                <a:spcPct val="200000"/>
              </a:lnSpc>
              <a:spcBef>
                <a:spcPts val="0"/>
              </a:spcBef>
              <a:spcAft>
                <a:spcPts val="0"/>
              </a:spcAft>
              <a:buClr>
                <a:schemeClr val="dk1"/>
              </a:buClr>
              <a:buSzPts val="1800"/>
              <a:buAutoNum type="arabicPeriod"/>
            </a:pPr>
            <a:r>
              <a:rPr lang="zh-TW" sz="1800">
                <a:solidFill>
                  <a:schemeClr val="dk1"/>
                </a:solidFill>
              </a:rPr>
              <a:t>Experiments and results</a:t>
            </a:r>
            <a:endParaRPr sz="1800">
              <a:solidFill>
                <a:schemeClr val="dk1"/>
              </a:solidFill>
            </a:endParaRPr>
          </a:p>
          <a:p>
            <a:pPr marL="457200" lvl="0" indent="-342900" algn="l" rtl="0">
              <a:lnSpc>
                <a:spcPct val="200000"/>
              </a:lnSpc>
              <a:spcBef>
                <a:spcPts val="0"/>
              </a:spcBef>
              <a:spcAft>
                <a:spcPts val="0"/>
              </a:spcAft>
              <a:buClr>
                <a:schemeClr val="dk1"/>
              </a:buClr>
              <a:buSzPts val="1800"/>
              <a:buAutoNum type="arabicPeriod"/>
            </a:pPr>
            <a:r>
              <a:rPr lang="zh-TW" sz="1800">
                <a:solidFill>
                  <a:schemeClr val="dk1"/>
                </a:solidFill>
              </a:rPr>
              <a:t>Conclusion</a:t>
            </a:r>
            <a:endParaRPr sz="1800">
              <a:solidFill>
                <a:schemeClr val="dk1"/>
              </a:solidFill>
            </a:endParaRPr>
          </a:p>
        </p:txBody>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a:t>
            </a:fld>
            <a:endParaRPr/>
          </a:p>
        </p:txBody>
      </p:sp>
      <p:pic>
        <p:nvPicPr>
          <p:cNvPr id="69" name="Google Shape;69;p15"/>
          <p:cNvPicPr preferRelativeResize="0"/>
          <p:nvPr/>
        </p:nvPicPr>
        <p:blipFill>
          <a:blip r:embed="rId3">
            <a:alphaModFix/>
          </a:blip>
          <a:stretch>
            <a:fillRect/>
          </a:stretch>
        </p:blipFill>
        <p:spPr>
          <a:xfrm>
            <a:off x="756650" y="246450"/>
            <a:ext cx="7630676" cy="4562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589375" y="353625"/>
            <a:ext cx="3000000" cy="56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2500">
                <a:solidFill>
                  <a:schemeClr val="dk1"/>
                </a:solidFill>
              </a:rPr>
              <a:t>Introduction</a:t>
            </a:r>
            <a:endParaRPr sz="2500">
              <a:solidFill>
                <a:schemeClr val="dk1"/>
              </a:solidFill>
            </a:endParaRPr>
          </a:p>
        </p:txBody>
      </p:sp>
      <p:sp>
        <p:nvSpPr>
          <p:cNvPr id="75" name="Google Shape;75;p16"/>
          <p:cNvSpPr txBox="1"/>
          <p:nvPr/>
        </p:nvSpPr>
        <p:spPr>
          <a:xfrm>
            <a:off x="589375" y="1521600"/>
            <a:ext cx="5968500" cy="1953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2000">
                <a:solidFill>
                  <a:schemeClr val="dk1"/>
                </a:solidFill>
              </a:rPr>
              <a:t>Goals:</a:t>
            </a:r>
            <a:endParaRPr sz="2000">
              <a:solidFill>
                <a:schemeClr val="dk1"/>
              </a:solidFill>
            </a:endParaRPr>
          </a:p>
          <a:p>
            <a:pPr marL="0" lvl="0" indent="0" algn="l" rtl="0">
              <a:lnSpc>
                <a:spcPct val="115000"/>
              </a:lnSpc>
              <a:spcBef>
                <a:spcPts val="0"/>
              </a:spcBef>
              <a:spcAft>
                <a:spcPts val="0"/>
              </a:spcAft>
              <a:buNone/>
            </a:pPr>
            <a:endParaRPr sz="1800">
              <a:solidFill>
                <a:schemeClr val="dk1"/>
              </a:solidFill>
            </a:endParaRPr>
          </a:p>
          <a:p>
            <a:pPr marL="457200" lvl="0" indent="-330200" algn="l" rtl="0">
              <a:lnSpc>
                <a:spcPct val="115000"/>
              </a:lnSpc>
              <a:spcBef>
                <a:spcPts val="0"/>
              </a:spcBef>
              <a:spcAft>
                <a:spcPts val="0"/>
              </a:spcAft>
              <a:buClr>
                <a:schemeClr val="dk1"/>
              </a:buClr>
              <a:buSzPts val="1600"/>
              <a:buChar char="➢"/>
            </a:pPr>
            <a:r>
              <a:rPr lang="zh-TW" sz="1600">
                <a:solidFill>
                  <a:schemeClr val="dk1"/>
                </a:solidFill>
              </a:rPr>
              <a:t>To propose a procedure to create a large face dataset</a:t>
            </a:r>
            <a:endParaRPr sz="1600">
              <a:solidFill>
                <a:schemeClr val="dk1"/>
              </a:solidFill>
            </a:endParaRPr>
          </a:p>
          <a:p>
            <a:pPr marL="0" lvl="0" indent="0" algn="l" rtl="0">
              <a:lnSpc>
                <a:spcPct val="115000"/>
              </a:lnSpc>
              <a:spcBef>
                <a:spcPts val="0"/>
              </a:spcBef>
              <a:spcAft>
                <a:spcPts val="0"/>
              </a:spcAft>
              <a:buNone/>
            </a:pP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zh-TW" sz="1600">
                <a:solidFill>
                  <a:schemeClr val="dk1"/>
                </a:solidFill>
              </a:rPr>
              <a:t>To investigate various CNN architectures for face identification and verification</a:t>
            </a:r>
            <a:endParaRPr sz="1600">
              <a:solidFill>
                <a:schemeClr val="dk1"/>
              </a:solidFill>
            </a:endParaRPr>
          </a:p>
        </p:txBody>
      </p:sp>
      <p:sp>
        <p:nvSpPr>
          <p:cNvPr id="76" name="Google Shape;76;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5</a:t>
            </a:fld>
            <a:endParaRPr/>
          </a:p>
        </p:txBody>
      </p:sp>
      <p:pic>
        <p:nvPicPr>
          <p:cNvPr id="82" name="Google Shape;82;p17" title="Points scored"/>
          <p:cNvPicPr preferRelativeResize="0"/>
          <p:nvPr/>
        </p:nvPicPr>
        <p:blipFill>
          <a:blip r:embed="rId3">
            <a:alphaModFix/>
          </a:blip>
          <a:stretch>
            <a:fillRect/>
          </a:stretch>
        </p:blipFill>
        <p:spPr>
          <a:xfrm>
            <a:off x="609975" y="340625"/>
            <a:ext cx="6038085" cy="3733549"/>
          </a:xfrm>
          <a:prstGeom prst="rect">
            <a:avLst/>
          </a:prstGeom>
          <a:noFill/>
          <a:ln>
            <a:noFill/>
          </a:ln>
        </p:spPr>
      </p:pic>
      <p:graphicFrame>
        <p:nvGraphicFramePr>
          <p:cNvPr id="83" name="Google Shape;83;p17"/>
          <p:cNvGraphicFramePr/>
          <p:nvPr/>
        </p:nvGraphicFramePr>
        <p:xfrm>
          <a:off x="6648038" y="1786960"/>
          <a:ext cx="3000000" cy="3000000"/>
        </p:xfrm>
        <a:graphic>
          <a:graphicData uri="http://schemas.openxmlformats.org/drawingml/2006/table">
            <a:tbl>
              <a:tblPr>
                <a:noFill/>
                <a:tableStyleId>{56CD9E64-1FB1-4C05-BF93-B00215897EED}</a:tableStyleId>
              </a:tblPr>
              <a:tblGrid>
                <a:gridCol w="864550">
                  <a:extLst>
                    <a:ext uri="{9D8B030D-6E8A-4147-A177-3AD203B41FA5}">
                      <a16:colId xmlns:a16="http://schemas.microsoft.com/office/drawing/2014/main" val="20000"/>
                    </a:ext>
                  </a:extLst>
                </a:gridCol>
                <a:gridCol w="764500">
                  <a:extLst>
                    <a:ext uri="{9D8B030D-6E8A-4147-A177-3AD203B41FA5}">
                      <a16:colId xmlns:a16="http://schemas.microsoft.com/office/drawing/2014/main" val="20001"/>
                    </a:ext>
                  </a:extLst>
                </a:gridCol>
                <a:gridCol w="664650">
                  <a:extLst>
                    <a:ext uri="{9D8B030D-6E8A-4147-A177-3AD203B41FA5}">
                      <a16:colId xmlns:a16="http://schemas.microsoft.com/office/drawing/2014/main" val="20002"/>
                    </a:ext>
                  </a:extLst>
                </a:gridCol>
              </a:tblGrid>
              <a:tr h="286200">
                <a:tc>
                  <a:txBody>
                    <a:bodyPr/>
                    <a:lstStyle/>
                    <a:p>
                      <a:pPr marL="0" lvl="0" indent="0" algn="l" rtl="0">
                        <a:spcBef>
                          <a:spcPts val="0"/>
                        </a:spcBef>
                        <a:spcAft>
                          <a:spcPts val="0"/>
                        </a:spcAft>
                        <a:buNone/>
                      </a:pP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zh-TW" sz="1100"/>
                        <a:t>Identities</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zh-TW" sz="1100"/>
                        <a:t>Images</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54050">
                <a:tc>
                  <a:txBody>
                    <a:bodyPr/>
                    <a:lstStyle/>
                    <a:p>
                      <a:pPr marL="0" lvl="0" indent="0" algn="l" rtl="0">
                        <a:spcBef>
                          <a:spcPts val="0"/>
                        </a:spcBef>
                        <a:spcAft>
                          <a:spcPts val="0"/>
                        </a:spcAft>
                        <a:buNone/>
                      </a:pPr>
                      <a:r>
                        <a:rPr lang="zh-TW" sz="1100"/>
                        <a:t>Ours</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zh-TW" sz="1100"/>
                        <a:t>2622</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zh-TW" sz="1100"/>
                        <a:t>2.6M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8325">
                <a:tc>
                  <a:txBody>
                    <a:bodyPr/>
                    <a:lstStyle/>
                    <a:p>
                      <a:pPr marL="0" lvl="0" indent="0" algn="l" rtl="0">
                        <a:spcBef>
                          <a:spcPts val="0"/>
                        </a:spcBef>
                        <a:spcAft>
                          <a:spcPts val="0"/>
                        </a:spcAft>
                        <a:buNone/>
                      </a:pPr>
                      <a:r>
                        <a:rPr lang="zh-TW" sz="1100"/>
                        <a:t>Google</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zh-TW" sz="1100"/>
                        <a:t>8M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zh-TW" sz="1100"/>
                        <a:t>200M</a:t>
                      </a:r>
                      <a:endParaRPr sz="1100"/>
                    </a:p>
                    <a:p>
                      <a:pPr marL="0" lvl="0" indent="0" algn="l" rtl="0">
                        <a:spcBef>
                          <a:spcPts val="0"/>
                        </a:spcBef>
                        <a:spcAft>
                          <a:spcPts val="0"/>
                        </a:spcAft>
                        <a:buNone/>
                      </a:pP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263825">
                <a:tc>
                  <a:txBody>
                    <a:bodyPr/>
                    <a:lstStyle/>
                    <a:p>
                      <a:pPr marL="0" lvl="0" indent="0" algn="l" rtl="0">
                        <a:spcBef>
                          <a:spcPts val="0"/>
                        </a:spcBef>
                        <a:spcAft>
                          <a:spcPts val="0"/>
                        </a:spcAft>
                        <a:buNone/>
                      </a:pPr>
                      <a:r>
                        <a:rPr lang="zh-TW" sz="1100"/>
                        <a:t>FaceBook</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zh-TW" sz="1100"/>
                        <a:t>4030</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zh-TW" sz="1100"/>
                        <a:t>4.4M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84" name="Google Shape;84;p17"/>
          <p:cNvSpPr txBox="1"/>
          <p:nvPr/>
        </p:nvSpPr>
        <p:spPr>
          <a:xfrm>
            <a:off x="1552950" y="4293925"/>
            <a:ext cx="603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TW" sz="1200"/>
              <a:t>Largest collection of face images outside industrial datasets by Google and Facebook</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p:nvPr/>
        </p:nvSpPr>
        <p:spPr>
          <a:xfrm>
            <a:off x="581025" y="385775"/>
            <a:ext cx="3000000" cy="56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2500">
                <a:solidFill>
                  <a:schemeClr val="dk1"/>
                </a:solidFill>
              </a:rPr>
              <a:t>Related Work</a:t>
            </a:r>
            <a:endParaRPr sz="2500">
              <a:solidFill>
                <a:schemeClr val="dk1"/>
              </a:solidFill>
            </a:endParaRPr>
          </a:p>
        </p:txBody>
      </p:sp>
      <p:pic>
        <p:nvPicPr>
          <p:cNvPr id="90" name="Google Shape;90;p18"/>
          <p:cNvPicPr preferRelativeResize="0"/>
          <p:nvPr/>
        </p:nvPicPr>
        <p:blipFill>
          <a:blip r:embed="rId3">
            <a:alphaModFix/>
          </a:blip>
          <a:stretch>
            <a:fillRect/>
          </a:stretch>
        </p:blipFill>
        <p:spPr>
          <a:xfrm>
            <a:off x="585188" y="1435574"/>
            <a:ext cx="7973624" cy="1929450"/>
          </a:xfrm>
          <a:prstGeom prst="rect">
            <a:avLst/>
          </a:prstGeom>
          <a:noFill/>
          <a:ln>
            <a:noFill/>
          </a:ln>
        </p:spPr>
      </p:pic>
      <p:sp>
        <p:nvSpPr>
          <p:cNvPr id="91" name="Google Shape;91;p18"/>
          <p:cNvSpPr txBox="1"/>
          <p:nvPr/>
        </p:nvSpPr>
        <p:spPr>
          <a:xfrm>
            <a:off x="2467050" y="3545950"/>
            <a:ext cx="42099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a:solidFill>
                  <a:schemeClr val="dk1"/>
                </a:solidFill>
              </a:rPr>
              <a:t>Example images from our dataset for six identities</a:t>
            </a:r>
            <a:endParaRPr>
              <a:solidFill>
                <a:schemeClr val="dk1"/>
              </a:solidFill>
            </a:endParaRPr>
          </a:p>
        </p:txBody>
      </p:sp>
      <p:sp>
        <p:nvSpPr>
          <p:cNvPr id="92" name="Google Shape;9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p:nvPr/>
        </p:nvSpPr>
        <p:spPr>
          <a:xfrm>
            <a:off x="567925" y="557225"/>
            <a:ext cx="3000000" cy="56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2500">
                <a:solidFill>
                  <a:schemeClr val="dk1"/>
                </a:solidFill>
              </a:rPr>
              <a:t>Dataset Collection</a:t>
            </a:r>
            <a:endParaRPr sz="2500">
              <a:solidFill>
                <a:schemeClr val="dk1"/>
              </a:solidFill>
            </a:endParaRPr>
          </a:p>
        </p:txBody>
      </p:sp>
      <p:sp>
        <p:nvSpPr>
          <p:cNvPr id="98" name="Google Shape;98;p19"/>
          <p:cNvSpPr txBox="1"/>
          <p:nvPr/>
        </p:nvSpPr>
        <p:spPr>
          <a:xfrm>
            <a:off x="567925" y="1371600"/>
            <a:ext cx="6515100" cy="269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TW" sz="1600">
                <a:solidFill>
                  <a:schemeClr val="dk1"/>
                </a:solidFill>
              </a:rPr>
              <a:t>Stage 1. Bootstrapping and filtering a list of candidate identity names</a:t>
            </a:r>
            <a:endParaRPr sz="1600">
              <a:solidFill>
                <a:schemeClr val="dk1"/>
              </a:solidFill>
            </a:endParaRPr>
          </a:p>
          <a:p>
            <a:pPr marL="0" lvl="0" indent="0" algn="l" rtl="0">
              <a:lnSpc>
                <a:spcPct val="115000"/>
              </a:lnSpc>
              <a:spcBef>
                <a:spcPts val="0"/>
              </a:spcBef>
              <a:spcAft>
                <a:spcPts val="0"/>
              </a:spcAft>
              <a:buNone/>
            </a:pPr>
            <a:endParaRPr sz="1600">
              <a:solidFill>
                <a:schemeClr val="dk1"/>
              </a:solidFill>
            </a:endParaRPr>
          </a:p>
          <a:p>
            <a:pPr marL="0" lvl="0" indent="0" algn="l" rtl="0">
              <a:lnSpc>
                <a:spcPct val="115000"/>
              </a:lnSpc>
              <a:spcBef>
                <a:spcPts val="0"/>
              </a:spcBef>
              <a:spcAft>
                <a:spcPts val="0"/>
              </a:spcAft>
              <a:buNone/>
            </a:pPr>
            <a:r>
              <a:rPr lang="zh-TW" sz="1600">
                <a:solidFill>
                  <a:schemeClr val="dk1"/>
                </a:solidFill>
              </a:rPr>
              <a:t>Stage 2. Collecting more images for each identity</a:t>
            </a:r>
            <a:endParaRPr sz="1600">
              <a:solidFill>
                <a:schemeClr val="dk1"/>
              </a:solidFill>
            </a:endParaRPr>
          </a:p>
          <a:p>
            <a:pPr marL="0" lvl="0" indent="0" algn="l" rtl="0">
              <a:lnSpc>
                <a:spcPct val="115000"/>
              </a:lnSpc>
              <a:spcBef>
                <a:spcPts val="0"/>
              </a:spcBef>
              <a:spcAft>
                <a:spcPts val="0"/>
              </a:spcAft>
              <a:buNone/>
            </a:pPr>
            <a:endParaRPr sz="1600">
              <a:solidFill>
                <a:schemeClr val="dk1"/>
              </a:solidFill>
            </a:endParaRPr>
          </a:p>
          <a:p>
            <a:pPr marL="0" lvl="0" indent="0" algn="l" rtl="0">
              <a:lnSpc>
                <a:spcPct val="115000"/>
              </a:lnSpc>
              <a:spcBef>
                <a:spcPts val="0"/>
              </a:spcBef>
              <a:spcAft>
                <a:spcPts val="0"/>
              </a:spcAft>
              <a:buNone/>
            </a:pPr>
            <a:r>
              <a:rPr lang="zh-TW" sz="1600">
                <a:solidFill>
                  <a:schemeClr val="dk1"/>
                </a:solidFill>
              </a:rPr>
              <a:t>Stage 3. Improving purity with an automatic filter</a:t>
            </a:r>
            <a:endParaRPr sz="1600">
              <a:solidFill>
                <a:schemeClr val="dk1"/>
              </a:solidFill>
            </a:endParaRPr>
          </a:p>
          <a:p>
            <a:pPr marL="0" lvl="0" indent="0" algn="l" rtl="0">
              <a:lnSpc>
                <a:spcPct val="115000"/>
              </a:lnSpc>
              <a:spcBef>
                <a:spcPts val="0"/>
              </a:spcBef>
              <a:spcAft>
                <a:spcPts val="0"/>
              </a:spcAft>
              <a:buNone/>
            </a:pPr>
            <a:endParaRPr sz="1600">
              <a:solidFill>
                <a:schemeClr val="dk1"/>
              </a:solidFill>
            </a:endParaRPr>
          </a:p>
          <a:p>
            <a:pPr marL="0" lvl="0" indent="0" algn="l" rtl="0">
              <a:lnSpc>
                <a:spcPct val="115000"/>
              </a:lnSpc>
              <a:spcBef>
                <a:spcPts val="0"/>
              </a:spcBef>
              <a:spcAft>
                <a:spcPts val="0"/>
              </a:spcAft>
              <a:buNone/>
            </a:pPr>
            <a:r>
              <a:rPr lang="zh-TW" sz="1600">
                <a:solidFill>
                  <a:schemeClr val="dk1"/>
                </a:solidFill>
              </a:rPr>
              <a:t>Stage 4. Near duplicate removal</a:t>
            </a:r>
            <a:endParaRPr sz="1600">
              <a:solidFill>
                <a:schemeClr val="dk1"/>
              </a:solidFill>
            </a:endParaRPr>
          </a:p>
          <a:p>
            <a:pPr marL="0" lvl="0" indent="0" algn="l" rtl="0">
              <a:lnSpc>
                <a:spcPct val="115000"/>
              </a:lnSpc>
              <a:spcBef>
                <a:spcPts val="0"/>
              </a:spcBef>
              <a:spcAft>
                <a:spcPts val="0"/>
              </a:spcAft>
              <a:buNone/>
            </a:pPr>
            <a:endParaRPr sz="1600">
              <a:solidFill>
                <a:schemeClr val="dk1"/>
              </a:solidFill>
            </a:endParaRPr>
          </a:p>
          <a:p>
            <a:pPr marL="0" lvl="0" indent="0" algn="l" rtl="0">
              <a:lnSpc>
                <a:spcPct val="115000"/>
              </a:lnSpc>
              <a:spcBef>
                <a:spcPts val="0"/>
              </a:spcBef>
              <a:spcAft>
                <a:spcPts val="0"/>
              </a:spcAft>
              <a:buNone/>
            </a:pPr>
            <a:r>
              <a:rPr lang="zh-TW" sz="1600">
                <a:solidFill>
                  <a:schemeClr val="dk1"/>
                </a:solidFill>
              </a:rPr>
              <a:t>Stage 5. Final manual filtering</a:t>
            </a:r>
            <a:endParaRPr sz="1600">
              <a:solidFill>
                <a:schemeClr val="dk1"/>
              </a:solidFill>
            </a:endParaRPr>
          </a:p>
        </p:txBody>
      </p:sp>
      <p:sp>
        <p:nvSpPr>
          <p:cNvPr id="99" name="Google Shape;9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8</a:t>
            </a:fld>
            <a:endParaRPr/>
          </a:p>
        </p:txBody>
      </p:sp>
      <p:pic>
        <p:nvPicPr>
          <p:cNvPr id="105" name="Google Shape;105;p20"/>
          <p:cNvPicPr preferRelativeResize="0"/>
          <p:nvPr/>
        </p:nvPicPr>
        <p:blipFill>
          <a:blip r:embed="rId3">
            <a:alphaModFix/>
          </a:blip>
          <a:stretch>
            <a:fillRect/>
          </a:stretch>
        </p:blipFill>
        <p:spPr>
          <a:xfrm>
            <a:off x="348563" y="1457326"/>
            <a:ext cx="8446874" cy="1712675"/>
          </a:xfrm>
          <a:prstGeom prst="rect">
            <a:avLst/>
          </a:prstGeom>
          <a:noFill/>
          <a:ln>
            <a:noFill/>
          </a:ln>
        </p:spPr>
      </p:pic>
      <p:sp>
        <p:nvSpPr>
          <p:cNvPr id="106" name="Google Shape;106;p20"/>
          <p:cNvSpPr txBox="1"/>
          <p:nvPr/>
        </p:nvSpPr>
        <p:spPr>
          <a:xfrm>
            <a:off x="2568150" y="3278975"/>
            <a:ext cx="4300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TW"/>
              <a:t>Dataset statistics after each stage of processing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Main Methodologies</a:t>
            </a:r>
            <a:endParaRPr/>
          </a:p>
        </p:txBody>
      </p:sp>
      <p:sp>
        <p:nvSpPr>
          <p:cNvPr id="112" name="Google Shape;11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lnSpc>
                <a:spcPct val="200000"/>
              </a:lnSpc>
              <a:spcBef>
                <a:spcPts val="0"/>
              </a:spcBef>
              <a:spcAft>
                <a:spcPts val="0"/>
              </a:spcAft>
              <a:buClr>
                <a:schemeClr val="dk1"/>
              </a:buClr>
              <a:buSzPts val="1800"/>
              <a:buChar char="-"/>
            </a:pPr>
            <a:r>
              <a:rPr lang="zh-TW">
                <a:solidFill>
                  <a:schemeClr val="dk1"/>
                </a:solidFill>
              </a:rPr>
              <a:t>Covolutional Neural Network</a:t>
            </a:r>
            <a:endParaRPr>
              <a:solidFill>
                <a:schemeClr val="dk1"/>
              </a:solidFill>
            </a:endParaRPr>
          </a:p>
          <a:p>
            <a:pPr marL="457200" lvl="0" indent="-342900" algn="l" rtl="0">
              <a:lnSpc>
                <a:spcPct val="200000"/>
              </a:lnSpc>
              <a:spcBef>
                <a:spcPts val="0"/>
              </a:spcBef>
              <a:spcAft>
                <a:spcPts val="0"/>
              </a:spcAft>
              <a:buClr>
                <a:schemeClr val="dk1"/>
              </a:buClr>
              <a:buSzPts val="1800"/>
              <a:buChar char="-"/>
            </a:pPr>
            <a:r>
              <a:rPr lang="zh-TW">
                <a:solidFill>
                  <a:schemeClr val="dk1"/>
                </a:solidFill>
              </a:rPr>
              <a:t>Bootstrapping</a:t>
            </a:r>
            <a:endParaRPr>
              <a:solidFill>
                <a:schemeClr val="dk1"/>
              </a:solidFill>
            </a:endParaRPr>
          </a:p>
          <a:p>
            <a:pPr marL="457200" lvl="0" indent="-342900" algn="l" rtl="0">
              <a:lnSpc>
                <a:spcPct val="200000"/>
              </a:lnSpc>
              <a:spcBef>
                <a:spcPts val="0"/>
              </a:spcBef>
              <a:spcAft>
                <a:spcPts val="0"/>
              </a:spcAft>
              <a:buClr>
                <a:schemeClr val="dk1"/>
              </a:buClr>
              <a:buSzPts val="1800"/>
              <a:buChar char="-"/>
            </a:pPr>
            <a:r>
              <a:rPr lang="zh-TW">
                <a:solidFill>
                  <a:schemeClr val="dk1"/>
                </a:solidFill>
              </a:rPr>
              <a:t>Triplet Loss</a:t>
            </a: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113" name="Google Shape;11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zh-TW"/>
              <a:t>What are Artifitial Neural Networks?</a:t>
            </a:r>
            <a:endParaRPr/>
          </a:p>
        </p:txBody>
      </p:sp>
      <p:sp>
        <p:nvSpPr>
          <p:cNvPr id="119" name="Google Shape;119;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Artifitial Neural Network</a:t>
            </a:r>
            <a:endParaRPr/>
          </a:p>
        </p:txBody>
      </p:sp>
      <p:sp>
        <p:nvSpPr>
          <p:cNvPr id="125" name="Google Shape;125;p23"/>
          <p:cNvSpPr txBox="1">
            <a:spLocks noGrp="1"/>
          </p:cNvSpPr>
          <p:nvPr>
            <p:ph type="body" idx="1"/>
          </p:nvPr>
        </p:nvSpPr>
        <p:spPr>
          <a:xfrm>
            <a:off x="311700" y="1152475"/>
            <a:ext cx="5214000" cy="3416400"/>
          </a:xfrm>
          <a:prstGeom prst="rect">
            <a:avLst/>
          </a:prstGeom>
        </p:spPr>
        <p:txBody>
          <a:bodyPr spcFirstLastPara="1" wrap="square" lIns="91425" tIns="91425" rIns="91425" bIns="91425" anchor="t" anchorCtr="0">
            <a:normAutofit fontScale="92500"/>
          </a:bodyPr>
          <a:lstStyle/>
          <a:p>
            <a:pPr marL="457200" lvl="0" indent="-334327" algn="l" rtl="0">
              <a:lnSpc>
                <a:spcPct val="200000"/>
              </a:lnSpc>
              <a:spcBef>
                <a:spcPts val="0"/>
              </a:spcBef>
              <a:spcAft>
                <a:spcPts val="0"/>
              </a:spcAft>
              <a:buClr>
                <a:schemeClr val="dk1"/>
              </a:buClr>
              <a:buSzPct val="100000"/>
              <a:buChar char="-"/>
            </a:pPr>
            <a:r>
              <a:rPr lang="zh-TW">
                <a:solidFill>
                  <a:schemeClr val="dk1"/>
                </a:solidFill>
              </a:rPr>
              <a:t>ANNs are inspired by biological neural networks</a:t>
            </a:r>
            <a:endParaRPr>
              <a:solidFill>
                <a:schemeClr val="dk1"/>
              </a:solidFill>
            </a:endParaRPr>
          </a:p>
          <a:p>
            <a:pPr marL="457200" lvl="0" indent="-334327" algn="l" rtl="0">
              <a:lnSpc>
                <a:spcPct val="200000"/>
              </a:lnSpc>
              <a:spcBef>
                <a:spcPts val="0"/>
              </a:spcBef>
              <a:spcAft>
                <a:spcPts val="0"/>
              </a:spcAft>
              <a:buClr>
                <a:schemeClr val="dk1"/>
              </a:buClr>
              <a:buSzPct val="100000"/>
              <a:buChar char="-"/>
            </a:pPr>
            <a:r>
              <a:rPr lang="zh-TW">
                <a:solidFill>
                  <a:schemeClr val="dk1"/>
                </a:solidFill>
              </a:rPr>
              <a:t>Basic Structure: Input, Hidden, and Output layers</a:t>
            </a:r>
            <a:endParaRPr>
              <a:solidFill>
                <a:schemeClr val="dk1"/>
              </a:solidFill>
            </a:endParaRPr>
          </a:p>
          <a:p>
            <a:pPr marL="457200" lvl="0" indent="-334327" algn="l" rtl="0">
              <a:lnSpc>
                <a:spcPct val="200000"/>
              </a:lnSpc>
              <a:spcBef>
                <a:spcPts val="0"/>
              </a:spcBef>
              <a:spcAft>
                <a:spcPts val="0"/>
              </a:spcAft>
              <a:buClr>
                <a:schemeClr val="dk1"/>
              </a:buClr>
              <a:buSzPct val="100000"/>
              <a:buChar char="-"/>
            </a:pPr>
            <a:r>
              <a:rPr lang="zh-TW">
                <a:solidFill>
                  <a:schemeClr val="dk1"/>
                </a:solidFill>
              </a:rPr>
              <a:t>Weights between layers to adjust Inputs</a:t>
            </a: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endParaRPr>
              <a:solidFill>
                <a:schemeClr val="dk1"/>
              </a:solidFill>
            </a:endParaRPr>
          </a:p>
        </p:txBody>
      </p:sp>
      <p:pic>
        <p:nvPicPr>
          <p:cNvPr id="126" name="Google Shape;126;p23"/>
          <p:cNvPicPr preferRelativeResize="0"/>
          <p:nvPr/>
        </p:nvPicPr>
        <p:blipFill>
          <a:blip r:embed="rId3">
            <a:alphaModFix/>
          </a:blip>
          <a:stretch>
            <a:fillRect/>
          </a:stretch>
        </p:blipFill>
        <p:spPr>
          <a:xfrm>
            <a:off x="5599500" y="1097275"/>
            <a:ext cx="3232799" cy="3889476"/>
          </a:xfrm>
          <a:prstGeom prst="rect">
            <a:avLst/>
          </a:prstGeom>
          <a:noFill/>
          <a:ln>
            <a:noFill/>
          </a:ln>
        </p:spPr>
      </p:pic>
      <p:sp>
        <p:nvSpPr>
          <p:cNvPr id="127" name="Google Shape;127;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zh-TW"/>
              <a:t>What differentiates ANN and CNN?</a:t>
            </a:r>
            <a:endParaRPr/>
          </a:p>
        </p:txBody>
      </p:sp>
      <p:sp>
        <p:nvSpPr>
          <p:cNvPr id="133" name="Google Shape;133;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Convolutional Neural Network</a:t>
            </a:r>
            <a:endParaRPr/>
          </a:p>
        </p:txBody>
      </p:sp>
      <p:sp>
        <p:nvSpPr>
          <p:cNvPr id="139" name="Google Shape;139;p2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Clr>
                <a:schemeClr val="dk1"/>
              </a:buClr>
              <a:buSzPts val="1600"/>
              <a:buChar char="-"/>
            </a:pPr>
            <a:r>
              <a:rPr lang="zh-TW" sz="1600">
                <a:solidFill>
                  <a:schemeClr val="dk1"/>
                </a:solidFill>
              </a:rPr>
              <a:t>CNNs have hidden layers called “Convolutional Layers”</a:t>
            </a:r>
            <a:endParaRPr sz="1600">
              <a:solidFill>
                <a:schemeClr val="dk1"/>
              </a:solidFill>
            </a:endParaRPr>
          </a:p>
          <a:p>
            <a:pPr marL="457200" lvl="0" indent="-330200" algn="l" rtl="0">
              <a:lnSpc>
                <a:spcPct val="150000"/>
              </a:lnSpc>
              <a:spcBef>
                <a:spcPts val="0"/>
              </a:spcBef>
              <a:spcAft>
                <a:spcPts val="0"/>
              </a:spcAft>
              <a:buClr>
                <a:schemeClr val="dk1"/>
              </a:buClr>
              <a:buSzPts val="1600"/>
              <a:buChar char="-"/>
            </a:pPr>
            <a:r>
              <a:rPr lang="zh-TW" sz="1600">
                <a:solidFill>
                  <a:schemeClr val="dk1"/>
                </a:solidFill>
              </a:rPr>
              <a:t> a Convolutional Layer receives input and then transforms the input in some way and outputs the transformed input to the next layer</a:t>
            </a:r>
            <a:endParaRPr sz="1600">
              <a:solidFill>
                <a:schemeClr val="dk1"/>
              </a:solidFill>
            </a:endParaRPr>
          </a:p>
          <a:p>
            <a:pPr marL="0" lvl="0" indent="0" algn="l" rtl="0">
              <a:spcBef>
                <a:spcPts val="1200"/>
              </a:spcBef>
              <a:spcAft>
                <a:spcPts val="1200"/>
              </a:spcAft>
              <a:buNone/>
            </a:pPr>
            <a:endParaRPr>
              <a:solidFill>
                <a:schemeClr val="dk1"/>
              </a:solidFill>
            </a:endParaRPr>
          </a:p>
        </p:txBody>
      </p:sp>
      <p:sp>
        <p:nvSpPr>
          <p:cNvPr id="140" name="Google Shape;140;p2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1" name="Google Shape;141;p25"/>
          <p:cNvPicPr preferRelativeResize="0"/>
          <p:nvPr/>
        </p:nvPicPr>
        <p:blipFill>
          <a:blip r:embed="rId3">
            <a:alphaModFix/>
          </a:blip>
          <a:stretch>
            <a:fillRect/>
          </a:stretch>
        </p:blipFill>
        <p:spPr>
          <a:xfrm>
            <a:off x="4666548" y="1114063"/>
            <a:ext cx="4331599" cy="3493225"/>
          </a:xfrm>
          <a:prstGeom prst="rect">
            <a:avLst/>
          </a:prstGeom>
          <a:noFill/>
          <a:ln>
            <a:noFill/>
          </a:ln>
        </p:spPr>
      </p:pic>
      <p:sp>
        <p:nvSpPr>
          <p:cNvPr id="142" name="Google Shape;142;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Convolutional Neural Network</a:t>
            </a:r>
            <a:endParaRPr/>
          </a:p>
        </p:txBody>
      </p:sp>
      <p:sp>
        <p:nvSpPr>
          <p:cNvPr id="148" name="Google Shape;148;p2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23850" algn="l" rtl="0">
              <a:lnSpc>
                <a:spcPct val="115000"/>
              </a:lnSpc>
              <a:spcBef>
                <a:spcPts val="0"/>
              </a:spcBef>
              <a:spcAft>
                <a:spcPts val="0"/>
              </a:spcAft>
              <a:buClr>
                <a:schemeClr val="dk1"/>
              </a:buClr>
              <a:buSzPts val="1500"/>
              <a:buChar char="-"/>
            </a:pPr>
            <a:r>
              <a:rPr lang="zh-TW" sz="1500">
                <a:solidFill>
                  <a:schemeClr val="dk1"/>
                </a:solidFill>
              </a:rPr>
              <a:t>Each convolutional layer is a filter or a set of filters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zh-TW" sz="1500">
                <a:solidFill>
                  <a:schemeClr val="dk1"/>
                </a:solidFill>
              </a:rPr>
              <a:t>Each filter “convolves” with the image and creates an activation map</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zh-TW" sz="1500">
                <a:solidFill>
                  <a:schemeClr val="dk1"/>
                </a:solidFill>
              </a:rPr>
              <a:t>The output of the Convolutional Layer is generated by stacking the activation maps of the filters along the path</a:t>
            </a:r>
            <a:endParaRPr sz="1500">
              <a:solidFill>
                <a:schemeClr val="dk1"/>
              </a:solidFill>
            </a:endParaRPr>
          </a:p>
        </p:txBody>
      </p:sp>
      <p:sp>
        <p:nvSpPr>
          <p:cNvPr id="149" name="Google Shape;149;p2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50" name="Google Shape;150;p26"/>
          <p:cNvPicPr preferRelativeResize="0"/>
          <p:nvPr/>
        </p:nvPicPr>
        <p:blipFill>
          <a:blip r:embed="rId3">
            <a:alphaModFix/>
          </a:blip>
          <a:stretch>
            <a:fillRect/>
          </a:stretch>
        </p:blipFill>
        <p:spPr>
          <a:xfrm>
            <a:off x="5188850" y="1152475"/>
            <a:ext cx="3287001" cy="3758824"/>
          </a:xfrm>
          <a:prstGeom prst="rect">
            <a:avLst/>
          </a:prstGeom>
          <a:noFill/>
          <a:ln>
            <a:noFill/>
          </a:ln>
        </p:spPr>
      </p:pic>
      <p:pic>
        <p:nvPicPr>
          <p:cNvPr id="151" name="Google Shape;151;p26"/>
          <p:cNvPicPr preferRelativeResize="0"/>
          <p:nvPr/>
        </p:nvPicPr>
        <p:blipFill>
          <a:blip r:embed="rId4">
            <a:alphaModFix/>
          </a:blip>
          <a:stretch>
            <a:fillRect/>
          </a:stretch>
        </p:blipFill>
        <p:spPr>
          <a:xfrm>
            <a:off x="668150" y="3347335"/>
            <a:ext cx="3287001" cy="1563965"/>
          </a:xfrm>
          <a:prstGeom prst="rect">
            <a:avLst/>
          </a:prstGeom>
          <a:noFill/>
          <a:ln>
            <a:noFill/>
          </a:ln>
        </p:spPr>
      </p:pic>
      <p:sp>
        <p:nvSpPr>
          <p:cNvPr id="152" name="Google Shape;152;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Example of CNN Application</a:t>
            </a:r>
            <a:endParaRPr/>
          </a:p>
        </p:txBody>
      </p:sp>
      <p:sp>
        <p:nvSpPr>
          <p:cNvPr id="158" name="Google Shape;158;p27"/>
          <p:cNvSpPr txBox="1">
            <a:spLocks noGrp="1"/>
          </p:cNvSpPr>
          <p:nvPr>
            <p:ph type="body" idx="1"/>
          </p:nvPr>
        </p:nvSpPr>
        <p:spPr>
          <a:xfrm>
            <a:off x="311700" y="1580600"/>
            <a:ext cx="3999900" cy="2988300"/>
          </a:xfrm>
          <a:prstGeom prst="rect">
            <a:avLst/>
          </a:prstGeom>
        </p:spPr>
        <p:txBody>
          <a:bodyPr spcFirstLastPara="1" wrap="square" lIns="91425" tIns="91425" rIns="91425" bIns="91425" anchor="t" anchorCtr="0">
            <a:normAutofit/>
          </a:bodyPr>
          <a:lstStyle/>
          <a:p>
            <a:pPr marL="457200" lvl="0" indent="-330200" algn="l" rtl="0">
              <a:lnSpc>
                <a:spcPct val="200000"/>
              </a:lnSpc>
              <a:spcBef>
                <a:spcPts val="0"/>
              </a:spcBef>
              <a:spcAft>
                <a:spcPts val="0"/>
              </a:spcAft>
              <a:buClr>
                <a:schemeClr val="dk1"/>
              </a:buClr>
              <a:buSzPts val="1600"/>
              <a:buChar char="-"/>
            </a:pPr>
            <a:r>
              <a:rPr lang="zh-TW" sz="1600">
                <a:solidFill>
                  <a:schemeClr val="dk1"/>
                </a:solidFill>
              </a:rPr>
              <a:t>Number recognition</a:t>
            </a:r>
            <a:endParaRPr sz="1600">
              <a:solidFill>
                <a:schemeClr val="dk1"/>
              </a:solidFill>
            </a:endParaRPr>
          </a:p>
          <a:p>
            <a:pPr marL="457200" lvl="0" indent="-330200" algn="l" rtl="0">
              <a:lnSpc>
                <a:spcPct val="200000"/>
              </a:lnSpc>
              <a:spcBef>
                <a:spcPts val="0"/>
              </a:spcBef>
              <a:spcAft>
                <a:spcPts val="0"/>
              </a:spcAft>
              <a:buClr>
                <a:schemeClr val="dk1"/>
              </a:buClr>
              <a:buSzPts val="1600"/>
              <a:buChar char="-"/>
            </a:pPr>
            <a:r>
              <a:rPr lang="zh-TW" sz="1600">
                <a:solidFill>
                  <a:schemeClr val="dk1"/>
                </a:solidFill>
              </a:rPr>
              <a:t>Edge detection</a:t>
            </a:r>
            <a:endParaRPr sz="1600">
              <a:solidFill>
                <a:schemeClr val="dk1"/>
              </a:solidFill>
            </a:endParaRPr>
          </a:p>
        </p:txBody>
      </p:sp>
      <p:sp>
        <p:nvSpPr>
          <p:cNvPr id="159" name="Google Shape;159;p2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0" name="Google Shape;160;p27"/>
          <p:cNvPicPr preferRelativeResize="0"/>
          <p:nvPr/>
        </p:nvPicPr>
        <p:blipFill>
          <a:blip r:embed="rId3">
            <a:alphaModFix/>
          </a:blip>
          <a:stretch>
            <a:fillRect/>
          </a:stretch>
        </p:blipFill>
        <p:spPr>
          <a:xfrm>
            <a:off x="2703424" y="1265925"/>
            <a:ext cx="5682924" cy="3474125"/>
          </a:xfrm>
          <a:prstGeom prst="rect">
            <a:avLst/>
          </a:prstGeom>
          <a:noFill/>
          <a:ln>
            <a:noFill/>
          </a:ln>
        </p:spPr>
      </p:pic>
      <p:sp>
        <p:nvSpPr>
          <p:cNvPr id="161" name="Google Shape;161;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Conclusion: Convolutional Neural Network</a:t>
            </a:r>
            <a:endParaRPr/>
          </a:p>
        </p:txBody>
      </p:sp>
      <p:sp>
        <p:nvSpPr>
          <p:cNvPr id="167" name="Google Shape;167;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55600" algn="l" rtl="0">
              <a:lnSpc>
                <a:spcPct val="100000"/>
              </a:lnSpc>
              <a:spcBef>
                <a:spcPts val="0"/>
              </a:spcBef>
              <a:spcAft>
                <a:spcPts val="0"/>
              </a:spcAft>
              <a:buClr>
                <a:schemeClr val="dk1"/>
              </a:buClr>
              <a:buSzPts val="2000"/>
              <a:buChar char="-"/>
            </a:pPr>
            <a:r>
              <a:rPr lang="zh-TW" sz="2000">
                <a:solidFill>
                  <a:schemeClr val="dk1"/>
                </a:solidFill>
              </a:rPr>
              <a:t>ANN with specialization that can pick out or detect patterns and make sense of it</a:t>
            </a:r>
            <a:endParaRPr sz="2000">
              <a:solidFill>
                <a:schemeClr val="dk1"/>
              </a:solidFill>
            </a:endParaRPr>
          </a:p>
          <a:p>
            <a:pPr marL="0" lvl="0" indent="0" algn="l" rtl="0">
              <a:lnSpc>
                <a:spcPct val="100000"/>
              </a:lnSpc>
              <a:spcBef>
                <a:spcPts val="1200"/>
              </a:spcBef>
              <a:spcAft>
                <a:spcPts val="0"/>
              </a:spcAft>
              <a:buNone/>
            </a:pPr>
            <a:endParaRPr sz="2000">
              <a:solidFill>
                <a:schemeClr val="dk1"/>
              </a:solidFill>
            </a:endParaRPr>
          </a:p>
          <a:p>
            <a:pPr marL="457200" lvl="0" indent="-355600" algn="l" rtl="0">
              <a:lnSpc>
                <a:spcPct val="200000"/>
              </a:lnSpc>
              <a:spcBef>
                <a:spcPts val="1200"/>
              </a:spcBef>
              <a:spcAft>
                <a:spcPts val="0"/>
              </a:spcAft>
              <a:buClr>
                <a:schemeClr val="dk1"/>
              </a:buClr>
              <a:buSzPts val="2000"/>
              <a:buChar char="-"/>
            </a:pPr>
            <a:r>
              <a:rPr lang="zh-TW" sz="2000">
                <a:solidFill>
                  <a:schemeClr val="dk1"/>
                </a:solidFill>
              </a:rPr>
              <a:t>Popular for analyzing images because of it’s architechture</a:t>
            </a:r>
            <a:endParaRPr sz="2000">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168" name="Google Shape;168;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Bootstrapping</a:t>
            </a:r>
            <a:endParaRPr/>
          </a:p>
        </p:txBody>
      </p:sp>
      <p:sp>
        <p:nvSpPr>
          <p:cNvPr id="174" name="Google Shape;174;p2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sz="1800">
                <a:solidFill>
                  <a:schemeClr val="dk1"/>
                </a:solidFill>
              </a:rPr>
              <a:t>A resampling technique</a:t>
            </a:r>
            <a:endParaRPr sz="1800">
              <a:solidFill>
                <a:schemeClr val="dk1"/>
              </a:solidFill>
            </a:endParaRPr>
          </a:p>
          <a:p>
            <a:pPr marL="0" lvl="0" indent="0" algn="l" rtl="0">
              <a:spcBef>
                <a:spcPts val="1200"/>
              </a:spcBef>
              <a:spcAft>
                <a:spcPts val="0"/>
              </a:spcAft>
              <a:buNone/>
            </a:pPr>
            <a:endParaRPr sz="1800">
              <a:solidFill>
                <a:schemeClr val="dk1"/>
              </a:solidFill>
            </a:endParaRPr>
          </a:p>
          <a:p>
            <a:pPr marL="457200" lvl="0" indent="-342900" algn="l" rtl="0">
              <a:spcBef>
                <a:spcPts val="1200"/>
              </a:spcBef>
              <a:spcAft>
                <a:spcPts val="0"/>
              </a:spcAft>
              <a:buClr>
                <a:schemeClr val="dk1"/>
              </a:buClr>
              <a:buSzPts val="1800"/>
              <a:buChar char="-"/>
            </a:pPr>
            <a:r>
              <a:rPr lang="zh-TW" sz="1800">
                <a:solidFill>
                  <a:schemeClr val="dk1"/>
                </a:solidFill>
              </a:rPr>
              <a:t>Used to estimate statistics on a population by sampling a dataset with replacement</a:t>
            </a:r>
            <a:endParaRPr sz="1800">
              <a:solidFill>
                <a:schemeClr val="dk1"/>
              </a:solidFill>
            </a:endParaRPr>
          </a:p>
        </p:txBody>
      </p:sp>
      <p:sp>
        <p:nvSpPr>
          <p:cNvPr id="175" name="Google Shape;175;p29"/>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6" name="Google Shape;176;p29"/>
          <p:cNvPicPr preferRelativeResize="0"/>
          <p:nvPr/>
        </p:nvPicPr>
        <p:blipFill>
          <a:blip r:embed="rId3">
            <a:alphaModFix/>
          </a:blip>
          <a:stretch>
            <a:fillRect/>
          </a:stretch>
        </p:blipFill>
        <p:spPr>
          <a:xfrm>
            <a:off x="4802050" y="1051550"/>
            <a:ext cx="4060600" cy="3040376"/>
          </a:xfrm>
          <a:prstGeom prst="rect">
            <a:avLst/>
          </a:prstGeom>
          <a:noFill/>
          <a:ln>
            <a:noFill/>
          </a:ln>
        </p:spPr>
      </p:pic>
      <p:sp>
        <p:nvSpPr>
          <p:cNvPr id="177" name="Google Shape;177;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zh-TW"/>
              <a:t>Why Bootstrapping?</a:t>
            </a:r>
            <a:endParaRPr/>
          </a:p>
        </p:txBody>
      </p:sp>
      <p:sp>
        <p:nvSpPr>
          <p:cNvPr id="183" name="Google Shape;183;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Bootstrapping</a:t>
            </a:r>
            <a:endParaRPr/>
          </a:p>
        </p:txBody>
      </p:sp>
      <p:sp>
        <p:nvSpPr>
          <p:cNvPr id="189" name="Google Shape;189;p31"/>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190" name="Google Shape;190;p31"/>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a:p>
            <a:pPr marL="457200" lvl="0" indent="-330200" algn="l" rtl="0">
              <a:spcBef>
                <a:spcPts val="1200"/>
              </a:spcBef>
              <a:spcAft>
                <a:spcPts val="0"/>
              </a:spcAft>
              <a:buClr>
                <a:schemeClr val="dk1"/>
              </a:buClr>
              <a:buSzPts val="1600"/>
              <a:buChar char="-"/>
            </a:pPr>
            <a:r>
              <a:rPr lang="zh-TW" sz="1600">
                <a:solidFill>
                  <a:schemeClr val="dk1"/>
                </a:solidFill>
              </a:rPr>
              <a:t>After replicating this experiment on different people, we get a gaussian distribution of the mean value</a:t>
            </a:r>
            <a:endParaRPr sz="1600">
              <a:solidFill>
                <a:schemeClr val="dk1"/>
              </a:solidFill>
            </a:endParaRPr>
          </a:p>
        </p:txBody>
      </p:sp>
      <p:pic>
        <p:nvPicPr>
          <p:cNvPr id="191" name="Google Shape;191;p31"/>
          <p:cNvPicPr preferRelativeResize="0"/>
          <p:nvPr/>
        </p:nvPicPr>
        <p:blipFill>
          <a:blip r:embed="rId3">
            <a:alphaModFix/>
          </a:blip>
          <a:stretch>
            <a:fillRect/>
          </a:stretch>
        </p:blipFill>
        <p:spPr>
          <a:xfrm>
            <a:off x="311700" y="1152463"/>
            <a:ext cx="3999900" cy="2012378"/>
          </a:xfrm>
          <a:prstGeom prst="rect">
            <a:avLst/>
          </a:prstGeom>
          <a:noFill/>
          <a:ln>
            <a:noFill/>
          </a:ln>
        </p:spPr>
      </p:pic>
      <p:pic>
        <p:nvPicPr>
          <p:cNvPr id="192" name="Google Shape;192;p31"/>
          <p:cNvPicPr preferRelativeResize="0"/>
          <p:nvPr/>
        </p:nvPicPr>
        <p:blipFill>
          <a:blip r:embed="rId4">
            <a:alphaModFix/>
          </a:blip>
          <a:stretch>
            <a:fillRect/>
          </a:stretch>
        </p:blipFill>
        <p:spPr>
          <a:xfrm>
            <a:off x="493725" y="3299600"/>
            <a:ext cx="3635851" cy="1720325"/>
          </a:xfrm>
          <a:prstGeom prst="rect">
            <a:avLst/>
          </a:prstGeom>
          <a:noFill/>
          <a:ln>
            <a:noFill/>
          </a:ln>
        </p:spPr>
      </p:pic>
      <p:pic>
        <p:nvPicPr>
          <p:cNvPr id="193" name="Google Shape;193;p31"/>
          <p:cNvPicPr preferRelativeResize="0"/>
          <p:nvPr/>
        </p:nvPicPr>
        <p:blipFill>
          <a:blip r:embed="rId5">
            <a:alphaModFix/>
          </a:blip>
          <a:stretch>
            <a:fillRect/>
          </a:stretch>
        </p:blipFill>
        <p:spPr>
          <a:xfrm>
            <a:off x="4832400" y="1159925"/>
            <a:ext cx="3999898" cy="1997475"/>
          </a:xfrm>
          <a:prstGeom prst="rect">
            <a:avLst/>
          </a:prstGeom>
          <a:noFill/>
          <a:ln>
            <a:noFill/>
          </a:ln>
        </p:spPr>
      </p:pic>
      <p:sp>
        <p:nvSpPr>
          <p:cNvPr id="194" name="Google Shape;194;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Bootstrapping</a:t>
            </a:r>
            <a:endParaRPr/>
          </a:p>
        </p:txBody>
      </p:sp>
      <p:sp>
        <p:nvSpPr>
          <p:cNvPr id="200" name="Google Shape;200;p3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457200" lvl="0" indent="0" algn="l" rtl="0">
              <a:spcBef>
                <a:spcPts val="1200"/>
              </a:spcBef>
              <a:spcAft>
                <a:spcPts val="1200"/>
              </a:spcAft>
              <a:buNone/>
            </a:pPr>
            <a:endParaRPr/>
          </a:p>
        </p:txBody>
      </p:sp>
      <p:sp>
        <p:nvSpPr>
          <p:cNvPr id="201" name="Google Shape;201;p3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Char char="-"/>
            </a:pPr>
            <a:r>
              <a:rPr lang="zh-TW" sz="1600">
                <a:solidFill>
                  <a:schemeClr val="dk1"/>
                </a:solidFill>
              </a:rPr>
              <a:t>However, replicating the same experiment is possible but too resource consuming</a:t>
            </a:r>
            <a:endParaRPr sz="1600">
              <a:solidFill>
                <a:schemeClr val="dk1"/>
              </a:solidFill>
            </a:endParaRPr>
          </a:p>
          <a:p>
            <a:pPr marL="457200" lvl="0" indent="0" algn="l" rtl="0">
              <a:spcBef>
                <a:spcPts val="1200"/>
              </a:spcBef>
              <a:spcAft>
                <a:spcPts val="0"/>
              </a:spcAft>
              <a:buNone/>
            </a:pPr>
            <a:endParaRPr sz="1600">
              <a:solidFill>
                <a:schemeClr val="dk1"/>
              </a:solidFill>
            </a:endParaRPr>
          </a:p>
          <a:p>
            <a:pPr marL="457200" lvl="0" indent="-330200" algn="l" rtl="0">
              <a:spcBef>
                <a:spcPts val="1200"/>
              </a:spcBef>
              <a:spcAft>
                <a:spcPts val="0"/>
              </a:spcAft>
              <a:buClr>
                <a:schemeClr val="dk1"/>
              </a:buClr>
              <a:buSzPts val="1600"/>
              <a:buChar char="-"/>
            </a:pPr>
            <a:r>
              <a:rPr lang="zh-TW" sz="1600">
                <a:solidFill>
                  <a:schemeClr val="dk1"/>
                </a:solidFill>
              </a:rPr>
              <a:t>This is where Bootstrapping comes into play</a:t>
            </a:r>
            <a:endParaRPr sz="1600">
              <a:solidFill>
                <a:schemeClr val="dk1"/>
              </a:solidFill>
            </a:endParaRPr>
          </a:p>
        </p:txBody>
      </p:sp>
      <p:pic>
        <p:nvPicPr>
          <p:cNvPr id="202" name="Google Shape;202;p32"/>
          <p:cNvPicPr preferRelativeResize="0"/>
          <p:nvPr/>
        </p:nvPicPr>
        <p:blipFill>
          <a:blip r:embed="rId3">
            <a:alphaModFix/>
          </a:blip>
          <a:stretch>
            <a:fillRect/>
          </a:stretch>
        </p:blipFill>
        <p:spPr>
          <a:xfrm>
            <a:off x="311700" y="1826863"/>
            <a:ext cx="4466050" cy="2067619"/>
          </a:xfrm>
          <a:prstGeom prst="rect">
            <a:avLst/>
          </a:prstGeom>
          <a:noFill/>
          <a:ln>
            <a:noFill/>
          </a:ln>
        </p:spPr>
      </p:pic>
      <p:sp>
        <p:nvSpPr>
          <p:cNvPr id="203" name="Google Shape;203;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Bootstrapping</a:t>
            </a:r>
            <a:endParaRPr/>
          </a:p>
        </p:txBody>
      </p:sp>
      <p:sp>
        <p:nvSpPr>
          <p:cNvPr id="209" name="Google Shape;209;p33"/>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AutoNum type="arabicParenR"/>
            </a:pPr>
            <a:r>
              <a:rPr lang="zh-TW" sz="1600">
                <a:solidFill>
                  <a:schemeClr val="dk1"/>
                </a:solidFill>
              </a:rPr>
              <a:t>Make a Bootstrapped dataset</a:t>
            </a:r>
            <a:endParaRPr sz="1600">
              <a:solidFill>
                <a:schemeClr val="dk1"/>
              </a:solidFill>
            </a:endParaRPr>
          </a:p>
          <a:p>
            <a:pPr marL="457200" lvl="0" indent="-330200" algn="l" rtl="0">
              <a:spcBef>
                <a:spcPts val="0"/>
              </a:spcBef>
              <a:spcAft>
                <a:spcPts val="0"/>
              </a:spcAft>
              <a:buClr>
                <a:schemeClr val="dk1"/>
              </a:buClr>
              <a:buSzPts val="1600"/>
              <a:buAutoNum type="arabicParenR"/>
            </a:pPr>
            <a:r>
              <a:rPr lang="zh-TW" sz="1600">
                <a:solidFill>
                  <a:schemeClr val="dk1"/>
                </a:solidFill>
              </a:rPr>
              <a:t>Calculate something</a:t>
            </a:r>
            <a:endParaRPr sz="1600">
              <a:solidFill>
                <a:schemeClr val="dk1"/>
              </a:solidFill>
            </a:endParaRPr>
          </a:p>
          <a:p>
            <a:pPr marL="457200" lvl="0" indent="-330200" algn="l" rtl="0">
              <a:spcBef>
                <a:spcPts val="0"/>
              </a:spcBef>
              <a:spcAft>
                <a:spcPts val="0"/>
              </a:spcAft>
              <a:buClr>
                <a:schemeClr val="dk1"/>
              </a:buClr>
              <a:buSzPts val="1600"/>
              <a:buAutoNum type="arabicParenR"/>
            </a:pPr>
            <a:r>
              <a:rPr lang="zh-TW" sz="1600">
                <a:solidFill>
                  <a:schemeClr val="dk1"/>
                </a:solidFill>
              </a:rPr>
              <a:t>Keep in track with the calculation</a:t>
            </a:r>
            <a:endParaRPr sz="1600">
              <a:solidFill>
                <a:schemeClr val="dk1"/>
              </a:solidFill>
            </a:endParaRPr>
          </a:p>
          <a:p>
            <a:pPr marL="457200" lvl="0" indent="-330200" algn="l" rtl="0">
              <a:spcBef>
                <a:spcPts val="0"/>
              </a:spcBef>
              <a:spcAft>
                <a:spcPts val="0"/>
              </a:spcAft>
              <a:buClr>
                <a:schemeClr val="dk1"/>
              </a:buClr>
              <a:buSzPts val="1600"/>
              <a:buAutoNum type="arabicParenR"/>
            </a:pPr>
            <a:r>
              <a:rPr lang="zh-TW" sz="1600">
                <a:solidFill>
                  <a:schemeClr val="dk1"/>
                </a:solidFill>
              </a:rPr>
              <a:t>Eat, Sleep, Repeat!</a:t>
            </a:r>
            <a:endParaRPr sz="1600">
              <a:solidFill>
                <a:schemeClr val="dk1"/>
              </a:solidFill>
            </a:endParaRPr>
          </a:p>
        </p:txBody>
      </p:sp>
      <p:sp>
        <p:nvSpPr>
          <p:cNvPr id="210" name="Google Shape;210;p33"/>
          <p:cNvSpPr txBox="1">
            <a:spLocks noGrp="1"/>
          </p:cNvSpPr>
          <p:nvPr>
            <p:ph type="body" idx="2"/>
          </p:nvPr>
        </p:nvSpPr>
        <p:spPr>
          <a:xfrm>
            <a:off x="4572000" y="1152475"/>
            <a:ext cx="42603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Char char="-"/>
            </a:pPr>
            <a:r>
              <a:rPr lang="zh-TW" sz="1600">
                <a:solidFill>
                  <a:schemeClr val="dk1"/>
                </a:solidFill>
              </a:rPr>
              <a:t>Selection is random</a:t>
            </a:r>
            <a:endParaRPr sz="1600">
              <a:solidFill>
                <a:schemeClr val="dk1"/>
              </a:solidFill>
            </a:endParaRPr>
          </a:p>
          <a:p>
            <a:pPr marL="457200" lvl="0" indent="-330200" algn="l" rtl="0">
              <a:spcBef>
                <a:spcPts val="0"/>
              </a:spcBef>
              <a:spcAft>
                <a:spcPts val="0"/>
              </a:spcAft>
              <a:buClr>
                <a:schemeClr val="dk1"/>
              </a:buClr>
              <a:buSzPts val="1600"/>
              <a:buChar char="-"/>
            </a:pPr>
            <a:r>
              <a:rPr lang="zh-TW" sz="1600">
                <a:solidFill>
                  <a:schemeClr val="dk1"/>
                </a:solidFill>
              </a:rPr>
              <a:t>Duplicates are allowed</a:t>
            </a:r>
            <a:endParaRPr sz="1600">
              <a:solidFill>
                <a:schemeClr val="dk1"/>
              </a:solidFill>
            </a:endParaRPr>
          </a:p>
          <a:p>
            <a:pPr marL="457200" lvl="0" indent="-330200" algn="l" rtl="0">
              <a:spcBef>
                <a:spcPts val="0"/>
              </a:spcBef>
              <a:spcAft>
                <a:spcPts val="0"/>
              </a:spcAft>
              <a:buClr>
                <a:schemeClr val="dk1"/>
              </a:buClr>
              <a:buSzPts val="1600"/>
              <a:buChar char="-"/>
            </a:pPr>
            <a:r>
              <a:rPr lang="zh-TW" sz="1600">
                <a:solidFill>
                  <a:schemeClr val="dk1"/>
                </a:solidFill>
              </a:rPr>
              <a:t>So-called Sampling with Replacement</a:t>
            </a:r>
            <a:endParaRPr sz="1600">
              <a:solidFill>
                <a:schemeClr val="dk1"/>
              </a:solidFill>
            </a:endParaRPr>
          </a:p>
        </p:txBody>
      </p:sp>
      <p:pic>
        <p:nvPicPr>
          <p:cNvPr id="211" name="Google Shape;211;p33"/>
          <p:cNvPicPr preferRelativeResize="0"/>
          <p:nvPr/>
        </p:nvPicPr>
        <p:blipFill>
          <a:blip r:embed="rId3">
            <a:alphaModFix/>
          </a:blip>
          <a:stretch>
            <a:fillRect/>
          </a:stretch>
        </p:blipFill>
        <p:spPr>
          <a:xfrm>
            <a:off x="1515325" y="2356450"/>
            <a:ext cx="6766550" cy="2212425"/>
          </a:xfrm>
          <a:prstGeom prst="rect">
            <a:avLst/>
          </a:prstGeom>
          <a:noFill/>
          <a:ln>
            <a:noFill/>
          </a:ln>
        </p:spPr>
      </p:pic>
      <p:sp>
        <p:nvSpPr>
          <p:cNvPr id="212" name="Google Shape;212;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Bootstrapping</a:t>
            </a:r>
            <a:endParaRPr/>
          </a:p>
        </p:txBody>
      </p:sp>
      <p:sp>
        <p:nvSpPr>
          <p:cNvPr id="218" name="Google Shape;218;p34"/>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219" name="Google Shape;219;p3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Char char="-"/>
            </a:pPr>
            <a:r>
              <a:rPr lang="zh-TW" sz="1600">
                <a:solidFill>
                  <a:schemeClr val="dk1"/>
                </a:solidFill>
              </a:rPr>
              <a:t>Bootstrapping “enlarges” the dataset</a:t>
            </a:r>
            <a:endParaRPr sz="1600">
              <a:solidFill>
                <a:schemeClr val="dk1"/>
              </a:solidFill>
            </a:endParaRPr>
          </a:p>
          <a:p>
            <a:pPr marL="0" lvl="0" indent="0" algn="l" rtl="0">
              <a:spcBef>
                <a:spcPts val="1200"/>
              </a:spcBef>
              <a:spcAft>
                <a:spcPts val="0"/>
              </a:spcAft>
              <a:buNone/>
            </a:pPr>
            <a:endParaRPr sz="1600">
              <a:solidFill>
                <a:schemeClr val="dk1"/>
              </a:solidFill>
            </a:endParaRPr>
          </a:p>
          <a:p>
            <a:pPr marL="457200" lvl="0" indent="-330200" algn="l" rtl="0">
              <a:spcBef>
                <a:spcPts val="1200"/>
              </a:spcBef>
              <a:spcAft>
                <a:spcPts val="0"/>
              </a:spcAft>
              <a:buClr>
                <a:schemeClr val="dk1"/>
              </a:buClr>
              <a:buSzPts val="1600"/>
              <a:buChar char="-"/>
            </a:pPr>
            <a:r>
              <a:rPr lang="zh-TW" sz="1600">
                <a:solidFill>
                  <a:schemeClr val="dk1"/>
                </a:solidFill>
              </a:rPr>
              <a:t>Reduction on time and resources</a:t>
            </a:r>
            <a:endParaRPr sz="1600">
              <a:solidFill>
                <a:schemeClr val="dk1"/>
              </a:solidFill>
            </a:endParaRPr>
          </a:p>
        </p:txBody>
      </p:sp>
      <p:pic>
        <p:nvPicPr>
          <p:cNvPr id="220" name="Google Shape;220;p34"/>
          <p:cNvPicPr preferRelativeResize="0"/>
          <p:nvPr/>
        </p:nvPicPr>
        <p:blipFill>
          <a:blip r:embed="rId3">
            <a:alphaModFix/>
          </a:blip>
          <a:stretch>
            <a:fillRect/>
          </a:stretch>
        </p:blipFill>
        <p:spPr>
          <a:xfrm>
            <a:off x="121474" y="1802925"/>
            <a:ext cx="4569501" cy="2115500"/>
          </a:xfrm>
          <a:prstGeom prst="rect">
            <a:avLst/>
          </a:prstGeom>
          <a:noFill/>
          <a:ln>
            <a:noFill/>
          </a:ln>
        </p:spPr>
      </p:pic>
      <p:sp>
        <p:nvSpPr>
          <p:cNvPr id="221" name="Google Shape;22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zh-TW"/>
              <a:t>What is a Triplet Loss? </a:t>
            </a:r>
            <a:endParaRPr/>
          </a:p>
        </p:txBody>
      </p:sp>
      <p:sp>
        <p:nvSpPr>
          <p:cNvPr id="227" name="Google Shape;227;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6"/>
          <p:cNvSpPr txBox="1">
            <a:spLocks noGrp="1"/>
          </p:cNvSpPr>
          <p:nvPr>
            <p:ph type="title"/>
          </p:nvPr>
        </p:nvSpPr>
        <p:spPr>
          <a:xfrm>
            <a:off x="311700" y="1106125"/>
            <a:ext cx="8520600" cy="19635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endParaRPr/>
          </a:p>
        </p:txBody>
      </p:sp>
      <p:sp>
        <p:nvSpPr>
          <p:cNvPr id="233" name="Google Shape;233;p3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endParaRPr/>
          </a:p>
        </p:txBody>
      </p:sp>
      <p:pic>
        <p:nvPicPr>
          <p:cNvPr id="234" name="Google Shape;234;p36"/>
          <p:cNvPicPr preferRelativeResize="0"/>
          <p:nvPr/>
        </p:nvPicPr>
        <p:blipFill>
          <a:blip r:embed="rId3">
            <a:alphaModFix/>
          </a:blip>
          <a:stretch>
            <a:fillRect/>
          </a:stretch>
        </p:blipFill>
        <p:spPr>
          <a:xfrm>
            <a:off x="58788" y="1648563"/>
            <a:ext cx="9026427" cy="878625"/>
          </a:xfrm>
          <a:prstGeom prst="rect">
            <a:avLst/>
          </a:prstGeom>
          <a:noFill/>
          <a:ln>
            <a:noFill/>
          </a:ln>
        </p:spPr>
      </p:pic>
      <p:sp>
        <p:nvSpPr>
          <p:cNvPr id="235" name="Google Shape;235;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7"/>
          <p:cNvSpPr txBox="1">
            <a:spLocks noGrp="1"/>
          </p:cNvSpPr>
          <p:nvPr>
            <p:ph type="title"/>
          </p:nvPr>
        </p:nvSpPr>
        <p:spPr>
          <a:xfrm>
            <a:off x="311700" y="1106125"/>
            <a:ext cx="8520600" cy="19635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endParaRPr/>
          </a:p>
        </p:txBody>
      </p:sp>
      <p:sp>
        <p:nvSpPr>
          <p:cNvPr id="241" name="Google Shape;241;p37"/>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zh-TW">
                <a:solidFill>
                  <a:schemeClr val="dk1"/>
                </a:solidFill>
              </a:rPr>
              <a:t>Don’t have a clue what it means?</a:t>
            </a:r>
            <a:endParaRPr>
              <a:solidFill>
                <a:schemeClr val="dk1"/>
              </a:solidFill>
            </a:endParaRPr>
          </a:p>
          <a:p>
            <a:pPr marL="0" lvl="0" indent="0" algn="ctr" rtl="0">
              <a:spcBef>
                <a:spcPts val="1200"/>
              </a:spcBef>
              <a:spcAft>
                <a:spcPts val="1200"/>
              </a:spcAft>
              <a:buNone/>
            </a:pPr>
            <a:r>
              <a:rPr lang="zh-TW">
                <a:solidFill>
                  <a:schemeClr val="dk1"/>
                </a:solidFill>
              </a:rPr>
              <a:t>Don’t worry, me neither.</a:t>
            </a:r>
            <a:endParaRPr>
              <a:solidFill>
                <a:schemeClr val="dk1"/>
              </a:solidFill>
            </a:endParaRPr>
          </a:p>
        </p:txBody>
      </p:sp>
      <p:pic>
        <p:nvPicPr>
          <p:cNvPr id="242" name="Google Shape;242;p37"/>
          <p:cNvPicPr preferRelativeResize="0"/>
          <p:nvPr/>
        </p:nvPicPr>
        <p:blipFill>
          <a:blip r:embed="rId3">
            <a:alphaModFix/>
          </a:blip>
          <a:stretch>
            <a:fillRect/>
          </a:stretch>
        </p:blipFill>
        <p:spPr>
          <a:xfrm>
            <a:off x="58788" y="1648563"/>
            <a:ext cx="9026427" cy="878625"/>
          </a:xfrm>
          <a:prstGeom prst="rect">
            <a:avLst/>
          </a:prstGeom>
          <a:noFill/>
          <a:ln>
            <a:noFill/>
          </a:ln>
        </p:spPr>
      </p:pic>
      <p:sp>
        <p:nvSpPr>
          <p:cNvPr id="243" name="Google Shape;243;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Triplet Loss</a:t>
            </a:r>
            <a:endParaRPr/>
          </a:p>
        </p:txBody>
      </p:sp>
      <p:sp>
        <p:nvSpPr>
          <p:cNvPr id="249" name="Google Shape;249;p3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Char char="-"/>
            </a:pPr>
            <a:r>
              <a:rPr lang="zh-TW" sz="1600">
                <a:solidFill>
                  <a:schemeClr val="dk1"/>
                </a:solidFill>
              </a:rPr>
              <a:t>A type of loss funtinction for machine learning algorithm</a:t>
            </a:r>
            <a:endParaRPr sz="1600">
              <a:solidFill>
                <a:schemeClr val="dk1"/>
              </a:solidFill>
            </a:endParaRPr>
          </a:p>
          <a:p>
            <a:pPr marL="457200" lvl="0" indent="0" algn="l" rtl="0">
              <a:spcBef>
                <a:spcPts val="1200"/>
              </a:spcBef>
              <a:spcAft>
                <a:spcPts val="0"/>
              </a:spcAft>
              <a:buNone/>
            </a:pPr>
            <a:r>
              <a:rPr lang="zh-TW" sz="1600">
                <a:solidFill>
                  <a:schemeClr val="dk1"/>
                </a:solidFill>
              </a:rPr>
              <a:t>Core idea: Compare</a:t>
            </a:r>
            <a:endParaRPr sz="1600">
              <a:solidFill>
                <a:schemeClr val="dk1"/>
              </a:solidFill>
            </a:endParaRPr>
          </a:p>
          <a:p>
            <a:pPr marL="457200" lvl="0" indent="-330200" algn="l" rtl="0">
              <a:spcBef>
                <a:spcPts val="1200"/>
              </a:spcBef>
              <a:spcAft>
                <a:spcPts val="0"/>
              </a:spcAft>
              <a:buClr>
                <a:schemeClr val="dk1"/>
              </a:buClr>
              <a:buSzPts val="1600"/>
              <a:buChar char="-"/>
            </a:pPr>
            <a:r>
              <a:rPr lang="zh-TW" sz="1600">
                <a:solidFill>
                  <a:schemeClr val="dk1"/>
                </a:solidFill>
              </a:rPr>
              <a:t>Reference Input (Anchor)</a:t>
            </a:r>
            <a:endParaRPr sz="1600">
              <a:solidFill>
                <a:schemeClr val="dk1"/>
              </a:solidFill>
            </a:endParaRPr>
          </a:p>
          <a:p>
            <a:pPr marL="457200" lvl="0" indent="-330200" algn="l" rtl="0">
              <a:spcBef>
                <a:spcPts val="0"/>
              </a:spcBef>
              <a:spcAft>
                <a:spcPts val="0"/>
              </a:spcAft>
              <a:buClr>
                <a:schemeClr val="dk1"/>
              </a:buClr>
              <a:buSzPts val="1600"/>
              <a:buChar char="-"/>
            </a:pPr>
            <a:r>
              <a:rPr lang="zh-TW" sz="1600">
                <a:solidFill>
                  <a:schemeClr val="dk1"/>
                </a:solidFill>
              </a:rPr>
              <a:t>Matching Input (Positive)</a:t>
            </a:r>
            <a:endParaRPr sz="1600">
              <a:solidFill>
                <a:schemeClr val="dk1"/>
              </a:solidFill>
            </a:endParaRPr>
          </a:p>
          <a:p>
            <a:pPr marL="457200" lvl="0" indent="-330200" algn="l" rtl="0">
              <a:spcBef>
                <a:spcPts val="0"/>
              </a:spcBef>
              <a:spcAft>
                <a:spcPts val="0"/>
              </a:spcAft>
              <a:buClr>
                <a:schemeClr val="dk1"/>
              </a:buClr>
              <a:buSzPts val="1600"/>
              <a:buChar char="-"/>
            </a:pPr>
            <a:r>
              <a:rPr lang="zh-TW" sz="1600">
                <a:solidFill>
                  <a:schemeClr val="dk1"/>
                </a:solidFill>
              </a:rPr>
              <a:t>Non-Matching Input (Negative)</a:t>
            </a:r>
            <a:endParaRPr sz="1600">
              <a:solidFill>
                <a:schemeClr val="dk1"/>
              </a:solidFill>
            </a:endParaRPr>
          </a:p>
          <a:p>
            <a:pPr marL="0" lvl="0" indent="0" algn="l" rtl="0">
              <a:spcBef>
                <a:spcPts val="1200"/>
              </a:spcBef>
              <a:spcAft>
                <a:spcPts val="1200"/>
              </a:spcAft>
              <a:buNone/>
            </a:pPr>
            <a:endParaRPr>
              <a:solidFill>
                <a:schemeClr val="dk1"/>
              </a:solidFill>
            </a:endParaRPr>
          </a:p>
        </p:txBody>
      </p:sp>
      <p:sp>
        <p:nvSpPr>
          <p:cNvPr id="250" name="Google Shape;250;p3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51" name="Google Shape;251;p38"/>
          <p:cNvPicPr preferRelativeResize="0"/>
          <p:nvPr/>
        </p:nvPicPr>
        <p:blipFill>
          <a:blip r:embed="rId3">
            <a:alphaModFix/>
          </a:blip>
          <a:stretch>
            <a:fillRect/>
          </a:stretch>
        </p:blipFill>
        <p:spPr>
          <a:xfrm>
            <a:off x="4058925" y="1541425"/>
            <a:ext cx="4917076" cy="2209800"/>
          </a:xfrm>
          <a:prstGeom prst="rect">
            <a:avLst/>
          </a:prstGeom>
          <a:noFill/>
          <a:ln>
            <a:noFill/>
          </a:ln>
        </p:spPr>
      </p:pic>
      <p:sp>
        <p:nvSpPr>
          <p:cNvPr id="252" name="Google Shape;25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Triplet Loss</a:t>
            </a:r>
            <a:endParaRPr/>
          </a:p>
        </p:txBody>
      </p:sp>
      <p:sp>
        <p:nvSpPr>
          <p:cNvPr id="258" name="Google Shape;258;p3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Char char="-"/>
            </a:pPr>
            <a:r>
              <a:rPr lang="zh-TW" sz="1600">
                <a:solidFill>
                  <a:schemeClr val="dk1"/>
                </a:solidFill>
              </a:rPr>
              <a:t>Look at 3 images at once</a:t>
            </a:r>
            <a:endParaRPr sz="1600">
              <a:solidFill>
                <a:schemeClr val="dk1"/>
              </a:solidFill>
            </a:endParaRPr>
          </a:p>
          <a:p>
            <a:pPr marL="457200" lvl="0" indent="-330200" algn="l" rtl="0">
              <a:spcBef>
                <a:spcPts val="0"/>
              </a:spcBef>
              <a:spcAft>
                <a:spcPts val="0"/>
              </a:spcAft>
              <a:buClr>
                <a:schemeClr val="dk1"/>
              </a:buClr>
              <a:buSzPts val="1600"/>
              <a:buChar char="-"/>
            </a:pPr>
            <a:r>
              <a:rPr lang="zh-TW" sz="1600">
                <a:solidFill>
                  <a:schemeClr val="dk1"/>
                </a:solidFill>
              </a:rPr>
              <a:t>Anchor and positive same person</a:t>
            </a:r>
            <a:endParaRPr sz="1600">
              <a:solidFill>
                <a:schemeClr val="dk1"/>
              </a:solidFill>
            </a:endParaRPr>
          </a:p>
          <a:p>
            <a:pPr marL="457200" lvl="0" indent="-330200" algn="l" rtl="0">
              <a:spcBef>
                <a:spcPts val="0"/>
              </a:spcBef>
              <a:spcAft>
                <a:spcPts val="0"/>
              </a:spcAft>
              <a:buClr>
                <a:schemeClr val="dk1"/>
              </a:buClr>
              <a:buSzPts val="1600"/>
              <a:buChar char="-"/>
            </a:pPr>
            <a:r>
              <a:rPr lang="zh-TW" sz="1600">
                <a:solidFill>
                  <a:schemeClr val="dk1"/>
                </a:solidFill>
              </a:rPr>
              <a:t>Anchor and negative different person</a:t>
            </a:r>
            <a:endParaRPr sz="1600">
              <a:solidFill>
                <a:schemeClr val="dk1"/>
              </a:solidFill>
            </a:endParaRPr>
          </a:p>
          <a:p>
            <a:pPr marL="457200" lvl="0" indent="-330200" algn="l" rtl="0">
              <a:spcBef>
                <a:spcPts val="0"/>
              </a:spcBef>
              <a:spcAft>
                <a:spcPts val="0"/>
              </a:spcAft>
              <a:buClr>
                <a:schemeClr val="dk1"/>
              </a:buClr>
              <a:buSzPts val="1600"/>
              <a:buChar char="-"/>
            </a:pPr>
            <a:r>
              <a:rPr lang="zh-TW" sz="1600">
                <a:solidFill>
                  <a:schemeClr val="dk1"/>
                </a:solidFill>
              </a:rPr>
              <a:t>Compare the distances</a:t>
            </a:r>
            <a:endParaRPr sz="1600">
              <a:solidFill>
                <a:schemeClr val="dk1"/>
              </a:solidFill>
            </a:endParaRPr>
          </a:p>
          <a:p>
            <a:pPr marL="457200" lvl="0" indent="-330200" algn="l" rtl="0">
              <a:spcBef>
                <a:spcPts val="0"/>
              </a:spcBef>
              <a:spcAft>
                <a:spcPts val="0"/>
              </a:spcAft>
              <a:buClr>
                <a:schemeClr val="dk1"/>
              </a:buClr>
              <a:buSzPts val="1600"/>
              <a:buChar char="-"/>
            </a:pPr>
            <a:r>
              <a:rPr lang="zh-TW" sz="1600">
                <a:solidFill>
                  <a:schemeClr val="dk1"/>
                </a:solidFill>
              </a:rPr>
              <a:t>Use gradient descent to have a backpropogating effect on the neural network</a:t>
            </a:r>
            <a:endParaRPr sz="1600">
              <a:solidFill>
                <a:schemeClr val="dk1"/>
              </a:solidFill>
            </a:endParaRPr>
          </a:p>
        </p:txBody>
      </p:sp>
      <p:sp>
        <p:nvSpPr>
          <p:cNvPr id="259" name="Google Shape;259;p39"/>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60" name="Google Shape;260;p39"/>
          <p:cNvPicPr preferRelativeResize="0"/>
          <p:nvPr/>
        </p:nvPicPr>
        <p:blipFill>
          <a:blip r:embed="rId3">
            <a:alphaModFix/>
          </a:blip>
          <a:stretch>
            <a:fillRect/>
          </a:stretch>
        </p:blipFill>
        <p:spPr>
          <a:xfrm>
            <a:off x="4311600" y="1538223"/>
            <a:ext cx="4571998" cy="2209078"/>
          </a:xfrm>
          <a:prstGeom prst="rect">
            <a:avLst/>
          </a:prstGeom>
          <a:noFill/>
          <a:ln>
            <a:noFill/>
          </a:ln>
        </p:spPr>
      </p:pic>
      <p:sp>
        <p:nvSpPr>
          <p:cNvPr id="261" name="Google Shape;261;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Conclusion - Chapter: Methodology</a:t>
            </a:r>
            <a:endParaRPr/>
          </a:p>
        </p:txBody>
      </p:sp>
      <p:sp>
        <p:nvSpPr>
          <p:cNvPr id="267" name="Google Shape;267;p40"/>
          <p:cNvSpPr txBox="1">
            <a:spLocks noGrp="1"/>
          </p:cNvSpPr>
          <p:nvPr>
            <p:ph type="body" idx="1"/>
          </p:nvPr>
        </p:nvSpPr>
        <p:spPr>
          <a:xfrm>
            <a:off x="311700" y="1152475"/>
            <a:ext cx="6480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sz="1800">
                <a:solidFill>
                  <a:schemeClr val="dk1"/>
                </a:solidFill>
              </a:rPr>
              <a:t>CNN is popularly used for pattern recognition</a:t>
            </a:r>
            <a:endParaRPr sz="1800">
              <a:solidFill>
                <a:schemeClr val="dk1"/>
              </a:solidFill>
            </a:endParaRPr>
          </a:p>
          <a:p>
            <a:pPr marL="0" lvl="0" indent="0" algn="l" rtl="0">
              <a:spcBef>
                <a:spcPts val="1200"/>
              </a:spcBef>
              <a:spcAft>
                <a:spcPts val="0"/>
              </a:spcAft>
              <a:buNone/>
            </a:pPr>
            <a:endParaRPr sz="1800">
              <a:solidFill>
                <a:schemeClr val="dk1"/>
              </a:solidFill>
            </a:endParaRPr>
          </a:p>
          <a:p>
            <a:pPr marL="457200" lvl="0" indent="-342900" algn="l" rtl="0">
              <a:spcBef>
                <a:spcPts val="1200"/>
              </a:spcBef>
              <a:spcAft>
                <a:spcPts val="0"/>
              </a:spcAft>
              <a:buClr>
                <a:schemeClr val="dk1"/>
              </a:buClr>
              <a:buSzPts val="1800"/>
              <a:buChar char="-"/>
            </a:pPr>
            <a:r>
              <a:rPr lang="zh-TW" sz="1800">
                <a:solidFill>
                  <a:schemeClr val="dk1"/>
                </a:solidFill>
              </a:rPr>
              <a:t>Bootstrapping is used for the dataset issues</a:t>
            </a:r>
            <a:endParaRPr sz="1800">
              <a:solidFill>
                <a:schemeClr val="dk1"/>
              </a:solidFill>
            </a:endParaRPr>
          </a:p>
          <a:p>
            <a:pPr marL="0" lvl="0" indent="0" algn="l" rtl="0">
              <a:spcBef>
                <a:spcPts val="1200"/>
              </a:spcBef>
              <a:spcAft>
                <a:spcPts val="0"/>
              </a:spcAft>
              <a:buNone/>
            </a:pPr>
            <a:endParaRPr sz="1800">
              <a:solidFill>
                <a:schemeClr val="dk1"/>
              </a:solidFill>
            </a:endParaRPr>
          </a:p>
          <a:p>
            <a:pPr marL="457200" lvl="0" indent="-342900" algn="l" rtl="0">
              <a:spcBef>
                <a:spcPts val="1200"/>
              </a:spcBef>
              <a:spcAft>
                <a:spcPts val="0"/>
              </a:spcAft>
              <a:buClr>
                <a:schemeClr val="dk1"/>
              </a:buClr>
              <a:buSzPts val="1800"/>
              <a:buChar char="-"/>
            </a:pPr>
            <a:r>
              <a:rPr lang="zh-TW" sz="1800">
                <a:solidFill>
                  <a:schemeClr val="dk1"/>
                </a:solidFill>
              </a:rPr>
              <a:t>Triplet Loss is used for optimizing the results</a:t>
            </a:r>
            <a:endParaRPr sz="1800">
              <a:solidFill>
                <a:schemeClr val="dk1"/>
              </a:solidFill>
            </a:endParaRPr>
          </a:p>
        </p:txBody>
      </p:sp>
      <p:sp>
        <p:nvSpPr>
          <p:cNvPr id="268" name="Google Shape;268;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t>Datasets and evaluation protocols </a:t>
            </a:r>
            <a:endParaRPr sz="2500"/>
          </a:p>
        </p:txBody>
      </p:sp>
      <p:sp>
        <p:nvSpPr>
          <p:cNvPr id="274" name="Google Shape;274;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lnSpc>
                <a:spcPct val="90000"/>
              </a:lnSpc>
              <a:spcBef>
                <a:spcPts val="1000"/>
              </a:spcBef>
              <a:spcAft>
                <a:spcPts val="0"/>
              </a:spcAft>
              <a:buClr>
                <a:schemeClr val="dk1"/>
              </a:buClr>
              <a:buSzPts val="1600"/>
              <a:buChar char="-"/>
            </a:pPr>
            <a:r>
              <a:rPr lang="zh-TW" sz="1600">
                <a:solidFill>
                  <a:schemeClr val="dk1"/>
                </a:solidFill>
              </a:rPr>
              <a:t>Evaluation is performed on existing benchmark datasets</a:t>
            </a:r>
            <a:endParaRPr sz="1600">
              <a:solidFill>
                <a:schemeClr val="dk1"/>
              </a:solidFill>
            </a:endParaRPr>
          </a:p>
          <a:p>
            <a:pPr marL="457200" lvl="0" indent="0" algn="l" rtl="0">
              <a:lnSpc>
                <a:spcPct val="90000"/>
              </a:lnSpc>
              <a:spcBef>
                <a:spcPts val="1000"/>
              </a:spcBef>
              <a:spcAft>
                <a:spcPts val="0"/>
              </a:spcAft>
              <a:buNone/>
            </a:pPr>
            <a:endParaRPr sz="1600">
              <a:solidFill>
                <a:schemeClr val="dk1"/>
              </a:solidFill>
            </a:endParaRPr>
          </a:p>
          <a:p>
            <a:pPr marL="457200" lvl="0" indent="-330200" algn="l" rtl="0">
              <a:lnSpc>
                <a:spcPct val="90000"/>
              </a:lnSpc>
              <a:spcBef>
                <a:spcPts val="1000"/>
              </a:spcBef>
              <a:spcAft>
                <a:spcPts val="0"/>
              </a:spcAft>
              <a:buClr>
                <a:schemeClr val="dk1"/>
              </a:buClr>
              <a:buSzPts val="1600"/>
              <a:buChar char="-"/>
            </a:pPr>
            <a:r>
              <a:rPr lang="zh-TW" sz="1600">
                <a:solidFill>
                  <a:schemeClr val="dk1"/>
                </a:solidFill>
              </a:rPr>
              <a:t>The first dataset is Labeled </a:t>
            </a:r>
            <a:r>
              <a:rPr lang="zh-TW" sz="1600" b="1">
                <a:solidFill>
                  <a:schemeClr val="dk1"/>
                </a:solidFill>
              </a:rPr>
              <a:t>Faces in the Wild dataset</a:t>
            </a:r>
            <a:r>
              <a:rPr lang="zh-TW" sz="1600">
                <a:solidFill>
                  <a:schemeClr val="dk1"/>
                </a:solidFill>
              </a:rPr>
              <a:t> (LFW) -  They follow the standard evaluation protocol defined for the “unrestricted setting” using data external to LFW for training.</a:t>
            </a:r>
            <a:endParaRPr sz="1600">
              <a:solidFill>
                <a:schemeClr val="dk1"/>
              </a:solidFill>
            </a:endParaRPr>
          </a:p>
          <a:p>
            <a:pPr marL="457200" lvl="0" indent="0" algn="l" rtl="0">
              <a:lnSpc>
                <a:spcPct val="90000"/>
              </a:lnSpc>
              <a:spcBef>
                <a:spcPts val="1000"/>
              </a:spcBef>
              <a:spcAft>
                <a:spcPts val="0"/>
              </a:spcAft>
              <a:buNone/>
            </a:pPr>
            <a:endParaRPr sz="1600">
              <a:solidFill>
                <a:schemeClr val="dk1"/>
              </a:solidFill>
            </a:endParaRPr>
          </a:p>
          <a:p>
            <a:pPr marL="457200" lvl="0" indent="-330200" algn="l" rtl="0">
              <a:lnSpc>
                <a:spcPct val="90000"/>
              </a:lnSpc>
              <a:spcBef>
                <a:spcPts val="1000"/>
              </a:spcBef>
              <a:spcAft>
                <a:spcPts val="0"/>
              </a:spcAft>
              <a:buClr>
                <a:schemeClr val="dk1"/>
              </a:buClr>
              <a:buSzPts val="1600"/>
              <a:buChar char="-"/>
            </a:pPr>
            <a:r>
              <a:rPr lang="zh-TW" sz="1600">
                <a:solidFill>
                  <a:schemeClr val="dk1"/>
                </a:solidFill>
              </a:rPr>
              <a:t>The second dataset is </a:t>
            </a:r>
            <a:r>
              <a:rPr lang="zh-TW" sz="1600" b="1">
                <a:solidFill>
                  <a:schemeClr val="dk1"/>
                </a:solidFill>
              </a:rPr>
              <a:t>YouTube Faces</a:t>
            </a:r>
            <a:r>
              <a:rPr lang="zh-TW" sz="1600">
                <a:solidFill>
                  <a:schemeClr val="dk1"/>
                </a:solidFill>
              </a:rPr>
              <a:t> (YTF) -  They follow the standard evaluation protocol defined for the “unrestricted setting”, and report EER.</a:t>
            </a:r>
            <a:endParaRPr sz="1600">
              <a:solidFill>
                <a:schemeClr val="dk1"/>
              </a:solidFill>
            </a:endParaRPr>
          </a:p>
          <a:p>
            <a:pPr marL="0" lvl="0" indent="0" algn="l" rtl="0">
              <a:spcBef>
                <a:spcPts val="0"/>
              </a:spcBef>
              <a:spcAft>
                <a:spcPts val="1200"/>
              </a:spcAft>
              <a:buNone/>
            </a:pPr>
            <a:endParaRPr sz="1600"/>
          </a:p>
        </p:txBody>
      </p:sp>
      <p:sp>
        <p:nvSpPr>
          <p:cNvPr id="275" name="Google Shape;275;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t>Experiments and Results</a:t>
            </a:r>
            <a:endParaRPr sz="2500"/>
          </a:p>
        </p:txBody>
      </p:sp>
      <p:sp>
        <p:nvSpPr>
          <p:cNvPr id="281" name="Google Shape;281;p42"/>
          <p:cNvSpPr txBox="1">
            <a:spLocks noGrp="1"/>
          </p:cNvSpPr>
          <p:nvPr>
            <p:ph type="body" idx="1"/>
          </p:nvPr>
        </p:nvSpPr>
        <p:spPr>
          <a:xfrm>
            <a:off x="311700" y="1152475"/>
            <a:ext cx="8520600" cy="3904500"/>
          </a:xfrm>
          <a:prstGeom prst="rect">
            <a:avLst/>
          </a:prstGeom>
        </p:spPr>
        <p:txBody>
          <a:bodyPr spcFirstLastPara="1" wrap="square" lIns="91425" tIns="91425" rIns="91425" bIns="91425" anchor="t" anchorCtr="0">
            <a:normAutofit/>
          </a:bodyPr>
          <a:lstStyle/>
          <a:p>
            <a:pPr marL="457200" lvl="0" indent="-330200" algn="l" rtl="0">
              <a:lnSpc>
                <a:spcPct val="100000"/>
              </a:lnSpc>
              <a:spcBef>
                <a:spcPts val="1000"/>
              </a:spcBef>
              <a:spcAft>
                <a:spcPts val="0"/>
              </a:spcAft>
              <a:buClr>
                <a:schemeClr val="dk1"/>
              </a:buClr>
              <a:buSzPts val="1600"/>
              <a:buChar char="-"/>
            </a:pPr>
            <a:r>
              <a:rPr lang="zh-TW" sz="1600">
                <a:solidFill>
                  <a:schemeClr val="dk1"/>
                </a:solidFill>
              </a:rPr>
              <a:t>They first test several variations of the proposed models and training data using the LFW dataset to test performance.</a:t>
            </a:r>
            <a:endParaRPr sz="1600">
              <a:solidFill>
                <a:schemeClr val="dk1"/>
              </a:solidFill>
            </a:endParaRPr>
          </a:p>
          <a:p>
            <a:pPr marL="457200" lvl="0" indent="-330200" algn="l" rtl="0">
              <a:lnSpc>
                <a:spcPct val="100000"/>
              </a:lnSpc>
              <a:spcBef>
                <a:spcPts val="1000"/>
              </a:spcBef>
              <a:spcAft>
                <a:spcPts val="0"/>
              </a:spcAft>
              <a:buClr>
                <a:schemeClr val="dk1"/>
              </a:buClr>
              <a:buSzPts val="1600"/>
              <a:buChar char="-"/>
            </a:pPr>
            <a:r>
              <a:rPr lang="zh-TW" sz="1600">
                <a:solidFill>
                  <a:schemeClr val="dk1"/>
                </a:solidFill>
              </a:rPr>
              <a:t>Implementation is based on the MATLAB toolbox MatConvNet combined with the NVIDIA CuDNN libraries to accelerate training.</a:t>
            </a:r>
            <a:endParaRPr sz="1600">
              <a:solidFill>
                <a:schemeClr val="dk1"/>
              </a:solidFill>
            </a:endParaRPr>
          </a:p>
          <a:p>
            <a:pPr marL="457200" lvl="0" indent="-330200" algn="l" rtl="0">
              <a:lnSpc>
                <a:spcPct val="100000"/>
              </a:lnSpc>
              <a:spcBef>
                <a:spcPts val="1000"/>
              </a:spcBef>
              <a:spcAft>
                <a:spcPts val="0"/>
              </a:spcAft>
              <a:buClr>
                <a:schemeClr val="dk1"/>
              </a:buClr>
              <a:buSzPts val="1600"/>
              <a:buChar char="-"/>
            </a:pPr>
            <a:r>
              <a:rPr lang="zh-TW" sz="1600">
                <a:solidFill>
                  <a:schemeClr val="dk1"/>
                </a:solidFill>
              </a:rPr>
              <a:t>Experiments done on NVIDIA Titan Black GPUs</a:t>
            </a:r>
            <a:endParaRPr sz="1600">
              <a:solidFill>
                <a:schemeClr val="dk1"/>
              </a:solidFill>
            </a:endParaRPr>
          </a:p>
          <a:p>
            <a:pPr marL="0" lvl="0" indent="0" algn="l" rtl="0">
              <a:spcBef>
                <a:spcPts val="1000"/>
              </a:spcBef>
              <a:spcAft>
                <a:spcPts val="1200"/>
              </a:spcAft>
              <a:buNone/>
            </a:pPr>
            <a:endParaRPr sz="1600"/>
          </a:p>
        </p:txBody>
      </p:sp>
      <p:sp>
        <p:nvSpPr>
          <p:cNvPr id="282" name="Google Shape;282;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30</a:t>
            </a:fld>
            <a:endParaRPr/>
          </a:p>
        </p:txBody>
      </p:sp>
      <p:pic>
        <p:nvPicPr>
          <p:cNvPr id="283" name="Google Shape;283;p42"/>
          <p:cNvPicPr preferRelativeResize="0"/>
          <p:nvPr/>
        </p:nvPicPr>
        <p:blipFill>
          <a:blip r:embed="rId3">
            <a:alphaModFix/>
          </a:blip>
          <a:stretch>
            <a:fillRect/>
          </a:stretch>
        </p:blipFill>
        <p:spPr>
          <a:xfrm>
            <a:off x="1177538" y="2915375"/>
            <a:ext cx="6788924" cy="20696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t>Component analysis</a:t>
            </a:r>
            <a:endParaRPr sz="2500"/>
          </a:p>
        </p:txBody>
      </p:sp>
      <p:sp>
        <p:nvSpPr>
          <p:cNvPr id="289" name="Google Shape;289;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lnSpc>
                <a:spcPct val="90000"/>
              </a:lnSpc>
              <a:spcBef>
                <a:spcPts val="1000"/>
              </a:spcBef>
              <a:spcAft>
                <a:spcPts val="0"/>
              </a:spcAft>
              <a:buClr>
                <a:schemeClr val="dk1"/>
              </a:buClr>
              <a:buSzPts val="1600"/>
              <a:buChar char="-"/>
            </a:pPr>
            <a:r>
              <a:rPr lang="zh-TW" sz="1600">
                <a:solidFill>
                  <a:schemeClr val="dk1"/>
                </a:solidFill>
              </a:rPr>
              <a:t>This evaluates the effect of different components of the system when training a network for face verification.</a:t>
            </a:r>
            <a:endParaRPr sz="1600">
              <a:solidFill>
                <a:schemeClr val="dk1"/>
              </a:solidFill>
            </a:endParaRPr>
          </a:p>
          <a:p>
            <a:pPr marL="457200" lvl="0" indent="-330200" algn="just" rtl="0">
              <a:lnSpc>
                <a:spcPct val="90000"/>
              </a:lnSpc>
              <a:spcBef>
                <a:spcPts val="1000"/>
              </a:spcBef>
              <a:spcAft>
                <a:spcPts val="0"/>
              </a:spcAft>
              <a:buClr>
                <a:schemeClr val="dk1"/>
              </a:buClr>
              <a:buSzPts val="1600"/>
              <a:buAutoNum type="arabicPeriod"/>
            </a:pPr>
            <a:r>
              <a:rPr lang="zh-TW" sz="1600">
                <a:solidFill>
                  <a:schemeClr val="dk1"/>
                </a:solidFill>
              </a:rPr>
              <a:t>Dataset curation</a:t>
            </a:r>
            <a:endParaRPr sz="1600">
              <a:solidFill>
                <a:schemeClr val="dk1"/>
              </a:solidFill>
            </a:endParaRPr>
          </a:p>
          <a:p>
            <a:pPr marL="457200" lvl="0" indent="-330200" algn="just" rtl="0">
              <a:lnSpc>
                <a:spcPct val="90000"/>
              </a:lnSpc>
              <a:spcBef>
                <a:spcPts val="0"/>
              </a:spcBef>
              <a:spcAft>
                <a:spcPts val="0"/>
              </a:spcAft>
              <a:buClr>
                <a:schemeClr val="dk1"/>
              </a:buClr>
              <a:buSzPts val="1600"/>
              <a:buAutoNum type="arabicPeriod"/>
            </a:pPr>
            <a:r>
              <a:rPr lang="zh-TW" sz="1600">
                <a:solidFill>
                  <a:schemeClr val="dk1"/>
                </a:solidFill>
              </a:rPr>
              <a:t>Alignment</a:t>
            </a:r>
            <a:endParaRPr sz="1600">
              <a:solidFill>
                <a:schemeClr val="dk1"/>
              </a:solidFill>
            </a:endParaRPr>
          </a:p>
          <a:p>
            <a:pPr marL="457200" lvl="0" indent="-330200" algn="just" rtl="0">
              <a:lnSpc>
                <a:spcPct val="90000"/>
              </a:lnSpc>
              <a:spcBef>
                <a:spcPts val="0"/>
              </a:spcBef>
              <a:spcAft>
                <a:spcPts val="0"/>
              </a:spcAft>
              <a:buClr>
                <a:schemeClr val="dk1"/>
              </a:buClr>
              <a:buSzPts val="1600"/>
              <a:buAutoNum type="arabicPeriod"/>
            </a:pPr>
            <a:r>
              <a:rPr lang="zh-TW" sz="1600">
                <a:solidFill>
                  <a:schemeClr val="dk1"/>
                </a:solidFill>
              </a:rPr>
              <a:t>Architecture</a:t>
            </a:r>
            <a:endParaRPr sz="1600">
              <a:solidFill>
                <a:schemeClr val="dk1"/>
              </a:solidFill>
            </a:endParaRPr>
          </a:p>
          <a:p>
            <a:pPr marL="457200" lvl="0" indent="-330200" algn="just" rtl="0">
              <a:lnSpc>
                <a:spcPct val="90000"/>
              </a:lnSpc>
              <a:spcBef>
                <a:spcPts val="0"/>
              </a:spcBef>
              <a:spcAft>
                <a:spcPts val="0"/>
              </a:spcAft>
              <a:buClr>
                <a:schemeClr val="dk1"/>
              </a:buClr>
              <a:buSzPts val="1600"/>
              <a:buAutoNum type="arabicPeriod"/>
            </a:pPr>
            <a:r>
              <a:rPr lang="zh-TW" sz="1600">
                <a:solidFill>
                  <a:schemeClr val="dk1"/>
                </a:solidFill>
              </a:rPr>
              <a:t>Triplet-loss embedding</a:t>
            </a:r>
            <a:endParaRPr sz="1600">
              <a:solidFill>
                <a:schemeClr val="dk1"/>
              </a:solidFill>
            </a:endParaRPr>
          </a:p>
          <a:p>
            <a:pPr marL="0" lvl="0" indent="0" algn="l" rtl="0">
              <a:lnSpc>
                <a:spcPct val="90000"/>
              </a:lnSpc>
              <a:spcBef>
                <a:spcPts val="1000"/>
              </a:spcBef>
              <a:spcAft>
                <a:spcPts val="0"/>
              </a:spcAft>
              <a:buClr>
                <a:schemeClr val="dk1"/>
              </a:buClr>
              <a:buSzPts val="1100"/>
              <a:buFont typeface="Arial"/>
              <a:buNone/>
            </a:pPr>
            <a:endParaRPr sz="1600">
              <a:solidFill>
                <a:schemeClr val="dk1"/>
              </a:solidFill>
            </a:endParaRPr>
          </a:p>
          <a:p>
            <a:pPr marL="0" lvl="0" indent="0" algn="l" rtl="0">
              <a:spcBef>
                <a:spcPts val="0"/>
              </a:spcBef>
              <a:spcAft>
                <a:spcPts val="1200"/>
              </a:spcAft>
              <a:buNone/>
            </a:pPr>
            <a:endParaRPr sz="1600"/>
          </a:p>
        </p:txBody>
      </p:sp>
      <p:sp>
        <p:nvSpPr>
          <p:cNvPr id="290" name="Google Shape;290;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31</a:t>
            </a:fld>
            <a:endParaRPr/>
          </a:p>
        </p:txBody>
      </p:sp>
      <p:pic>
        <p:nvPicPr>
          <p:cNvPr id="291" name="Google Shape;291;p43"/>
          <p:cNvPicPr preferRelativeResize="0"/>
          <p:nvPr/>
        </p:nvPicPr>
        <p:blipFill>
          <a:blip r:embed="rId3">
            <a:alphaModFix/>
          </a:blip>
          <a:stretch>
            <a:fillRect/>
          </a:stretch>
        </p:blipFill>
        <p:spPr>
          <a:xfrm>
            <a:off x="1177538" y="3073825"/>
            <a:ext cx="6788924" cy="20696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zh-TW" sz="2500"/>
              <a:t>Comparison with the state-of-the-art</a:t>
            </a:r>
            <a:endParaRPr sz="2500"/>
          </a:p>
        </p:txBody>
      </p:sp>
      <p:sp>
        <p:nvSpPr>
          <p:cNvPr id="297" name="Google Shape;297;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0" algn="l" rtl="0">
              <a:lnSpc>
                <a:spcPct val="90000"/>
              </a:lnSpc>
              <a:spcBef>
                <a:spcPts val="1000"/>
              </a:spcBef>
              <a:spcAft>
                <a:spcPts val="0"/>
              </a:spcAft>
              <a:buNone/>
            </a:pPr>
            <a:r>
              <a:rPr lang="zh-TW" sz="1700" b="1">
                <a:solidFill>
                  <a:schemeClr val="dk1"/>
                </a:solidFill>
              </a:rPr>
              <a:t>LFW dataset</a:t>
            </a:r>
            <a:endParaRPr sz="1700" b="1">
              <a:solidFill>
                <a:schemeClr val="dk1"/>
              </a:solidFill>
            </a:endParaRPr>
          </a:p>
          <a:p>
            <a:pPr marL="457200" lvl="0" indent="-330200" algn="l" rtl="0">
              <a:lnSpc>
                <a:spcPct val="90000"/>
              </a:lnSpc>
              <a:spcBef>
                <a:spcPts val="1000"/>
              </a:spcBef>
              <a:spcAft>
                <a:spcPts val="0"/>
              </a:spcAft>
              <a:buClr>
                <a:schemeClr val="dk1"/>
              </a:buClr>
              <a:buSzPts val="1600"/>
              <a:buChar char="-"/>
            </a:pPr>
            <a:r>
              <a:rPr lang="zh-TW" sz="1600">
                <a:solidFill>
                  <a:schemeClr val="dk1"/>
                </a:solidFill>
              </a:rPr>
              <a:t>It can be observed that they achieve comparable results to the state of the art using much less data and a much simpler network architecture.</a:t>
            </a:r>
            <a:endParaRPr sz="1600">
              <a:solidFill>
                <a:schemeClr val="dk1"/>
              </a:solidFill>
            </a:endParaRPr>
          </a:p>
          <a:p>
            <a:pPr marL="0" lvl="0" indent="0" algn="l" rtl="0">
              <a:lnSpc>
                <a:spcPct val="90000"/>
              </a:lnSpc>
              <a:spcBef>
                <a:spcPts val="1000"/>
              </a:spcBef>
              <a:spcAft>
                <a:spcPts val="0"/>
              </a:spcAft>
              <a:buNone/>
            </a:pPr>
            <a:endParaRPr sz="1600">
              <a:solidFill>
                <a:schemeClr val="dk1"/>
              </a:solidFill>
            </a:endParaRPr>
          </a:p>
        </p:txBody>
      </p:sp>
      <p:sp>
        <p:nvSpPr>
          <p:cNvPr id="298" name="Google Shape;298;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32</a:t>
            </a:fld>
            <a:endParaRPr/>
          </a:p>
        </p:txBody>
      </p:sp>
      <p:pic>
        <p:nvPicPr>
          <p:cNvPr id="299" name="Google Shape;299;p44"/>
          <p:cNvPicPr preferRelativeResize="0"/>
          <p:nvPr/>
        </p:nvPicPr>
        <p:blipFill>
          <a:blip r:embed="rId3">
            <a:alphaModFix/>
          </a:blip>
          <a:stretch>
            <a:fillRect/>
          </a:stretch>
        </p:blipFill>
        <p:spPr>
          <a:xfrm>
            <a:off x="219075" y="2368375"/>
            <a:ext cx="8705850" cy="23812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0" algn="l" rtl="0">
              <a:lnSpc>
                <a:spcPct val="90000"/>
              </a:lnSpc>
              <a:spcBef>
                <a:spcPts val="1000"/>
              </a:spcBef>
              <a:spcAft>
                <a:spcPts val="0"/>
              </a:spcAft>
              <a:buNone/>
            </a:pPr>
            <a:r>
              <a:rPr lang="zh-TW" sz="1700" b="1">
                <a:solidFill>
                  <a:schemeClr val="dk1"/>
                </a:solidFill>
              </a:rPr>
              <a:t>YTF dataset</a:t>
            </a:r>
            <a:endParaRPr sz="1700" b="1">
              <a:solidFill>
                <a:schemeClr val="dk1"/>
              </a:solidFill>
            </a:endParaRPr>
          </a:p>
          <a:p>
            <a:pPr marL="457200" lvl="0" indent="-330200" algn="l" rtl="0">
              <a:lnSpc>
                <a:spcPct val="90000"/>
              </a:lnSpc>
              <a:spcBef>
                <a:spcPts val="1000"/>
              </a:spcBef>
              <a:spcAft>
                <a:spcPts val="0"/>
              </a:spcAft>
              <a:buClr>
                <a:schemeClr val="dk1"/>
              </a:buClr>
              <a:buSzPts val="1600"/>
              <a:buChar char="-"/>
            </a:pPr>
            <a:r>
              <a:rPr lang="zh-TW" sz="1600">
                <a:solidFill>
                  <a:schemeClr val="dk1"/>
                </a:solidFill>
              </a:rPr>
              <a:t>The state of the art performance using our triplet loss embedding method was acheived.</a:t>
            </a:r>
            <a:endParaRPr sz="1600">
              <a:solidFill>
                <a:schemeClr val="dk1"/>
              </a:solidFill>
            </a:endParaRPr>
          </a:p>
        </p:txBody>
      </p:sp>
      <p:sp>
        <p:nvSpPr>
          <p:cNvPr id="305" name="Google Shape;305;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33</a:t>
            </a:fld>
            <a:endParaRPr/>
          </a:p>
        </p:txBody>
      </p:sp>
      <p:pic>
        <p:nvPicPr>
          <p:cNvPr id="306" name="Google Shape;306;p45"/>
          <p:cNvPicPr preferRelativeResize="0"/>
          <p:nvPr/>
        </p:nvPicPr>
        <p:blipFill>
          <a:blip r:embed="rId3">
            <a:alphaModFix/>
          </a:blip>
          <a:stretch>
            <a:fillRect/>
          </a:stretch>
        </p:blipFill>
        <p:spPr>
          <a:xfrm>
            <a:off x="557850" y="2270100"/>
            <a:ext cx="8028301" cy="19421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t>Conclusions </a:t>
            </a:r>
            <a:endParaRPr sz="2500"/>
          </a:p>
        </p:txBody>
      </p:sp>
      <p:sp>
        <p:nvSpPr>
          <p:cNvPr id="312" name="Google Shape;312;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0" algn="l" rtl="0">
              <a:lnSpc>
                <a:spcPct val="90000"/>
              </a:lnSpc>
              <a:spcBef>
                <a:spcPts val="1000"/>
              </a:spcBef>
              <a:spcAft>
                <a:spcPts val="0"/>
              </a:spcAft>
              <a:buNone/>
            </a:pPr>
            <a:r>
              <a:rPr lang="zh-TW" sz="1700" b="1">
                <a:solidFill>
                  <a:schemeClr val="dk1"/>
                </a:solidFill>
              </a:rPr>
              <a:t>Two contributions:</a:t>
            </a:r>
            <a:endParaRPr sz="1700" b="1">
              <a:solidFill>
                <a:schemeClr val="dk1"/>
              </a:solidFill>
            </a:endParaRPr>
          </a:p>
          <a:p>
            <a:pPr marL="457200" lvl="0" indent="-330200" algn="l" rtl="0">
              <a:lnSpc>
                <a:spcPct val="90000"/>
              </a:lnSpc>
              <a:spcBef>
                <a:spcPts val="1000"/>
              </a:spcBef>
              <a:spcAft>
                <a:spcPts val="0"/>
              </a:spcAft>
              <a:buClr>
                <a:schemeClr val="dk1"/>
              </a:buClr>
              <a:buSzPts val="1600"/>
              <a:buChar char="-"/>
            </a:pPr>
            <a:r>
              <a:rPr lang="zh-TW" sz="1600">
                <a:solidFill>
                  <a:schemeClr val="dk1"/>
                </a:solidFill>
              </a:rPr>
              <a:t>A procedure has been decided that is able to assemble a large scale dataset, with small label noise, whilst minimising the amount of manual annotation involved.</a:t>
            </a:r>
            <a:endParaRPr sz="1600">
              <a:solidFill>
                <a:schemeClr val="dk1"/>
              </a:solidFill>
            </a:endParaRPr>
          </a:p>
          <a:p>
            <a:pPr marL="457200" lvl="0" indent="-330200" algn="l" rtl="0">
              <a:lnSpc>
                <a:spcPct val="90000"/>
              </a:lnSpc>
              <a:spcBef>
                <a:spcPts val="1000"/>
              </a:spcBef>
              <a:spcAft>
                <a:spcPts val="0"/>
              </a:spcAft>
              <a:buClr>
                <a:schemeClr val="dk1"/>
              </a:buClr>
              <a:buSzPts val="1600"/>
              <a:buChar char="-"/>
            </a:pPr>
            <a:r>
              <a:rPr lang="zh-TW" sz="1600">
                <a:solidFill>
                  <a:schemeClr val="dk1"/>
                </a:solidFill>
              </a:rPr>
              <a:t>A deep CNN was shown, without any embellishments but with appropriate training, can achieve results comparable to the state of the art.</a:t>
            </a:r>
            <a:endParaRPr sz="1600">
              <a:solidFill>
                <a:schemeClr val="dk1"/>
              </a:solidFill>
            </a:endParaRPr>
          </a:p>
          <a:p>
            <a:pPr marL="457200" lvl="0" indent="-330200" algn="l" rtl="0">
              <a:lnSpc>
                <a:spcPct val="90000"/>
              </a:lnSpc>
              <a:spcBef>
                <a:spcPts val="1000"/>
              </a:spcBef>
              <a:spcAft>
                <a:spcPts val="0"/>
              </a:spcAft>
              <a:buClr>
                <a:schemeClr val="dk1"/>
              </a:buClr>
              <a:buSzPts val="1600"/>
              <a:buChar char="-"/>
            </a:pPr>
            <a:r>
              <a:rPr lang="zh-TW" sz="1600">
                <a:solidFill>
                  <a:schemeClr val="dk1"/>
                </a:solidFill>
              </a:rPr>
              <a:t>Also suitable for other object classes as well as fine grained tasks.</a:t>
            </a:r>
            <a:endParaRPr sz="1600">
              <a:solidFill>
                <a:schemeClr val="dk1"/>
              </a:solidFill>
            </a:endParaRPr>
          </a:p>
          <a:p>
            <a:pPr marL="0" lvl="0" indent="0" algn="l" rtl="0">
              <a:spcBef>
                <a:spcPts val="1000"/>
              </a:spcBef>
              <a:spcAft>
                <a:spcPts val="1200"/>
              </a:spcAft>
              <a:buNone/>
            </a:pPr>
            <a:endParaRPr sz="1600"/>
          </a:p>
        </p:txBody>
      </p:sp>
      <p:sp>
        <p:nvSpPr>
          <p:cNvPr id="313" name="Google Shape;313;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zh-TW"/>
              <a:t>Thank You !</a:t>
            </a:r>
            <a:endParaRPr/>
          </a:p>
        </p:txBody>
      </p:sp>
      <p:sp>
        <p:nvSpPr>
          <p:cNvPr id="319" name="Google Shape;319;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35</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1787</Words>
  <Application>Microsoft Office PowerPoint</Application>
  <PresentationFormat>如螢幕大小 (16:9)</PresentationFormat>
  <Paragraphs>203</Paragraphs>
  <Slides>35</Slides>
  <Notes>35</Notes>
  <HiddenSlides>0</HiddenSlides>
  <MMClips>0</MMClips>
  <ScaleCrop>false</ScaleCrop>
  <HeadingPairs>
    <vt:vector size="6" baseType="variant">
      <vt:variant>
        <vt:lpstr>使用字型</vt:lpstr>
      </vt:variant>
      <vt:variant>
        <vt:i4>1</vt:i4>
      </vt:variant>
      <vt:variant>
        <vt:lpstr>佈景主題</vt:lpstr>
      </vt:variant>
      <vt:variant>
        <vt:i4>1</vt:i4>
      </vt:variant>
      <vt:variant>
        <vt:lpstr>投影片標題</vt:lpstr>
      </vt:variant>
      <vt:variant>
        <vt:i4>35</vt:i4>
      </vt:variant>
    </vt:vector>
  </HeadingPairs>
  <TitlesOfParts>
    <vt:vector size="37" baseType="lpstr">
      <vt:lpstr>Arial</vt:lpstr>
      <vt:lpstr>Simple Light</vt:lpstr>
      <vt:lpstr>PowerPoint 簡報</vt:lpstr>
      <vt:lpstr>PowerPoint 簡報</vt:lpstr>
      <vt:lpstr>PowerPoint 簡報</vt:lpstr>
      <vt:lpstr>PowerPoint 簡報</vt:lpstr>
      <vt:lpstr>PowerPoint 簡報</vt:lpstr>
      <vt:lpstr>PowerPoint 簡報</vt:lpstr>
      <vt:lpstr>PowerPoint 簡報</vt:lpstr>
      <vt:lpstr>PowerPoint 簡報</vt:lpstr>
      <vt:lpstr>Main Methodologies</vt:lpstr>
      <vt:lpstr>What are Artifitial Neural Networks?</vt:lpstr>
      <vt:lpstr>Artifitial Neural Network</vt:lpstr>
      <vt:lpstr>What differentiates ANN and CNN?</vt:lpstr>
      <vt:lpstr>Convolutional Neural Network</vt:lpstr>
      <vt:lpstr>Convolutional Neural Network</vt:lpstr>
      <vt:lpstr>Example of CNN Application</vt:lpstr>
      <vt:lpstr>Conclusion: Convolutional Neural Network</vt:lpstr>
      <vt:lpstr>Bootstrapping</vt:lpstr>
      <vt:lpstr>Why Bootstrapping?</vt:lpstr>
      <vt:lpstr>Bootstrapping</vt:lpstr>
      <vt:lpstr>Bootstrapping</vt:lpstr>
      <vt:lpstr>Bootstrapping</vt:lpstr>
      <vt:lpstr>Bootstrapping</vt:lpstr>
      <vt:lpstr>What is a Triplet Loss? </vt:lpstr>
      <vt:lpstr>PowerPoint 簡報</vt:lpstr>
      <vt:lpstr>PowerPoint 簡報</vt:lpstr>
      <vt:lpstr>Triplet Loss</vt:lpstr>
      <vt:lpstr>Triplet Loss</vt:lpstr>
      <vt:lpstr>Conclusion - Chapter: Methodology</vt:lpstr>
      <vt:lpstr>Datasets and evaluation protocols </vt:lpstr>
      <vt:lpstr>Experiments and Results</vt:lpstr>
      <vt:lpstr>Component analysis</vt:lpstr>
      <vt:lpstr>Comparison with the state-of-the-art</vt:lpstr>
      <vt:lpstr>PowerPoint 簡報</vt:lpstr>
      <vt:lpstr>Conclusions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Vance Wu</cp:lastModifiedBy>
  <cp:revision>1</cp:revision>
  <dcterms:modified xsi:type="dcterms:W3CDTF">2026-01-14T12:38:12Z</dcterms:modified>
</cp:coreProperties>
</file>