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8"/>
  </p:notesMasterIdLst>
  <p:handoutMasterIdLst>
    <p:handoutMasterId r:id="rId49"/>
  </p:handoutMasterIdLst>
  <p:sldIdLst>
    <p:sldId id="299" r:id="rId2"/>
    <p:sldId id="300" r:id="rId3"/>
    <p:sldId id="338" r:id="rId4"/>
    <p:sldId id="353" r:id="rId5"/>
    <p:sldId id="302" r:id="rId6"/>
    <p:sldId id="344" r:id="rId7"/>
    <p:sldId id="354" r:id="rId8"/>
    <p:sldId id="319" r:id="rId9"/>
    <p:sldId id="320" r:id="rId10"/>
    <p:sldId id="321" r:id="rId11"/>
    <p:sldId id="322" r:id="rId12"/>
    <p:sldId id="323" r:id="rId13"/>
    <p:sldId id="324" r:id="rId14"/>
    <p:sldId id="325" r:id="rId15"/>
    <p:sldId id="350" r:id="rId16"/>
    <p:sldId id="317" r:id="rId17"/>
    <p:sldId id="329" r:id="rId18"/>
    <p:sldId id="330" r:id="rId19"/>
    <p:sldId id="331" r:id="rId20"/>
    <p:sldId id="352" r:id="rId21"/>
    <p:sldId id="332" r:id="rId22"/>
    <p:sldId id="334" r:id="rId23"/>
    <p:sldId id="309" r:id="rId24"/>
    <p:sldId id="355" r:id="rId25"/>
    <p:sldId id="333" r:id="rId26"/>
    <p:sldId id="351" r:id="rId27"/>
    <p:sldId id="335" r:id="rId28"/>
    <p:sldId id="356" r:id="rId29"/>
    <p:sldId id="311" r:id="rId30"/>
    <p:sldId id="336" r:id="rId31"/>
    <p:sldId id="286" r:id="rId32"/>
    <p:sldId id="345" r:id="rId33"/>
    <p:sldId id="301" r:id="rId34"/>
    <p:sldId id="313" r:id="rId35"/>
    <p:sldId id="314" r:id="rId36"/>
    <p:sldId id="303" r:id="rId37"/>
    <p:sldId id="304" r:id="rId38"/>
    <p:sldId id="315" r:id="rId39"/>
    <p:sldId id="316" r:id="rId40"/>
    <p:sldId id="306" r:id="rId41"/>
    <p:sldId id="318" r:id="rId42"/>
    <p:sldId id="308" r:id="rId43"/>
    <p:sldId id="310" r:id="rId44"/>
    <p:sldId id="312" r:id="rId45"/>
    <p:sldId id="297" r:id="rId46"/>
    <p:sldId id="298" r:id="rId47"/>
  </p:sldIdLst>
  <p:sldSz cx="12192000" cy="6858000"/>
  <p:notesSz cx="10234613" cy="7099300"/>
  <p:defaultTex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189" algn="l" rtl="0" fontAlgn="base">
      <a:spcBef>
        <a:spcPct val="0"/>
      </a:spcBef>
      <a:spcAft>
        <a:spcPct val="0"/>
      </a:spcAft>
      <a:defRPr kern="1200">
        <a:solidFill>
          <a:schemeClr val="tx1"/>
        </a:solidFill>
        <a:latin typeface="Arial" charset="0"/>
        <a:ea typeface="+mn-ea"/>
        <a:cs typeface="+mn-cs"/>
      </a:defRPr>
    </a:lvl2pPr>
    <a:lvl3pPr marL="914377" algn="l" rtl="0" fontAlgn="base">
      <a:spcBef>
        <a:spcPct val="0"/>
      </a:spcBef>
      <a:spcAft>
        <a:spcPct val="0"/>
      </a:spcAft>
      <a:defRPr kern="1200">
        <a:solidFill>
          <a:schemeClr val="tx1"/>
        </a:solidFill>
        <a:latin typeface="Arial" charset="0"/>
        <a:ea typeface="+mn-ea"/>
        <a:cs typeface="+mn-cs"/>
      </a:defRPr>
    </a:lvl3pPr>
    <a:lvl4pPr marL="1371566" algn="l" rtl="0" fontAlgn="base">
      <a:spcBef>
        <a:spcPct val="0"/>
      </a:spcBef>
      <a:spcAft>
        <a:spcPct val="0"/>
      </a:spcAft>
      <a:defRPr kern="1200">
        <a:solidFill>
          <a:schemeClr val="tx1"/>
        </a:solidFill>
        <a:latin typeface="Arial" charset="0"/>
        <a:ea typeface="+mn-ea"/>
        <a:cs typeface="+mn-cs"/>
      </a:defRPr>
    </a:lvl4pPr>
    <a:lvl5pPr marL="1828754" algn="l" rtl="0" fontAlgn="base">
      <a:spcBef>
        <a:spcPct val="0"/>
      </a:spcBef>
      <a:spcAft>
        <a:spcPct val="0"/>
      </a:spcAft>
      <a:defRPr kern="1200">
        <a:solidFill>
          <a:schemeClr val="tx1"/>
        </a:solidFill>
        <a:latin typeface="Arial" charset="0"/>
        <a:ea typeface="+mn-ea"/>
        <a:cs typeface="+mn-cs"/>
      </a:defRPr>
    </a:lvl5pPr>
    <a:lvl6pPr marL="2285943" algn="l" defTabSz="914377" rtl="0" eaLnBrk="1" latinLnBrk="0" hangingPunct="1">
      <a:defRPr kern="1200">
        <a:solidFill>
          <a:schemeClr val="tx1"/>
        </a:solidFill>
        <a:latin typeface="Arial" charset="0"/>
        <a:ea typeface="+mn-ea"/>
        <a:cs typeface="+mn-cs"/>
      </a:defRPr>
    </a:lvl6pPr>
    <a:lvl7pPr marL="2743131" algn="l" defTabSz="914377" rtl="0" eaLnBrk="1" latinLnBrk="0" hangingPunct="1">
      <a:defRPr kern="1200">
        <a:solidFill>
          <a:schemeClr val="tx1"/>
        </a:solidFill>
        <a:latin typeface="Arial" charset="0"/>
        <a:ea typeface="+mn-ea"/>
        <a:cs typeface="+mn-cs"/>
      </a:defRPr>
    </a:lvl7pPr>
    <a:lvl8pPr marL="3200320" algn="l" defTabSz="914377" rtl="0" eaLnBrk="1" latinLnBrk="0" hangingPunct="1">
      <a:defRPr kern="1200">
        <a:solidFill>
          <a:schemeClr val="tx1"/>
        </a:solidFill>
        <a:latin typeface="Arial" charset="0"/>
        <a:ea typeface="+mn-ea"/>
        <a:cs typeface="+mn-cs"/>
      </a:defRPr>
    </a:lvl8pPr>
    <a:lvl9pPr marL="3657509" algn="l" defTabSz="914377"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236">
          <p15:clr>
            <a:srgbClr val="A4A3A4"/>
          </p15:clr>
        </p15:guide>
        <p15:guide id="2" pos="322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a:srgbClr val="009CDD"/>
    <a:srgbClr val="4D4D4D"/>
    <a:srgbClr val="58595A"/>
    <a:srgbClr val="B2B2B2"/>
    <a:srgbClr val="777777"/>
    <a:srgbClr val="00ADF2"/>
    <a:srgbClr val="FFDF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D51233-B10C-4F1F-A1FD-A03EBAB7F826}" v="268" dt="2024-09-11T15:34:53.815"/>
    <p1510:client id="{60097103-1F7D-8279-4ECC-C58BA0FF8A88}" v="52" dt="2024-09-10T11:28:12.013"/>
    <p1510:client id="{608F2EEC-6FD1-2D7C-6A1F-F9D172309B1B}" v="249" dt="2024-09-10T14:22:05.496"/>
    <p1510:client id="{8CACA63B-E8FF-9F3E-F259-E1C64E2C5ECC}" v="540" dt="2024-09-11T09:45:34.527"/>
    <p1510:client id="{93B838E0-8218-71AE-2500-399C3715F7C7}" v="60" dt="2024-09-11T11:02:13.219"/>
    <p1510:client id="{964C47CE-5466-C3BA-82B6-5CAC90A3892F}" v="54" dt="2024-09-10T12:39:34.950"/>
    <p1510:client id="{AF608AB4-267E-D5F0-62F9-3C7FDFF7F060}" v="213" dt="2024-09-10T12:33:49.256"/>
    <p1510:client id="{C76EF859-3FB2-A2A8-14D8-6EFF8A57366A}" v="510" dt="2024-09-10T22:00:07.963"/>
    <p1510:client id="{D15C1993-49AA-B632-B59D-5282B0313F36}" v="736" dt="2024-09-10T11:13:33.6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768" autoAdjust="0"/>
  </p:normalViewPr>
  <p:slideViewPr>
    <p:cSldViewPr snapToGrid="0">
      <p:cViewPr varScale="1">
        <p:scale>
          <a:sx n="119" d="100"/>
          <a:sy n="119" d="100"/>
        </p:scale>
        <p:origin x="1854" y="84"/>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236"/>
        <p:guide pos="322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4435475" cy="355600"/>
          </a:xfrm>
          <a:prstGeom prst="rect">
            <a:avLst/>
          </a:prstGeom>
          <a:noFill/>
          <a:ln w="9525">
            <a:noFill/>
            <a:miter lim="800000"/>
            <a:headEnd/>
            <a:tailEnd/>
          </a:ln>
          <a:effectLst/>
        </p:spPr>
        <p:txBody>
          <a:bodyPr vert="horz" wrap="square" lIns="94320" tIns="47160" rIns="94320" bIns="47160" numCol="1" anchor="t" anchorCtr="0" compatLnSpc="1">
            <a:prstTxWarp prst="textNoShape">
              <a:avLst/>
            </a:prstTxWarp>
          </a:bodyPr>
          <a:lstStyle>
            <a:lvl1pPr defTabSz="942975">
              <a:defRPr sz="1200">
                <a:latin typeface="Calibri" pitchFamily="34" charset="0"/>
              </a:defRPr>
            </a:lvl1pPr>
          </a:lstStyle>
          <a:p>
            <a:pPr>
              <a:defRPr/>
            </a:pPr>
            <a:endParaRPr lang="de-DE"/>
          </a:p>
        </p:txBody>
      </p:sp>
      <p:sp>
        <p:nvSpPr>
          <p:cNvPr id="56323" name="Rectangle 3"/>
          <p:cNvSpPr>
            <a:spLocks noGrp="1" noChangeArrowheads="1"/>
          </p:cNvSpPr>
          <p:nvPr>
            <p:ph type="dt" sz="quarter" idx="1"/>
          </p:nvPr>
        </p:nvSpPr>
        <p:spPr bwMode="auto">
          <a:xfrm>
            <a:off x="5797550" y="0"/>
            <a:ext cx="4435475" cy="355600"/>
          </a:xfrm>
          <a:prstGeom prst="rect">
            <a:avLst/>
          </a:prstGeom>
          <a:noFill/>
          <a:ln w="9525">
            <a:noFill/>
            <a:miter lim="800000"/>
            <a:headEnd/>
            <a:tailEnd/>
          </a:ln>
          <a:effectLst/>
        </p:spPr>
        <p:txBody>
          <a:bodyPr vert="horz" wrap="square" lIns="94320" tIns="47160" rIns="94320" bIns="47160" numCol="1" anchor="t" anchorCtr="0" compatLnSpc="1">
            <a:prstTxWarp prst="textNoShape">
              <a:avLst/>
            </a:prstTxWarp>
          </a:bodyPr>
          <a:lstStyle>
            <a:lvl1pPr algn="r" defTabSz="942975">
              <a:defRPr sz="1200">
                <a:latin typeface="Calibri" pitchFamily="34" charset="0"/>
              </a:defRPr>
            </a:lvl1pPr>
          </a:lstStyle>
          <a:p>
            <a:pPr>
              <a:defRPr/>
            </a:pPr>
            <a:fld id="{92183F4B-7FD0-49F5-B6A6-04A467571534}" type="datetimeFigureOut">
              <a:rPr lang="de-DE"/>
              <a:pPr>
                <a:defRPr/>
              </a:pPr>
              <a:t>11.09.2024</a:t>
            </a:fld>
            <a:endParaRPr lang="de-DE"/>
          </a:p>
        </p:txBody>
      </p:sp>
      <p:sp>
        <p:nvSpPr>
          <p:cNvPr id="56324" name="Rectangle 4"/>
          <p:cNvSpPr>
            <a:spLocks noGrp="1" noChangeArrowheads="1"/>
          </p:cNvSpPr>
          <p:nvPr>
            <p:ph type="ftr" sz="quarter" idx="2"/>
          </p:nvPr>
        </p:nvSpPr>
        <p:spPr bwMode="auto">
          <a:xfrm>
            <a:off x="0" y="6742113"/>
            <a:ext cx="4435475" cy="355600"/>
          </a:xfrm>
          <a:prstGeom prst="rect">
            <a:avLst/>
          </a:prstGeom>
          <a:noFill/>
          <a:ln w="9525">
            <a:noFill/>
            <a:miter lim="800000"/>
            <a:headEnd/>
            <a:tailEnd/>
          </a:ln>
          <a:effectLst/>
        </p:spPr>
        <p:txBody>
          <a:bodyPr vert="horz" wrap="square" lIns="94320" tIns="47160" rIns="94320" bIns="47160" numCol="1" anchor="b" anchorCtr="0" compatLnSpc="1">
            <a:prstTxWarp prst="textNoShape">
              <a:avLst/>
            </a:prstTxWarp>
          </a:bodyPr>
          <a:lstStyle>
            <a:lvl1pPr defTabSz="942975">
              <a:defRPr sz="1200">
                <a:latin typeface="Calibri" pitchFamily="34" charset="0"/>
              </a:defRPr>
            </a:lvl1pPr>
          </a:lstStyle>
          <a:p>
            <a:pPr>
              <a:defRPr/>
            </a:pPr>
            <a:endParaRPr lang="de-DE"/>
          </a:p>
        </p:txBody>
      </p:sp>
      <p:sp>
        <p:nvSpPr>
          <p:cNvPr id="56325" name="Rectangle 5"/>
          <p:cNvSpPr>
            <a:spLocks noGrp="1" noChangeArrowheads="1"/>
          </p:cNvSpPr>
          <p:nvPr>
            <p:ph type="sldNum" sz="quarter" idx="3"/>
          </p:nvPr>
        </p:nvSpPr>
        <p:spPr bwMode="auto">
          <a:xfrm>
            <a:off x="5797550" y="6742113"/>
            <a:ext cx="4435475" cy="355600"/>
          </a:xfrm>
          <a:prstGeom prst="rect">
            <a:avLst/>
          </a:prstGeom>
          <a:noFill/>
          <a:ln w="9525">
            <a:noFill/>
            <a:miter lim="800000"/>
            <a:headEnd/>
            <a:tailEnd/>
          </a:ln>
          <a:effectLst/>
        </p:spPr>
        <p:txBody>
          <a:bodyPr vert="horz" wrap="square" lIns="94320" tIns="47160" rIns="94320" bIns="47160" numCol="1" anchor="b" anchorCtr="0" compatLnSpc="1">
            <a:prstTxWarp prst="textNoShape">
              <a:avLst/>
            </a:prstTxWarp>
          </a:bodyPr>
          <a:lstStyle>
            <a:lvl1pPr algn="r" defTabSz="942975">
              <a:defRPr sz="1200">
                <a:latin typeface="Calibri" pitchFamily="34" charset="0"/>
              </a:defRPr>
            </a:lvl1pPr>
          </a:lstStyle>
          <a:p>
            <a:pPr>
              <a:defRPr/>
            </a:pPr>
            <a:fld id="{38DF6832-FE25-4966-828E-6166647DC5D5}" type="slidenum">
              <a:rPr lang="de-DE"/>
              <a:pPr>
                <a:defRPr/>
              </a:pPr>
              <a:t>‹#›</a:t>
            </a:fld>
            <a:endParaRPr lang="de-DE"/>
          </a:p>
        </p:txBody>
      </p:sp>
    </p:spTree>
    <p:extLst>
      <p:ext uri="{BB962C8B-B14F-4D97-AF65-F5344CB8AC3E}">
        <p14:creationId xmlns:p14="http://schemas.microsoft.com/office/powerpoint/2010/main" val="23658495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bwMode="auto">
          <a:xfrm>
            <a:off x="0" y="0"/>
            <a:ext cx="4435475" cy="355600"/>
          </a:xfrm>
          <a:prstGeom prst="rect">
            <a:avLst/>
          </a:prstGeom>
          <a:noFill/>
          <a:ln w="9525">
            <a:noFill/>
            <a:miter lim="800000"/>
            <a:headEnd/>
            <a:tailEnd/>
          </a:ln>
        </p:spPr>
        <p:txBody>
          <a:bodyPr vert="horz" wrap="square" lIns="94314" tIns="47157" rIns="94314" bIns="47157" numCol="1" anchor="t" anchorCtr="0" compatLnSpc="1">
            <a:prstTxWarp prst="textNoShape">
              <a:avLst/>
            </a:prstTxWarp>
          </a:bodyPr>
          <a:lstStyle>
            <a:lvl1pPr defTabSz="942975">
              <a:defRPr sz="1200">
                <a:latin typeface="Calibri" pitchFamily="34" charset="0"/>
              </a:defRPr>
            </a:lvl1pPr>
          </a:lstStyle>
          <a:p>
            <a:pPr>
              <a:defRPr/>
            </a:pPr>
            <a:endParaRPr lang="de-DE"/>
          </a:p>
        </p:txBody>
      </p:sp>
      <p:sp>
        <p:nvSpPr>
          <p:cNvPr id="3" name="Datumsplatzhalter 2"/>
          <p:cNvSpPr>
            <a:spLocks noGrp="1"/>
          </p:cNvSpPr>
          <p:nvPr>
            <p:ph type="dt" idx="1"/>
          </p:nvPr>
        </p:nvSpPr>
        <p:spPr bwMode="auto">
          <a:xfrm>
            <a:off x="5797550" y="0"/>
            <a:ext cx="4435475" cy="355600"/>
          </a:xfrm>
          <a:prstGeom prst="rect">
            <a:avLst/>
          </a:prstGeom>
          <a:noFill/>
          <a:ln w="9525">
            <a:noFill/>
            <a:miter lim="800000"/>
            <a:headEnd/>
            <a:tailEnd/>
          </a:ln>
        </p:spPr>
        <p:txBody>
          <a:bodyPr vert="horz" wrap="square" lIns="94314" tIns="47157" rIns="94314" bIns="47157" numCol="1" anchor="t" anchorCtr="0" compatLnSpc="1">
            <a:prstTxWarp prst="textNoShape">
              <a:avLst/>
            </a:prstTxWarp>
          </a:bodyPr>
          <a:lstStyle>
            <a:lvl1pPr algn="r" defTabSz="942975">
              <a:defRPr sz="1200">
                <a:latin typeface="Calibri" pitchFamily="34" charset="0"/>
              </a:defRPr>
            </a:lvl1pPr>
          </a:lstStyle>
          <a:p>
            <a:pPr>
              <a:defRPr/>
            </a:pPr>
            <a:fld id="{A4ED0FF2-2201-4D1C-B0AA-D4BA76F29EBF}" type="datetimeFigureOut">
              <a:rPr lang="de-DE"/>
              <a:pPr>
                <a:defRPr/>
              </a:pPr>
              <a:t>11.09.2024</a:t>
            </a:fld>
            <a:endParaRPr lang="de-DE"/>
          </a:p>
        </p:txBody>
      </p:sp>
      <p:sp>
        <p:nvSpPr>
          <p:cNvPr id="4" name="Folienbildplatzhalter 3"/>
          <p:cNvSpPr>
            <a:spLocks noGrp="1" noRot="1" noChangeAspect="1"/>
          </p:cNvSpPr>
          <p:nvPr>
            <p:ph type="sldImg" idx="2"/>
          </p:nvPr>
        </p:nvSpPr>
        <p:spPr>
          <a:xfrm>
            <a:off x="2754313" y="531813"/>
            <a:ext cx="4730750" cy="2662237"/>
          </a:xfrm>
          <a:prstGeom prst="rect">
            <a:avLst/>
          </a:prstGeom>
          <a:noFill/>
          <a:ln w="12700">
            <a:solidFill>
              <a:prstClr val="black"/>
            </a:solidFill>
          </a:ln>
        </p:spPr>
        <p:txBody>
          <a:bodyPr vert="horz" lIns="91440" tIns="45720" rIns="91440" bIns="45720" rtlCol="0" anchor="ctr"/>
          <a:lstStyle/>
          <a:p>
            <a:pPr lvl="0"/>
            <a:endParaRPr lang="de-DE" noProof="0"/>
          </a:p>
        </p:txBody>
      </p:sp>
      <p:sp>
        <p:nvSpPr>
          <p:cNvPr id="5" name="Notizenplatzhalter 4"/>
          <p:cNvSpPr>
            <a:spLocks noGrp="1"/>
          </p:cNvSpPr>
          <p:nvPr>
            <p:ph type="body" sz="quarter" idx="3"/>
          </p:nvPr>
        </p:nvSpPr>
        <p:spPr bwMode="auto">
          <a:xfrm>
            <a:off x="1023938" y="3371850"/>
            <a:ext cx="8188325" cy="3195638"/>
          </a:xfrm>
          <a:prstGeom prst="rect">
            <a:avLst/>
          </a:prstGeom>
          <a:noFill/>
          <a:ln w="9525">
            <a:noFill/>
            <a:miter lim="800000"/>
            <a:headEnd/>
            <a:tailEnd/>
          </a:ln>
        </p:spPr>
        <p:txBody>
          <a:bodyPr vert="horz" wrap="square" lIns="94314" tIns="47157" rIns="94314" bIns="47157" numCol="1" anchor="t" anchorCtr="0" compatLnSpc="1">
            <a:prstTxWarp prst="textNoShape">
              <a:avLst/>
            </a:prstTxWarp>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6" name="Fußzeilenplatzhalter 5"/>
          <p:cNvSpPr>
            <a:spLocks noGrp="1"/>
          </p:cNvSpPr>
          <p:nvPr>
            <p:ph type="ftr" sz="quarter" idx="4"/>
          </p:nvPr>
        </p:nvSpPr>
        <p:spPr bwMode="auto">
          <a:xfrm>
            <a:off x="0" y="6742113"/>
            <a:ext cx="4435475" cy="355600"/>
          </a:xfrm>
          <a:prstGeom prst="rect">
            <a:avLst/>
          </a:prstGeom>
          <a:noFill/>
          <a:ln w="9525">
            <a:noFill/>
            <a:miter lim="800000"/>
            <a:headEnd/>
            <a:tailEnd/>
          </a:ln>
        </p:spPr>
        <p:txBody>
          <a:bodyPr vert="horz" wrap="square" lIns="94314" tIns="47157" rIns="94314" bIns="47157" numCol="1" anchor="b" anchorCtr="0" compatLnSpc="1">
            <a:prstTxWarp prst="textNoShape">
              <a:avLst/>
            </a:prstTxWarp>
          </a:bodyPr>
          <a:lstStyle>
            <a:lvl1pPr defTabSz="942975">
              <a:defRPr sz="1200">
                <a:latin typeface="Calibri" pitchFamily="34" charset="0"/>
              </a:defRPr>
            </a:lvl1pPr>
          </a:lstStyle>
          <a:p>
            <a:pPr>
              <a:defRPr/>
            </a:pPr>
            <a:endParaRPr lang="de-DE"/>
          </a:p>
        </p:txBody>
      </p:sp>
      <p:sp>
        <p:nvSpPr>
          <p:cNvPr id="7" name="Foliennummernplatzhalter 6"/>
          <p:cNvSpPr>
            <a:spLocks noGrp="1"/>
          </p:cNvSpPr>
          <p:nvPr>
            <p:ph type="sldNum" sz="quarter" idx="5"/>
          </p:nvPr>
        </p:nvSpPr>
        <p:spPr bwMode="auto">
          <a:xfrm>
            <a:off x="5797550" y="6742113"/>
            <a:ext cx="4435475" cy="355600"/>
          </a:xfrm>
          <a:prstGeom prst="rect">
            <a:avLst/>
          </a:prstGeom>
          <a:noFill/>
          <a:ln w="9525">
            <a:noFill/>
            <a:miter lim="800000"/>
            <a:headEnd/>
            <a:tailEnd/>
          </a:ln>
        </p:spPr>
        <p:txBody>
          <a:bodyPr vert="horz" wrap="square" lIns="94314" tIns="47157" rIns="94314" bIns="47157" numCol="1" anchor="b" anchorCtr="0" compatLnSpc="1">
            <a:prstTxWarp prst="textNoShape">
              <a:avLst/>
            </a:prstTxWarp>
          </a:bodyPr>
          <a:lstStyle>
            <a:lvl1pPr algn="r" defTabSz="942975">
              <a:defRPr sz="1200">
                <a:latin typeface="Calibri" pitchFamily="34" charset="0"/>
              </a:defRPr>
            </a:lvl1pPr>
          </a:lstStyle>
          <a:p>
            <a:pPr>
              <a:defRPr/>
            </a:pPr>
            <a:fld id="{9F7CB66E-A447-4065-9F91-1B57DAA1358E}" type="slidenum">
              <a:rPr lang="de-DE"/>
              <a:pPr>
                <a:defRPr/>
              </a:pPr>
              <a:t>‹#›</a:t>
            </a:fld>
            <a:endParaRPr lang="de-DE"/>
          </a:p>
        </p:txBody>
      </p:sp>
    </p:spTree>
    <p:extLst>
      <p:ext uri="{BB962C8B-B14F-4D97-AF65-F5344CB8AC3E}">
        <p14:creationId xmlns:p14="http://schemas.microsoft.com/office/powerpoint/2010/main" val="20636815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189" algn="l" rtl="0" eaLnBrk="0" fontAlgn="base" hangingPunct="0">
      <a:spcBef>
        <a:spcPct val="30000"/>
      </a:spcBef>
      <a:spcAft>
        <a:spcPct val="0"/>
      </a:spcAft>
      <a:defRPr sz="1200" kern="1200">
        <a:solidFill>
          <a:schemeClr val="tx1"/>
        </a:solidFill>
        <a:latin typeface="+mn-lt"/>
        <a:ea typeface="+mn-ea"/>
        <a:cs typeface="+mn-cs"/>
      </a:defRPr>
    </a:lvl2pPr>
    <a:lvl3pPr marL="914377" algn="l" rtl="0" eaLnBrk="0" fontAlgn="base" hangingPunct="0">
      <a:spcBef>
        <a:spcPct val="30000"/>
      </a:spcBef>
      <a:spcAft>
        <a:spcPct val="0"/>
      </a:spcAft>
      <a:defRPr sz="1200" kern="1200">
        <a:solidFill>
          <a:schemeClr val="tx1"/>
        </a:solidFill>
        <a:latin typeface="+mn-lt"/>
        <a:ea typeface="+mn-ea"/>
        <a:cs typeface="+mn-cs"/>
      </a:defRPr>
    </a:lvl3pPr>
    <a:lvl4pPr marL="1371566" algn="l" rtl="0" eaLnBrk="0" fontAlgn="base" hangingPunct="0">
      <a:spcBef>
        <a:spcPct val="30000"/>
      </a:spcBef>
      <a:spcAft>
        <a:spcPct val="0"/>
      </a:spcAft>
      <a:defRPr sz="1200" kern="1200">
        <a:solidFill>
          <a:schemeClr val="tx1"/>
        </a:solidFill>
        <a:latin typeface="+mn-lt"/>
        <a:ea typeface="+mn-ea"/>
        <a:cs typeface="+mn-cs"/>
      </a:defRPr>
    </a:lvl4pPr>
    <a:lvl5pPr marL="1828754" algn="l" rtl="0" eaLnBrk="0" fontAlgn="base" hangingPunct="0">
      <a:spcBef>
        <a:spcPct val="30000"/>
      </a:spcBef>
      <a:spcAft>
        <a:spcPct val="0"/>
      </a:spcAft>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Hello everyone, my name is Wen-Hao. Thank you for joining me today for my thesis defense. Today, I am presenting from </a:t>
            </a:r>
            <a:r>
              <a:rPr lang="en-US" altLang="zh-TW" dirty="0" err="1"/>
              <a:t>Niederwinkling</a:t>
            </a:r>
            <a:r>
              <a:rPr lang="en-US" altLang="zh-TW" dirty="0"/>
              <a:t>, where my company is located.</a:t>
            </a:r>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1</a:t>
            </a:fld>
            <a:endParaRPr lang="de-DE"/>
          </a:p>
        </p:txBody>
      </p:sp>
    </p:spTree>
    <p:extLst>
      <p:ext uri="{BB962C8B-B14F-4D97-AF65-F5344CB8AC3E}">
        <p14:creationId xmlns:p14="http://schemas.microsoft.com/office/powerpoint/2010/main" val="2461317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The title of my Master Thesis is: Automated Visual Inspection of Sealing Products: Implementation and Evaluation of an AI-based System.</a:t>
            </a:r>
            <a:r>
              <a:rPr lang="en-US" altLang="zh-TW" baseline="0" dirty="0"/>
              <a:t> Let’s begin.</a:t>
            </a:r>
            <a:endParaRPr lang="en-US" altLang="zh-TW"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2</a:t>
            </a:fld>
            <a:endParaRPr lang="de-DE"/>
          </a:p>
        </p:txBody>
      </p:sp>
    </p:spTree>
    <p:extLst>
      <p:ext uri="{BB962C8B-B14F-4D97-AF65-F5344CB8AC3E}">
        <p14:creationId xmlns:p14="http://schemas.microsoft.com/office/powerpoint/2010/main" val="2222777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The agenda for today’s meeting includes Introduction, Methodology, Results, and finally Conclusion and Future Work.</a:t>
            </a:r>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3</a:t>
            </a:fld>
            <a:endParaRPr lang="de-DE"/>
          </a:p>
        </p:txBody>
      </p:sp>
    </p:spTree>
    <p:extLst>
      <p:ext uri="{BB962C8B-B14F-4D97-AF65-F5344CB8AC3E}">
        <p14:creationId xmlns:p14="http://schemas.microsoft.com/office/powerpoint/2010/main" val="541149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First, let’s start with Introduction.</a:t>
            </a:r>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4</a:t>
            </a:fld>
            <a:endParaRPr lang="de-DE"/>
          </a:p>
        </p:txBody>
      </p:sp>
    </p:spTree>
    <p:extLst>
      <p:ext uri="{BB962C8B-B14F-4D97-AF65-F5344CB8AC3E}">
        <p14:creationId xmlns:p14="http://schemas.microsoft.com/office/powerpoint/2010/main" val="3290624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Before we start, I want to give you some background information. In </a:t>
            </a:r>
            <a:r>
              <a:rPr lang="en-US" altLang="zh-TW" dirty="0" err="1"/>
              <a:t>Wallstabe</a:t>
            </a:r>
            <a:r>
              <a:rPr lang="en-US" altLang="zh-TW" dirty="0"/>
              <a:t> &amp; Schneider, we manufactures different kinds of sealing solutions as you can see in the picture. They are mainly for the automobile industry. And roughly half of our parts are inspected manually and the other half is controlled automatically.</a:t>
            </a:r>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5</a:t>
            </a:fld>
            <a:endParaRPr lang="de-DE"/>
          </a:p>
        </p:txBody>
      </p:sp>
    </p:spTree>
    <p:extLst>
      <p:ext uri="{BB962C8B-B14F-4D97-AF65-F5344CB8AC3E}">
        <p14:creationId xmlns:p14="http://schemas.microsoft.com/office/powerpoint/2010/main" val="3026923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The problem is, most of the automatic methods utilize traditional machine-learning methods, which comes with some limitations. Such as needing to set up individually for different articles even though they look identical, only differ in size, which leads to tedious and repetitive adjustments for marginal gains. Another problem is, if we look at the graph below: while traditional machine learning methods could produce meaningful results with limited data, it eventually reaches a saturation point where the performance plateaus as the amount of data increases.</a:t>
            </a:r>
          </a:p>
          <a:p>
            <a:endParaRPr lang="en-US" altLang="zh-TW" dirty="0"/>
          </a:p>
          <a:p>
            <a:r>
              <a:rPr lang="en-US" altLang="zh-TW" dirty="0"/>
              <a:t>And my proposed solution to this problem is to introduce Deep Learning methods for an overall performance boost. Such as reducing human-involved set-up time, increasing accuracy, increase inference speed, and so on.</a:t>
            </a:r>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6</a:t>
            </a:fld>
            <a:endParaRPr lang="de-DE"/>
          </a:p>
        </p:txBody>
      </p:sp>
    </p:spTree>
    <p:extLst>
      <p:ext uri="{BB962C8B-B14F-4D97-AF65-F5344CB8AC3E}">
        <p14:creationId xmlns:p14="http://schemas.microsoft.com/office/powerpoint/2010/main" val="2867720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Now let’s move on to the methodology part of my thesis. In this section, I will show you more or less step by step how I conducted my experiments.</a:t>
            </a:r>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7</a:t>
            </a:fld>
            <a:endParaRPr lang="de-DE"/>
          </a:p>
        </p:txBody>
      </p:sp>
    </p:spTree>
    <p:extLst>
      <p:ext uri="{BB962C8B-B14F-4D97-AF65-F5344CB8AC3E}">
        <p14:creationId xmlns:p14="http://schemas.microsoft.com/office/powerpoint/2010/main" val="3812629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Lets start with data collection. First of all, Lip seals are one of the seals that we produce, and they are the focus of this study. </a:t>
            </a:r>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8</a:t>
            </a:fld>
            <a:endParaRPr lang="de-DE"/>
          </a:p>
        </p:txBody>
      </p:sp>
    </p:spTree>
    <p:extLst>
      <p:ext uri="{BB962C8B-B14F-4D97-AF65-F5344CB8AC3E}">
        <p14:creationId xmlns:p14="http://schemas.microsoft.com/office/powerpoint/2010/main" val="18148030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The seals are categorized based on their inner diameter, and I collected images of these lip seals for further processing. For example, there are article 108.6, 77.1, and a lot more. My idea was to train a singular model that is able to detect on all different kinds of lip seal, which was not possible with the currently employed traditional method.</a:t>
            </a:r>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9</a:t>
            </a:fld>
            <a:endParaRPr lang="de-DE"/>
          </a:p>
        </p:txBody>
      </p:sp>
    </p:spTree>
    <p:extLst>
      <p:ext uri="{BB962C8B-B14F-4D97-AF65-F5344CB8AC3E}">
        <p14:creationId xmlns:p14="http://schemas.microsoft.com/office/powerpoint/2010/main" val="12360467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The selected articles are then placed in our current inspection machines and images are captured. The raw images are saved in a .</a:t>
            </a:r>
            <a:r>
              <a:rPr lang="en-US" altLang="zh-TW" dirty="0" err="1"/>
              <a:t>pgm</a:t>
            </a:r>
            <a:r>
              <a:rPr lang="en-US" altLang="zh-TW" dirty="0"/>
              <a:t> format that doesn’t contain any color information, which requires to apply so-called </a:t>
            </a:r>
            <a:r>
              <a:rPr lang="en-US" altLang="zh-TW" dirty="0" err="1"/>
              <a:t>bayer</a:t>
            </a:r>
            <a:r>
              <a:rPr lang="en-US" altLang="zh-TW" dirty="0"/>
              <a:t> filters to convert to a RGB format.</a:t>
            </a:r>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10</a:t>
            </a:fld>
            <a:endParaRPr lang="de-DE"/>
          </a:p>
        </p:txBody>
      </p:sp>
    </p:spTree>
    <p:extLst>
      <p:ext uri="{BB962C8B-B14F-4D97-AF65-F5344CB8AC3E}">
        <p14:creationId xmlns:p14="http://schemas.microsoft.com/office/powerpoint/2010/main" val="12547209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after converting the .</a:t>
            </a:r>
            <a:r>
              <a:rPr lang="en-US" altLang="zh-TW" dirty="0" err="1"/>
              <a:t>pgm</a:t>
            </a:r>
            <a:r>
              <a:rPr lang="en-US" altLang="zh-TW" dirty="0"/>
              <a:t> image to .jpg and application of Bayer filters, the color information is restored, ready for the next steps. </a:t>
            </a:r>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11</a:t>
            </a:fld>
            <a:endParaRPr lang="de-DE"/>
          </a:p>
        </p:txBody>
      </p:sp>
    </p:spTree>
    <p:extLst>
      <p:ext uri="{BB962C8B-B14F-4D97-AF65-F5344CB8AC3E}">
        <p14:creationId xmlns:p14="http://schemas.microsoft.com/office/powerpoint/2010/main" val="30296320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If you noticed, now the sides are filled with black, this step is crucial to maintain the aspect ratio. For instance, YOLO requires 640*640 resolution, and without this step, the images will be stretched and cause bias in the training phase, which is something we don’t want to see</a:t>
            </a:r>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12</a:t>
            </a:fld>
            <a:endParaRPr lang="de-DE"/>
          </a:p>
        </p:txBody>
      </p:sp>
    </p:spTree>
    <p:extLst>
      <p:ext uri="{BB962C8B-B14F-4D97-AF65-F5344CB8AC3E}">
        <p14:creationId xmlns:p14="http://schemas.microsoft.com/office/powerpoint/2010/main" val="785043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After that, augmentation is applied to the images to increase the size of the dataset. The main augmentation that I applied was only a horizontal flip, the reason being the images of the sealing parts are always taken from the exact same angle and lighting condition, which gives no necessity to apply any color-based augmentations.</a:t>
            </a:r>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13</a:t>
            </a:fld>
            <a:endParaRPr lang="de-DE"/>
          </a:p>
        </p:txBody>
      </p:sp>
    </p:spTree>
    <p:extLst>
      <p:ext uri="{BB962C8B-B14F-4D97-AF65-F5344CB8AC3E}">
        <p14:creationId xmlns:p14="http://schemas.microsoft.com/office/powerpoint/2010/main" val="35923688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If you look closely to the image, you will find already some defects on it. For instance, this one on the top. If we zoom in …</a:t>
            </a:r>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14</a:t>
            </a:fld>
            <a:endParaRPr lang="de-DE"/>
          </a:p>
        </p:txBody>
      </p:sp>
    </p:spTree>
    <p:extLst>
      <p:ext uri="{BB962C8B-B14F-4D97-AF65-F5344CB8AC3E}">
        <p14:creationId xmlns:p14="http://schemas.microsoft.com/office/powerpoint/2010/main" val="3124187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If we zoom in, we can see this is a typical cut, which brings us to the next topic, the different defect classes that are considered in this study.</a:t>
            </a:r>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15</a:t>
            </a:fld>
            <a:endParaRPr lang="de-DE"/>
          </a:p>
        </p:txBody>
      </p:sp>
    </p:spTree>
    <p:extLst>
      <p:ext uri="{BB962C8B-B14F-4D97-AF65-F5344CB8AC3E}">
        <p14:creationId xmlns:p14="http://schemas.microsoft.com/office/powerpoint/2010/main" val="10349657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The most common defect types that are considered in my study includes 4 classes: Cut, Missing, Rough </a:t>
            </a:r>
            <a:r>
              <a:rPr lang="en-US" altLang="zh-TW" dirty="0" err="1"/>
              <a:t>Surfance</a:t>
            </a:r>
            <a:r>
              <a:rPr lang="en-US" altLang="zh-TW" dirty="0"/>
              <a:t>, and Excessive Material.</a:t>
            </a:r>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16</a:t>
            </a:fld>
            <a:endParaRPr lang="de-DE"/>
          </a:p>
        </p:txBody>
      </p:sp>
    </p:spTree>
    <p:extLst>
      <p:ext uri="{BB962C8B-B14F-4D97-AF65-F5344CB8AC3E}">
        <p14:creationId xmlns:p14="http://schemas.microsoft.com/office/powerpoint/2010/main" val="20954976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 Cut is typically a V-shaped indentation that might be caused by a sharp object during production or transportation.</a:t>
            </a:r>
          </a:p>
          <a:p>
            <a:endParaRPr lang="en-US" altLang="zh-TW" dirty="0"/>
          </a:p>
          <a:p>
            <a:r>
              <a:rPr lang="en-US" altLang="zh-TW" dirty="0"/>
              <a:t>A Missing is typically a U-shaped void where a portion of the material is absent.</a:t>
            </a:r>
          </a:p>
          <a:p>
            <a:endParaRPr lang="en-US" altLang="zh-TW" dirty="0"/>
          </a:p>
          <a:p>
            <a:r>
              <a:rPr lang="en-US" altLang="zh-TW" dirty="0"/>
              <a:t>Rough Surface is typically an area that lacks smoothness on the surface.</a:t>
            </a:r>
          </a:p>
          <a:p>
            <a:endParaRPr lang="en-US" altLang="zh-TW" dirty="0"/>
          </a:p>
          <a:p>
            <a:r>
              <a:rPr lang="en-US" altLang="zh-TW" dirty="0"/>
              <a:t>And finally, excess material is identified as additional material that remains on the surface of the sealing product.</a:t>
            </a:r>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19</a:t>
            </a:fld>
            <a:endParaRPr lang="de-DE"/>
          </a:p>
        </p:txBody>
      </p:sp>
    </p:spTree>
    <p:extLst>
      <p:ext uri="{BB962C8B-B14F-4D97-AF65-F5344CB8AC3E}">
        <p14:creationId xmlns:p14="http://schemas.microsoft.com/office/powerpoint/2010/main" val="20406021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The main technique that was used in Model Training is Transfer Learning. Transfer learning is a technique in machine learning where knowledge from one task is applied to improve learning in a related task. It is beneficial in scenarios with limited data or computational resources. This technique also reduce training time significantly, which is very useful in an industrial application.</a:t>
            </a:r>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20</a:t>
            </a:fld>
            <a:endParaRPr lang="de-DE"/>
          </a:p>
        </p:txBody>
      </p:sp>
    </p:spTree>
    <p:extLst>
      <p:ext uri="{BB962C8B-B14F-4D97-AF65-F5344CB8AC3E}">
        <p14:creationId xmlns:p14="http://schemas.microsoft.com/office/powerpoint/2010/main" val="24847597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In order to put transfer learning into practice, several pre-trained models were explored. Including models from </a:t>
            </a:r>
            <a:r>
              <a:rPr lang="en-US" altLang="zh-TW" dirty="0" err="1"/>
              <a:t>Tensorflow</a:t>
            </a:r>
            <a:r>
              <a:rPr lang="en-US" altLang="zh-TW" dirty="0"/>
              <a:t> Object Detection framework such as SSD and </a:t>
            </a:r>
            <a:r>
              <a:rPr lang="en-US" altLang="zh-TW" dirty="0" err="1"/>
              <a:t>EfficientDet</a:t>
            </a:r>
            <a:r>
              <a:rPr lang="en-US" altLang="zh-TW" dirty="0"/>
              <a:t>. Also the YOLOv8 models from the </a:t>
            </a:r>
            <a:r>
              <a:rPr lang="en-US" altLang="zh-TW" dirty="0" err="1"/>
              <a:t>Pytorch</a:t>
            </a:r>
            <a:r>
              <a:rPr lang="en-US" altLang="zh-TW" dirty="0"/>
              <a:t> framework including the n, s, m, l, x models. They we pre-trained on the COCO dataset, which contains 330K images and 80 classes, providing them with robust object detection capabilities.</a:t>
            </a:r>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21</a:t>
            </a:fld>
            <a:endParaRPr lang="de-DE"/>
          </a:p>
        </p:txBody>
      </p:sp>
    </p:spTree>
    <p:extLst>
      <p:ext uri="{BB962C8B-B14F-4D97-AF65-F5344CB8AC3E}">
        <p14:creationId xmlns:p14="http://schemas.microsoft.com/office/powerpoint/2010/main" val="37304608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The primary metrics used for model evaluation were mean average precision, training time, and inference speed. The mean average precision and inference speed is especially important in industrial environment. One hidden metric that I want to mention is how easy it is to set up the framework. From my experiences, TFOD requires a long list of dependencies were as YOLOv8 was integrated as a pip package, making the installation process very simple. And this is a big advantage in my opinion.</a:t>
            </a:r>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22</a:t>
            </a:fld>
            <a:endParaRPr lang="de-DE"/>
          </a:p>
        </p:txBody>
      </p:sp>
    </p:spTree>
    <p:extLst>
      <p:ext uri="{BB962C8B-B14F-4D97-AF65-F5344CB8AC3E}">
        <p14:creationId xmlns:p14="http://schemas.microsoft.com/office/powerpoint/2010/main" val="846792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Before we dive into the results, I want to quickly go through what is ONNX. ONNX is an open-source project originally developed by Microsoft and Facebook. It allows model conversion between different frameworks. Most importantly, by converting models to ONNX format, the inference speed on CPU will be improved without sacrificing the accuracy. How much does it improve in my case? We will find out in the results section.</a:t>
            </a:r>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23</a:t>
            </a:fld>
            <a:endParaRPr lang="de-DE"/>
          </a:p>
        </p:txBody>
      </p:sp>
    </p:spTree>
    <p:extLst>
      <p:ext uri="{BB962C8B-B14F-4D97-AF65-F5344CB8AC3E}">
        <p14:creationId xmlns:p14="http://schemas.microsoft.com/office/powerpoint/2010/main" val="301498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With all the methodology being clear, now let’s dive into the results.</a:t>
            </a:r>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24</a:t>
            </a:fld>
            <a:endParaRPr lang="de-DE"/>
          </a:p>
        </p:txBody>
      </p:sp>
    </p:spTree>
    <p:extLst>
      <p:ext uri="{BB962C8B-B14F-4D97-AF65-F5344CB8AC3E}">
        <p14:creationId xmlns:p14="http://schemas.microsoft.com/office/powerpoint/2010/main" val="4700337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Before I started my official experiments, I was exploring different pre-trained models like I explained earlier to test their capabilities. And eventually I want to decide on which models to do my official experiments on. In this case, I chose the best performing model I tried from TFOD and the smallest model from YOLOv8 as a side by side comparison.</a:t>
            </a:r>
          </a:p>
          <a:p>
            <a:endParaRPr lang="en-US" altLang="zh-TW" dirty="0"/>
          </a:p>
          <a:p>
            <a:r>
              <a:rPr lang="en-US" altLang="zh-TW" dirty="0"/>
              <a:t>This graph shows a comparison between SSD model and the YOLOv8n model across three key metrics: mean average precision (</a:t>
            </a:r>
            <a:r>
              <a:rPr lang="en-US" altLang="zh-TW" dirty="0" err="1"/>
              <a:t>mAP</a:t>
            </a:r>
            <a:r>
              <a:rPr lang="en-US" altLang="zh-TW" dirty="0"/>
              <a:t>), training time, and inference speed.</a:t>
            </a:r>
          </a:p>
          <a:p>
            <a:r>
              <a:rPr lang="en-US" altLang="zh-TW" dirty="0"/>
              <a:t>As you can see, YOLOv8n outperforms SSD in all categories. It achieves significantly higher precision (with an </a:t>
            </a:r>
            <a:r>
              <a:rPr lang="en-US" altLang="zh-TW" dirty="0" err="1"/>
              <a:t>mAP</a:t>
            </a:r>
            <a:r>
              <a:rPr lang="en-US" altLang="zh-TW" dirty="0"/>
              <a:t> of 80.4) and lower inference time, making it a faster and more accurate choice. The performance of SSD was also reduced after introducing an additional class, further highlighting the advantages of YOLOv8n in handling more complex tasks.</a:t>
            </a:r>
          </a:p>
          <a:p>
            <a:r>
              <a:rPr lang="en-US" altLang="zh-TW" dirty="0"/>
              <a:t>These results led me to select YOLOv8 family as the most suitable model for this application. Further training attempts were conducted on all the models from the YOLOv8 families.</a:t>
            </a:r>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25</a:t>
            </a:fld>
            <a:endParaRPr lang="de-DE"/>
          </a:p>
        </p:txBody>
      </p:sp>
    </p:spTree>
    <p:extLst>
      <p:ext uri="{BB962C8B-B14F-4D97-AF65-F5344CB8AC3E}">
        <p14:creationId xmlns:p14="http://schemas.microsoft.com/office/powerpoint/2010/main" val="33730091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“So, this is my training result,  this graph shows the </a:t>
            </a:r>
            <a:r>
              <a:rPr lang="en-US" altLang="zh-TW" dirty="0" err="1"/>
              <a:t>mAP</a:t>
            </a:r>
            <a:r>
              <a:rPr lang="en-US" altLang="zh-TW" dirty="0"/>
              <a:t> of different YOLOv8 model variants plotted against their ONNX CPU inference times."</a:t>
            </a:r>
          </a:p>
          <a:p>
            <a:r>
              <a:rPr lang="en-US" altLang="zh-TW" dirty="0"/>
              <a:t>"As you can see, YOLOv8n has the lowest inference time, lesser than 100 </a:t>
            </a:r>
            <a:r>
              <a:rPr lang="en-US" altLang="zh-TW" dirty="0" err="1"/>
              <a:t>ms</a:t>
            </a:r>
            <a:r>
              <a:rPr lang="en-US" altLang="zh-TW" dirty="0"/>
              <a:t>, while YOLOv8x has the highest </a:t>
            </a:r>
            <a:r>
              <a:rPr lang="en-US" altLang="zh-TW" dirty="0" err="1"/>
              <a:t>mAP</a:t>
            </a:r>
            <a:r>
              <a:rPr lang="en-US" altLang="zh-TW" dirty="0"/>
              <a:t>, but at the cost of much longer inference time, over 800 </a:t>
            </a:r>
            <a:r>
              <a:rPr lang="en-US" altLang="zh-TW" dirty="0" err="1"/>
              <a:t>ms.</a:t>
            </a:r>
            <a:r>
              <a:rPr lang="en-US" altLang="zh-TW" dirty="0"/>
              <a:t>"</a:t>
            </a:r>
          </a:p>
          <a:p>
            <a:r>
              <a:rPr lang="en-US" altLang="zh-TW" dirty="0"/>
              <a:t>"The choice of model depends on the specific trade-offs you’re willing to make between speed and accuracy. For example, if time is a critical factor, YOLOv8n would be the most suitable option, but if accuracy is more important, you might opt for YOLOv8x."</a:t>
            </a:r>
          </a:p>
          <a:p>
            <a:r>
              <a:rPr lang="en-US" altLang="zh-TW" dirty="0"/>
              <a:t>In our production environment, where inspection speed is critical, the YOLOv8x model is not worth the trade-off. Its significantly slower inference speed provides only marginal improvements in precision, making it less suitable for our needs.</a:t>
            </a:r>
          </a:p>
          <a:p>
            <a:r>
              <a:rPr lang="en-US" altLang="zh-TW" dirty="0"/>
              <a:t>One the other hand, the n model and the s model is more suitable for a industrial environment due to their faster inference speed and promising precision score.</a:t>
            </a:r>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26</a:t>
            </a:fld>
            <a:endParaRPr lang="de-DE"/>
          </a:p>
        </p:txBody>
      </p:sp>
    </p:spTree>
    <p:extLst>
      <p:ext uri="{BB962C8B-B14F-4D97-AF65-F5344CB8AC3E}">
        <p14:creationId xmlns:p14="http://schemas.microsoft.com/office/powerpoint/2010/main" val="25555260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Now let’s take a look at the Inference speed comparison and speedup factors across different model format and devices</a:t>
            </a:r>
          </a:p>
          <a:p>
            <a:endParaRPr lang="en-US" altLang="zh-TW" dirty="0"/>
          </a:p>
          <a:p>
            <a:r>
              <a:rPr lang="en-US" altLang="zh-TW" dirty="0"/>
              <a:t>The green bar shows that it gives a 2-2.5 inference speed boost from </a:t>
            </a:r>
            <a:r>
              <a:rPr lang="en-US" altLang="zh-TW" dirty="0" err="1"/>
              <a:t>PyTorch</a:t>
            </a:r>
            <a:r>
              <a:rPr lang="en-US" altLang="zh-TW" dirty="0"/>
              <a:t> format to ONNX format on CPU.</a:t>
            </a:r>
          </a:p>
          <a:p>
            <a:endParaRPr lang="en-US" altLang="zh-TW" dirty="0"/>
          </a:p>
          <a:p>
            <a:r>
              <a:rPr lang="en-US" altLang="zh-TW" dirty="0"/>
              <a:t>The blue bar shows that it gives a 4.5 up to 9 times inference speed boost from CPU to GPU</a:t>
            </a:r>
          </a:p>
          <a:p>
            <a:endParaRPr lang="en-US" altLang="zh-TW" dirty="0"/>
          </a:p>
          <a:p>
            <a:r>
              <a:rPr lang="en-US" altLang="zh-TW" dirty="0"/>
              <a:t>And this tells us that if we want to most optimal inference speed, a GPU is required.  And if we want optimal speed on CPU, using the .</a:t>
            </a:r>
            <a:r>
              <a:rPr lang="en-US" altLang="zh-TW" dirty="0" err="1"/>
              <a:t>onnx</a:t>
            </a:r>
            <a:r>
              <a:rPr lang="en-US" altLang="zh-TW" dirty="0"/>
              <a:t> format is optimal.</a:t>
            </a:r>
          </a:p>
          <a:p>
            <a:endParaRPr lang="en-US" altLang="zh-TW"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"This analysis helps to understand how different models and hardware configurations impact the performance of the YOLOv8 models in various scenarios."</a:t>
            </a:r>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27</a:t>
            </a:fld>
            <a:endParaRPr lang="de-DE"/>
          </a:p>
        </p:txBody>
      </p:sp>
    </p:spTree>
    <p:extLst>
      <p:ext uri="{BB962C8B-B14F-4D97-AF65-F5344CB8AC3E}">
        <p14:creationId xmlns:p14="http://schemas.microsoft.com/office/powerpoint/2010/main" val="20728580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Finally, let’s move on to the Conclusion and Future Work</a:t>
            </a:r>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28</a:t>
            </a:fld>
            <a:endParaRPr lang="de-DE"/>
          </a:p>
        </p:txBody>
      </p:sp>
    </p:spTree>
    <p:extLst>
      <p:ext uri="{BB962C8B-B14F-4D97-AF65-F5344CB8AC3E}">
        <p14:creationId xmlns:p14="http://schemas.microsoft.com/office/powerpoint/2010/main" val="6816597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"To summarize the key findings and contributions of my research, I fine-tuned YOLOv8 models specifically for surface defect inspection of sealing products. This model showed significant improvements in detection accuracy and speed."</a:t>
            </a:r>
          </a:p>
          <a:p>
            <a:r>
              <a:rPr lang="en-US" altLang="zh-TW" dirty="0"/>
              <a:t>"In addition, a user-friendly GUI was developed that simplifies interaction with the system, making it more accessible for operators in an industrial setting."</a:t>
            </a:r>
          </a:p>
          <a:p>
            <a:r>
              <a:rPr lang="en-US" altLang="zh-TW" dirty="0"/>
              <a:t>"A GitHub repository was established and maintained to ensure version control and collaboration on this project, facilitating future improvements."</a:t>
            </a:r>
          </a:p>
          <a:p>
            <a:r>
              <a:rPr lang="en-US" altLang="zh-TW" dirty="0"/>
              <a:t>"Finally, detection tasks was optimized and speed up on CPU using the ONNX format, making the system more efficient for environments where GPU resources may not be available."</a:t>
            </a:r>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29</a:t>
            </a:fld>
            <a:endParaRPr lang="de-DE"/>
          </a:p>
        </p:txBody>
      </p:sp>
    </p:spTree>
    <p:extLst>
      <p:ext uri="{BB962C8B-B14F-4D97-AF65-F5344CB8AC3E}">
        <p14:creationId xmlns:p14="http://schemas.microsoft.com/office/powerpoint/2010/main" val="15527843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"Looking forward, several areas will require further attention. First, the expansion of datasets is essential to improve the system's ability to detect a wider range of sealing products beyond just lip seals."</a:t>
            </a:r>
          </a:p>
          <a:p>
            <a:r>
              <a:rPr lang="en-US" altLang="zh-TW" dirty="0"/>
              <a:t>"Additionally, increasing the robustness of the codebase will ensure greater stability and reliability in production environments."</a:t>
            </a:r>
          </a:p>
          <a:p>
            <a:r>
              <a:rPr lang="en-US" altLang="zh-TW" dirty="0"/>
              <a:t>"Continual enhancement of dataset quality is another key factor, as better data will lead to better model performance."</a:t>
            </a:r>
          </a:p>
          <a:p>
            <a:r>
              <a:rPr lang="en-US" altLang="zh-TW" dirty="0"/>
              <a:t>"Lastly, we aim to deploy the AI system onto both hardware and cloud platforms to enhance flexibility and scalability."</a:t>
            </a:r>
          </a:p>
          <a:p>
            <a:endParaRPr lang="zh-TW" altLang="en-US" dirty="0"/>
          </a:p>
        </p:txBody>
      </p:sp>
      <p:sp>
        <p:nvSpPr>
          <p:cNvPr id="4" name="投影片編號版面配置區 3"/>
          <p:cNvSpPr>
            <a:spLocks noGrp="1"/>
          </p:cNvSpPr>
          <p:nvPr>
            <p:ph type="sldNum" sz="quarter" idx="5"/>
          </p:nvPr>
        </p:nvSpPr>
        <p:spPr/>
        <p:txBody>
          <a:bodyPr/>
          <a:lstStyle/>
          <a:p>
            <a:pPr>
              <a:defRPr/>
            </a:pPr>
            <a:fld id="{9F7CB66E-A447-4065-9F91-1B57DAA1358E}" type="slidenum">
              <a:rPr lang="de-DE" smtClean="0"/>
              <a:pPr>
                <a:defRPr/>
              </a:pPr>
              <a:t>30</a:t>
            </a:fld>
            <a:endParaRPr lang="de-DE"/>
          </a:p>
        </p:txBody>
      </p:sp>
    </p:spTree>
    <p:extLst>
      <p:ext uri="{BB962C8B-B14F-4D97-AF65-F5344CB8AC3E}">
        <p14:creationId xmlns:p14="http://schemas.microsoft.com/office/powerpoint/2010/main" val="62209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49251" y="592139"/>
            <a:ext cx="6644216" cy="647700"/>
          </a:xfrm>
        </p:spPr>
        <p:txBody>
          <a:bodyPr/>
          <a:lstStyle/>
          <a:p>
            <a:r>
              <a:rPr lang="de-DE"/>
              <a:t>Titelmasterformat durch Klicken bearbeiten</a:t>
            </a:r>
          </a:p>
        </p:txBody>
      </p:sp>
      <p:sp>
        <p:nvSpPr>
          <p:cNvPr id="3" name="Inhaltsplatzhalter 2"/>
          <p:cNvSpPr>
            <a:spLocks noGrp="1"/>
          </p:cNvSpPr>
          <p:nvPr>
            <p:ph idx="1"/>
          </p:nvPr>
        </p:nvSpPr>
        <p:spPr>
          <a:xfrm>
            <a:off x="857252" y="2143128"/>
            <a:ext cx="10572749" cy="39830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6" name="Rectangle 23"/>
          <p:cNvSpPr>
            <a:spLocks noGrp="1" noChangeArrowheads="1"/>
          </p:cNvSpPr>
          <p:nvPr>
            <p:ph type="sldNum" sz="quarter" idx="12"/>
          </p:nvPr>
        </p:nvSpPr>
        <p:spPr>
          <a:xfrm>
            <a:off x="11088556" y="6610351"/>
            <a:ext cx="747845" cy="247651"/>
          </a:xfrm>
          <a:ln/>
        </p:spPr>
        <p:txBody>
          <a:bodyPr/>
          <a:lstStyle>
            <a:lvl1pPr>
              <a:defRPr>
                <a:solidFill>
                  <a:schemeClr val="tx1"/>
                </a:solidFill>
              </a:defRPr>
            </a:lvl1pPr>
          </a:lstStyle>
          <a:p>
            <a:pPr>
              <a:defRPr/>
            </a:pPr>
            <a:fld id="{C929A957-B8AC-4276-BB5E-21B31F81D38B}" type="slidenum">
              <a:rPr lang="de-DE" smtClean="0"/>
              <a:pPr>
                <a:defRPr/>
              </a:pPr>
              <a:t>‹#›</a:t>
            </a:fld>
            <a:endParaRPr lang="de-DE"/>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49251" y="592139"/>
            <a:ext cx="6644216" cy="647700"/>
          </a:xfrm>
        </p:spPr>
        <p:txBody>
          <a:bodyPr/>
          <a:lstStyle/>
          <a:p>
            <a:r>
              <a:rPr lang="de-DE"/>
              <a:t>Titelmasterformat durch Klicken bearbeiten</a:t>
            </a:r>
          </a:p>
        </p:txBody>
      </p:sp>
      <p:sp>
        <p:nvSpPr>
          <p:cNvPr id="3" name="Inhaltsplatzhalter 2"/>
          <p:cNvSpPr>
            <a:spLocks noGrp="1"/>
          </p:cNvSpPr>
          <p:nvPr>
            <p:ph idx="1"/>
          </p:nvPr>
        </p:nvSpPr>
        <p:spPr>
          <a:xfrm>
            <a:off x="857252" y="2143128"/>
            <a:ext cx="10572749" cy="39830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6" name="Rectangle 23"/>
          <p:cNvSpPr>
            <a:spLocks noGrp="1" noChangeArrowheads="1"/>
          </p:cNvSpPr>
          <p:nvPr>
            <p:ph type="sldNum" sz="quarter" idx="12"/>
          </p:nvPr>
        </p:nvSpPr>
        <p:spPr>
          <a:xfrm>
            <a:off x="11088556" y="6610351"/>
            <a:ext cx="747845" cy="247651"/>
          </a:xfrm>
          <a:ln/>
        </p:spPr>
        <p:txBody>
          <a:bodyPr/>
          <a:lstStyle>
            <a:lvl1pPr>
              <a:defRPr>
                <a:solidFill>
                  <a:schemeClr val="tx1"/>
                </a:solidFill>
              </a:defRPr>
            </a:lvl1pPr>
          </a:lstStyle>
          <a:p>
            <a:pPr>
              <a:defRPr/>
            </a:pPr>
            <a:fld id="{C929A957-B8AC-4276-BB5E-21B31F81D38B}" type="slidenum">
              <a:rPr lang="de-DE" smtClean="0"/>
              <a:pPr>
                <a:defRPr/>
              </a:pPr>
              <a:t>‹#›</a:t>
            </a:fld>
            <a:endParaRPr lang="de-DE"/>
          </a:p>
        </p:txBody>
      </p:sp>
    </p:spTree>
    <p:extLst>
      <p:ext uri="{BB962C8B-B14F-4D97-AF65-F5344CB8AC3E}">
        <p14:creationId xmlns:p14="http://schemas.microsoft.com/office/powerpoint/2010/main" val="9805042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66" name="Rectangle 42"/>
          <p:cNvSpPr>
            <a:spLocks noChangeArrowheads="1"/>
          </p:cNvSpPr>
          <p:nvPr userDrawn="1"/>
        </p:nvSpPr>
        <p:spPr bwMode="auto">
          <a:xfrm>
            <a:off x="0" y="6597652"/>
            <a:ext cx="12192000" cy="260351"/>
          </a:xfrm>
          <a:prstGeom prst="rect">
            <a:avLst/>
          </a:prstGeom>
          <a:solidFill>
            <a:srgbClr val="D0D1D6"/>
          </a:solidFill>
          <a:ln w="9525">
            <a:noFill/>
            <a:miter lim="800000"/>
            <a:headEnd/>
            <a:tailEnd/>
          </a:ln>
          <a:effectLst/>
        </p:spPr>
        <p:txBody>
          <a:bodyPr wrap="none" anchor="ctr"/>
          <a:lstStyle/>
          <a:p>
            <a:pPr>
              <a:defRPr/>
            </a:pPr>
            <a:endParaRPr lang="de-DE"/>
          </a:p>
        </p:txBody>
      </p:sp>
      <p:sp>
        <p:nvSpPr>
          <p:cNvPr id="1067" name="Rectangle 43"/>
          <p:cNvSpPr>
            <a:spLocks noChangeArrowheads="1"/>
          </p:cNvSpPr>
          <p:nvPr userDrawn="1"/>
        </p:nvSpPr>
        <p:spPr bwMode="auto">
          <a:xfrm>
            <a:off x="0" y="673100"/>
            <a:ext cx="12192000" cy="412751"/>
          </a:xfrm>
          <a:prstGeom prst="rect">
            <a:avLst/>
          </a:prstGeom>
          <a:solidFill>
            <a:srgbClr val="009CDD"/>
          </a:solidFill>
          <a:ln w="9525">
            <a:noFill/>
            <a:miter lim="800000"/>
            <a:headEnd/>
            <a:tailEnd/>
          </a:ln>
          <a:effectLst/>
        </p:spPr>
        <p:txBody>
          <a:bodyPr wrap="none" anchor="ctr"/>
          <a:lstStyle/>
          <a:p>
            <a:pPr>
              <a:defRPr/>
            </a:pPr>
            <a:endParaRPr lang="de-DE"/>
          </a:p>
        </p:txBody>
      </p:sp>
      <p:sp>
        <p:nvSpPr>
          <p:cNvPr id="1065" name="Rectangle 41"/>
          <p:cNvSpPr>
            <a:spLocks noChangeArrowheads="1"/>
          </p:cNvSpPr>
          <p:nvPr userDrawn="1"/>
        </p:nvSpPr>
        <p:spPr bwMode="auto">
          <a:xfrm>
            <a:off x="9935637" y="142880"/>
            <a:ext cx="2256367" cy="765175"/>
          </a:xfrm>
          <a:prstGeom prst="rect">
            <a:avLst/>
          </a:prstGeom>
          <a:solidFill>
            <a:srgbClr val="D0D1D6"/>
          </a:solidFill>
          <a:ln w="9525">
            <a:noFill/>
            <a:miter lim="800000"/>
            <a:headEnd/>
            <a:tailEnd/>
          </a:ln>
          <a:effectLst/>
        </p:spPr>
        <p:txBody>
          <a:bodyPr wrap="none" anchor="ctr"/>
          <a:lstStyle/>
          <a:p>
            <a:pPr>
              <a:defRPr/>
            </a:pPr>
            <a:endParaRPr lang="de-DE"/>
          </a:p>
        </p:txBody>
      </p:sp>
      <p:sp>
        <p:nvSpPr>
          <p:cNvPr id="1053" name="Rectangle 29"/>
          <p:cNvSpPr>
            <a:spLocks noChangeArrowheads="1"/>
          </p:cNvSpPr>
          <p:nvPr/>
        </p:nvSpPr>
        <p:spPr bwMode="auto">
          <a:xfrm>
            <a:off x="0" y="4"/>
            <a:ext cx="12192000" cy="765175"/>
          </a:xfrm>
          <a:prstGeom prst="rect">
            <a:avLst/>
          </a:prstGeom>
          <a:solidFill>
            <a:srgbClr val="D0D1D6"/>
          </a:solidFill>
          <a:ln w="9525">
            <a:noFill/>
            <a:miter lim="800000"/>
            <a:headEnd/>
            <a:tailEnd/>
          </a:ln>
          <a:effectLst/>
        </p:spPr>
        <p:txBody>
          <a:bodyPr wrap="none" anchor="ctr"/>
          <a:lstStyle/>
          <a:p>
            <a:pPr>
              <a:defRPr/>
            </a:pPr>
            <a:endParaRPr lang="de-DE"/>
          </a:p>
        </p:txBody>
      </p:sp>
      <p:sp>
        <p:nvSpPr>
          <p:cNvPr id="1031" name="Titelplatzhalter 1"/>
          <p:cNvSpPr>
            <a:spLocks noGrp="1"/>
          </p:cNvSpPr>
          <p:nvPr>
            <p:ph type="title"/>
          </p:nvPr>
        </p:nvSpPr>
        <p:spPr bwMode="auto">
          <a:xfrm>
            <a:off x="349251" y="592139"/>
            <a:ext cx="6644216" cy="6477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a:t>Titel</a:t>
            </a:r>
          </a:p>
        </p:txBody>
      </p:sp>
      <p:sp>
        <p:nvSpPr>
          <p:cNvPr id="1032" name="Textplatzhalter 2"/>
          <p:cNvSpPr>
            <a:spLocks noGrp="1"/>
          </p:cNvSpPr>
          <p:nvPr>
            <p:ph type="body" idx="1"/>
          </p:nvPr>
        </p:nvSpPr>
        <p:spPr bwMode="auto">
          <a:xfrm>
            <a:off x="857252" y="2143128"/>
            <a:ext cx="10572749" cy="39830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de-DE"/>
              <a:t>Textmasterformate durch Klicken bearbeiten</a:t>
            </a:r>
          </a:p>
          <a:p>
            <a:pPr lvl="1"/>
            <a:r>
              <a:rPr lang="de-DE"/>
              <a:t>Zweite Ebene</a:t>
            </a:r>
          </a:p>
        </p:txBody>
      </p:sp>
      <p:sp>
        <p:nvSpPr>
          <p:cNvPr id="1047" name="Rectangle 23"/>
          <p:cNvSpPr>
            <a:spLocks noGrp="1" noChangeArrowheads="1"/>
          </p:cNvSpPr>
          <p:nvPr>
            <p:ph type="sldNum" sz="quarter" idx="4"/>
          </p:nvPr>
        </p:nvSpPr>
        <p:spPr bwMode="auto">
          <a:xfrm>
            <a:off x="8991600" y="6610351"/>
            <a:ext cx="2844800" cy="47625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rgbClr val="4D4D4D"/>
                </a:solidFill>
              </a:defRPr>
            </a:lvl1pPr>
          </a:lstStyle>
          <a:p>
            <a:pPr>
              <a:defRPr/>
            </a:pPr>
            <a:fld id="{AEA732C0-0B01-4AC7-AE2B-4396A76CC6C4}" type="slidenum">
              <a:rPr lang="de-DE"/>
              <a:pPr>
                <a:defRPr/>
              </a:pPr>
              <a:t>‹#›</a:t>
            </a:fld>
            <a:endParaRPr lang="de-DE"/>
          </a:p>
        </p:txBody>
      </p:sp>
      <p:sp>
        <p:nvSpPr>
          <p:cNvPr id="15" name="Rectangle 43"/>
          <p:cNvSpPr>
            <a:spLocks noChangeArrowheads="1"/>
          </p:cNvSpPr>
          <p:nvPr userDrawn="1"/>
        </p:nvSpPr>
        <p:spPr bwMode="auto">
          <a:xfrm>
            <a:off x="8832304" y="764704"/>
            <a:ext cx="2016224" cy="301850"/>
          </a:xfrm>
          <a:prstGeom prst="rect">
            <a:avLst/>
          </a:prstGeom>
          <a:solidFill>
            <a:srgbClr val="009CDD"/>
          </a:solidFill>
          <a:ln w="9525">
            <a:noFill/>
            <a:miter lim="800000"/>
            <a:headEnd/>
            <a:tailEnd/>
          </a:ln>
          <a:effectLst/>
        </p:spPr>
        <p:txBody>
          <a:bodyPr wrap="none" anchor="ctr"/>
          <a:lstStyle/>
          <a:p>
            <a:pPr>
              <a:defRPr/>
            </a:pPr>
            <a:endParaRPr lang="de-DE"/>
          </a:p>
        </p:txBody>
      </p:sp>
      <p:sp>
        <p:nvSpPr>
          <p:cNvPr id="1060" name="AutoShape 36"/>
          <p:cNvSpPr>
            <a:spLocks noChangeArrowheads="1"/>
          </p:cNvSpPr>
          <p:nvPr userDrawn="1"/>
        </p:nvSpPr>
        <p:spPr bwMode="auto">
          <a:xfrm>
            <a:off x="9891046" y="99095"/>
            <a:ext cx="2160000" cy="809625"/>
          </a:xfrm>
          <a:prstGeom prst="roundRect">
            <a:avLst>
              <a:gd name="adj" fmla="val 34315"/>
            </a:avLst>
          </a:prstGeom>
          <a:solidFill>
            <a:srgbClr val="D0D1D6"/>
          </a:solidFill>
          <a:ln w="9525">
            <a:noFill/>
            <a:round/>
            <a:headEnd/>
            <a:tailEnd/>
          </a:ln>
          <a:effectLst/>
        </p:spPr>
        <p:txBody>
          <a:bodyPr wrap="none" anchor="ctr"/>
          <a:lstStyle/>
          <a:p>
            <a:pPr algn="ctr">
              <a:defRPr/>
            </a:pPr>
            <a:endParaRPr lang="de-DE">
              <a:solidFill>
                <a:srgbClr val="BCBEC4"/>
              </a:solidFill>
            </a:endParaRPr>
          </a:p>
        </p:txBody>
      </p:sp>
      <p:pic>
        <p:nvPicPr>
          <p:cNvPr id="13" name="Picture 32"/>
          <p:cNvPicPr>
            <a:picLocks noChangeAspect="1" noChangeArrowheads="1"/>
          </p:cNvPicPr>
          <p:nvPr userDrawn="1"/>
        </p:nvPicPr>
        <p:blipFill>
          <a:blip r:embed="rId4" cstate="print">
            <a:extLst>
              <a:ext uri="{28A0092B-C50C-407E-A947-70E740481C1C}">
                <a14:useLocalDpi xmlns:a14="http://schemas.microsoft.com/office/drawing/2010/main" val="0"/>
              </a:ext>
            </a:extLst>
          </a:blip>
          <a:stretch>
            <a:fillRect/>
          </a:stretch>
        </p:blipFill>
        <p:spPr bwMode="auto">
          <a:xfrm>
            <a:off x="10217924" y="185008"/>
            <a:ext cx="1620000" cy="608061"/>
          </a:xfrm>
          <a:prstGeom prst="rect">
            <a:avLst/>
          </a:prstGeom>
          <a:noFill/>
          <a:ln w="9525">
            <a:noFill/>
            <a:miter lim="800000"/>
            <a:headEnd/>
            <a:tailEnd/>
          </a:ln>
        </p:spPr>
      </p:pic>
      <p:sp>
        <p:nvSpPr>
          <p:cNvPr id="14" name="Datumsplatzhalter 1"/>
          <p:cNvSpPr txBox="1">
            <a:spLocks/>
          </p:cNvSpPr>
          <p:nvPr userDrawn="1"/>
        </p:nvSpPr>
        <p:spPr bwMode="auto">
          <a:xfrm>
            <a:off x="144440" y="6633384"/>
            <a:ext cx="8388000" cy="252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de-DE"/>
            </a:defPPr>
            <a:lvl1pPr algn="l" rtl="0" fontAlgn="base">
              <a:spcBef>
                <a:spcPct val="50000"/>
              </a:spcBef>
              <a:spcAft>
                <a:spcPct val="0"/>
              </a:spcAft>
              <a:defRPr sz="900" kern="1200">
                <a:solidFill>
                  <a:srgbClr val="4D4D4D"/>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tabLst>
                <a:tab pos="88900" algn="l"/>
              </a:tabLst>
              <a:defRPr/>
            </a:pPr>
            <a:r>
              <a:rPr lang="de-DE" sz="700"/>
              <a:t>© </a:t>
            </a:r>
            <a:r>
              <a:rPr lang="en-US" sz="700"/>
              <a:t>Wallstabe &amp; Schneider GmbH &amp; Co. KG. All rights reserved, also regarding any disposal, exploitation, reproduction, editing, distribution as well as in the event of applications for the industrial property rights. </a:t>
            </a:r>
            <a:endParaRPr lang="de-DE"/>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hdr="0" ftr="0"/>
  <p:txStyles>
    <p:titleStyle>
      <a:lvl1pPr algn="l" rtl="0" eaLnBrk="0" fontAlgn="base" hangingPunct="0">
        <a:spcBef>
          <a:spcPct val="0"/>
        </a:spcBef>
        <a:spcAft>
          <a:spcPct val="0"/>
        </a:spcAft>
        <a:defRPr sz="2000" b="1" kern="1200">
          <a:solidFill>
            <a:schemeClr val="bg1"/>
          </a:solidFill>
          <a:latin typeface="Arial" pitchFamily="34" charset="0"/>
          <a:ea typeface="+mj-ea"/>
          <a:cs typeface="Arial" pitchFamily="34" charset="0"/>
        </a:defRPr>
      </a:lvl1pPr>
      <a:lvl2pPr algn="l" rtl="0" eaLnBrk="0" fontAlgn="base" hangingPunct="0">
        <a:spcBef>
          <a:spcPct val="0"/>
        </a:spcBef>
        <a:spcAft>
          <a:spcPct val="0"/>
        </a:spcAft>
        <a:defRPr sz="2000" b="1">
          <a:solidFill>
            <a:schemeClr val="bg1"/>
          </a:solidFill>
          <a:latin typeface="Arial" charset="0"/>
          <a:cs typeface="Arial" charset="0"/>
        </a:defRPr>
      </a:lvl2pPr>
      <a:lvl3pPr algn="l" rtl="0" eaLnBrk="0" fontAlgn="base" hangingPunct="0">
        <a:spcBef>
          <a:spcPct val="0"/>
        </a:spcBef>
        <a:spcAft>
          <a:spcPct val="0"/>
        </a:spcAft>
        <a:defRPr sz="2000" b="1">
          <a:solidFill>
            <a:schemeClr val="bg1"/>
          </a:solidFill>
          <a:latin typeface="Arial" charset="0"/>
          <a:cs typeface="Arial" charset="0"/>
        </a:defRPr>
      </a:lvl3pPr>
      <a:lvl4pPr algn="l" rtl="0" eaLnBrk="0" fontAlgn="base" hangingPunct="0">
        <a:spcBef>
          <a:spcPct val="0"/>
        </a:spcBef>
        <a:spcAft>
          <a:spcPct val="0"/>
        </a:spcAft>
        <a:defRPr sz="2000" b="1">
          <a:solidFill>
            <a:schemeClr val="bg1"/>
          </a:solidFill>
          <a:latin typeface="Arial" charset="0"/>
          <a:cs typeface="Arial" charset="0"/>
        </a:defRPr>
      </a:lvl4pPr>
      <a:lvl5pPr algn="l" rtl="0" eaLnBrk="0" fontAlgn="base" hangingPunct="0">
        <a:spcBef>
          <a:spcPct val="0"/>
        </a:spcBef>
        <a:spcAft>
          <a:spcPct val="0"/>
        </a:spcAft>
        <a:defRPr sz="2000" b="1">
          <a:solidFill>
            <a:schemeClr val="bg1"/>
          </a:solidFill>
          <a:latin typeface="Arial" charset="0"/>
          <a:cs typeface="Arial" charset="0"/>
        </a:defRPr>
      </a:lvl5pPr>
      <a:lvl6pPr marL="457189" algn="l" rtl="0" fontAlgn="base">
        <a:spcBef>
          <a:spcPct val="0"/>
        </a:spcBef>
        <a:spcAft>
          <a:spcPct val="0"/>
        </a:spcAft>
        <a:defRPr sz="2000" b="1">
          <a:solidFill>
            <a:schemeClr val="bg1"/>
          </a:solidFill>
          <a:latin typeface="Arial" charset="0"/>
          <a:cs typeface="Arial" charset="0"/>
        </a:defRPr>
      </a:lvl6pPr>
      <a:lvl7pPr marL="914377" algn="l" rtl="0" fontAlgn="base">
        <a:spcBef>
          <a:spcPct val="0"/>
        </a:spcBef>
        <a:spcAft>
          <a:spcPct val="0"/>
        </a:spcAft>
        <a:defRPr sz="2000" b="1">
          <a:solidFill>
            <a:schemeClr val="bg1"/>
          </a:solidFill>
          <a:latin typeface="Arial" charset="0"/>
          <a:cs typeface="Arial" charset="0"/>
        </a:defRPr>
      </a:lvl7pPr>
      <a:lvl8pPr marL="1371566" algn="l" rtl="0" fontAlgn="base">
        <a:spcBef>
          <a:spcPct val="0"/>
        </a:spcBef>
        <a:spcAft>
          <a:spcPct val="0"/>
        </a:spcAft>
        <a:defRPr sz="2000" b="1">
          <a:solidFill>
            <a:schemeClr val="bg1"/>
          </a:solidFill>
          <a:latin typeface="Arial" charset="0"/>
          <a:cs typeface="Arial" charset="0"/>
        </a:defRPr>
      </a:lvl8pPr>
      <a:lvl9pPr marL="1828754" algn="l" rtl="0" fontAlgn="base">
        <a:spcBef>
          <a:spcPct val="0"/>
        </a:spcBef>
        <a:spcAft>
          <a:spcPct val="0"/>
        </a:spcAft>
        <a:defRPr sz="2000" b="1">
          <a:solidFill>
            <a:schemeClr val="bg1"/>
          </a:solidFill>
          <a:latin typeface="Arial" charset="0"/>
          <a:cs typeface="Arial" charset="0"/>
        </a:defRPr>
      </a:lvl9pPr>
    </p:titleStyle>
    <p:bodyStyle>
      <a:lvl1pPr marL="271456" indent="-271456" algn="l" rtl="0" eaLnBrk="0" fontAlgn="base" hangingPunct="0">
        <a:spcBef>
          <a:spcPct val="20000"/>
        </a:spcBef>
        <a:spcAft>
          <a:spcPct val="0"/>
        </a:spcAft>
        <a:buSzPct val="140000"/>
        <a:buBlip>
          <a:blip r:embed="rId5"/>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6"/>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rgbClr val="4D4D4D"/>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rgbClr val="4D4D4D"/>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rgbClr val="4D4D4D"/>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1.jpeg"/></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2.jpeg"/></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2.jpe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110952"/>
            <a:ext cx="12192000" cy="5486400"/>
          </a:xfrm>
          <a:prstGeom prst="rect">
            <a:avLst/>
          </a:prstGeom>
        </p:spPr>
      </p:pic>
      <p:sp>
        <p:nvSpPr>
          <p:cNvPr id="3075" name="Foliennummernplatzhalter 5"/>
          <p:cNvSpPr>
            <a:spLocks noGrp="1"/>
          </p:cNvSpPr>
          <p:nvPr>
            <p:ph type="sldNum" sz="quarter" idx="12"/>
          </p:nvPr>
        </p:nvSpPr>
        <p:spPr>
          <a:noFill/>
        </p:spPr>
        <p:txBody>
          <a:bodyPr/>
          <a:lstStyle/>
          <a:p>
            <a:fld id="{4FF658BC-1504-48D2-BA9B-8C68272DF844}" type="slidenum">
              <a:rPr lang="de-DE" smtClean="0"/>
              <a:pPr/>
              <a:t>1</a:t>
            </a:fld>
            <a:endParaRPr lang="de-DE"/>
          </a:p>
        </p:txBody>
      </p:sp>
      <p:sp>
        <p:nvSpPr>
          <p:cNvPr id="7" name="Textfeld 6"/>
          <p:cNvSpPr txBox="1"/>
          <p:nvPr/>
        </p:nvSpPr>
        <p:spPr>
          <a:xfrm>
            <a:off x="407368" y="5301208"/>
            <a:ext cx="4128660" cy="1046440"/>
          </a:xfrm>
          <a:prstGeom prst="rect">
            <a:avLst/>
          </a:prstGeom>
          <a:noFill/>
        </p:spPr>
        <p:txBody>
          <a:bodyPr wrap="square" lIns="91440" tIns="45720" rIns="91440" bIns="45720" rtlCol="0" anchor="t">
            <a:spAutoFit/>
          </a:bodyPr>
          <a:lstStyle/>
          <a:p>
            <a:pPr>
              <a:spcAft>
                <a:spcPts val="600"/>
              </a:spcAft>
            </a:pPr>
            <a:r>
              <a:rPr lang="de-DE" sz="2000" b="1">
                <a:solidFill>
                  <a:schemeClr val="bg1"/>
                </a:solidFill>
                <a:latin typeface="Arial"/>
                <a:cs typeface="Arial"/>
              </a:rPr>
              <a:t>Thesis Defense</a:t>
            </a:r>
            <a:endParaRPr lang="de-DE" sz="2000" b="1">
              <a:solidFill>
                <a:schemeClr val="bg1"/>
              </a:solidFill>
              <a:cs typeface="Arial"/>
            </a:endParaRPr>
          </a:p>
          <a:p>
            <a:pPr>
              <a:spcAft>
                <a:spcPts val="600"/>
              </a:spcAft>
            </a:pPr>
            <a:r>
              <a:rPr lang="de-DE" sz="1600" err="1">
                <a:solidFill>
                  <a:schemeClr val="bg1"/>
                </a:solidFill>
                <a:latin typeface="Arial"/>
                <a:cs typeface="Arial"/>
              </a:rPr>
              <a:t>Niederwinkling</a:t>
            </a:r>
            <a:r>
              <a:rPr lang="de-DE" sz="1600">
                <a:solidFill>
                  <a:schemeClr val="bg1"/>
                </a:solidFill>
                <a:latin typeface="Arial"/>
                <a:cs typeface="Arial"/>
              </a:rPr>
              <a:t>, 12.09.24</a:t>
            </a:r>
          </a:p>
          <a:p>
            <a:pPr>
              <a:spcAft>
                <a:spcPts val="600"/>
              </a:spcAft>
            </a:pPr>
            <a:r>
              <a:rPr lang="de-DE" sz="1600">
                <a:solidFill>
                  <a:schemeClr val="bg1"/>
                </a:solidFill>
                <a:latin typeface="Arial"/>
                <a:cs typeface="Arial"/>
              </a:rPr>
              <a:t>Wen-Hao Wu</a:t>
            </a:r>
            <a:endParaRPr lang="de-DE" sz="1600">
              <a:solidFill>
                <a:schemeClr val="bg1"/>
              </a:solidFill>
              <a:cs typeface="Arial"/>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28925" y="1358602"/>
            <a:ext cx="6372225" cy="2876550"/>
          </a:xfrm>
          <a:prstGeom prst="rect">
            <a:avLst/>
          </a:prstGeom>
        </p:spPr>
      </p:pic>
      <p:sp>
        <p:nvSpPr>
          <p:cNvPr id="3075" name="Foliennummernplatzhalter 5"/>
          <p:cNvSpPr>
            <a:spLocks noGrp="1"/>
          </p:cNvSpPr>
          <p:nvPr>
            <p:ph type="sldNum" sz="quarter" idx="12"/>
          </p:nvPr>
        </p:nvSpPr>
        <p:spPr>
          <a:noFill/>
        </p:spPr>
        <p:txBody>
          <a:bodyPr/>
          <a:lstStyle/>
          <a:p>
            <a:fld id="{4FF658BC-1504-48D2-BA9B-8C68272DF844}" type="slidenum">
              <a:rPr lang="de-DE" smtClean="0"/>
              <a:pPr/>
              <a:t>2</a:t>
            </a:fld>
            <a:endParaRPr lang="de-DE"/>
          </a:p>
        </p:txBody>
      </p:sp>
      <p:sp>
        <p:nvSpPr>
          <p:cNvPr id="2" name="!!thesis title">
            <a:extLst>
              <a:ext uri="{FF2B5EF4-FFF2-40B4-BE49-F238E27FC236}">
                <a16:creationId xmlns:a16="http://schemas.microsoft.com/office/drawing/2014/main" id="{C17F07A7-96AD-9150-8A21-8373740E15BD}"/>
              </a:ext>
            </a:extLst>
          </p:cNvPr>
          <p:cNvSpPr txBox="1"/>
          <p:nvPr/>
        </p:nvSpPr>
        <p:spPr>
          <a:xfrm>
            <a:off x="1248297" y="4620146"/>
            <a:ext cx="951978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800" err="1">
                <a:latin typeface="Arial"/>
                <a:cs typeface="Arial"/>
              </a:rPr>
              <a:t>Automated</a:t>
            </a:r>
            <a:r>
              <a:rPr lang="de-DE" sz="2800">
                <a:latin typeface="Arial"/>
                <a:cs typeface="Arial"/>
              </a:rPr>
              <a:t> Visual </a:t>
            </a:r>
            <a:r>
              <a:rPr lang="de-DE" sz="2800" err="1">
                <a:latin typeface="Arial"/>
                <a:cs typeface="Arial"/>
              </a:rPr>
              <a:t>Inspection</a:t>
            </a:r>
            <a:r>
              <a:rPr lang="de-DE" sz="2800">
                <a:latin typeface="Arial"/>
                <a:cs typeface="Arial"/>
              </a:rPr>
              <a:t> </a:t>
            </a:r>
            <a:r>
              <a:rPr lang="de-DE" sz="2800" err="1">
                <a:latin typeface="Arial"/>
                <a:cs typeface="Arial"/>
              </a:rPr>
              <a:t>of</a:t>
            </a:r>
            <a:r>
              <a:rPr lang="de-DE" sz="2800">
                <a:latin typeface="Arial"/>
                <a:cs typeface="Arial"/>
              </a:rPr>
              <a:t> </a:t>
            </a:r>
            <a:r>
              <a:rPr lang="de-DE" sz="2800" err="1">
                <a:latin typeface="Arial"/>
                <a:cs typeface="Arial"/>
              </a:rPr>
              <a:t>Sealing</a:t>
            </a:r>
            <a:r>
              <a:rPr lang="de-DE" sz="2800">
                <a:latin typeface="Arial"/>
                <a:cs typeface="Arial"/>
              </a:rPr>
              <a:t> Products:</a:t>
            </a:r>
            <a:endParaRPr lang="de-DE" sz="2800">
              <a:cs typeface="Arial"/>
            </a:endParaRPr>
          </a:p>
          <a:p>
            <a:pPr algn="ctr"/>
            <a:r>
              <a:rPr lang="de-DE" sz="2800">
                <a:latin typeface="Arial"/>
                <a:cs typeface="Arial"/>
              </a:rPr>
              <a:t>Implementation and Evaluation </a:t>
            </a:r>
            <a:r>
              <a:rPr lang="de-DE" sz="2800" err="1">
                <a:latin typeface="Arial"/>
                <a:cs typeface="Arial"/>
              </a:rPr>
              <a:t>of</a:t>
            </a:r>
            <a:r>
              <a:rPr lang="de-DE" sz="2800">
                <a:latin typeface="Arial"/>
                <a:cs typeface="Arial"/>
              </a:rPr>
              <a:t> an AI-</a:t>
            </a:r>
            <a:r>
              <a:rPr lang="de-DE" sz="2800" err="1">
                <a:latin typeface="Arial"/>
                <a:cs typeface="Arial"/>
              </a:rPr>
              <a:t>based</a:t>
            </a:r>
            <a:r>
              <a:rPr lang="de-DE" sz="2800">
                <a:latin typeface="Arial"/>
                <a:cs typeface="Arial"/>
              </a:rPr>
              <a:t> System</a:t>
            </a:r>
            <a:endParaRPr lang="de-DE" sz="2800">
              <a:cs typeface="Arial"/>
            </a:endParaRPr>
          </a:p>
        </p:txBody>
      </p:sp>
    </p:spTree>
    <p:extLst>
      <p:ext uri="{BB962C8B-B14F-4D97-AF65-F5344CB8AC3E}">
        <p14:creationId xmlns:p14="http://schemas.microsoft.com/office/powerpoint/2010/main" val="24033316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Foliennummernplatzhalter 5"/>
          <p:cNvSpPr>
            <a:spLocks noGrp="1"/>
          </p:cNvSpPr>
          <p:nvPr>
            <p:ph type="sldNum" sz="quarter" idx="12"/>
          </p:nvPr>
        </p:nvSpPr>
        <p:spPr>
          <a:noFill/>
        </p:spPr>
        <p:txBody>
          <a:bodyPr/>
          <a:lstStyle/>
          <a:p>
            <a:fld id="{4ACCD8DA-ADF9-4473-9BD1-76EC6243D444}" type="slidenum">
              <a:rPr lang="de-DE" smtClean="0"/>
              <a:pPr/>
              <a:t>3</a:t>
            </a:fld>
            <a:endParaRPr lang="de-DE"/>
          </a:p>
        </p:txBody>
      </p:sp>
      <p:sp>
        <p:nvSpPr>
          <p:cNvPr id="4100" name="!!thesis title"/>
          <p:cNvSpPr>
            <a:spLocks noGrp="1"/>
          </p:cNvSpPr>
          <p:nvPr>
            <p:ph type="title"/>
          </p:nvPr>
        </p:nvSpPr>
        <p:spPr/>
        <p:txBody>
          <a:bodyPr/>
          <a:lstStyle/>
          <a:p>
            <a:pPr eaLnBrk="1" hangingPunct="1"/>
            <a:r>
              <a:rPr lang="de-DE">
                <a:latin typeface="Arial" charset="0"/>
                <a:cs typeface="Arial" charset="0"/>
              </a:rPr>
              <a:t>Agenda</a:t>
            </a:r>
          </a:p>
        </p:txBody>
      </p:sp>
      <p:sp>
        <p:nvSpPr>
          <p:cNvPr id="4101" name="!!Introduction"/>
          <p:cNvSpPr>
            <a:spLocks noGrp="1"/>
          </p:cNvSpPr>
          <p:nvPr>
            <p:ph type="body" idx="1"/>
          </p:nvPr>
        </p:nvSpPr>
        <p:spPr>
          <a:xfrm>
            <a:off x="909896" y="1719754"/>
            <a:ext cx="10574399" cy="574655"/>
          </a:xfrm>
        </p:spPr>
        <p:txBody>
          <a:bodyPr/>
          <a:lstStyle/>
          <a:p>
            <a:pPr marL="271145" indent="-271145" eaLnBrk="1" hangingPunct="1">
              <a:lnSpc>
                <a:spcPct val="200000"/>
              </a:lnSpc>
            </a:pPr>
            <a:r>
              <a:rPr lang="de-DE" err="1">
                <a:latin typeface="Arial"/>
                <a:cs typeface="Arial"/>
              </a:rPr>
              <a:t>Introduction</a:t>
            </a:r>
            <a:endParaRPr lang="de-DE" err="1">
              <a:latin typeface="Arial" charset="0"/>
              <a:cs typeface="Arial" charset="0"/>
            </a:endParaRPr>
          </a:p>
        </p:txBody>
      </p:sp>
      <p:sp>
        <p:nvSpPr>
          <p:cNvPr id="4" name="!!Dataset Collection">
            <a:extLst>
              <a:ext uri="{FF2B5EF4-FFF2-40B4-BE49-F238E27FC236}">
                <a16:creationId xmlns:a16="http://schemas.microsoft.com/office/drawing/2014/main" id="{B8F86B42-C014-8372-E127-0788B6B341D0}"/>
              </a:ext>
            </a:extLst>
          </p:cNvPr>
          <p:cNvSpPr txBox="1">
            <a:spLocks/>
          </p:cNvSpPr>
          <p:nvPr/>
        </p:nvSpPr>
        <p:spPr bwMode="auto">
          <a:xfrm>
            <a:off x="903958" y="229768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3"/>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4"/>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err="1">
                <a:latin typeface="Arial"/>
                <a:cs typeface="Arial"/>
              </a:rPr>
              <a:t>Methodology</a:t>
            </a:r>
            <a:endParaRPr lang="en-US" err="1"/>
          </a:p>
          <a:p>
            <a:pPr marL="271145" indent="-271145">
              <a:lnSpc>
                <a:spcPct val="200000"/>
              </a:lnSpc>
            </a:pPr>
            <a:endParaRPr lang="de-DE" dirty="0">
              <a:latin typeface="Arial" charset="0"/>
              <a:cs typeface="Arial" charset="0"/>
            </a:endParaRPr>
          </a:p>
          <a:p>
            <a:pPr marL="271145" indent="-271145">
              <a:lnSpc>
                <a:spcPct val="200000"/>
              </a:lnSpc>
            </a:pPr>
            <a:endParaRPr lang="de-DE">
              <a:latin typeface="Arial" charset="0"/>
              <a:cs typeface="Arial" charset="0"/>
            </a:endParaRPr>
          </a:p>
        </p:txBody>
      </p:sp>
      <p:sp>
        <p:nvSpPr>
          <p:cNvPr id="8" name="!!Performance Evaluation">
            <a:extLst>
              <a:ext uri="{FF2B5EF4-FFF2-40B4-BE49-F238E27FC236}">
                <a16:creationId xmlns:a16="http://schemas.microsoft.com/office/drawing/2014/main" id="{B14C5E6F-6622-39FF-243A-A0581C1C9E5C}"/>
              </a:ext>
            </a:extLst>
          </p:cNvPr>
          <p:cNvSpPr txBox="1">
            <a:spLocks/>
          </p:cNvSpPr>
          <p:nvPr/>
        </p:nvSpPr>
        <p:spPr bwMode="auto">
          <a:xfrm>
            <a:off x="912417" y="2859649"/>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3"/>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4"/>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dirty="0" err="1">
                <a:latin typeface="Arial"/>
                <a:cs typeface="Arial"/>
              </a:rPr>
              <a:t>Results</a:t>
            </a:r>
            <a:endParaRPr lang="en-US" dirty="0" err="1"/>
          </a:p>
        </p:txBody>
      </p:sp>
      <p:sp>
        <p:nvSpPr>
          <p:cNvPr id="10" name="!!Conclusion">
            <a:extLst>
              <a:ext uri="{FF2B5EF4-FFF2-40B4-BE49-F238E27FC236}">
                <a16:creationId xmlns:a16="http://schemas.microsoft.com/office/drawing/2014/main" id="{9ABC9B59-1D6B-BFA5-120E-7C52FD0A4394}"/>
              </a:ext>
            </a:extLst>
          </p:cNvPr>
          <p:cNvSpPr txBox="1">
            <a:spLocks/>
          </p:cNvSpPr>
          <p:nvPr/>
        </p:nvSpPr>
        <p:spPr bwMode="auto">
          <a:xfrm>
            <a:off x="916918" y="3448021"/>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3"/>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4"/>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err="1">
                <a:latin typeface="Arial"/>
                <a:cs typeface="Arial"/>
              </a:rPr>
              <a:t>Conclusion</a:t>
            </a:r>
            <a:r>
              <a:rPr lang="de-DE">
                <a:latin typeface="Arial"/>
                <a:cs typeface="Arial"/>
              </a:rPr>
              <a:t> and Future Work</a:t>
            </a:r>
          </a:p>
          <a:p>
            <a:pPr marL="271145" indent="-271145">
              <a:lnSpc>
                <a:spcPct val="200000"/>
              </a:lnSpc>
            </a:pPr>
            <a:endParaRPr lang="de-DE">
              <a:latin typeface="Arial" charset="0"/>
              <a:cs typeface="Arial" charset="0"/>
            </a:endParaRPr>
          </a:p>
        </p:txBody>
      </p:sp>
      <p:pic>
        <p:nvPicPr>
          <p:cNvPr id="5" name="Grafik 4" descr="Ein Bild, das Text, Screenshot, Grafikdesign, Grafiken enthält.&#10;&#10;Beschreibung automatisch generiert.">
            <a:extLst>
              <a:ext uri="{FF2B5EF4-FFF2-40B4-BE49-F238E27FC236}">
                <a16:creationId xmlns:a16="http://schemas.microsoft.com/office/drawing/2014/main" id="{C1E87D55-8F82-7785-C532-3347F040AED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05744" y="2010433"/>
            <a:ext cx="6372225" cy="2876550"/>
          </a:xfrm>
          <a:prstGeom prst="rect">
            <a:avLst/>
          </a:prstGeom>
        </p:spPr>
      </p:pic>
    </p:spTree>
    <p:extLst>
      <p:ext uri="{BB962C8B-B14F-4D97-AF65-F5344CB8AC3E}">
        <p14:creationId xmlns:p14="http://schemas.microsoft.com/office/powerpoint/2010/main" val="56032134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Foliennummernplatzhalter 5"/>
          <p:cNvSpPr>
            <a:spLocks noGrp="1"/>
          </p:cNvSpPr>
          <p:nvPr>
            <p:ph type="sldNum" sz="quarter" idx="12"/>
          </p:nvPr>
        </p:nvSpPr>
        <p:spPr>
          <a:noFill/>
        </p:spPr>
        <p:txBody>
          <a:bodyPr/>
          <a:lstStyle/>
          <a:p>
            <a:fld id="{4ACCD8DA-ADF9-4473-9BD1-76EC6243D444}" type="slidenum">
              <a:rPr lang="de-DE" smtClean="0"/>
              <a:pPr/>
              <a:t>4</a:t>
            </a:fld>
            <a:endParaRPr lang="de-DE"/>
          </a:p>
        </p:txBody>
      </p:sp>
      <p:sp>
        <p:nvSpPr>
          <p:cNvPr id="4100" name="!!thesis title"/>
          <p:cNvSpPr>
            <a:spLocks noGrp="1"/>
          </p:cNvSpPr>
          <p:nvPr>
            <p:ph type="title"/>
          </p:nvPr>
        </p:nvSpPr>
        <p:spPr/>
        <p:txBody>
          <a:bodyPr/>
          <a:lstStyle/>
          <a:p>
            <a:pPr eaLnBrk="1" hangingPunct="1"/>
            <a:r>
              <a:rPr lang="de-DE">
                <a:latin typeface="Arial" charset="0"/>
                <a:cs typeface="Arial" charset="0"/>
              </a:rPr>
              <a:t>Agenda</a:t>
            </a:r>
          </a:p>
        </p:txBody>
      </p:sp>
      <p:sp>
        <p:nvSpPr>
          <p:cNvPr id="4101" name="!!Introduction"/>
          <p:cNvSpPr>
            <a:spLocks noGrp="1"/>
          </p:cNvSpPr>
          <p:nvPr>
            <p:ph type="body" idx="1"/>
          </p:nvPr>
        </p:nvSpPr>
        <p:spPr>
          <a:xfrm>
            <a:off x="909896" y="1719754"/>
            <a:ext cx="10574399" cy="574655"/>
          </a:xfrm>
        </p:spPr>
        <p:txBody>
          <a:bodyPr/>
          <a:lstStyle/>
          <a:p>
            <a:pPr marL="271145" indent="-271145" eaLnBrk="1" hangingPunct="1">
              <a:lnSpc>
                <a:spcPct val="200000"/>
              </a:lnSpc>
            </a:pPr>
            <a:r>
              <a:rPr lang="de-DE" b="1" dirty="0" err="1">
                <a:latin typeface="Arial"/>
                <a:cs typeface="Arial"/>
              </a:rPr>
              <a:t>Introduction</a:t>
            </a:r>
            <a:endParaRPr lang="de-DE" b="1" dirty="0">
              <a:latin typeface="Arial" charset="0"/>
              <a:cs typeface="Arial" charset="0"/>
            </a:endParaRPr>
          </a:p>
        </p:txBody>
      </p:sp>
      <p:sp>
        <p:nvSpPr>
          <p:cNvPr id="4" name="!!Dataset Collection">
            <a:extLst>
              <a:ext uri="{FF2B5EF4-FFF2-40B4-BE49-F238E27FC236}">
                <a16:creationId xmlns:a16="http://schemas.microsoft.com/office/drawing/2014/main" id="{B8F86B42-C014-8372-E127-0788B6B341D0}"/>
              </a:ext>
            </a:extLst>
          </p:cNvPr>
          <p:cNvSpPr txBox="1">
            <a:spLocks/>
          </p:cNvSpPr>
          <p:nvPr/>
        </p:nvSpPr>
        <p:spPr bwMode="auto">
          <a:xfrm>
            <a:off x="903958" y="229768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3"/>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4"/>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err="1">
                <a:latin typeface="Arial"/>
                <a:cs typeface="Arial"/>
              </a:rPr>
              <a:t>Methodology</a:t>
            </a:r>
            <a:endParaRPr lang="en-US" err="1"/>
          </a:p>
          <a:p>
            <a:pPr marL="271145" indent="-271145">
              <a:lnSpc>
                <a:spcPct val="200000"/>
              </a:lnSpc>
            </a:pPr>
            <a:endParaRPr lang="de-DE" dirty="0">
              <a:latin typeface="Arial" charset="0"/>
              <a:cs typeface="Arial" charset="0"/>
            </a:endParaRPr>
          </a:p>
          <a:p>
            <a:pPr marL="271145" indent="-271145">
              <a:lnSpc>
                <a:spcPct val="200000"/>
              </a:lnSpc>
            </a:pPr>
            <a:endParaRPr lang="de-DE">
              <a:latin typeface="Arial" charset="0"/>
              <a:cs typeface="Arial" charset="0"/>
            </a:endParaRPr>
          </a:p>
        </p:txBody>
      </p:sp>
      <p:sp>
        <p:nvSpPr>
          <p:cNvPr id="8" name="!!Performance Evaluation">
            <a:extLst>
              <a:ext uri="{FF2B5EF4-FFF2-40B4-BE49-F238E27FC236}">
                <a16:creationId xmlns:a16="http://schemas.microsoft.com/office/drawing/2014/main" id="{B14C5E6F-6622-39FF-243A-A0581C1C9E5C}"/>
              </a:ext>
            </a:extLst>
          </p:cNvPr>
          <p:cNvSpPr txBox="1">
            <a:spLocks/>
          </p:cNvSpPr>
          <p:nvPr/>
        </p:nvSpPr>
        <p:spPr bwMode="auto">
          <a:xfrm>
            <a:off x="912417" y="2859649"/>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3"/>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4"/>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err="1">
                <a:latin typeface="Arial"/>
                <a:cs typeface="Arial"/>
              </a:rPr>
              <a:t>Results</a:t>
            </a:r>
            <a:endParaRPr lang="en-US">
              <a:latin typeface="Arial"/>
              <a:cs typeface="Arial"/>
            </a:endParaRPr>
          </a:p>
          <a:p>
            <a:pPr marL="271145" indent="-271145">
              <a:lnSpc>
                <a:spcPct val="200000"/>
              </a:lnSpc>
            </a:pPr>
            <a:endParaRPr lang="de-DE" dirty="0">
              <a:latin typeface="Arial" charset="0"/>
              <a:cs typeface="Arial" charset="0"/>
            </a:endParaRPr>
          </a:p>
        </p:txBody>
      </p:sp>
      <p:sp>
        <p:nvSpPr>
          <p:cNvPr id="10" name="!!Conclusion">
            <a:extLst>
              <a:ext uri="{FF2B5EF4-FFF2-40B4-BE49-F238E27FC236}">
                <a16:creationId xmlns:a16="http://schemas.microsoft.com/office/drawing/2014/main" id="{9ABC9B59-1D6B-BFA5-120E-7C52FD0A4394}"/>
              </a:ext>
            </a:extLst>
          </p:cNvPr>
          <p:cNvSpPr txBox="1">
            <a:spLocks/>
          </p:cNvSpPr>
          <p:nvPr/>
        </p:nvSpPr>
        <p:spPr bwMode="auto">
          <a:xfrm>
            <a:off x="916918" y="3448021"/>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3"/>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4"/>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err="1">
                <a:latin typeface="Arial"/>
                <a:cs typeface="Arial"/>
              </a:rPr>
              <a:t>Conclusion</a:t>
            </a:r>
            <a:r>
              <a:rPr lang="de-DE">
                <a:latin typeface="Arial"/>
                <a:cs typeface="Arial"/>
              </a:rPr>
              <a:t> and Future Work</a:t>
            </a:r>
          </a:p>
          <a:p>
            <a:pPr marL="271145" indent="-271145">
              <a:lnSpc>
                <a:spcPct val="200000"/>
              </a:lnSpc>
            </a:pPr>
            <a:endParaRPr lang="de-DE">
              <a:latin typeface="Arial" charset="0"/>
              <a:cs typeface="Arial" charset="0"/>
            </a:endParaRPr>
          </a:p>
        </p:txBody>
      </p:sp>
      <p:pic>
        <p:nvPicPr>
          <p:cNvPr id="5" name="Grafik 4" descr="Ein Bild, das Text, Screenshot, Grafikdesign, Grafiken enthält.&#10;&#10;Beschreibung automatisch generiert.">
            <a:extLst>
              <a:ext uri="{FF2B5EF4-FFF2-40B4-BE49-F238E27FC236}">
                <a16:creationId xmlns:a16="http://schemas.microsoft.com/office/drawing/2014/main" id="{C1E87D55-8F82-7785-C532-3347F040AED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05744" y="2010433"/>
            <a:ext cx="6372225" cy="2876550"/>
          </a:xfrm>
          <a:prstGeom prst="rect">
            <a:avLst/>
          </a:prstGeom>
        </p:spPr>
      </p:pic>
    </p:spTree>
    <p:extLst>
      <p:ext uri="{BB962C8B-B14F-4D97-AF65-F5344CB8AC3E}">
        <p14:creationId xmlns:p14="http://schemas.microsoft.com/office/powerpoint/2010/main" val="39014342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troduction">
            <a:extLst>
              <a:ext uri="{FF2B5EF4-FFF2-40B4-BE49-F238E27FC236}">
                <a16:creationId xmlns:a16="http://schemas.microsoft.com/office/drawing/2014/main" id="{AF1986D5-5B89-1092-A8F9-731C47DE7DCA}"/>
              </a:ext>
            </a:extLst>
          </p:cNvPr>
          <p:cNvSpPr>
            <a:spLocks noGrp="1"/>
          </p:cNvSpPr>
          <p:nvPr>
            <p:ph type="title"/>
          </p:nvPr>
        </p:nvSpPr>
        <p:spPr/>
        <p:txBody>
          <a:bodyPr/>
          <a:lstStyle/>
          <a:p>
            <a:r>
              <a:rPr lang="de-DE" err="1">
                <a:latin typeface="Arial"/>
                <a:cs typeface="Arial"/>
              </a:rPr>
              <a:t>Introduction</a:t>
            </a:r>
            <a:endParaRPr lang="de-DE" err="1"/>
          </a:p>
        </p:txBody>
      </p:sp>
      <p:sp>
        <p:nvSpPr>
          <p:cNvPr id="3" name="Inhaltsplatzhalter 2">
            <a:extLst>
              <a:ext uri="{FF2B5EF4-FFF2-40B4-BE49-F238E27FC236}">
                <a16:creationId xmlns:a16="http://schemas.microsoft.com/office/drawing/2014/main" id="{2862E554-4541-0159-D115-B0E0DA5FA7A5}"/>
              </a:ext>
            </a:extLst>
          </p:cNvPr>
          <p:cNvSpPr>
            <a:spLocks noGrp="1"/>
          </p:cNvSpPr>
          <p:nvPr>
            <p:ph idx="1"/>
          </p:nvPr>
        </p:nvSpPr>
        <p:spPr>
          <a:xfrm>
            <a:off x="814322" y="2132396"/>
            <a:ext cx="10647877" cy="3993771"/>
          </a:xfrm>
        </p:spPr>
        <p:txBody>
          <a:bodyPr/>
          <a:lstStyle/>
          <a:p>
            <a:pPr marL="271145" indent="-271145"/>
            <a:r>
              <a:rPr lang="de-DE">
                <a:latin typeface="Arial"/>
                <a:cs typeface="Arial"/>
              </a:rPr>
              <a:t>Wallstabe &amp; Schneider </a:t>
            </a:r>
            <a:r>
              <a:rPr lang="de-DE" err="1">
                <a:latin typeface="Arial"/>
                <a:cs typeface="Arial"/>
              </a:rPr>
              <a:t>manufactures</a:t>
            </a:r>
            <a:r>
              <a:rPr lang="de-DE">
                <a:latin typeface="Arial"/>
                <a:cs typeface="Arial"/>
              </a:rPr>
              <a:t> different </a:t>
            </a:r>
            <a:r>
              <a:rPr lang="de-DE" err="1">
                <a:latin typeface="Arial"/>
                <a:cs typeface="Arial"/>
              </a:rPr>
              <a:t>kinds</a:t>
            </a:r>
            <a:r>
              <a:rPr lang="de-DE">
                <a:latin typeface="Arial"/>
                <a:cs typeface="Arial"/>
              </a:rPr>
              <a:t> </a:t>
            </a:r>
            <a:r>
              <a:rPr lang="de-DE" err="1">
                <a:latin typeface="Arial"/>
                <a:cs typeface="Arial"/>
              </a:rPr>
              <a:t>of</a:t>
            </a:r>
            <a:r>
              <a:rPr lang="de-DE">
                <a:latin typeface="Arial"/>
                <a:cs typeface="Arial"/>
              </a:rPr>
              <a:t> </a:t>
            </a:r>
            <a:r>
              <a:rPr lang="de-DE" b="1" err="1">
                <a:latin typeface="Arial"/>
                <a:cs typeface="Arial"/>
              </a:rPr>
              <a:t>sealing</a:t>
            </a:r>
            <a:r>
              <a:rPr lang="de-DE" b="1">
                <a:latin typeface="Arial"/>
                <a:cs typeface="Arial"/>
              </a:rPr>
              <a:t> </a:t>
            </a:r>
            <a:r>
              <a:rPr lang="de-DE" b="1" err="1">
                <a:latin typeface="Arial"/>
                <a:cs typeface="Arial"/>
              </a:rPr>
              <a:t>solutions</a:t>
            </a:r>
            <a:endParaRPr lang="de-DE" b="1">
              <a:latin typeface="Arial"/>
              <a:cs typeface="Arial"/>
            </a:endParaRPr>
          </a:p>
          <a:p>
            <a:pPr marL="271145" indent="-271145"/>
            <a:r>
              <a:rPr lang="de-DE">
                <a:latin typeface="Arial"/>
                <a:cs typeface="Arial"/>
              </a:rPr>
              <a:t>Quality Control in Wallstabe &amp; Schneider </a:t>
            </a:r>
            <a:r>
              <a:rPr lang="de-DE" err="1">
                <a:latin typeface="Arial"/>
                <a:cs typeface="Arial"/>
              </a:rPr>
              <a:t>consists</a:t>
            </a:r>
            <a:r>
              <a:rPr lang="de-DE">
                <a:latin typeface="Arial"/>
                <a:cs typeface="Arial"/>
              </a:rPr>
              <a:t> </a:t>
            </a:r>
            <a:r>
              <a:rPr lang="de-DE" err="1">
                <a:latin typeface="Arial"/>
                <a:cs typeface="Arial"/>
              </a:rPr>
              <a:t>of</a:t>
            </a:r>
            <a:r>
              <a:rPr lang="de-DE">
                <a:latin typeface="Arial"/>
                <a:cs typeface="Arial"/>
              </a:rPr>
              <a:t> </a:t>
            </a:r>
            <a:r>
              <a:rPr lang="de-DE" err="1">
                <a:latin typeface="Arial"/>
                <a:cs typeface="Arial"/>
              </a:rPr>
              <a:t>roughly</a:t>
            </a:r>
            <a:r>
              <a:rPr lang="de-DE">
                <a:latin typeface="Arial"/>
                <a:cs typeface="Arial"/>
              </a:rPr>
              <a:t> </a:t>
            </a:r>
            <a:r>
              <a:rPr lang="de-DE" b="1">
                <a:latin typeface="Arial"/>
                <a:cs typeface="Arial"/>
              </a:rPr>
              <a:t>50% </a:t>
            </a:r>
            <a:r>
              <a:rPr lang="de-DE" b="1" err="1">
                <a:latin typeface="Arial"/>
                <a:cs typeface="Arial"/>
              </a:rPr>
              <a:t>manual</a:t>
            </a:r>
            <a:r>
              <a:rPr lang="de-DE" b="1">
                <a:latin typeface="Arial"/>
                <a:cs typeface="Arial"/>
              </a:rPr>
              <a:t> 50% automated</a:t>
            </a:r>
            <a:endParaRPr lang="de-DE" b="1"/>
          </a:p>
          <a:p>
            <a:pPr marL="271145" indent="-271145">
              <a:buChar char="•"/>
            </a:pPr>
            <a:endParaRPr lang="de-DE" b="1">
              <a:latin typeface="Arial"/>
              <a:cs typeface="Arial"/>
            </a:endParaRPr>
          </a:p>
        </p:txBody>
      </p:sp>
      <p:sp>
        <p:nvSpPr>
          <p:cNvPr id="4" name="Foliennummernplatzhalter 3">
            <a:extLst>
              <a:ext uri="{FF2B5EF4-FFF2-40B4-BE49-F238E27FC236}">
                <a16:creationId xmlns:a16="http://schemas.microsoft.com/office/drawing/2014/main" id="{A5E02E68-6266-B9B4-1914-1AD1E27E0CF8}"/>
              </a:ext>
            </a:extLst>
          </p:cNvPr>
          <p:cNvSpPr>
            <a:spLocks noGrp="1"/>
          </p:cNvSpPr>
          <p:nvPr>
            <p:ph type="sldNum" sz="quarter" idx="12"/>
          </p:nvPr>
        </p:nvSpPr>
        <p:spPr/>
        <p:txBody>
          <a:bodyPr/>
          <a:lstStyle/>
          <a:p>
            <a:pPr>
              <a:defRPr/>
            </a:pPr>
            <a:fld id="{C929A957-B8AC-4276-BB5E-21B31F81D38B}" type="slidenum">
              <a:rPr lang="de-DE" smtClean="0"/>
              <a:pPr>
                <a:defRPr/>
              </a:pPr>
              <a:t>5</a:t>
            </a:fld>
            <a:endParaRPr lang="de-DE"/>
          </a:p>
        </p:txBody>
      </p:sp>
      <p:sp>
        <p:nvSpPr>
          <p:cNvPr id="6" name="Rectangle 4">
            <a:extLst>
              <a:ext uri="{FF2B5EF4-FFF2-40B4-BE49-F238E27FC236}">
                <a16:creationId xmlns:a16="http://schemas.microsoft.com/office/drawing/2014/main" id="{3595AF4B-9F79-45DB-EB87-612A30A9F64C}"/>
              </a:ext>
            </a:extLst>
          </p:cNvPr>
          <p:cNvSpPr>
            <a:spLocks/>
          </p:cNvSpPr>
          <p:nvPr/>
        </p:nvSpPr>
        <p:spPr bwMode="auto">
          <a:xfrm>
            <a:off x="808193"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buSzPct val="140000"/>
            </a:pPr>
            <a:r>
              <a:rPr lang="de-DE" b="1">
                <a:latin typeface="Arial"/>
                <a:cs typeface="Arial"/>
              </a:rPr>
              <a:t>Background</a:t>
            </a:r>
            <a:endParaRPr lang="de-DE" b="1">
              <a:cs typeface="Arial" charset="0"/>
            </a:endParaRPr>
          </a:p>
        </p:txBody>
      </p:sp>
      <p:pic>
        <p:nvPicPr>
          <p:cNvPr id="8" name="Grafik 4" descr="Ein Bild, das Text, Screenshot, Grafikdesign, Grafiken enthält.&#10;&#10;Beschreibung automatisch generiert.">
            <a:extLst>
              <a:ext uri="{FF2B5EF4-FFF2-40B4-BE49-F238E27FC236}">
                <a16:creationId xmlns:a16="http://schemas.microsoft.com/office/drawing/2014/main" id="{CA154AD3-D3D2-6359-8160-9EF6A7CEBA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9897" y="3004984"/>
            <a:ext cx="7165540" cy="3241892"/>
          </a:xfrm>
          <a:prstGeom prst="rect">
            <a:avLst/>
          </a:prstGeom>
        </p:spPr>
      </p:pic>
    </p:spTree>
    <p:extLst>
      <p:ext uri="{BB962C8B-B14F-4D97-AF65-F5344CB8AC3E}">
        <p14:creationId xmlns:p14="http://schemas.microsoft.com/office/powerpoint/2010/main" val="38223673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troduction">
            <a:extLst>
              <a:ext uri="{FF2B5EF4-FFF2-40B4-BE49-F238E27FC236}">
                <a16:creationId xmlns:a16="http://schemas.microsoft.com/office/drawing/2014/main" id="{AF1986D5-5B89-1092-A8F9-731C47DE7DCA}"/>
              </a:ext>
            </a:extLst>
          </p:cNvPr>
          <p:cNvSpPr>
            <a:spLocks noGrp="1"/>
          </p:cNvSpPr>
          <p:nvPr>
            <p:ph type="title"/>
          </p:nvPr>
        </p:nvSpPr>
        <p:spPr/>
        <p:txBody>
          <a:bodyPr/>
          <a:lstStyle/>
          <a:p>
            <a:r>
              <a:rPr lang="de-DE" err="1">
                <a:latin typeface="Arial"/>
                <a:cs typeface="Arial"/>
              </a:rPr>
              <a:t>Introduction</a:t>
            </a:r>
            <a:endParaRPr lang="de-DE" err="1"/>
          </a:p>
        </p:txBody>
      </p:sp>
      <p:sp>
        <p:nvSpPr>
          <p:cNvPr id="3" name="Inhaltsplatzhalter 2">
            <a:extLst>
              <a:ext uri="{FF2B5EF4-FFF2-40B4-BE49-F238E27FC236}">
                <a16:creationId xmlns:a16="http://schemas.microsoft.com/office/drawing/2014/main" id="{2862E554-4541-0159-D115-B0E0DA5FA7A5}"/>
              </a:ext>
            </a:extLst>
          </p:cNvPr>
          <p:cNvSpPr>
            <a:spLocks noGrp="1"/>
          </p:cNvSpPr>
          <p:nvPr>
            <p:ph idx="1"/>
          </p:nvPr>
        </p:nvSpPr>
        <p:spPr>
          <a:xfrm>
            <a:off x="814322" y="2132396"/>
            <a:ext cx="10647877" cy="3993771"/>
          </a:xfrm>
        </p:spPr>
        <p:txBody>
          <a:bodyPr/>
          <a:lstStyle/>
          <a:p>
            <a:pPr marL="271145" indent="-271145"/>
            <a:r>
              <a:rPr lang="de-DE">
                <a:latin typeface="Arial"/>
                <a:cs typeface="Arial"/>
              </a:rPr>
              <a:t>Most </a:t>
            </a:r>
            <a:r>
              <a:rPr lang="de-DE" err="1">
                <a:latin typeface="Arial"/>
                <a:cs typeface="Arial"/>
              </a:rPr>
              <a:t>of</a:t>
            </a:r>
            <a:r>
              <a:rPr lang="de-DE">
                <a:latin typeface="Arial"/>
                <a:cs typeface="Arial"/>
              </a:rPr>
              <a:t> </a:t>
            </a:r>
            <a:r>
              <a:rPr lang="de-DE" err="1">
                <a:latin typeface="Arial"/>
                <a:cs typeface="Arial"/>
              </a:rPr>
              <a:t>the</a:t>
            </a:r>
            <a:r>
              <a:rPr lang="de-DE">
                <a:latin typeface="Arial"/>
                <a:cs typeface="Arial"/>
              </a:rPr>
              <a:t> </a:t>
            </a:r>
            <a:r>
              <a:rPr lang="de-DE" err="1">
                <a:latin typeface="Arial"/>
                <a:cs typeface="Arial"/>
              </a:rPr>
              <a:t>automatic</a:t>
            </a:r>
            <a:r>
              <a:rPr lang="de-DE">
                <a:latin typeface="Arial"/>
                <a:cs typeface="Arial"/>
              </a:rPr>
              <a:t> </a:t>
            </a:r>
            <a:r>
              <a:rPr lang="de-DE" err="1">
                <a:latin typeface="Arial"/>
                <a:cs typeface="Arial"/>
              </a:rPr>
              <a:t>methods</a:t>
            </a:r>
            <a:r>
              <a:rPr lang="de-DE">
                <a:latin typeface="Arial"/>
                <a:cs typeface="Arial"/>
              </a:rPr>
              <a:t> </a:t>
            </a:r>
            <a:r>
              <a:rPr lang="de-DE" err="1">
                <a:latin typeface="Arial"/>
                <a:cs typeface="Arial"/>
              </a:rPr>
              <a:t>utilize</a:t>
            </a:r>
            <a:r>
              <a:rPr lang="de-DE">
                <a:latin typeface="Arial"/>
                <a:cs typeface="Arial"/>
              </a:rPr>
              <a:t> </a:t>
            </a:r>
            <a:r>
              <a:rPr lang="de-DE" b="1">
                <a:latin typeface="Arial"/>
                <a:cs typeface="Arial"/>
              </a:rPr>
              <a:t>traditional </a:t>
            </a:r>
            <a:r>
              <a:rPr lang="de-DE" b="1" err="1">
                <a:latin typeface="Arial"/>
                <a:cs typeface="Arial"/>
              </a:rPr>
              <a:t>machine</a:t>
            </a:r>
            <a:r>
              <a:rPr lang="de-DE" b="1">
                <a:latin typeface="Arial"/>
                <a:cs typeface="Arial"/>
              </a:rPr>
              <a:t> </a:t>
            </a:r>
            <a:r>
              <a:rPr lang="de-DE" b="1" err="1">
                <a:latin typeface="Arial"/>
                <a:cs typeface="Arial"/>
              </a:rPr>
              <a:t>learning</a:t>
            </a:r>
            <a:r>
              <a:rPr lang="de-DE">
                <a:latin typeface="Arial"/>
                <a:cs typeface="Arial"/>
              </a:rPr>
              <a:t> </a:t>
            </a:r>
            <a:r>
              <a:rPr lang="de-DE" err="1">
                <a:latin typeface="Arial"/>
                <a:cs typeface="Arial"/>
              </a:rPr>
              <a:t>methods</a:t>
            </a:r>
            <a:r>
              <a:rPr lang="de-DE">
                <a:latin typeface="Arial"/>
                <a:cs typeface="Arial"/>
              </a:rPr>
              <a:t>, </a:t>
            </a:r>
            <a:r>
              <a:rPr lang="de-DE" err="1">
                <a:latin typeface="Arial"/>
                <a:cs typeface="Arial"/>
              </a:rPr>
              <a:t>which</a:t>
            </a:r>
            <a:r>
              <a:rPr lang="de-DE">
                <a:latin typeface="Arial"/>
                <a:cs typeface="Arial"/>
              </a:rPr>
              <a:t> have </a:t>
            </a:r>
            <a:r>
              <a:rPr lang="de-DE" err="1">
                <a:latin typeface="Arial"/>
                <a:cs typeface="Arial"/>
              </a:rPr>
              <a:t>some</a:t>
            </a:r>
            <a:r>
              <a:rPr lang="de-DE">
                <a:latin typeface="Arial"/>
                <a:cs typeface="Arial"/>
              </a:rPr>
              <a:t> </a:t>
            </a:r>
            <a:r>
              <a:rPr lang="de-DE" b="1" err="1">
                <a:latin typeface="Arial"/>
                <a:cs typeface="Arial"/>
              </a:rPr>
              <a:t>limitations</a:t>
            </a:r>
            <a:endParaRPr lang="de-DE" b="1">
              <a:latin typeface="Arial"/>
              <a:cs typeface="Arial"/>
            </a:endParaRPr>
          </a:p>
          <a:p>
            <a:pPr marL="271145" indent="-271145"/>
            <a:r>
              <a:rPr lang="de-DE" err="1">
                <a:latin typeface="Arial"/>
                <a:cs typeface="Arial"/>
              </a:rPr>
              <a:t>Proposed</a:t>
            </a:r>
            <a:r>
              <a:rPr lang="de-DE">
                <a:latin typeface="Arial"/>
                <a:cs typeface="Arial"/>
              </a:rPr>
              <a:t> </a:t>
            </a:r>
            <a:r>
              <a:rPr lang="de-DE" err="1">
                <a:latin typeface="Arial"/>
                <a:cs typeface="Arial"/>
              </a:rPr>
              <a:t>solution</a:t>
            </a:r>
            <a:r>
              <a:rPr lang="de-DE">
                <a:latin typeface="Arial"/>
                <a:cs typeface="Arial"/>
              </a:rPr>
              <a:t>: </a:t>
            </a:r>
            <a:r>
              <a:rPr lang="de-DE" err="1">
                <a:latin typeface="Arial"/>
                <a:cs typeface="Arial"/>
              </a:rPr>
              <a:t>Introduce</a:t>
            </a:r>
            <a:r>
              <a:rPr lang="de-DE">
                <a:latin typeface="Arial"/>
                <a:cs typeface="Arial"/>
              </a:rPr>
              <a:t> </a:t>
            </a:r>
            <a:r>
              <a:rPr lang="de-DE" b="1">
                <a:latin typeface="Arial"/>
                <a:cs typeface="Arial"/>
              </a:rPr>
              <a:t>Deep Learning </a:t>
            </a:r>
            <a:r>
              <a:rPr lang="de-DE" b="1" err="1">
                <a:latin typeface="Arial"/>
                <a:cs typeface="Arial"/>
              </a:rPr>
              <a:t>methods</a:t>
            </a:r>
            <a:r>
              <a:rPr lang="de-DE" b="1">
                <a:latin typeface="Arial"/>
                <a:cs typeface="Arial"/>
              </a:rPr>
              <a:t> </a:t>
            </a:r>
            <a:r>
              <a:rPr lang="de-DE" err="1">
                <a:latin typeface="Arial"/>
                <a:cs typeface="Arial"/>
              </a:rPr>
              <a:t>for</a:t>
            </a:r>
            <a:r>
              <a:rPr lang="de-DE">
                <a:latin typeface="Arial"/>
                <a:cs typeface="Arial"/>
              </a:rPr>
              <a:t> </a:t>
            </a:r>
            <a:r>
              <a:rPr lang="de-DE" err="1">
                <a:latin typeface="Arial"/>
                <a:cs typeface="Arial"/>
              </a:rPr>
              <a:t>performance</a:t>
            </a:r>
            <a:r>
              <a:rPr lang="de-DE">
                <a:latin typeface="Arial"/>
                <a:cs typeface="Arial"/>
              </a:rPr>
              <a:t> boost</a:t>
            </a:r>
            <a:endParaRPr lang="de-DE" err="1"/>
          </a:p>
          <a:p>
            <a:pPr marL="271145" indent="-271145">
              <a:buChar char="•"/>
            </a:pPr>
            <a:endParaRPr lang="de-DE">
              <a:latin typeface="Arial"/>
              <a:cs typeface="Arial"/>
            </a:endParaRPr>
          </a:p>
        </p:txBody>
      </p:sp>
      <p:sp>
        <p:nvSpPr>
          <p:cNvPr id="4" name="Foliennummernplatzhalter 3">
            <a:extLst>
              <a:ext uri="{FF2B5EF4-FFF2-40B4-BE49-F238E27FC236}">
                <a16:creationId xmlns:a16="http://schemas.microsoft.com/office/drawing/2014/main" id="{A5E02E68-6266-B9B4-1914-1AD1E27E0CF8}"/>
              </a:ext>
            </a:extLst>
          </p:cNvPr>
          <p:cNvSpPr>
            <a:spLocks noGrp="1"/>
          </p:cNvSpPr>
          <p:nvPr>
            <p:ph type="sldNum" sz="quarter" idx="12"/>
          </p:nvPr>
        </p:nvSpPr>
        <p:spPr/>
        <p:txBody>
          <a:bodyPr/>
          <a:lstStyle/>
          <a:p>
            <a:pPr>
              <a:defRPr/>
            </a:pPr>
            <a:fld id="{C929A957-B8AC-4276-BB5E-21B31F81D38B}" type="slidenum">
              <a:rPr lang="de-DE" smtClean="0"/>
              <a:pPr>
                <a:defRPr/>
              </a:pPr>
              <a:t>6</a:t>
            </a:fld>
            <a:endParaRPr lang="de-DE"/>
          </a:p>
        </p:txBody>
      </p:sp>
      <p:sp>
        <p:nvSpPr>
          <p:cNvPr id="6" name="Rectangle 4">
            <a:extLst>
              <a:ext uri="{FF2B5EF4-FFF2-40B4-BE49-F238E27FC236}">
                <a16:creationId xmlns:a16="http://schemas.microsoft.com/office/drawing/2014/main" id="{3595AF4B-9F79-45DB-EB87-612A30A9F64C}"/>
              </a:ext>
            </a:extLst>
          </p:cNvPr>
          <p:cNvSpPr>
            <a:spLocks/>
          </p:cNvSpPr>
          <p:nvPr/>
        </p:nvSpPr>
        <p:spPr bwMode="auto">
          <a:xfrm>
            <a:off x="808193"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a:latin typeface="Arial"/>
                <a:cs typeface="Arial"/>
              </a:rPr>
              <a:t>Problem Statement</a:t>
            </a:r>
          </a:p>
        </p:txBody>
      </p:sp>
      <p:pic>
        <p:nvPicPr>
          <p:cNvPr id="7" name="Grafik 4" descr="Ein Bild, das Text, Screenshot, Schrift, Reihe enthält.">
            <a:extLst>
              <a:ext uri="{FF2B5EF4-FFF2-40B4-BE49-F238E27FC236}">
                <a16:creationId xmlns:a16="http://schemas.microsoft.com/office/drawing/2014/main" id="{9A370859-F0DF-7285-DECF-EE78BE39602D}"/>
              </a:ext>
            </a:extLst>
          </p:cNvPr>
          <p:cNvPicPr>
            <a:picLocks noChangeAspect="1"/>
          </p:cNvPicPr>
          <p:nvPr/>
        </p:nvPicPr>
        <p:blipFill>
          <a:blip r:embed="rId3"/>
          <a:stretch>
            <a:fillRect/>
          </a:stretch>
        </p:blipFill>
        <p:spPr>
          <a:xfrm>
            <a:off x="3472909" y="3119203"/>
            <a:ext cx="5246185" cy="3137908"/>
          </a:xfrm>
          <a:prstGeom prst="rect">
            <a:avLst/>
          </a:prstGeom>
          <a:effectLst>
            <a:outerShdw blurRad="50800" dist="38100" dir="2700000">
              <a:srgbClr val="000000">
                <a:alpha val="40000"/>
              </a:srgbClr>
            </a:outerShdw>
          </a:effectLst>
        </p:spPr>
      </p:pic>
    </p:spTree>
    <p:extLst>
      <p:ext uri="{BB962C8B-B14F-4D97-AF65-F5344CB8AC3E}">
        <p14:creationId xmlns:p14="http://schemas.microsoft.com/office/powerpoint/2010/main" val="10728516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Foliennummernplatzhalter 5"/>
          <p:cNvSpPr>
            <a:spLocks noGrp="1"/>
          </p:cNvSpPr>
          <p:nvPr>
            <p:ph type="sldNum" sz="quarter" idx="12"/>
          </p:nvPr>
        </p:nvSpPr>
        <p:spPr>
          <a:noFill/>
        </p:spPr>
        <p:txBody>
          <a:bodyPr/>
          <a:lstStyle/>
          <a:p>
            <a:fld id="{4ACCD8DA-ADF9-4473-9BD1-76EC6243D444}" type="slidenum">
              <a:rPr lang="de-DE" smtClean="0"/>
              <a:pPr/>
              <a:t>7</a:t>
            </a:fld>
            <a:endParaRPr lang="de-DE"/>
          </a:p>
        </p:txBody>
      </p:sp>
      <p:sp>
        <p:nvSpPr>
          <p:cNvPr id="4100" name="!!thesis title"/>
          <p:cNvSpPr>
            <a:spLocks noGrp="1"/>
          </p:cNvSpPr>
          <p:nvPr>
            <p:ph type="title"/>
          </p:nvPr>
        </p:nvSpPr>
        <p:spPr/>
        <p:txBody>
          <a:bodyPr/>
          <a:lstStyle/>
          <a:p>
            <a:pPr eaLnBrk="1" hangingPunct="1"/>
            <a:r>
              <a:rPr lang="de-DE">
                <a:latin typeface="Arial" charset="0"/>
                <a:cs typeface="Arial" charset="0"/>
              </a:rPr>
              <a:t>Agenda</a:t>
            </a:r>
          </a:p>
        </p:txBody>
      </p:sp>
      <p:sp>
        <p:nvSpPr>
          <p:cNvPr id="4101" name="!!Introduction"/>
          <p:cNvSpPr>
            <a:spLocks noGrp="1"/>
          </p:cNvSpPr>
          <p:nvPr>
            <p:ph type="body" idx="1"/>
          </p:nvPr>
        </p:nvSpPr>
        <p:spPr>
          <a:xfrm>
            <a:off x="909896" y="1719754"/>
            <a:ext cx="10574399" cy="574655"/>
          </a:xfrm>
        </p:spPr>
        <p:txBody>
          <a:bodyPr/>
          <a:lstStyle/>
          <a:p>
            <a:pPr marL="271145" indent="-271145" eaLnBrk="1" hangingPunct="1">
              <a:lnSpc>
                <a:spcPct val="200000"/>
              </a:lnSpc>
            </a:pPr>
            <a:r>
              <a:rPr lang="de-DE" err="1">
                <a:latin typeface="Arial"/>
                <a:cs typeface="Arial"/>
              </a:rPr>
              <a:t>Introduction</a:t>
            </a:r>
            <a:endParaRPr lang="de-DE" err="1">
              <a:latin typeface="Arial" charset="0"/>
              <a:cs typeface="Arial" charset="0"/>
            </a:endParaRPr>
          </a:p>
        </p:txBody>
      </p:sp>
      <p:sp>
        <p:nvSpPr>
          <p:cNvPr id="4" name="!!Dataset Collection">
            <a:extLst>
              <a:ext uri="{FF2B5EF4-FFF2-40B4-BE49-F238E27FC236}">
                <a16:creationId xmlns:a16="http://schemas.microsoft.com/office/drawing/2014/main" id="{B8F86B42-C014-8372-E127-0788B6B341D0}"/>
              </a:ext>
            </a:extLst>
          </p:cNvPr>
          <p:cNvSpPr txBox="1">
            <a:spLocks/>
          </p:cNvSpPr>
          <p:nvPr/>
        </p:nvSpPr>
        <p:spPr bwMode="auto">
          <a:xfrm>
            <a:off x="903958" y="229768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3"/>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4"/>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b="1" dirty="0" err="1">
                <a:latin typeface="Arial"/>
                <a:cs typeface="Arial"/>
              </a:rPr>
              <a:t>Methodology</a:t>
            </a:r>
            <a:endParaRPr lang="en-US" b="1" dirty="0"/>
          </a:p>
          <a:p>
            <a:pPr marL="271145" indent="-271145">
              <a:lnSpc>
                <a:spcPct val="200000"/>
              </a:lnSpc>
            </a:pPr>
            <a:endParaRPr lang="de-DE" b="1" dirty="0">
              <a:latin typeface="Arial" charset="0"/>
              <a:cs typeface="Arial" charset="0"/>
            </a:endParaRPr>
          </a:p>
          <a:p>
            <a:pPr marL="271145" indent="-271145">
              <a:lnSpc>
                <a:spcPct val="200000"/>
              </a:lnSpc>
            </a:pPr>
            <a:endParaRPr lang="de-DE" b="1" dirty="0">
              <a:latin typeface="Arial" charset="0"/>
              <a:cs typeface="Arial" charset="0"/>
            </a:endParaRPr>
          </a:p>
        </p:txBody>
      </p:sp>
      <p:sp>
        <p:nvSpPr>
          <p:cNvPr id="8" name="!!Performance Evaluation">
            <a:extLst>
              <a:ext uri="{FF2B5EF4-FFF2-40B4-BE49-F238E27FC236}">
                <a16:creationId xmlns:a16="http://schemas.microsoft.com/office/drawing/2014/main" id="{B14C5E6F-6622-39FF-243A-A0581C1C9E5C}"/>
              </a:ext>
            </a:extLst>
          </p:cNvPr>
          <p:cNvSpPr txBox="1">
            <a:spLocks/>
          </p:cNvSpPr>
          <p:nvPr/>
        </p:nvSpPr>
        <p:spPr bwMode="auto">
          <a:xfrm>
            <a:off x="912417" y="2859649"/>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3"/>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4"/>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dirty="0" err="1">
                <a:latin typeface="Arial"/>
                <a:cs typeface="Arial"/>
              </a:rPr>
              <a:t>Results</a:t>
            </a:r>
            <a:endParaRPr lang="en-US" dirty="0" err="1">
              <a:latin typeface="Arial"/>
              <a:cs typeface="Arial"/>
            </a:endParaRPr>
          </a:p>
        </p:txBody>
      </p:sp>
      <p:sp>
        <p:nvSpPr>
          <p:cNvPr id="10" name="!!Conclusion">
            <a:extLst>
              <a:ext uri="{FF2B5EF4-FFF2-40B4-BE49-F238E27FC236}">
                <a16:creationId xmlns:a16="http://schemas.microsoft.com/office/drawing/2014/main" id="{9ABC9B59-1D6B-BFA5-120E-7C52FD0A4394}"/>
              </a:ext>
            </a:extLst>
          </p:cNvPr>
          <p:cNvSpPr txBox="1">
            <a:spLocks/>
          </p:cNvSpPr>
          <p:nvPr/>
        </p:nvSpPr>
        <p:spPr bwMode="auto">
          <a:xfrm>
            <a:off x="916918" y="3448021"/>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3"/>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4"/>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err="1">
                <a:latin typeface="Arial"/>
                <a:cs typeface="Arial"/>
              </a:rPr>
              <a:t>Conclusion</a:t>
            </a:r>
            <a:r>
              <a:rPr lang="de-DE">
                <a:latin typeface="Arial"/>
                <a:cs typeface="Arial"/>
              </a:rPr>
              <a:t> and Future Work</a:t>
            </a:r>
          </a:p>
          <a:p>
            <a:pPr marL="271145" indent="-271145">
              <a:lnSpc>
                <a:spcPct val="200000"/>
              </a:lnSpc>
            </a:pPr>
            <a:endParaRPr lang="de-DE">
              <a:latin typeface="Arial" charset="0"/>
              <a:cs typeface="Arial" charset="0"/>
            </a:endParaRPr>
          </a:p>
        </p:txBody>
      </p:sp>
      <p:pic>
        <p:nvPicPr>
          <p:cNvPr id="5" name="Grafik 4" descr="Ein Bild, das Text, Screenshot, Grafikdesign, Grafiken enthält.&#10;&#10;Beschreibung automatisch generiert.">
            <a:extLst>
              <a:ext uri="{FF2B5EF4-FFF2-40B4-BE49-F238E27FC236}">
                <a16:creationId xmlns:a16="http://schemas.microsoft.com/office/drawing/2014/main" id="{C1E87D55-8F82-7785-C532-3347F040AED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05744" y="2010433"/>
            <a:ext cx="6372225" cy="2876550"/>
          </a:xfrm>
          <a:prstGeom prst="rect">
            <a:avLst/>
          </a:prstGeom>
        </p:spPr>
      </p:pic>
    </p:spTree>
    <p:extLst>
      <p:ext uri="{BB962C8B-B14F-4D97-AF65-F5344CB8AC3E}">
        <p14:creationId xmlns:p14="http://schemas.microsoft.com/office/powerpoint/2010/main" val="20073696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hidden="1">
            <a:extLst>
              <a:ext uri="{FF2B5EF4-FFF2-40B4-BE49-F238E27FC236}">
                <a16:creationId xmlns:a16="http://schemas.microsoft.com/office/drawing/2014/main" id="{9ED2694D-DDC7-6DD6-8F59-238082A37C15}"/>
              </a:ext>
            </a:extLst>
          </p:cNvPr>
          <p:cNvGrpSpPr/>
          <p:nvPr/>
        </p:nvGrpSpPr>
        <p:grpSpPr>
          <a:xfrm>
            <a:off x="1104988" y="4260023"/>
            <a:ext cx="10324707" cy="268611"/>
            <a:chOff x="1104988" y="4260023"/>
            <a:chExt cx="10324707" cy="268611"/>
          </a:xfrm>
        </p:grpSpPr>
        <p:grpSp>
          <p:nvGrpSpPr>
            <p:cNvPr id="13" name="Gruppieren 17">
              <a:extLst>
                <a:ext uri="{FF2B5EF4-FFF2-40B4-BE49-F238E27FC236}">
                  <a16:creationId xmlns:a16="http://schemas.microsoft.com/office/drawing/2014/main" id="{01B08EE5-E8C0-974E-27D8-5216F27B3A7F}"/>
                </a:ext>
              </a:extLst>
            </p:cNvPr>
            <p:cNvGrpSpPr/>
            <p:nvPr/>
          </p:nvGrpSpPr>
          <p:grpSpPr>
            <a:xfrm>
              <a:off x="1104988" y="4260023"/>
              <a:ext cx="1947289" cy="261610"/>
              <a:chOff x="1011043" y="4228708"/>
              <a:chExt cx="2103864" cy="261610"/>
            </a:xfrm>
          </p:grpSpPr>
          <p:cxnSp>
            <p:nvCxnSpPr>
              <p:cNvPr id="31" name="Gerade Verbindung mit Pfeil 4">
                <a:extLst>
                  <a:ext uri="{FF2B5EF4-FFF2-40B4-BE49-F238E27FC236}">
                    <a16:creationId xmlns:a16="http://schemas.microsoft.com/office/drawing/2014/main" id="{924842A1-68BF-6C72-067D-95A5EF44A0BF}"/>
                  </a:ext>
                </a:extLst>
              </p:cNvPr>
              <p:cNvCxnSpPr/>
              <p:nvPr/>
            </p:nvCxnSpPr>
            <p:spPr>
              <a:xfrm flipV="1">
                <a:off x="1011043" y="4462345"/>
                <a:ext cx="2103864" cy="2416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Textfeld 8">
                <a:extLst>
                  <a:ext uri="{FF2B5EF4-FFF2-40B4-BE49-F238E27FC236}">
                    <a16:creationId xmlns:a16="http://schemas.microsoft.com/office/drawing/2014/main" id="{15596F56-DCEC-F4B7-F332-4EB97D821836}"/>
                  </a:ext>
                </a:extLst>
              </p:cNvPr>
              <p:cNvSpPr txBox="1"/>
              <p:nvPr/>
            </p:nvSpPr>
            <p:spPr>
              <a:xfrm>
                <a:off x="1557882" y="4228708"/>
                <a:ext cx="1004551"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100">
                    <a:latin typeface="Arial"/>
                    <a:cs typeface="Arial"/>
                  </a:rPr>
                  <a:t>108.6mm</a:t>
                </a:r>
                <a:endParaRPr lang="de-DE" sz="1400">
                  <a:cs typeface="Arial" charset="0"/>
                </a:endParaRPr>
              </a:p>
            </p:txBody>
          </p:sp>
        </p:grpSp>
        <p:grpSp>
          <p:nvGrpSpPr>
            <p:cNvPr id="22" name="Gruppieren 18">
              <a:extLst>
                <a:ext uri="{FF2B5EF4-FFF2-40B4-BE49-F238E27FC236}">
                  <a16:creationId xmlns:a16="http://schemas.microsoft.com/office/drawing/2014/main" id="{03EE90E8-4E20-869C-CC38-211DA0D56D11}"/>
                </a:ext>
              </a:extLst>
            </p:cNvPr>
            <p:cNvGrpSpPr/>
            <p:nvPr/>
          </p:nvGrpSpPr>
          <p:grpSpPr>
            <a:xfrm>
              <a:off x="4094813" y="4260023"/>
              <a:ext cx="1780275" cy="261610"/>
              <a:chOff x="3938238" y="4228708"/>
              <a:chExt cx="2103864" cy="261610"/>
            </a:xfrm>
          </p:grpSpPr>
          <p:cxnSp>
            <p:nvCxnSpPr>
              <p:cNvPr id="29" name="Gerade Verbindung mit Pfeil 9">
                <a:extLst>
                  <a:ext uri="{FF2B5EF4-FFF2-40B4-BE49-F238E27FC236}">
                    <a16:creationId xmlns:a16="http://schemas.microsoft.com/office/drawing/2014/main" id="{4B31266C-B46E-786E-AEA9-CF0E5AFFD122}"/>
                  </a:ext>
                </a:extLst>
              </p:cNvPr>
              <p:cNvCxnSpPr>
                <a:cxnSpLocks/>
              </p:cNvCxnSpPr>
              <p:nvPr/>
            </p:nvCxnSpPr>
            <p:spPr>
              <a:xfrm flipV="1">
                <a:off x="3938238" y="4462345"/>
                <a:ext cx="2103864" cy="2416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feld 10">
                <a:extLst>
                  <a:ext uri="{FF2B5EF4-FFF2-40B4-BE49-F238E27FC236}">
                    <a16:creationId xmlns:a16="http://schemas.microsoft.com/office/drawing/2014/main" id="{C9EDE319-43FD-0942-1003-6C006F1DADC9}"/>
                  </a:ext>
                </a:extLst>
              </p:cNvPr>
              <p:cNvSpPr txBox="1"/>
              <p:nvPr/>
            </p:nvSpPr>
            <p:spPr>
              <a:xfrm>
                <a:off x="4491763" y="4228708"/>
                <a:ext cx="1014433"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100">
                    <a:latin typeface="Arial"/>
                    <a:cs typeface="Arial"/>
                  </a:rPr>
                  <a:t>108.6mm</a:t>
                </a:r>
                <a:endParaRPr lang="de-DE" sz="1400">
                  <a:cs typeface="Arial" charset="0"/>
                </a:endParaRPr>
              </a:p>
            </p:txBody>
          </p:sp>
        </p:grpSp>
        <p:grpSp>
          <p:nvGrpSpPr>
            <p:cNvPr id="23" name="Gruppieren 20">
              <a:extLst>
                <a:ext uri="{FF2B5EF4-FFF2-40B4-BE49-F238E27FC236}">
                  <a16:creationId xmlns:a16="http://schemas.microsoft.com/office/drawing/2014/main" id="{34C88B86-6988-AAE1-87D0-32511CD5A885}"/>
                </a:ext>
              </a:extLst>
            </p:cNvPr>
            <p:cNvGrpSpPr/>
            <p:nvPr/>
          </p:nvGrpSpPr>
          <p:grpSpPr>
            <a:xfrm>
              <a:off x="9751764" y="4263618"/>
              <a:ext cx="1677931" cy="261612"/>
              <a:chOff x="9616066" y="4284464"/>
              <a:chExt cx="1918012" cy="272483"/>
            </a:xfrm>
          </p:grpSpPr>
          <p:cxnSp>
            <p:nvCxnSpPr>
              <p:cNvPr id="27" name="Gerade Verbindung mit Pfeil 13">
                <a:extLst>
                  <a:ext uri="{FF2B5EF4-FFF2-40B4-BE49-F238E27FC236}">
                    <a16:creationId xmlns:a16="http://schemas.microsoft.com/office/drawing/2014/main" id="{8BDEB17C-AED1-B169-DFF2-837735AC8F67}"/>
                  </a:ext>
                </a:extLst>
              </p:cNvPr>
              <p:cNvCxnSpPr>
                <a:cxnSpLocks/>
              </p:cNvCxnSpPr>
              <p:nvPr/>
            </p:nvCxnSpPr>
            <p:spPr>
              <a:xfrm>
                <a:off x="9616066" y="4532970"/>
                <a:ext cx="1918012" cy="1300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Textfeld 14">
                <a:extLst>
                  <a:ext uri="{FF2B5EF4-FFF2-40B4-BE49-F238E27FC236}">
                    <a16:creationId xmlns:a16="http://schemas.microsoft.com/office/drawing/2014/main" id="{D20D9395-5EFA-1EBA-225E-0EE5E8A1B7B4}"/>
                  </a:ext>
                </a:extLst>
              </p:cNvPr>
              <p:cNvSpPr txBox="1"/>
              <p:nvPr/>
            </p:nvSpPr>
            <p:spPr>
              <a:xfrm>
                <a:off x="10126435" y="4284464"/>
                <a:ext cx="910903" cy="2724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100">
                    <a:latin typeface="Arial"/>
                    <a:cs typeface="Arial"/>
                  </a:rPr>
                  <a:t>77.1 mm</a:t>
                </a:r>
                <a:endParaRPr lang="de-DE" sz="1400">
                  <a:cs typeface="Arial" charset="0"/>
                </a:endParaRPr>
              </a:p>
            </p:txBody>
          </p:sp>
        </p:grpSp>
        <p:grpSp>
          <p:nvGrpSpPr>
            <p:cNvPr id="24" name="Gruppieren 19">
              <a:extLst>
                <a:ext uri="{FF2B5EF4-FFF2-40B4-BE49-F238E27FC236}">
                  <a16:creationId xmlns:a16="http://schemas.microsoft.com/office/drawing/2014/main" id="{49E1614B-034D-C07C-BFD7-E53FC3CED3F3}"/>
                </a:ext>
              </a:extLst>
            </p:cNvPr>
            <p:cNvGrpSpPr/>
            <p:nvPr/>
          </p:nvGrpSpPr>
          <p:grpSpPr>
            <a:xfrm>
              <a:off x="6764230" y="4267024"/>
              <a:ext cx="1709246" cy="261610"/>
              <a:chOff x="6670285" y="4267024"/>
              <a:chExt cx="1918012" cy="261610"/>
            </a:xfrm>
          </p:grpSpPr>
          <p:cxnSp>
            <p:nvCxnSpPr>
              <p:cNvPr id="25" name="Gerade Verbindung mit Pfeil 15">
                <a:extLst>
                  <a:ext uri="{FF2B5EF4-FFF2-40B4-BE49-F238E27FC236}">
                    <a16:creationId xmlns:a16="http://schemas.microsoft.com/office/drawing/2014/main" id="{0B3C5AA9-EC0E-E414-13C4-A636D01DCD2D}"/>
                  </a:ext>
                </a:extLst>
              </p:cNvPr>
              <p:cNvCxnSpPr>
                <a:cxnSpLocks/>
              </p:cNvCxnSpPr>
              <p:nvPr/>
            </p:nvCxnSpPr>
            <p:spPr>
              <a:xfrm>
                <a:off x="6670285" y="4505092"/>
                <a:ext cx="1918012" cy="1300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6" name="Textfeld 16">
                <a:extLst>
                  <a:ext uri="{FF2B5EF4-FFF2-40B4-BE49-F238E27FC236}">
                    <a16:creationId xmlns:a16="http://schemas.microsoft.com/office/drawing/2014/main" id="{5F55D48A-2126-2BED-B606-E1B3E0196A5E}"/>
                  </a:ext>
                </a:extLst>
              </p:cNvPr>
              <p:cNvSpPr txBox="1"/>
              <p:nvPr/>
            </p:nvSpPr>
            <p:spPr>
              <a:xfrm>
                <a:off x="7182621" y="4267024"/>
                <a:ext cx="896566"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100">
                    <a:latin typeface="Arial"/>
                    <a:cs typeface="Arial"/>
                  </a:rPr>
                  <a:t>77.1 mm</a:t>
                </a:r>
                <a:endParaRPr lang="de-DE" sz="1400">
                  <a:cs typeface="Arial" charset="0"/>
                </a:endParaRPr>
              </a:p>
            </p:txBody>
          </p:sp>
        </p:grpSp>
      </p:grpSp>
      <p:grpSp>
        <p:nvGrpSpPr>
          <p:cNvPr id="21" name="Gruppieren 20" hidden="1">
            <a:extLst>
              <a:ext uri="{FF2B5EF4-FFF2-40B4-BE49-F238E27FC236}">
                <a16:creationId xmlns:a16="http://schemas.microsoft.com/office/drawing/2014/main" id="{95B248B6-347A-BC22-60EF-4112CD2DA06F}"/>
              </a:ext>
            </a:extLst>
          </p:cNvPr>
          <p:cNvGrpSpPr/>
          <p:nvPr/>
        </p:nvGrpSpPr>
        <p:grpSpPr>
          <a:xfrm flipV="1">
            <a:off x="10517455" y="4471733"/>
            <a:ext cx="105941" cy="261610"/>
            <a:chOff x="9616066" y="3286600"/>
            <a:chExt cx="1918012" cy="1259474"/>
          </a:xfrm>
        </p:grpSpPr>
        <p:cxnSp>
          <p:nvCxnSpPr>
            <p:cNvPr id="14" name="Gerade Verbindung mit Pfeil 13">
              <a:extLst>
                <a:ext uri="{FF2B5EF4-FFF2-40B4-BE49-F238E27FC236}">
                  <a16:creationId xmlns:a16="http://schemas.microsoft.com/office/drawing/2014/main" id="{DB5F6391-8025-5C94-27C9-6515CC8E3794}"/>
                </a:ext>
              </a:extLst>
            </p:cNvPr>
            <p:cNvCxnSpPr>
              <a:cxnSpLocks/>
            </p:cNvCxnSpPr>
            <p:nvPr/>
          </p:nvCxnSpPr>
          <p:spPr>
            <a:xfrm>
              <a:off x="9616066" y="4532970"/>
              <a:ext cx="1918012" cy="1300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B7B8272E-551A-A6F5-7089-B151334051B0}"/>
                </a:ext>
              </a:extLst>
            </p:cNvPr>
            <p:cNvSpPr txBox="1"/>
            <p:nvPr/>
          </p:nvSpPr>
          <p:spPr>
            <a:xfrm>
              <a:off x="10233829" y="3286600"/>
              <a:ext cx="767723" cy="12594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de-DE" sz="1100">
                <a:cs typeface="Arial" charset="0"/>
              </a:endParaRPr>
            </a:p>
          </p:txBody>
        </p:sp>
      </p:grpSp>
      <p:grpSp>
        <p:nvGrpSpPr>
          <p:cNvPr id="20" name="Gruppieren 19" hidden="1">
            <a:extLst>
              <a:ext uri="{FF2B5EF4-FFF2-40B4-BE49-F238E27FC236}">
                <a16:creationId xmlns:a16="http://schemas.microsoft.com/office/drawing/2014/main" id="{322426D1-45F6-0FAC-817D-353F71977FE8}"/>
              </a:ext>
            </a:extLst>
          </p:cNvPr>
          <p:cNvGrpSpPr/>
          <p:nvPr/>
        </p:nvGrpSpPr>
        <p:grpSpPr>
          <a:xfrm>
            <a:off x="7580967" y="4470317"/>
            <a:ext cx="133818" cy="261610"/>
            <a:chOff x="6670285" y="4256586"/>
            <a:chExt cx="1918012" cy="1197107"/>
          </a:xfrm>
        </p:grpSpPr>
        <p:cxnSp>
          <p:nvCxnSpPr>
            <p:cNvPr id="16" name="Gerade Verbindung mit Pfeil 15">
              <a:extLst>
                <a:ext uri="{FF2B5EF4-FFF2-40B4-BE49-F238E27FC236}">
                  <a16:creationId xmlns:a16="http://schemas.microsoft.com/office/drawing/2014/main" id="{0A7EE4E2-6A7B-36D8-82B7-375227BCE5D5}"/>
                </a:ext>
              </a:extLst>
            </p:cNvPr>
            <p:cNvCxnSpPr>
              <a:cxnSpLocks/>
            </p:cNvCxnSpPr>
            <p:nvPr/>
          </p:nvCxnSpPr>
          <p:spPr>
            <a:xfrm>
              <a:off x="6670285" y="4505092"/>
              <a:ext cx="1918012" cy="1300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752FD40A-245F-0445-8EF8-D1FD2A2A4161}"/>
                </a:ext>
              </a:extLst>
            </p:cNvPr>
            <p:cNvSpPr txBox="1"/>
            <p:nvPr/>
          </p:nvSpPr>
          <p:spPr>
            <a:xfrm>
              <a:off x="7288037" y="4256586"/>
              <a:ext cx="767718" cy="1197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de-DE" sz="1100">
                <a:cs typeface="Arial" charset="0"/>
              </a:endParaRPr>
            </a:p>
          </p:txBody>
        </p:sp>
      </p:grpSp>
      <p:grpSp>
        <p:nvGrpSpPr>
          <p:cNvPr id="19" name="Gruppieren 18" hidden="1">
            <a:extLst>
              <a:ext uri="{FF2B5EF4-FFF2-40B4-BE49-F238E27FC236}">
                <a16:creationId xmlns:a16="http://schemas.microsoft.com/office/drawing/2014/main" id="{571FF26B-7F51-AF0B-E178-C9DCD3F1A5F8}"/>
              </a:ext>
            </a:extLst>
          </p:cNvPr>
          <p:cNvGrpSpPr/>
          <p:nvPr/>
        </p:nvGrpSpPr>
        <p:grpSpPr>
          <a:xfrm>
            <a:off x="4746701" y="4414561"/>
            <a:ext cx="375426" cy="261610"/>
            <a:chOff x="3938238" y="4228708"/>
            <a:chExt cx="2103864" cy="606048"/>
          </a:xfrm>
        </p:grpSpPr>
        <p:cxnSp>
          <p:nvCxnSpPr>
            <p:cNvPr id="10" name="Gerade Verbindung mit Pfeil 9">
              <a:extLst>
                <a:ext uri="{FF2B5EF4-FFF2-40B4-BE49-F238E27FC236}">
                  <a16:creationId xmlns:a16="http://schemas.microsoft.com/office/drawing/2014/main" id="{3C2413DC-4392-441C-3E28-8D2EF4FB60B6}"/>
                </a:ext>
              </a:extLst>
            </p:cNvPr>
            <p:cNvCxnSpPr>
              <a:cxnSpLocks/>
            </p:cNvCxnSpPr>
            <p:nvPr/>
          </p:nvCxnSpPr>
          <p:spPr>
            <a:xfrm flipV="1">
              <a:off x="3938238" y="4462345"/>
              <a:ext cx="2103864" cy="2416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14B59D17-EDC2-295F-AA5A-09748D518F42}"/>
                </a:ext>
              </a:extLst>
            </p:cNvPr>
            <p:cNvSpPr txBox="1"/>
            <p:nvPr/>
          </p:nvSpPr>
          <p:spPr>
            <a:xfrm>
              <a:off x="4676798" y="4228708"/>
              <a:ext cx="767723" cy="6060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de-DE" sz="1100">
                <a:cs typeface="Arial" charset="0"/>
              </a:endParaRPr>
            </a:p>
          </p:txBody>
        </p:sp>
      </p:grpSp>
      <p:grpSp>
        <p:nvGrpSpPr>
          <p:cNvPr id="18" name="Gruppieren 17" hidden="1">
            <a:extLst>
              <a:ext uri="{FF2B5EF4-FFF2-40B4-BE49-F238E27FC236}">
                <a16:creationId xmlns:a16="http://schemas.microsoft.com/office/drawing/2014/main" id="{F307319E-3ADA-5D7E-5FC8-372F296B3A87}"/>
              </a:ext>
            </a:extLst>
          </p:cNvPr>
          <p:cNvGrpSpPr/>
          <p:nvPr/>
        </p:nvGrpSpPr>
        <p:grpSpPr>
          <a:xfrm>
            <a:off x="1893847" y="4349514"/>
            <a:ext cx="282499" cy="261610"/>
            <a:chOff x="1011043" y="4228708"/>
            <a:chExt cx="2103864" cy="520407"/>
          </a:xfrm>
        </p:grpSpPr>
        <p:cxnSp>
          <p:nvCxnSpPr>
            <p:cNvPr id="5" name="Gerade Verbindung mit Pfeil 4">
              <a:extLst>
                <a:ext uri="{FF2B5EF4-FFF2-40B4-BE49-F238E27FC236}">
                  <a16:creationId xmlns:a16="http://schemas.microsoft.com/office/drawing/2014/main" id="{A9B1C3E8-AA9B-2F70-255A-34608ADE7FA8}"/>
                </a:ext>
              </a:extLst>
            </p:cNvPr>
            <p:cNvCxnSpPr/>
            <p:nvPr/>
          </p:nvCxnSpPr>
          <p:spPr>
            <a:xfrm flipV="1">
              <a:off x="1011043" y="4462345"/>
              <a:ext cx="2103864" cy="2416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feld 8">
              <a:extLst>
                <a:ext uri="{FF2B5EF4-FFF2-40B4-BE49-F238E27FC236}">
                  <a16:creationId xmlns:a16="http://schemas.microsoft.com/office/drawing/2014/main" id="{1679425B-539F-4B91-631B-3235161B651A}"/>
                </a:ext>
              </a:extLst>
            </p:cNvPr>
            <p:cNvSpPr txBox="1"/>
            <p:nvPr/>
          </p:nvSpPr>
          <p:spPr>
            <a:xfrm>
              <a:off x="1749602" y="4228708"/>
              <a:ext cx="767723" cy="5204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de-DE" sz="1100">
                <a:cs typeface="Arial" charset="0"/>
              </a:endParaRPr>
            </a:p>
          </p:txBody>
        </p:sp>
      </p:grpSp>
      <p:sp>
        <p:nvSpPr>
          <p:cNvPr id="2" name="!!Dataset Collec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dirty="0" err="1">
                <a:latin typeface="Arial"/>
                <a:cs typeface="Arial"/>
              </a:rPr>
              <a:t>Methodology</a:t>
            </a:r>
            <a:endParaRPr lang="de-DE" dirty="0" err="1"/>
          </a:p>
        </p:txBody>
      </p:sp>
      <p:sp>
        <p:nvSpPr>
          <p:cNvPr id="3" name="Inhaltsplatzhalter 2">
            <a:extLst>
              <a:ext uri="{FF2B5EF4-FFF2-40B4-BE49-F238E27FC236}">
                <a16:creationId xmlns:a16="http://schemas.microsoft.com/office/drawing/2014/main" id="{EC603C8C-59B1-674B-5614-32BD467CAF07}"/>
              </a:ext>
            </a:extLst>
          </p:cNvPr>
          <p:cNvSpPr>
            <a:spLocks noGrp="1"/>
          </p:cNvSpPr>
          <p:nvPr>
            <p:ph idx="1"/>
          </p:nvPr>
        </p:nvSpPr>
        <p:spPr/>
        <p:txBody>
          <a:bodyPr/>
          <a:lstStyle/>
          <a:p>
            <a:pPr marL="271145" indent="-271145"/>
            <a:r>
              <a:rPr lang="de-DE" b="1" err="1">
                <a:latin typeface="Arial"/>
                <a:cs typeface="Arial"/>
              </a:rPr>
              <a:t>Lip</a:t>
            </a:r>
            <a:r>
              <a:rPr lang="de-DE" b="1">
                <a:latin typeface="Arial"/>
                <a:cs typeface="Arial"/>
              </a:rPr>
              <a:t> </a:t>
            </a:r>
            <a:r>
              <a:rPr lang="de-DE" b="1" err="1">
                <a:latin typeface="Arial"/>
                <a:cs typeface="Arial"/>
              </a:rPr>
              <a:t>seals</a:t>
            </a:r>
            <a:r>
              <a:rPr lang="de-DE">
                <a:latin typeface="Arial"/>
                <a:cs typeface="Arial"/>
              </a:rPr>
              <a:t> </a:t>
            </a:r>
            <a:r>
              <a:rPr lang="de-DE" err="1">
                <a:latin typeface="Arial"/>
                <a:cs typeface="Arial"/>
              </a:rPr>
              <a:t>are</a:t>
            </a:r>
            <a:r>
              <a:rPr lang="de-DE">
                <a:latin typeface="Arial"/>
                <a:cs typeface="Arial"/>
              </a:rPr>
              <a:t> </a:t>
            </a:r>
            <a:r>
              <a:rPr lang="de-DE" err="1">
                <a:latin typeface="Arial"/>
                <a:cs typeface="Arial"/>
              </a:rPr>
              <a:t>the</a:t>
            </a:r>
            <a:r>
              <a:rPr lang="de-DE">
                <a:latin typeface="Arial"/>
                <a:cs typeface="Arial"/>
              </a:rPr>
              <a:t> </a:t>
            </a:r>
            <a:r>
              <a:rPr lang="de-DE" err="1">
                <a:latin typeface="Arial"/>
                <a:cs typeface="Arial"/>
              </a:rPr>
              <a:t>study</a:t>
            </a:r>
            <a:r>
              <a:rPr lang="de-DE">
                <a:latin typeface="Arial"/>
                <a:cs typeface="Arial"/>
              </a:rPr>
              <a:t> </a:t>
            </a:r>
            <a:r>
              <a:rPr lang="de-DE" err="1">
                <a:latin typeface="Arial"/>
                <a:cs typeface="Arial"/>
              </a:rPr>
              <a:t>focus</a:t>
            </a:r>
            <a:endParaRPr lang="de-DE">
              <a:latin typeface="Arial"/>
              <a:cs typeface="Arial"/>
            </a:endParaRPr>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8</a:t>
            </a:fld>
            <a:endParaRPr lang="de-DE"/>
          </a:p>
        </p:txBody>
      </p:sp>
      <p:sp>
        <p:nvSpPr>
          <p:cNvPr id="6" name="Rectangle 4">
            <a:extLst>
              <a:ext uri="{FF2B5EF4-FFF2-40B4-BE49-F238E27FC236}">
                <a16:creationId xmlns:a16="http://schemas.microsoft.com/office/drawing/2014/main" id="{969684BB-7A2F-9F4A-D7CB-1BBC84287026}"/>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dirty="0">
                <a:latin typeface="Arial"/>
                <a:cs typeface="Arial"/>
              </a:rPr>
              <a:t>Data Collection: </a:t>
            </a:r>
            <a:r>
              <a:rPr lang="de-DE" b="1" dirty="0" err="1">
                <a:latin typeface="Arial"/>
                <a:cs typeface="Arial"/>
              </a:rPr>
              <a:t>Selection</a:t>
            </a:r>
            <a:r>
              <a:rPr lang="de-DE" b="1" dirty="0">
                <a:latin typeface="Arial"/>
                <a:cs typeface="Arial"/>
              </a:rPr>
              <a:t> </a:t>
            </a:r>
            <a:r>
              <a:rPr lang="de-DE" b="1" dirty="0" err="1">
                <a:latin typeface="Arial"/>
                <a:cs typeface="Arial"/>
              </a:rPr>
              <a:t>of</a:t>
            </a:r>
            <a:r>
              <a:rPr lang="de-DE" b="1" dirty="0">
                <a:latin typeface="Arial"/>
                <a:cs typeface="Arial"/>
              </a:rPr>
              <a:t> </a:t>
            </a:r>
            <a:r>
              <a:rPr lang="de-DE" b="1" dirty="0" err="1">
                <a:latin typeface="Arial"/>
                <a:cs typeface="Arial"/>
              </a:rPr>
              <a:t>Sealing</a:t>
            </a:r>
            <a:r>
              <a:rPr lang="de-DE" b="1" dirty="0">
                <a:latin typeface="Arial"/>
                <a:cs typeface="Arial"/>
              </a:rPr>
              <a:t> Products </a:t>
            </a:r>
            <a:endParaRPr lang="de-DE" b="1" dirty="0" err="1">
              <a:cs typeface="Arial"/>
            </a:endParaRPr>
          </a:p>
        </p:txBody>
      </p:sp>
      <p:pic>
        <p:nvPicPr>
          <p:cNvPr id="7" name="Grafik 6" descr="Ein Bild, das Kreis, Spiegel enthält.&#10;&#10;Beschreibung automatisch generiert.">
            <a:extLst>
              <a:ext uri="{FF2B5EF4-FFF2-40B4-BE49-F238E27FC236}">
                <a16:creationId xmlns:a16="http://schemas.microsoft.com/office/drawing/2014/main" id="{AEAFCC83-9388-005B-8981-32FFBB5729B2}"/>
              </a:ext>
            </a:extLst>
          </p:cNvPr>
          <p:cNvPicPr>
            <a:picLocks noChangeAspect="1"/>
          </p:cNvPicPr>
          <p:nvPr/>
        </p:nvPicPr>
        <p:blipFill>
          <a:blip r:embed="rId3"/>
          <a:stretch>
            <a:fillRect/>
          </a:stretch>
        </p:blipFill>
        <p:spPr>
          <a:xfrm>
            <a:off x="855217" y="2806390"/>
            <a:ext cx="5370592" cy="3661318"/>
          </a:xfrm>
          <a:prstGeom prst="rect">
            <a:avLst/>
          </a:prstGeom>
          <a:effectLst>
            <a:outerShdw blurRad="50800" dist="38100" dir="2700000">
              <a:srgbClr val="000000">
                <a:alpha val="40000"/>
              </a:srgbClr>
            </a:outerShdw>
          </a:effectLst>
        </p:spPr>
      </p:pic>
      <p:pic>
        <p:nvPicPr>
          <p:cNvPr id="8" name="Grafik 7" descr="Ein Bild, das Screenshot, Kreis, Text enthält.&#10;&#10;Beschreibung automatisch generiert.">
            <a:extLst>
              <a:ext uri="{FF2B5EF4-FFF2-40B4-BE49-F238E27FC236}">
                <a16:creationId xmlns:a16="http://schemas.microsoft.com/office/drawing/2014/main" id="{AA8A75E5-5BDE-E3CF-4B5E-4D000AC54FAF}"/>
              </a:ext>
            </a:extLst>
          </p:cNvPr>
          <p:cNvPicPr>
            <a:picLocks noChangeAspect="1"/>
          </p:cNvPicPr>
          <p:nvPr/>
        </p:nvPicPr>
        <p:blipFill>
          <a:blip r:embed="rId4"/>
          <a:stretch>
            <a:fillRect/>
          </a:stretch>
        </p:blipFill>
        <p:spPr>
          <a:xfrm>
            <a:off x="6467998" y="2769218"/>
            <a:ext cx="5370592" cy="3735660"/>
          </a:xfrm>
          <a:prstGeom prst="rect">
            <a:avLst/>
          </a:prstGeom>
          <a:effectLst>
            <a:outerShdw blurRad="50800" dist="38100" dir="2700000">
              <a:srgbClr val="000000">
                <a:alpha val="40000"/>
              </a:srgbClr>
            </a:outerShdw>
          </a:effectLst>
        </p:spPr>
      </p:pic>
    </p:spTree>
    <p:extLst>
      <p:ext uri="{BB962C8B-B14F-4D97-AF65-F5344CB8AC3E}">
        <p14:creationId xmlns:p14="http://schemas.microsoft.com/office/powerpoint/2010/main" val="34998167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Inhaltsplatzhalter 2">
            <a:extLst>
              <a:ext uri="{FF2B5EF4-FFF2-40B4-BE49-F238E27FC236}">
                <a16:creationId xmlns:a16="http://schemas.microsoft.com/office/drawing/2014/main" id="{D3BF2224-8527-C5C8-2F91-E68243CD30A1}"/>
              </a:ext>
            </a:extLst>
          </p:cNvPr>
          <p:cNvSpPr txBox="1">
            <a:spLocks/>
          </p:cNvSpPr>
          <p:nvPr/>
        </p:nvSpPr>
        <p:spPr bwMode="auto">
          <a:xfrm>
            <a:off x="857252" y="2143128"/>
            <a:ext cx="10572749" cy="39830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3"/>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4"/>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endParaRPr lang="de-DE">
              <a:latin typeface="Arial"/>
              <a:cs typeface="Arial"/>
            </a:endParaRPr>
          </a:p>
          <a:p>
            <a:pPr marL="271145" indent="-271145"/>
            <a:r>
              <a:rPr lang="de-DE" err="1">
                <a:latin typeface="Arial"/>
                <a:cs typeface="Arial"/>
              </a:rPr>
              <a:t>Sealing</a:t>
            </a:r>
            <a:r>
              <a:rPr lang="de-DE">
                <a:latin typeface="Arial"/>
                <a:cs typeface="Arial"/>
              </a:rPr>
              <a:t> </a:t>
            </a:r>
            <a:r>
              <a:rPr lang="de-DE" err="1">
                <a:latin typeface="Arial"/>
                <a:cs typeface="Arial"/>
              </a:rPr>
              <a:t>articles</a:t>
            </a:r>
            <a:r>
              <a:rPr lang="de-DE">
                <a:latin typeface="Arial"/>
                <a:cs typeface="Arial"/>
              </a:rPr>
              <a:t> </a:t>
            </a:r>
            <a:r>
              <a:rPr lang="de-DE" err="1">
                <a:latin typeface="Arial"/>
                <a:cs typeface="Arial"/>
              </a:rPr>
              <a:t>are</a:t>
            </a:r>
            <a:r>
              <a:rPr lang="de-DE">
                <a:latin typeface="Arial"/>
                <a:cs typeface="Arial"/>
              </a:rPr>
              <a:t> </a:t>
            </a:r>
            <a:r>
              <a:rPr lang="de-DE" err="1">
                <a:latin typeface="Arial"/>
                <a:cs typeface="Arial"/>
              </a:rPr>
              <a:t>named</a:t>
            </a:r>
            <a:r>
              <a:rPr lang="de-DE">
                <a:latin typeface="Arial"/>
                <a:cs typeface="Arial"/>
              </a:rPr>
              <a:t> after </a:t>
            </a:r>
            <a:r>
              <a:rPr lang="de-DE" err="1">
                <a:latin typeface="Arial"/>
                <a:cs typeface="Arial"/>
              </a:rPr>
              <a:t>their</a:t>
            </a:r>
            <a:r>
              <a:rPr lang="de-DE">
                <a:latin typeface="Arial"/>
                <a:cs typeface="Arial"/>
              </a:rPr>
              <a:t> </a:t>
            </a:r>
            <a:r>
              <a:rPr lang="de-DE" b="1" err="1">
                <a:latin typeface="Arial"/>
                <a:cs typeface="Arial"/>
              </a:rPr>
              <a:t>inner</a:t>
            </a:r>
            <a:r>
              <a:rPr lang="de-DE" b="1">
                <a:latin typeface="Arial"/>
                <a:cs typeface="Arial"/>
              </a:rPr>
              <a:t> </a:t>
            </a:r>
            <a:r>
              <a:rPr lang="de-DE" b="1" err="1">
                <a:latin typeface="Arial"/>
                <a:cs typeface="Arial"/>
              </a:rPr>
              <a:t>diameter</a:t>
            </a:r>
            <a:endParaRPr lang="de-DE" b="1">
              <a:latin typeface="Arial"/>
              <a:cs typeface="Arial"/>
            </a:endParaRPr>
          </a:p>
          <a:p>
            <a:pPr marL="271145" indent="-271145"/>
            <a:endParaRPr lang="de-DE"/>
          </a:p>
        </p:txBody>
      </p:sp>
      <p:sp>
        <p:nvSpPr>
          <p:cNvPr id="2" name="!!Dataset Collec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dirty="0" err="1">
                <a:latin typeface="Arial"/>
                <a:cs typeface="Arial"/>
              </a:rPr>
              <a:t>Methodology</a:t>
            </a:r>
            <a:endParaRPr lang="de-DE" b="0" dirty="0" err="1">
              <a:solidFill>
                <a:srgbClr val="000000"/>
              </a:solidFill>
              <a:latin typeface="Arial"/>
              <a:cs typeface="Arial"/>
            </a:endParaRPr>
          </a:p>
        </p:txBody>
      </p:sp>
      <p:sp>
        <p:nvSpPr>
          <p:cNvPr id="3" name="Inhaltsplatzhalter 2">
            <a:extLst>
              <a:ext uri="{FF2B5EF4-FFF2-40B4-BE49-F238E27FC236}">
                <a16:creationId xmlns:a16="http://schemas.microsoft.com/office/drawing/2014/main" id="{EC603C8C-59B1-674B-5614-32BD467CAF07}"/>
              </a:ext>
            </a:extLst>
          </p:cNvPr>
          <p:cNvSpPr>
            <a:spLocks noGrp="1"/>
          </p:cNvSpPr>
          <p:nvPr>
            <p:ph idx="1"/>
          </p:nvPr>
        </p:nvSpPr>
        <p:spPr>
          <a:xfrm>
            <a:off x="857252" y="2143128"/>
            <a:ext cx="10601685" cy="337014"/>
          </a:xfrm>
        </p:spPr>
        <p:txBody>
          <a:bodyPr/>
          <a:lstStyle/>
          <a:p>
            <a:pPr marL="271145" indent="-271145"/>
            <a:r>
              <a:rPr lang="de-DE" b="1" err="1">
                <a:latin typeface="Arial"/>
                <a:cs typeface="Arial"/>
              </a:rPr>
              <a:t>Lip</a:t>
            </a:r>
            <a:r>
              <a:rPr lang="de-DE" b="1">
                <a:latin typeface="Arial"/>
                <a:cs typeface="Arial"/>
              </a:rPr>
              <a:t> </a:t>
            </a:r>
            <a:r>
              <a:rPr lang="de-DE" b="1" err="1">
                <a:latin typeface="Arial"/>
                <a:cs typeface="Arial"/>
              </a:rPr>
              <a:t>seals</a:t>
            </a:r>
            <a:r>
              <a:rPr lang="de-DE">
                <a:latin typeface="Arial"/>
                <a:cs typeface="Arial"/>
              </a:rPr>
              <a:t> </a:t>
            </a:r>
            <a:r>
              <a:rPr lang="de-DE" err="1">
                <a:latin typeface="Arial"/>
                <a:cs typeface="Arial"/>
              </a:rPr>
              <a:t>are</a:t>
            </a:r>
            <a:r>
              <a:rPr lang="de-DE">
                <a:latin typeface="Arial"/>
                <a:cs typeface="Arial"/>
              </a:rPr>
              <a:t> </a:t>
            </a:r>
            <a:r>
              <a:rPr lang="de-DE" err="1">
                <a:latin typeface="Arial"/>
                <a:cs typeface="Arial"/>
              </a:rPr>
              <a:t>the</a:t>
            </a:r>
            <a:r>
              <a:rPr lang="de-DE">
                <a:latin typeface="Arial"/>
                <a:cs typeface="Arial"/>
              </a:rPr>
              <a:t> </a:t>
            </a:r>
            <a:r>
              <a:rPr lang="de-DE" err="1">
                <a:latin typeface="Arial"/>
                <a:cs typeface="Arial"/>
              </a:rPr>
              <a:t>study</a:t>
            </a:r>
            <a:r>
              <a:rPr lang="de-DE">
                <a:latin typeface="Arial"/>
                <a:cs typeface="Arial"/>
              </a:rPr>
              <a:t> </a:t>
            </a:r>
            <a:r>
              <a:rPr lang="de-DE" err="1">
                <a:latin typeface="Arial"/>
                <a:cs typeface="Arial"/>
              </a:rPr>
              <a:t>focus</a:t>
            </a:r>
            <a:endParaRPr lang="de-DE">
              <a:latin typeface="Arial"/>
              <a:cs typeface="Arial"/>
            </a:endParaRPr>
          </a:p>
          <a:p>
            <a:pPr marL="0" indent="0">
              <a:buNone/>
            </a:pPr>
            <a:endParaRPr lang="de-DE">
              <a:latin typeface="Arial"/>
              <a:cs typeface="Arial"/>
            </a:endParaRPr>
          </a:p>
          <a:p>
            <a:pPr marL="271145" indent="-271145"/>
            <a:endParaRPr lang="de-DE"/>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9</a:t>
            </a:fld>
            <a:endParaRPr lang="de-DE"/>
          </a:p>
        </p:txBody>
      </p:sp>
      <p:sp>
        <p:nvSpPr>
          <p:cNvPr id="6" name="Rectangle 4">
            <a:extLst>
              <a:ext uri="{FF2B5EF4-FFF2-40B4-BE49-F238E27FC236}">
                <a16:creationId xmlns:a16="http://schemas.microsoft.com/office/drawing/2014/main" id="{969684BB-7A2F-9F4A-D7CB-1BBC84287026}"/>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dirty="0">
                <a:latin typeface="Arial"/>
                <a:cs typeface="Arial"/>
              </a:rPr>
              <a:t>Data Collection: </a:t>
            </a:r>
            <a:r>
              <a:rPr lang="de-DE" b="1" dirty="0" err="1">
                <a:latin typeface="Arial"/>
                <a:cs typeface="Arial"/>
              </a:rPr>
              <a:t>Selection</a:t>
            </a:r>
            <a:r>
              <a:rPr lang="de-DE" b="1" dirty="0">
                <a:latin typeface="Arial"/>
                <a:cs typeface="Arial"/>
              </a:rPr>
              <a:t> </a:t>
            </a:r>
            <a:r>
              <a:rPr lang="de-DE" b="1" dirty="0" err="1">
                <a:latin typeface="Arial"/>
                <a:cs typeface="Arial"/>
              </a:rPr>
              <a:t>of</a:t>
            </a:r>
            <a:r>
              <a:rPr lang="de-DE" b="1" dirty="0">
                <a:latin typeface="Arial"/>
                <a:cs typeface="Arial"/>
              </a:rPr>
              <a:t> </a:t>
            </a:r>
            <a:r>
              <a:rPr lang="de-DE" b="1" dirty="0" err="1">
                <a:latin typeface="Arial"/>
                <a:cs typeface="Arial"/>
              </a:rPr>
              <a:t>Sealing</a:t>
            </a:r>
            <a:r>
              <a:rPr lang="de-DE" b="1" dirty="0">
                <a:latin typeface="Arial"/>
                <a:cs typeface="Arial"/>
              </a:rPr>
              <a:t> Products </a:t>
            </a:r>
            <a:endParaRPr lang="de-DE" b="1" dirty="0">
              <a:cs typeface="Arial"/>
            </a:endParaRPr>
          </a:p>
        </p:txBody>
      </p:sp>
      <p:pic>
        <p:nvPicPr>
          <p:cNvPr id="7" name="Grafik 6" descr="Ein Bild, das Kreis, Spiegel enthält.&#10;&#10;Beschreibung automatisch generiert.">
            <a:extLst>
              <a:ext uri="{FF2B5EF4-FFF2-40B4-BE49-F238E27FC236}">
                <a16:creationId xmlns:a16="http://schemas.microsoft.com/office/drawing/2014/main" id="{AEAFCC83-9388-005B-8981-32FFBB5729B2}"/>
              </a:ext>
            </a:extLst>
          </p:cNvPr>
          <p:cNvPicPr>
            <a:picLocks noChangeAspect="1"/>
          </p:cNvPicPr>
          <p:nvPr/>
        </p:nvPicPr>
        <p:blipFill>
          <a:blip r:embed="rId5"/>
          <a:stretch>
            <a:fillRect/>
          </a:stretch>
        </p:blipFill>
        <p:spPr>
          <a:xfrm>
            <a:off x="855217" y="2806390"/>
            <a:ext cx="5370592" cy="3661318"/>
          </a:xfrm>
          <a:prstGeom prst="rect">
            <a:avLst/>
          </a:prstGeom>
          <a:effectLst>
            <a:outerShdw blurRad="50800" dist="38100" dir="2700000">
              <a:srgbClr val="000000">
                <a:alpha val="40000"/>
              </a:srgbClr>
            </a:outerShdw>
          </a:effectLst>
        </p:spPr>
      </p:pic>
      <p:pic>
        <p:nvPicPr>
          <p:cNvPr id="8" name="Grafik 7" descr="Ein Bild, das Screenshot, Kreis, Text enthält.&#10;&#10;Beschreibung automatisch generiert.">
            <a:extLst>
              <a:ext uri="{FF2B5EF4-FFF2-40B4-BE49-F238E27FC236}">
                <a16:creationId xmlns:a16="http://schemas.microsoft.com/office/drawing/2014/main" id="{AA8A75E5-5BDE-E3CF-4B5E-4D000AC54FAF}"/>
              </a:ext>
            </a:extLst>
          </p:cNvPr>
          <p:cNvPicPr>
            <a:picLocks noChangeAspect="1"/>
          </p:cNvPicPr>
          <p:nvPr/>
        </p:nvPicPr>
        <p:blipFill>
          <a:blip r:embed="rId6"/>
          <a:stretch>
            <a:fillRect/>
          </a:stretch>
        </p:blipFill>
        <p:spPr>
          <a:xfrm>
            <a:off x="6467998" y="2769218"/>
            <a:ext cx="5370592" cy="3735660"/>
          </a:xfrm>
          <a:prstGeom prst="rect">
            <a:avLst/>
          </a:prstGeom>
          <a:effectLst>
            <a:outerShdw blurRad="50800" dist="38100" dir="2700000">
              <a:srgbClr val="000000">
                <a:alpha val="40000"/>
              </a:srgbClr>
            </a:outerShdw>
          </a:effectLst>
        </p:spPr>
      </p:pic>
      <p:grpSp>
        <p:nvGrpSpPr>
          <p:cNvPr id="22" name="Group 21">
            <a:extLst>
              <a:ext uri="{FF2B5EF4-FFF2-40B4-BE49-F238E27FC236}">
                <a16:creationId xmlns:a16="http://schemas.microsoft.com/office/drawing/2014/main" id="{31F13A0E-4085-C2E0-DADE-68180D180427}"/>
              </a:ext>
            </a:extLst>
          </p:cNvPr>
          <p:cNvGrpSpPr/>
          <p:nvPr/>
        </p:nvGrpSpPr>
        <p:grpSpPr>
          <a:xfrm>
            <a:off x="1104988" y="4260023"/>
            <a:ext cx="10324707" cy="268611"/>
            <a:chOff x="1104988" y="4260023"/>
            <a:chExt cx="10324707" cy="268611"/>
          </a:xfrm>
        </p:grpSpPr>
        <p:grpSp>
          <p:nvGrpSpPr>
            <p:cNvPr id="18" name="Gruppieren 17">
              <a:extLst>
                <a:ext uri="{FF2B5EF4-FFF2-40B4-BE49-F238E27FC236}">
                  <a16:creationId xmlns:a16="http://schemas.microsoft.com/office/drawing/2014/main" id="{F307319E-3ADA-5D7E-5FC8-372F296B3A87}"/>
                </a:ext>
              </a:extLst>
            </p:cNvPr>
            <p:cNvGrpSpPr/>
            <p:nvPr/>
          </p:nvGrpSpPr>
          <p:grpSpPr>
            <a:xfrm>
              <a:off x="1104988" y="4260023"/>
              <a:ext cx="1947289" cy="261610"/>
              <a:chOff x="1011043" y="4228708"/>
              <a:chExt cx="2103864" cy="261610"/>
            </a:xfrm>
          </p:grpSpPr>
          <p:cxnSp>
            <p:nvCxnSpPr>
              <p:cNvPr id="5" name="Gerade Verbindung mit Pfeil 4">
                <a:extLst>
                  <a:ext uri="{FF2B5EF4-FFF2-40B4-BE49-F238E27FC236}">
                    <a16:creationId xmlns:a16="http://schemas.microsoft.com/office/drawing/2014/main" id="{A9B1C3E8-AA9B-2F70-255A-34608ADE7FA8}"/>
                  </a:ext>
                </a:extLst>
              </p:cNvPr>
              <p:cNvCxnSpPr/>
              <p:nvPr/>
            </p:nvCxnSpPr>
            <p:spPr>
              <a:xfrm flipV="1">
                <a:off x="1011043" y="4462345"/>
                <a:ext cx="2103864" cy="2416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feld 8">
                <a:extLst>
                  <a:ext uri="{FF2B5EF4-FFF2-40B4-BE49-F238E27FC236}">
                    <a16:creationId xmlns:a16="http://schemas.microsoft.com/office/drawing/2014/main" id="{1679425B-539F-4B91-631B-3235161B651A}"/>
                  </a:ext>
                </a:extLst>
              </p:cNvPr>
              <p:cNvSpPr txBox="1"/>
              <p:nvPr/>
            </p:nvSpPr>
            <p:spPr>
              <a:xfrm>
                <a:off x="1557882" y="4228708"/>
                <a:ext cx="1004551"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100">
                    <a:latin typeface="Arial"/>
                    <a:cs typeface="Arial"/>
                  </a:rPr>
                  <a:t>108.6mm</a:t>
                </a:r>
                <a:endParaRPr lang="de-DE" sz="1400">
                  <a:cs typeface="Arial" charset="0"/>
                </a:endParaRPr>
              </a:p>
            </p:txBody>
          </p:sp>
        </p:grpSp>
        <p:grpSp>
          <p:nvGrpSpPr>
            <p:cNvPr id="19" name="Gruppieren 18">
              <a:extLst>
                <a:ext uri="{FF2B5EF4-FFF2-40B4-BE49-F238E27FC236}">
                  <a16:creationId xmlns:a16="http://schemas.microsoft.com/office/drawing/2014/main" id="{571FF26B-7F51-AF0B-E178-C9DCD3F1A5F8}"/>
                </a:ext>
              </a:extLst>
            </p:cNvPr>
            <p:cNvGrpSpPr/>
            <p:nvPr/>
          </p:nvGrpSpPr>
          <p:grpSpPr>
            <a:xfrm>
              <a:off x="4094813" y="4260023"/>
              <a:ext cx="1780275" cy="261610"/>
              <a:chOff x="3938238" y="4228708"/>
              <a:chExt cx="2103864" cy="261610"/>
            </a:xfrm>
          </p:grpSpPr>
          <p:cxnSp>
            <p:nvCxnSpPr>
              <p:cNvPr id="10" name="Gerade Verbindung mit Pfeil 9">
                <a:extLst>
                  <a:ext uri="{FF2B5EF4-FFF2-40B4-BE49-F238E27FC236}">
                    <a16:creationId xmlns:a16="http://schemas.microsoft.com/office/drawing/2014/main" id="{3C2413DC-4392-441C-3E28-8D2EF4FB60B6}"/>
                  </a:ext>
                </a:extLst>
              </p:cNvPr>
              <p:cNvCxnSpPr>
                <a:cxnSpLocks/>
              </p:cNvCxnSpPr>
              <p:nvPr/>
            </p:nvCxnSpPr>
            <p:spPr>
              <a:xfrm flipV="1">
                <a:off x="3938238" y="4462345"/>
                <a:ext cx="2103864" cy="2416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14B59D17-EDC2-295F-AA5A-09748D518F42}"/>
                  </a:ext>
                </a:extLst>
              </p:cNvPr>
              <p:cNvSpPr txBox="1"/>
              <p:nvPr/>
            </p:nvSpPr>
            <p:spPr>
              <a:xfrm>
                <a:off x="4491763" y="4228708"/>
                <a:ext cx="1014433"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100">
                    <a:latin typeface="Arial"/>
                    <a:cs typeface="Arial"/>
                  </a:rPr>
                  <a:t>108.6mm</a:t>
                </a:r>
                <a:endParaRPr lang="de-DE" sz="1400">
                  <a:cs typeface="Arial" charset="0"/>
                </a:endParaRPr>
              </a:p>
            </p:txBody>
          </p:sp>
        </p:grpSp>
        <p:grpSp>
          <p:nvGrpSpPr>
            <p:cNvPr id="21" name="Gruppieren 20">
              <a:extLst>
                <a:ext uri="{FF2B5EF4-FFF2-40B4-BE49-F238E27FC236}">
                  <a16:creationId xmlns:a16="http://schemas.microsoft.com/office/drawing/2014/main" id="{95B248B6-347A-BC22-60EF-4112CD2DA06F}"/>
                </a:ext>
              </a:extLst>
            </p:cNvPr>
            <p:cNvGrpSpPr/>
            <p:nvPr/>
          </p:nvGrpSpPr>
          <p:grpSpPr>
            <a:xfrm>
              <a:off x="9751764" y="4263586"/>
              <a:ext cx="1677931" cy="261610"/>
              <a:chOff x="9616066" y="4284464"/>
              <a:chExt cx="1918012" cy="272483"/>
            </a:xfrm>
          </p:grpSpPr>
          <p:cxnSp>
            <p:nvCxnSpPr>
              <p:cNvPr id="14" name="Gerade Verbindung mit Pfeil 13">
                <a:extLst>
                  <a:ext uri="{FF2B5EF4-FFF2-40B4-BE49-F238E27FC236}">
                    <a16:creationId xmlns:a16="http://schemas.microsoft.com/office/drawing/2014/main" id="{DB5F6391-8025-5C94-27C9-6515CC8E3794}"/>
                  </a:ext>
                </a:extLst>
              </p:cNvPr>
              <p:cNvCxnSpPr>
                <a:cxnSpLocks/>
              </p:cNvCxnSpPr>
              <p:nvPr/>
            </p:nvCxnSpPr>
            <p:spPr>
              <a:xfrm>
                <a:off x="9616066" y="4532970"/>
                <a:ext cx="1918012" cy="1300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B7B8272E-551A-A6F5-7089-B151334051B0}"/>
                  </a:ext>
                </a:extLst>
              </p:cNvPr>
              <p:cNvSpPr txBox="1"/>
              <p:nvPr/>
            </p:nvSpPr>
            <p:spPr>
              <a:xfrm>
                <a:off x="10126435" y="4284464"/>
                <a:ext cx="910903" cy="2724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100">
                    <a:latin typeface="Arial"/>
                    <a:cs typeface="Arial"/>
                  </a:rPr>
                  <a:t>77.1 mm</a:t>
                </a:r>
                <a:endParaRPr lang="de-DE" sz="1400">
                  <a:cs typeface="Arial" charset="0"/>
                </a:endParaRPr>
              </a:p>
            </p:txBody>
          </p:sp>
        </p:grpSp>
        <p:grpSp>
          <p:nvGrpSpPr>
            <p:cNvPr id="20" name="Gruppieren 19">
              <a:extLst>
                <a:ext uri="{FF2B5EF4-FFF2-40B4-BE49-F238E27FC236}">
                  <a16:creationId xmlns:a16="http://schemas.microsoft.com/office/drawing/2014/main" id="{322426D1-45F6-0FAC-817D-353F71977FE8}"/>
                </a:ext>
              </a:extLst>
            </p:cNvPr>
            <p:cNvGrpSpPr/>
            <p:nvPr/>
          </p:nvGrpSpPr>
          <p:grpSpPr>
            <a:xfrm>
              <a:off x="6764230" y="4267024"/>
              <a:ext cx="1709246" cy="261610"/>
              <a:chOff x="6670285" y="4267024"/>
              <a:chExt cx="1918012" cy="261610"/>
            </a:xfrm>
          </p:grpSpPr>
          <p:cxnSp>
            <p:nvCxnSpPr>
              <p:cNvPr id="16" name="Gerade Verbindung mit Pfeil 15">
                <a:extLst>
                  <a:ext uri="{FF2B5EF4-FFF2-40B4-BE49-F238E27FC236}">
                    <a16:creationId xmlns:a16="http://schemas.microsoft.com/office/drawing/2014/main" id="{0A7EE4E2-6A7B-36D8-82B7-375227BCE5D5}"/>
                  </a:ext>
                </a:extLst>
              </p:cNvPr>
              <p:cNvCxnSpPr>
                <a:cxnSpLocks/>
              </p:cNvCxnSpPr>
              <p:nvPr/>
            </p:nvCxnSpPr>
            <p:spPr>
              <a:xfrm>
                <a:off x="6670285" y="4505092"/>
                <a:ext cx="1918012" cy="1300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752FD40A-245F-0445-8EF8-D1FD2A2A4161}"/>
                  </a:ext>
                </a:extLst>
              </p:cNvPr>
              <p:cNvSpPr txBox="1"/>
              <p:nvPr/>
            </p:nvSpPr>
            <p:spPr>
              <a:xfrm>
                <a:off x="7182621" y="4267024"/>
                <a:ext cx="896566"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100">
                    <a:latin typeface="Arial"/>
                    <a:cs typeface="Arial"/>
                  </a:rPr>
                  <a:t>77.1 mm</a:t>
                </a:r>
                <a:endParaRPr lang="de-DE" sz="1400">
                  <a:cs typeface="Arial" charset="0"/>
                </a:endParaRPr>
              </a:p>
            </p:txBody>
          </p:sp>
        </p:grpSp>
      </p:grpSp>
    </p:spTree>
    <p:extLst>
      <p:ext uri="{BB962C8B-B14F-4D97-AF65-F5344CB8AC3E}">
        <p14:creationId xmlns:p14="http://schemas.microsoft.com/office/powerpoint/2010/main" val="16744154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aset Collec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dirty="0" err="1">
                <a:latin typeface="Arial"/>
                <a:cs typeface="Arial"/>
              </a:rPr>
              <a:t>Methodology</a:t>
            </a:r>
            <a:endParaRPr lang="de-DE" b="0" dirty="0" err="1">
              <a:solidFill>
                <a:srgbClr val="000000"/>
              </a:solidFill>
              <a:latin typeface="Arial"/>
              <a:cs typeface="Arial"/>
            </a:endParaRPr>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10</a:t>
            </a:fld>
            <a:endParaRPr lang="de-DE"/>
          </a:p>
        </p:txBody>
      </p:sp>
      <p:sp>
        <p:nvSpPr>
          <p:cNvPr id="6" name="Rectangle 4">
            <a:extLst>
              <a:ext uri="{FF2B5EF4-FFF2-40B4-BE49-F238E27FC236}">
                <a16:creationId xmlns:a16="http://schemas.microsoft.com/office/drawing/2014/main" id="{969684BB-7A2F-9F4A-D7CB-1BBC84287026}"/>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dirty="0">
                <a:latin typeface="Arial"/>
                <a:cs typeface="Arial"/>
              </a:rPr>
              <a:t>Data Collection: Image Acquisition</a:t>
            </a:r>
            <a:endParaRPr lang="de-DE" b="1" dirty="0" err="1">
              <a:cs typeface="Arial"/>
            </a:endParaRPr>
          </a:p>
        </p:txBody>
      </p:sp>
      <p:pic>
        <p:nvPicPr>
          <p:cNvPr id="5" name="!!defect" descr="Ein Bild, das Screenshot, monochrom, Schwarzweiß enthält.&#10;&#10;Beschreibung automatisch generiert.">
            <a:extLst>
              <a:ext uri="{FF2B5EF4-FFF2-40B4-BE49-F238E27FC236}">
                <a16:creationId xmlns:a16="http://schemas.microsoft.com/office/drawing/2014/main" id="{A9705385-C007-33D0-2602-907CC4F05EE1}"/>
              </a:ext>
            </a:extLst>
          </p:cNvPr>
          <p:cNvPicPr>
            <a:picLocks noChangeAspect="1"/>
          </p:cNvPicPr>
          <p:nvPr/>
        </p:nvPicPr>
        <p:blipFill>
          <a:blip r:embed="rId3"/>
          <a:stretch>
            <a:fillRect/>
          </a:stretch>
        </p:blipFill>
        <p:spPr>
          <a:xfrm>
            <a:off x="4430580" y="2073347"/>
            <a:ext cx="3429000" cy="4114800"/>
          </a:xfrm>
          <a:prstGeom prst="rect">
            <a:avLst/>
          </a:prstGeom>
        </p:spPr>
      </p:pic>
      <p:sp>
        <p:nvSpPr>
          <p:cNvPr id="10" name="text">
            <a:extLst>
              <a:ext uri="{FF2B5EF4-FFF2-40B4-BE49-F238E27FC236}">
                <a16:creationId xmlns:a16="http://schemas.microsoft.com/office/drawing/2014/main" id="{F22C9851-5BAE-25B7-287E-BB7D6BDFFEAA}"/>
              </a:ext>
            </a:extLst>
          </p:cNvPr>
          <p:cNvSpPr txBox="1">
            <a:spLocks/>
          </p:cNvSpPr>
          <p:nvPr/>
        </p:nvSpPr>
        <p:spPr bwMode="auto">
          <a:xfrm>
            <a:off x="857252" y="2132085"/>
            <a:ext cx="3129310" cy="3497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4"/>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5"/>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a:latin typeface="Arial"/>
                <a:cs typeface="Arial"/>
              </a:rPr>
              <a:t>Images </a:t>
            </a:r>
            <a:r>
              <a:rPr lang="de-DE" err="1">
                <a:latin typeface="Arial"/>
                <a:cs typeface="Arial"/>
              </a:rPr>
              <a:t>captured</a:t>
            </a:r>
            <a:r>
              <a:rPr lang="de-DE">
                <a:latin typeface="Arial"/>
                <a:cs typeface="Arial"/>
              </a:rPr>
              <a:t> </a:t>
            </a:r>
            <a:r>
              <a:rPr lang="de-DE" err="1">
                <a:latin typeface="Arial"/>
                <a:cs typeface="Arial"/>
              </a:rPr>
              <a:t>from</a:t>
            </a:r>
            <a:r>
              <a:rPr lang="de-DE">
                <a:latin typeface="Arial"/>
                <a:cs typeface="Arial"/>
              </a:rPr>
              <a:t> </a:t>
            </a:r>
            <a:r>
              <a:rPr lang="de-DE" b="1" err="1">
                <a:latin typeface="Arial"/>
                <a:cs typeface="Arial"/>
              </a:rPr>
              <a:t>inspection</a:t>
            </a:r>
            <a:r>
              <a:rPr lang="de-DE" b="1">
                <a:latin typeface="Arial"/>
                <a:cs typeface="Arial"/>
              </a:rPr>
              <a:t> </a:t>
            </a:r>
            <a:r>
              <a:rPr lang="de-DE" b="1" err="1">
                <a:latin typeface="Arial"/>
                <a:cs typeface="Arial"/>
              </a:rPr>
              <a:t>machine</a:t>
            </a:r>
            <a:endParaRPr lang="de-DE" b="1">
              <a:latin typeface="Arial"/>
              <a:cs typeface="Arial"/>
            </a:endParaRPr>
          </a:p>
          <a:p>
            <a:pPr marL="271145" indent="-271145"/>
            <a:r>
              <a:rPr lang="de-DE">
                <a:latin typeface="Arial"/>
                <a:cs typeface="Arial"/>
              </a:rPr>
              <a:t>Raw </a:t>
            </a:r>
            <a:r>
              <a:rPr lang="de-DE" err="1">
                <a:latin typeface="Arial"/>
                <a:cs typeface="Arial"/>
              </a:rPr>
              <a:t>images</a:t>
            </a:r>
            <a:r>
              <a:rPr lang="de-DE">
                <a:latin typeface="Arial"/>
                <a:cs typeface="Arial"/>
              </a:rPr>
              <a:t> </a:t>
            </a:r>
            <a:r>
              <a:rPr lang="de-DE" err="1">
                <a:latin typeface="Arial"/>
                <a:cs typeface="Arial"/>
              </a:rPr>
              <a:t>are</a:t>
            </a:r>
            <a:r>
              <a:rPr lang="de-DE">
                <a:latin typeface="Arial"/>
                <a:cs typeface="Arial"/>
              </a:rPr>
              <a:t> </a:t>
            </a:r>
            <a:r>
              <a:rPr lang="de-DE" err="1">
                <a:latin typeface="Arial"/>
                <a:cs typeface="Arial"/>
              </a:rPr>
              <a:t>saved</a:t>
            </a:r>
            <a:r>
              <a:rPr lang="de-DE">
                <a:latin typeface="Arial"/>
                <a:cs typeface="Arial"/>
              </a:rPr>
              <a:t> in </a:t>
            </a:r>
            <a:r>
              <a:rPr lang="de-DE" b="1">
                <a:latin typeface="Arial"/>
                <a:cs typeface="Arial"/>
              </a:rPr>
              <a:t>.</a:t>
            </a:r>
            <a:r>
              <a:rPr lang="de-DE" b="1" err="1">
                <a:latin typeface="Arial"/>
                <a:cs typeface="Arial"/>
              </a:rPr>
              <a:t>pgm</a:t>
            </a:r>
            <a:r>
              <a:rPr lang="de-DE" b="1">
                <a:latin typeface="Arial"/>
                <a:cs typeface="Arial"/>
              </a:rPr>
              <a:t> </a:t>
            </a:r>
            <a:r>
              <a:rPr lang="de-DE" b="1" err="1">
                <a:latin typeface="Arial"/>
                <a:cs typeface="Arial"/>
              </a:rPr>
              <a:t>format</a:t>
            </a:r>
            <a:r>
              <a:rPr lang="de-DE" b="1">
                <a:latin typeface="Arial"/>
                <a:cs typeface="Arial"/>
              </a:rPr>
              <a:t> </a:t>
            </a:r>
            <a:r>
              <a:rPr lang="de-DE">
                <a:latin typeface="Arial"/>
                <a:cs typeface="Arial"/>
              </a:rPr>
              <a:t>and </a:t>
            </a:r>
            <a:r>
              <a:rPr lang="de-DE" b="1" err="1">
                <a:latin typeface="Arial"/>
                <a:cs typeface="Arial"/>
              </a:rPr>
              <a:t>does</a:t>
            </a:r>
            <a:r>
              <a:rPr lang="de-DE" b="1">
                <a:latin typeface="Arial"/>
                <a:cs typeface="Arial"/>
              </a:rPr>
              <a:t> not </a:t>
            </a:r>
            <a:r>
              <a:rPr lang="de-DE" b="1" err="1">
                <a:latin typeface="Arial"/>
                <a:cs typeface="Arial"/>
              </a:rPr>
              <a:t>contain</a:t>
            </a:r>
            <a:r>
              <a:rPr lang="de-DE" b="1">
                <a:latin typeface="Arial"/>
                <a:cs typeface="Arial"/>
              </a:rPr>
              <a:t> </a:t>
            </a:r>
            <a:r>
              <a:rPr lang="de-DE" b="1" err="1">
                <a:latin typeface="Arial"/>
                <a:cs typeface="Arial"/>
              </a:rPr>
              <a:t>color</a:t>
            </a:r>
            <a:r>
              <a:rPr lang="de-DE" b="1">
                <a:latin typeface="Arial"/>
                <a:cs typeface="Arial"/>
              </a:rPr>
              <a:t> </a:t>
            </a:r>
            <a:r>
              <a:rPr lang="de-DE" b="1" err="1">
                <a:latin typeface="Arial"/>
                <a:cs typeface="Arial"/>
              </a:rPr>
              <a:t>information</a:t>
            </a:r>
            <a:endParaRPr lang="de-DE" b="1">
              <a:latin typeface="Arial"/>
              <a:cs typeface="Arial"/>
            </a:endParaRPr>
          </a:p>
          <a:p>
            <a:pPr marL="271145" indent="-271145">
              <a:buChar char="•"/>
            </a:pPr>
            <a:endParaRPr lang="de-DE">
              <a:latin typeface="Arial"/>
              <a:cs typeface="Arial"/>
            </a:endParaRPr>
          </a:p>
          <a:p>
            <a:pPr marL="271145" indent="-271145"/>
            <a:endParaRPr lang="de-DE">
              <a:latin typeface="Arial"/>
              <a:cs typeface="Arial"/>
            </a:endParaRPr>
          </a:p>
        </p:txBody>
      </p:sp>
    </p:spTree>
    <p:extLst>
      <p:ext uri="{BB962C8B-B14F-4D97-AF65-F5344CB8AC3E}">
        <p14:creationId xmlns:p14="http://schemas.microsoft.com/office/powerpoint/2010/main" val="23449220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aset Collec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dirty="0" err="1">
                <a:latin typeface="Arial"/>
                <a:cs typeface="Arial"/>
              </a:rPr>
              <a:t>Methodology</a:t>
            </a:r>
            <a:endParaRPr lang="de-DE" b="0" dirty="0" err="1">
              <a:solidFill>
                <a:srgbClr val="000000"/>
              </a:solidFill>
              <a:latin typeface="Arial"/>
              <a:cs typeface="Arial"/>
            </a:endParaRPr>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11</a:t>
            </a:fld>
            <a:endParaRPr lang="de-DE"/>
          </a:p>
        </p:txBody>
      </p:sp>
      <p:sp>
        <p:nvSpPr>
          <p:cNvPr id="6" name="Rectangle 4">
            <a:extLst>
              <a:ext uri="{FF2B5EF4-FFF2-40B4-BE49-F238E27FC236}">
                <a16:creationId xmlns:a16="http://schemas.microsoft.com/office/drawing/2014/main" id="{969684BB-7A2F-9F4A-D7CB-1BBC84287026}"/>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dirty="0">
                <a:latin typeface="Arial"/>
                <a:cs typeface="Arial"/>
              </a:rPr>
              <a:t>Data Collection: Image </a:t>
            </a:r>
            <a:r>
              <a:rPr lang="de-DE" b="1" dirty="0" err="1">
                <a:latin typeface="Arial"/>
                <a:cs typeface="Arial"/>
              </a:rPr>
              <a:t>Preprocessing</a:t>
            </a:r>
            <a:endParaRPr lang="de-DE" b="1" dirty="0" err="1">
              <a:cs typeface="Arial"/>
            </a:endParaRPr>
          </a:p>
        </p:txBody>
      </p:sp>
      <p:pic>
        <p:nvPicPr>
          <p:cNvPr id="5" name="!!defect" descr="Ein Bild, das Screenshot, Regal, Schublade, Licht enthält.&#10;&#10;Beschreibung automatisch generiert.">
            <a:extLst>
              <a:ext uri="{FF2B5EF4-FFF2-40B4-BE49-F238E27FC236}">
                <a16:creationId xmlns:a16="http://schemas.microsoft.com/office/drawing/2014/main" id="{A9705385-C007-33D0-2602-907CC4F05EE1}"/>
              </a:ext>
            </a:extLst>
          </p:cNvPr>
          <p:cNvPicPr>
            <a:picLocks noChangeAspect="1"/>
          </p:cNvPicPr>
          <p:nvPr/>
        </p:nvPicPr>
        <p:blipFill>
          <a:blip r:embed="rId3"/>
          <a:stretch>
            <a:fillRect/>
          </a:stretch>
        </p:blipFill>
        <p:spPr>
          <a:xfrm>
            <a:off x="4384117" y="2416247"/>
            <a:ext cx="3429000" cy="3429000"/>
          </a:xfrm>
          <a:prstGeom prst="rect">
            <a:avLst/>
          </a:prstGeom>
        </p:spPr>
      </p:pic>
      <p:sp>
        <p:nvSpPr>
          <p:cNvPr id="9" name="Rechteck 8">
            <a:extLst>
              <a:ext uri="{FF2B5EF4-FFF2-40B4-BE49-F238E27FC236}">
                <a16:creationId xmlns:a16="http://schemas.microsoft.com/office/drawing/2014/main" id="{9CEC5B84-8DB4-35A4-AD3E-00905D117CD1}"/>
              </a:ext>
            </a:extLst>
          </p:cNvPr>
          <p:cNvSpPr/>
          <p:nvPr/>
        </p:nvSpPr>
        <p:spPr>
          <a:xfrm>
            <a:off x="-2304155" y="2415862"/>
            <a:ext cx="405536" cy="342574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DB3A66DB-E4E1-272B-5FE2-036FDC23447D}"/>
              </a:ext>
            </a:extLst>
          </p:cNvPr>
          <p:cNvSpPr/>
          <p:nvPr/>
        </p:nvSpPr>
        <p:spPr>
          <a:xfrm>
            <a:off x="12712821" y="2415862"/>
            <a:ext cx="405536" cy="342574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pgm2jpg">
            <a:extLst>
              <a:ext uri="{FF2B5EF4-FFF2-40B4-BE49-F238E27FC236}">
                <a16:creationId xmlns:a16="http://schemas.microsoft.com/office/drawing/2014/main" id="{96E20F1A-BD1E-408B-ED41-F73ACF99E108}"/>
              </a:ext>
            </a:extLst>
          </p:cNvPr>
          <p:cNvSpPr txBox="1">
            <a:spLocks/>
          </p:cNvSpPr>
          <p:nvPr/>
        </p:nvSpPr>
        <p:spPr bwMode="auto">
          <a:xfrm>
            <a:off x="857252" y="2132085"/>
            <a:ext cx="3129310" cy="3497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4"/>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5"/>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err="1">
                <a:latin typeface="Arial"/>
                <a:cs typeface="Arial"/>
              </a:rPr>
              <a:t>Convert</a:t>
            </a:r>
            <a:r>
              <a:rPr lang="de-DE">
                <a:latin typeface="Arial"/>
                <a:cs typeface="Arial"/>
              </a:rPr>
              <a:t> .</a:t>
            </a:r>
            <a:r>
              <a:rPr lang="de-DE" err="1">
                <a:latin typeface="Arial"/>
                <a:cs typeface="Arial"/>
              </a:rPr>
              <a:t>pgm</a:t>
            </a:r>
            <a:r>
              <a:rPr lang="de-DE">
                <a:latin typeface="Arial"/>
                <a:cs typeface="Arial"/>
              </a:rPr>
              <a:t> </a:t>
            </a:r>
            <a:r>
              <a:rPr lang="de-DE" err="1">
                <a:latin typeface="Arial"/>
                <a:cs typeface="Arial"/>
              </a:rPr>
              <a:t>to</a:t>
            </a:r>
            <a:r>
              <a:rPr lang="de-DE">
                <a:latin typeface="Arial"/>
                <a:cs typeface="Arial"/>
              </a:rPr>
              <a:t> </a:t>
            </a:r>
            <a:r>
              <a:rPr lang="de-DE" b="1">
                <a:latin typeface="Arial"/>
                <a:cs typeface="Arial"/>
              </a:rPr>
              <a:t>.</a:t>
            </a:r>
            <a:r>
              <a:rPr lang="de-DE" b="1" err="1">
                <a:latin typeface="Arial"/>
                <a:cs typeface="Arial"/>
              </a:rPr>
              <a:t>jpg</a:t>
            </a:r>
            <a:endParaRPr lang="de-DE" b="1">
              <a:latin typeface="Arial"/>
              <a:cs typeface="Arial"/>
            </a:endParaRPr>
          </a:p>
          <a:p>
            <a:pPr marL="271145" indent="-271145">
              <a:buChar char="•"/>
            </a:pPr>
            <a:endParaRPr lang="de-DE">
              <a:latin typeface="Arial"/>
              <a:cs typeface="Arial"/>
            </a:endParaRPr>
          </a:p>
          <a:p>
            <a:pPr marL="271145" indent="-271145"/>
            <a:endParaRPr lang="de-DE">
              <a:latin typeface="Arial"/>
              <a:cs typeface="Arial"/>
            </a:endParaRPr>
          </a:p>
        </p:txBody>
      </p:sp>
      <p:sp>
        <p:nvSpPr>
          <p:cNvPr id="24" name="!!restore color">
            <a:extLst>
              <a:ext uri="{FF2B5EF4-FFF2-40B4-BE49-F238E27FC236}">
                <a16:creationId xmlns:a16="http://schemas.microsoft.com/office/drawing/2014/main" id="{9610784F-D038-AC5B-D6B8-E6CF59616726}"/>
              </a:ext>
            </a:extLst>
          </p:cNvPr>
          <p:cNvSpPr txBox="1">
            <a:spLocks/>
          </p:cNvSpPr>
          <p:nvPr/>
        </p:nvSpPr>
        <p:spPr bwMode="auto">
          <a:xfrm>
            <a:off x="857252" y="2479325"/>
            <a:ext cx="3129310" cy="3497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4"/>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5"/>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a:latin typeface="Arial"/>
                <a:cs typeface="Arial"/>
              </a:rPr>
              <a:t>Restore </a:t>
            </a:r>
            <a:r>
              <a:rPr lang="de-DE" b="1" err="1">
                <a:latin typeface="Arial"/>
                <a:cs typeface="Arial"/>
              </a:rPr>
              <a:t>color</a:t>
            </a:r>
            <a:r>
              <a:rPr lang="de-DE" b="1">
                <a:latin typeface="Arial"/>
                <a:cs typeface="Arial"/>
              </a:rPr>
              <a:t> </a:t>
            </a:r>
            <a:r>
              <a:rPr lang="de-DE" b="1" err="1">
                <a:latin typeface="Arial"/>
                <a:cs typeface="Arial"/>
              </a:rPr>
              <a:t>information</a:t>
            </a:r>
            <a:endParaRPr lang="de-DE" b="1">
              <a:latin typeface="Arial"/>
              <a:cs typeface="Arial"/>
            </a:endParaRPr>
          </a:p>
          <a:p>
            <a:pPr marL="271145" indent="-271145">
              <a:buChar char="•"/>
            </a:pPr>
            <a:endParaRPr lang="de-DE">
              <a:latin typeface="Arial"/>
              <a:cs typeface="Arial"/>
            </a:endParaRPr>
          </a:p>
          <a:p>
            <a:pPr marL="271145" indent="-271145"/>
            <a:endParaRPr lang="de-DE">
              <a:latin typeface="Arial"/>
              <a:cs typeface="Arial"/>
            </a:endParaRPr>
          </a:p>
        </p:txBody>
      </p:sp>
    </p:spTree>
    <p:extLst>
      <p:ext uri="{BB962C8B-B14F-4D97-AF65-F5344CB8AC3E}">
        <p14:creationId xmlns:p14="http://schemas.microsoft.com/office/powerpoint/2010/main" val="9055247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descr="Ein Bild, das Screenshot, Regal, Buch, Schublade enthält.&#10;&#10;Beschreibung automatisch generiert.">
            <a:extLst>
              <a:ext uri="{FF2B5EF4-FFF2-40B4-BE49-F238E27FC236}">
                <a16:creationId xmlns:a16="http://schemas.microsoft.com/office/drawing/2014/main" id="{67A21B72-C587-DA23-C206-BC36EDCE0287}"/>
              </a:ext>
            </a:extLst>
          </p:cNvPr>
          <p:cNvPicPr>
            <a:picLocks noChangeAspect="1"/>
          </p:cNvPicPr>
          <p:nvPr/>
        </p:nvPicPr>
        <p:blipFill>
          <a:blip r:embed="rId3"/>
          <a:stretch>
            <a:fillRect/>
          </a:stretch>
        </p:blipFill>
        <p:spPr>
          <a:xfrm>
            <a:off x="4420480" y="2710183"/>
            <a:ext cx="3352547" cy="2851506"/>
          </a:xfrm>
          <a:prstGeom prst="rect">
            <a:avLst/>
          </a:prstGeom>
        </p:spPr>
      </p:pic>
      <p:pic>
        <p:nvPicPr>
          <p:cNvPr id="5" name="!!defect" descr="Ein Bild, das Screenshot, Regal, Schublade, Licht enthält.&#10;&#10;Beschreibung automatisch generiert.">
            <a:extLst>
              <a:ext uri="{FF2B5EF4-FFF2-40B4-BE49-F238E27FC236}">
                <a16:creationId xmlns:a16="http://schemas.microsoft.com/office/drawing/2014/main" id="{A9705385-C007-33D0-2602-907CC4F05EE1}"/>
              </a:ext>
            </a:extLst>
          </p:cNvPr>
          <p:cNvPicPr>
            <a:picLocks noChangeAspect="1"/>
          </p:cNvPicPr>
          <p:nvPr/>
        </p:nvPicPr>
        <p:blipFill>
          <a:blip r:embed="rId4"/>
          <a:stretch>
            <a:fillRect/>
          </a:stretch>
        </p:blipFill>
        <p:spPr>
          <a:xfrm>
            <a:off x="4384117" y="2416247"/>
            <a:ext cx="3429000" cy="3429000"/>
          </a:xfrm>
          <a:prstGeom prst="rect">
            <a:avLst/>
          </a:prstGeom>
        </p:spPr>
      </p:pic>
      <p:sp>
        <p:nvSpPr>
          <p:cNvPr id="2" name="!!Dataset Collec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dirty="0" err="1">
                <a:latin typeface="Arial"/>
                <a:cs typeface="Arial"/>
              </a:rPr>
              <a:t>Methodology</a:t>
            </a:r>
            <a:endParaRPr lang="de-DE" dirty="0" err="1"/>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12</a:t>
            </a:fld>
            <a:endParaRPr lang="de-DE"/>
          </a:p>
        </p:txBody>
      </p:sp>
      <p:sp>
        <p:nvSpPr>
          <p:cNvPr id="6" name="Rectangle 4">
            <a:extLst>
              <a:ext uri="{FF2B5EF4-FFF2-40B4-BE49-F238E27FC236}">
                <a16:creationId xmlns:a16="http://schemas.microsoft.com/office/drawing/2014/main" id="{969684BB-7A2F-9F4A-D7CB-1BBC84287026}"/>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dirty="0">
                <a:latin typeface="Arial"/>
                <a:cs typeface="Arial"/>
              </a:rPr>
              <a:t>Data Collection: Image </a:t>
            </a:r>
            <a:r>
              <a:rPr lang="de-DE" b="1" dirty="0" err="1">
                <a:latin typeface="Arial"/>
                <a:cs typeface="Arial"/>
              </a:rPr>
              <a:t>Preprocessing</a:t>
            </a:r>
            <a:endParaRPr lang="de-DE" b="1" dirty="0" err="1">
              <a:cs typeface="Arial"/>
            </a:endParaRPr>
          </a:p>
        </p:txBody>
      </p:sp>
      <p:sp>
        <p:nvSpPr>
          <p:cNvPr id="9" name="Rechteck 8">
            <a:extLst>
              <a:ext uri="{FF2B5EF4-FFF2-40B4-BE49-F238E27FC236}">
                <a16:creationId xmlns:a16="http://schemas.microsoft.com/office/drawing/2014/main" id="{9CEC5B84-8DB4-35A4-AD3E-00905D117CD1}"/>
              </a:ext>
            </a:extLst>
          </p:cNvPr>
          <p:cNvSpPr/>
          <p:nvPr/>
        </p:nvSpPr>
        <p:spPr>
          <a:xfrm>
            <a:off x="4312236" y="2415862"/>
            <a:ext cx="405536" cy="342574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DB3A66DB-E4E1-272B-5FE2-036FDC23447D}"/>
              </a:ext>
            </a:extLst>
          </p:cNvPr>
          <p:cNvSpPr/>
          <p:nvPr/>
        </p:nvSpPr>
        <p:spPr>
          <a:xfrm>
            <a:off x="7471748" y="2415862"/>
            <a:ext cx="405536" cy="342574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filled_with_black">
            <a:extLst>
              <a:ext uri="{FF2B5EF4-FFF2-40B4-BE49-F238E27FC236}">
                <a16:creationId xmlns:a16="http://schemas.microsoft.com/office/drawing/2014/main" id="{26F3F64C-B8FE-59C5-AB84-78B60A507F1F}"/>
              </a:ext>
            </a:extLst>
          </p:cNvPr>
          <p:cNvSpPr txBox="1">
            <a:spLocks/>
          </p:cNvSpPr>
          <p:nvPr/>
        </p:nvSpPr>
        <p:spPr bwMode="auto">
          <a:xfrm>
            <a:off x="855043" y="2830509"/>
            <a:ext cx="3129310" cy="3497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5"/>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6"/>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a:latin typeface="Arial"/>
                <a:cs typeface="Arial"/>
              </a:rPr>
              <a:t>The </a:t>
            </a:r>
            <a:r>
              <a:rPr lang="de-DE" err="1">
                <a:latin typeface="Arial"/>
                <a:cs typeface="Arial"/>
              </a:rPr>
              <a:t>sides</a:t>
            </a:r>
            <a:r>
              <a:rPr lang="de-DE">
                <a:latin typeface="Arial"/>
                <a:cs typeface="Arial"/>
              </a:rPr>
              <a:t> </a:t>
            </a:r>
            <a:r>
              <a:rPr lang="de-DE" err="1">
                <a:latin typeface="Arial"/>
                <a:cs typeface="Arial"/>
              </a:rPr>
              <a:t>are</a:t>
            </a:r>
            <a:r>
              <a:rPr lang="de-DE">
                <a:latin typeface="Arial"/>
                <a:cs typeface="Arial"/>
              </a:rPr>
              <a:t> </a:t>
            </a:r>
            <a:r>
              <a:rPr lang="de-DE" b="1" err="1">
                <a:latin typeface="Arial"/>
                <a:cs typeface="Arial"/>
              </a:rPr>
              <a:t>filled</a:t>
            </a:r>
            <a:r>
              <a:rPr lang="de-DE" b="1">
                <a:latin typeface="Arial"/>
                <a:cs typeface="Arial"/>
              </a:rPr>
              <a:t> </a:t>
            </a:r>
            <a:r>
              <a:rPr lang="de-DE" b="1" err="1">
                <a:latin typeface="Arial"/>
                <a:cs typeface="Arial"/>
              </a:rPr>
              <a:t>with</a:t>
            </a:r>
            <a:r>
              <a:rPr lang="de-DE" b="1">
                <a:latin typeface="Arial"/>
                <a:cs typeface="Arial"/>
              </a:rPr>
              <a:t> </a:t>
            </a:r>
            <a:r>
              <a:rPr lang="de-DE" b="1" err="1">
                <a:latin typeface="Arial"/>
                <a:cs typeface="Arial"/>
              </a:rPr>
              <a:t>black</a:t>
            </a:r>
            <a:endParaRPr lang="de-DE" b="1">
              <a:latin typeface="Arial"/>
              <a:cs typeface="Arial"/>
            </a:endParaRPr>
          </a:p>
          <a:p>
            <a:pPr marL="271145" indent="-271145"/>
            <a:endParaRPr lang="de-DE">
              <a:latin typeface="Arial"/>
              <a:cs typeface="Arial"/>
            </a:endParaRPr>
          </a:p>
          <a:p>
            <a:pPr marL="271145" indent="-271145"/>
            <a:endParaRPr lang="de-DE">
              <a:latin typeface="Arial"/>
              <a:cs typeface="Arial"/>
            </a:endParaRPr>
          </a:p>
        </p:txBody>
      </p:sp>
      <p:sp>
        <p:nvSpPr>
          <p:cNvPr id="13" name="!!pgm2jpg">
            <a:extLst>
              <a:ext uri="{FF2B5EF4-FFF2-40B4-BE49-F238E27FC236}">
                <a16:creationId xmlns:a16="http://schemas.microsoft.com/office/drawing/2014/main" id="{C993D62F-BA46-F28A-3F6A-748C65BFFB23}"/>
              </a:ext>
            </a:extLst>
          </p:cNvPr>
          <p:cNvSpPr txBox="1">
            <a:spLocks/>
          </p:cNvSpPr>
          <p:nvPr/>
        </p:nvSpPr>
        <p:spPr bwMode="auto">
          <a:xfrm>
            <a:off x="857252" y="2132085"/>
            <a:ext cx="3129310" cy="3497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5"/>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6"/>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err="1">
                <a:latin typeface="Arial"/>
                <a:cs typeface="Arial"/>
              </a:rPr>
              <a:t>Convert</a:t>
            </a:r>
            <a:r>
              <a:rPr lang="de-DE">
                <a:latin typeface="Arial"/>
                <a:cs typeface="Arial"/>
              </a:rPr>
              <a:t> .</a:t>
            </a:r>
            <a:r>
              <a:rPr lang="de-DE" err="1">
                <a:latin typeface="Arial"/>
                <a:cs typeface="Arial"/>
              </a:rPr>
              <a:t>pgm</a:t>
            </a:r>
            <a:r>
              <a:rPr lang="de-DE">
                <a:latin typeface="Arial"/>
                <a:cs typeface="Arial"/>
              </a:rPr>
              <a:t> </a:t>
            </a:r>
            <a:r>
              <a:rPr lang="de-DE" err="1">
                <a:latin typeface="Arial"/>
                <a:cs typeface="Arial"/>
              </a:rPr>
              <a:t>to</a:t>
            </a:r>
            <a:r>
              <a:rPr lang="de-DE">
                <a:latin typeface="Arial"/>
                <a:cs typeface="Arial"/>
              </a:rPr>
              <a:t> </a:t>
            </a:r>
            <a:r>
              <a:rPr lang="de-DE" b="1">
                <a:latin typeface="Arial"/>
                <a:cs typeface="Arial"/>
              </a:rPr>
              <a:t>.</a:t>
            </a:r>
            <a:r>
              <a:rPr lang="de-DE" b="1" err="1">
                <a:latin typeface="Arial"/>
                <a:cs typeface="Arial"/>
              </a:rPr>
              <a:t>jpg</a:t>
            </a:r>
            <a:endParaRPr lang="de-DE" b="1">
              <a:latin typeface="Arial"/>
              <a:cs typeface="Arial"/>
            </a:endParaRPr>
          </a:p>
          <a:p>
            <a:pPr marL="271145" indent="-271145">
              <a:buChar char="•"/>
            </a:pPr>
            <a:endParaRPr lang="de-DE">
              <a:latin typeface="Arial"/>
              <a:cs typeface="Arial"/>
            </a:endParaRPr>
          </a:p>
          <a:p>
            <a:pPr marL="271145" indent="-271145"/>
            <a:endParaRPr lang="de-DE">
              <a:latin typeface="Arial"/>
              <a:cs typeface="Arial"/>
            </a:endParaRPr>
          </a:p>
        </p:txBody>
      </p:sp>
      <p:sp>
        <p:nvSpPr>
          <p:cNvPr id="16" name="!!restore color">
            <a:extLst>
              <a:ext uri="{FF2B5EF4-FFF2-40B4-BE49-F238E27FC236}">
                <a16:creationId xmlns:a16="http://schemas.microsoft.com/office/drawing/2014/main" id="{92176AE2-6BCD-F11D-3747-DBC71E537267}"/>
              </a:ext>
            </a:extLst>
          </p:cNvPr>
          <p:cNvSpPr txBox="1">
            <a:spLocks/>
          </p:cNvSpPr>
          <p:nvPr/>
        </p:nvSpPr>
        <p:spPr bwMode="auto">
          <a:xfrm>
            <a:off x="857252" y="2479325"/>
            <a:ext cx="3129310" cy="3497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5"/>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6"/>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a:latin typeface="Arial"/>
                <a:cs typeface="Arial"/>
              </a:rPr>
              <a:t>Restore </a:t>
            </a:r>
            <a:r>
              <a:rPr lang="de-DE" b="1" err="1">
                <a:latin typeface="Arial"/>
                <a:cs typeface="Arial"/>
              </a:rPr>
              <a:t>color</a:t>
            </a:r>
            <a:r>
              <a:rPr lang="de-DE" b="1">
                <a:latin typeface="Arial"/>
                <a:cs typeface="Arial"/>
              </a:rPr>
              <a:t> </a:t>
            </a:r>
            <a:r>
              <a:rPr lang="de-DE" b="1" err="1">
                <a:latin typeface="Arial"/>
                <a:cs typeface="Arial"/>
              </a:rPr>
              <a:t>information</a:t>
            </a:r>
            <a:endParaRPr lang="de-DE" b="1">
              <a:latin typeface="Arial"/>
              <a:cs typeface="Arial"/>
            </a:endParaRPr>
          </a:p>
          <a:p>
            <a:pPr marL="271145" indent="-271145">
              <a:buChar char="•"/>
            </a:pPr>
            <a:endParaRPr lang="de-DE">
              <a:latin typeface="Arial"/>
              <a:cs typeface="Arial"/>
            </a:endParaRPr>
          </a:p>
          <a:p>
            <a:pPr marL="271145" indent="-271145"/>
            <a:endParaRPr lang="de-DE">
              <a:latin typeface="Arial"/>
              <a:cs typeface="Arial"/>
            </a:endParaRPr>
          </a:p>
        </p:txBody>
      </p:sp>
    </p:spTree>
    <p:extLst>
      <p:ext uri="{BB962C8B-B14F-4D97-AF65-F5344CB8AC3E}">
        <p14:creationId xmlns:p14="http://schemas.microsoft.com/office/powerpoint/2010/main" val="18771120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aset Collec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dirty="0" err="1"/>
              <a:t>Methodology</a:t>
            </a:r>
            <a:endParaRPr lang="de-DE" b="0" dirty="0" err="1">
              <a:solidFill>
                <a:srgbClr val="000000"/>
              </a:solidFill>
            </a:endParaRPr>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13</a:t>
            </a:fld>
            <a:endParaRPr lang="de-DE"/>
          </a:p>
        </p:txBody>
      </p:sp>
      <p:sp>
        <p:nvSpPr>
          <p:cNvPr id="6" name="Rectangle 4">
            <a:extLst>
              <a:ext uri="{FF2B5EF4-FFF2-40B4-BE49-F238E27FC236}">
                <a16:creationId xmlns:a16="http://schemas.microsoft.com/office/drawing/2014/main" id="{969684BB-7A2F-9F4A-D7CB-1BBC84287026}"/>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dirty="0">
                <a:latin typeface="Arial"/>
                <a:cs typeface="Arial"/>
              </a:rPr>
              <a:t>Data Collection: Image </a:t>
            </a:r>
            <a:r>
              <a:rPr lang="de-DE" b="1" dirty="0" err="1">
                <a:latin typeface="Arial"/>
                <a:cs typeface="Arial"/>
              </a:rPr>
              <a:t>Preprocessing</a:t>
            </a:r>
            <a:endParaRPr lang="de-DE" b="1" dirty="0" err="1">
              <a:cs typeface="Arial"/>
            </a:endParaRPr>
          </a:p>
        </p:txBody>
      </p:sp>
      <p:pic>
        <p:nvPicPr>
          <p:cNvPr id="5" name="!!defect" descr="Ein Bild, das Screenshot, Regal, Schublade, Licht enthält.&#10;&#10;Beschreibung automatisch generiert.">
            <a:extLst>
              <a:ext uri="{FF2B5EF4-FFF2-40B4-BE49-F238E27FC236}">
                <a16:creationId xmlns:a16="http://schemas.microsoft.com/office/drawing/2014/main" id="{A9705385-C007-33D0-2602-907CC4F05EE1}"/>
              </a:ext>
            </a:extLst>
          </p:cNvPr>
          <p:cNvPicPr>
            <a:picLocks noChangeAspect="1"/>
          </p:cNvPicPr>
          <p:nvPr/>
        </p:nvPicPr>
        <p:blipFill>
          <a:blip r:embed="rId3"/>
          <a:stretch>
            <a:fillRect/>
          </a:stretch>
        </p:blipFill>
        <p:spPr>
          <a:xfrm>
            <a:off x="4384117" y="2416247"/>
            <a:ext cx="3429000" cy="3429000"/>
          </a:xfrm>
          <a:prstGeom prst="rect">
            <a:avLst/>
          </a:prstGeom>
        </p:spPr>
      </p:pic>
      <p:pic>
        <p:nvPicPr>
          <p:cNvPr id="7" name="Grafik 6" descr="Ein Bild, das Screenshot, Regal, Buch, Schublade enthält.&#10;&#10;Beschreibung automatisch generiert.">
            <a:extLst>
              <a:ext uri="{FF2B5EF4-FFF2-40B4-BE49-F238E27FC236}">
                <a16:creationId xmlns:a16="http://schemas.microsoft.com/office/drawing/2014/main" id="{594B24F4-1E83-3430-BC67-E5D632D76856}"/>
              </a:ext>
            </a:extLst>
          </p:cNvPr>
          <p:cNvPicPr>
            <a:picLocks noChangeAspect="1"/>
          </p:cNvPicPr>
          <p:nvPr/>
        </p:nvPicPr>
        <p:blipFill>
          <a:blip r:embed="rId4"/>
          <a:stretch>
            <a:fillRect/>
          </a:stretch>
        </p:blipFill>
        <p:spPr>
          <a:xfrm>
            <a:off x="8238372" y="2413073"/>
            <a:ext cx="3436435" cy="3436435"/>
          </a:xfrm>
          <a:prstGeom prst="rect">
            <a:avLst/>
          </a:prstGeom>
        </p:spPr>
      </p:pic>
      <p:sp>
        <p:nvSpPr>
          <p:cNvPr id="10" name="Pfeil: gebogen 9">
            <a:extLst>
              <a:ext uri="{FF2B5EF4-FFF2-40B4-BE49-F238E27FC236}">
                <a16:creationId xmlns:a16="http://schemas.microsoft.com/office/drawing/2014/main" id="{749BE2DF-86DB-231E-641E-FE7ED9AD2770}"/>
              </a:ext>
            </a:extLst>
          </p:cNvPr>
          <p:cNvSpPr/>
          <p:nvPr/>
        </p:nvSpPr>
        <p:spPr>
          <a:xfrm>
            <a:off x="6481158" y="1139298"/>
            <a:ext cx="3308224" cy="2287737"/>
          </a:xfrm>
          <a:prstGeom prst="circular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2" name="Textfeld 11">
            <a:extLst>
              <a:ext uri="{FF2B5EF4-FFF2-40B4-BE49-F238E27FC236}">
                <a16:creationId xmlns:a16="http://schemas.microsoft.com/office/drawing/2014/main" id="{2A3C8AF1-76CA-8FB8-A143-464E0E83928F}"/>
              </a:ext>
            </a:extLst>
          </p:cNvPr>
          <p:cNvSpPr txBox="1"/>
          <p:nvPr/>
        </p:nvSpPr>
        <p:spPr>
          <a:xfrm>
            <a:off x="7520196" y="1635975"/>
            <a:ext cx="143175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a:latin typeface="Arial"/>
                <a:cs typeface="Arial"/>
              </a:rPr>
              <a:t>Horizontal </a:t>
            </a:r>
            <a:r>
              <a:rPr lang="de-DE" err="1">
                <a:latin typeface="Arial"/>
                <a:cs typeface="Arial"/>
              </a:rPr>
              <a:t>flip</a:t>
            </a:r>
            <a:r>
              <a:rPr lang="de-DE">
                <a:latin typeface="Arial"/>
                <a:cs typeface="Arial"/>
              </a:rPr>
              <a:t> </a:t>
            </a:r>
            <a:r>
              <a:rPr lang="de-DE" err="1">
                <a:latin typeface="Arial"/>
                <a:cs typeface="Arial"/>
              </a:rPr>
              <a:t>applied</a:t>
            </a:r>
            <a:endParaRPr lang="de-DE" err="1">
              <a:cs typeface="Arial" charset="0"/>
            </a:endParaRPr>
          </a:p>
        </p:txBody>
      </p:sp>
      <p:sp>
        <p:nvSpPr>
          <p:cNvPr id="13" name="!!pgm2jpg">
            <a:extLst>
              <a:ext uri="{FF2B5EF4-FFF2-40B4-BE49-F238E27FC236}">
                <a16:creationId xmlns:a16="http://schemas.microsoft.com/office/drawing/2014/main" id="{9D72BA64-3B59-5474-8506-E8D786BE125B}"/>
              </a:ext>
            </a:extLst>
          </p:cNvPr>
          <p:cNvSpPr txBox="1">
            <a:spLocks/>
          </p:cNvSpPr>
          <p:nvPr/>
        </p:nvSpPr>
        <p:spPr bwMode="auto">
          <a:xfrm>
            <a:off x="857252" y="2132085"/>
            <a:ext cx="3129310" cy="3497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5"/>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6"/>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err="1">
                <a:latin typeface="Arial"/>
                <a:cs typeface="Arial"/>
              </a:rPr>
              <a:t>Convert</a:t>
            </a:r>
            <a:r>
              <a:rPr lang="de-DE">
                <a:latin typeface="Arial"/>
                <a:cs typeface="Arial"/>
              </a:rPr>
              <a:t> .</a:t>
            </a:r>
            <a:r>
              <a:rPr lang="de-DE" err="1">
                <a:latin typeface="Arial"/>
                <a:cs typeface="Arial"/>
              </a:rPr>
              <a:t>pgm</a:t>
            </a:r>
            <a:r>
              <a:rPr lang="de-DE">
                <a:latin typeface="Arial"/>
                <a:cs typeface="Arial"/>
              </a:rPr>
              <a:t> </a:t>
            </a:r>
            <a:r>
              <a:rPr lang="de-DE" err="1">
                <a:latin typeface="Arial"/>
                <a:cs typeface="Arial"/>
              </a:rPr>
              <a:t>to</a:t>
            </a:r>
            <a:r>
              <a:rPr lang="de-DE">
                <a:latin typeface="Arial"/>
                <a:cs typeface="Arial"/>
              </a:rPr>
              <a:t> </a:t>
            </a:r>
            <a:r>
              <a:rPr lang="de-DE" b="1">
                <a:latin typeface="Arial"/>
                <a:cs typeface="Arial"/>
              </a:rPr>
              <a:t>.</a:t>
            </a:r>
            <a:r>
              <a:rPr lang="de-DE" b="1" err="1">
                <a:latin typeface="Arial"/>
                <a:cs typeface="Arial"/>
              </a:rPr>
              <a:t>jpg</a:t>
            </a:r>
            <a:endParaRPr lang="de-DE" b="1">
              <a:latin typeface="Arial"/>
              <a:cs typeface="Arial"/>
            </a:endParaRPr>
          </a:p>
          <a:p>
            <a:pPr marL="271145" indent="-271145"/>
            <a:endParaRPr lang="de-DE">
              <a:latin typeface="Arial"/>
              <a:cs typeface="Arial"/>
            </a:endParaRPr>
          </a:p>
          <a:p>
            <a:pPr marL="271145" indent="-271145"/>
            <a:endParaRPr lang="de-DE">
              <a:latin typeface="Arial"/>
              <a:cs typeface="Arial"/>
            </a:endParaRPr>
          </a:p>
        </p:txBody>
      </p:sp>
      <p:sp>
        <p:nvSpPr>
          <p:cNvPr id="15" name="!!filled_with_black">
            <a:extLst>
              <a:ext uri="{FF2B5EF4-FFF2-40B4-BE49-F238E27FC236}">
                <a16:creationId xmlns:a16="http://schemas.microsoft.com/office/drawing/2014/main" id="{F657A3DD-61EB-89E6-137E-931EEC9DED43}"/>
              </a:ext>
            </a:extLst>
          </p:cNvPr>
          <p:cNvSpPr txBox="1">
            <a:spLocks/>
          </p:cNvSpPr>
          <p:nvPr/>
        </p:nvSpPr>
        <p:spPr bwMode="auto">
          <a:xfrm>
            <a:off x="855043" y="2830509"/>
            <a:ext cx="3129310" cy="3497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5"/>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6"/>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a:latin typeface="Arial"/>
                <a:cs typeface="Arial"/>
              </a:rPr>
              <a:t>The </a:t>
            </a:r>
            <a:r>
              <a:rPr lang="de-DE" err="1">
                <a:latin typeface="Arial"/>
                <a:cs typeface="Arial"/>
              </a:rPr>
              <a:t>sides</a:t>
            </a:r>
            <a:r>
              <a:rPr lang="de-DE">
                <a:latin typeface="Arial"/>
                <a:cs typeface="Arial"/>
              </a:rPr>
              <a:t> </a:t>
            </a:r>
            <a:r>
              <a:rPr lang="de-DE" err="1">
                <a:latin typeface="Arial"/>
                <a:cs typeface="Arial"/>
              </a:rPr>
              <a:t>are</a:t>
            </a:r>
            <a:r>
              <a:rPr lang="de-DE">
                <a:latin typeface="Arial"/>
                <a:cs typeface="Arial"/>
              </a:rPr>
              <a:t> </a:t>
            </a:r>
            <a:r>
              <a:rPr lang="de-DE" b="1" err="1">
                <a:latin typeface="Arial"/>
                <a:cs typeface="Arial"/>
              </a:rPr>
              <a:t>filled</a:t>
            </a:r>
            <a:r>
              <a:rPr lang="de-DE" b="1">
                <a:latin typeface="Arial"/>
                <a:cs typeface="Arial"/>
              </a:rPr>
              <a:t> </a:t>
            </a:r>
            <a:r>
              <a:rPr lang="de-DE" b="1" err="1">
                <a:latin typeface="Arial"/>
                <a:cs typeface="Arial"/>
              </a:rPr>
              <a:t>with</a:t>
            </a:r>
            <a:r>
              <a:rPr lang="de-DE" b="1">
                <a:latin typeface="Arial"/>
                <a:cs typeface="Arial"/>
              </a:rPr>
              <a:t> </a:t>
            </a:r>
            <a:r>
              <a:rPr lang="de-DE" b="1" err="1">
                <a:latin typeface="Arial"/>
                <a:cs typeface="Arial"/>
              </a:rPr>
              <a:t>black</a:t>
            </a:r>
            <a:endParaRPr lang="zh-TW" altLang="en-US" b="1"/>
          </a:p>
          <a:p>
            <a:pPr marL="271145" indent="-271145"/>
            <a:endParaRPr lang="de-DE">
              <a:latin typeface="Arial"/>
              <a:cs typeface="Arial"/>
            </a:endParaRPr>
          </a:p>
          <a:p>
            <a:pPr marL="271145" indent="-271145"/>
            <a:endParaRPr lang="de-DE">
              <a:latin typeface="Arial"/>
              <a:cs typeface="Arial"/>
            </a:endParaRPr>
          </a:p>
        </p:txBody>
      </p:sp>
      <p:sp>
        <p:nvSpPr>
          <p:cNvPr id="17" name="Inhaltsplatzhalter 2">
            <a:extLst>
              <a:ext uri="{FF2B5EF4-FFF2-40B4-BE49-F238E27FC236}">
                <a16:creationId xmlns:a16="http://schemas.microsoft.com/office/drawing/2014/main" id="{74FC9251-AE88-A75C-83A8-16B4C7AB3D9D}"/>
              </a:ext>
            </a:extLst>
          </p:cNvPr>
          <p:cNvSpPr txBox="1">
            <a:spLocks/>
          </p:cNvSpPr>
          <p:nvPr/>
        </p:nvSpPr>
        <p:spPr bwMode="auto">
          <a:xfrm>
            <a:off x="855043" y="3426031"/>
            <a:ext cx="3129310" cy="3497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5"/>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6"/>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b="1">
                <a:latin typeface="Arial"/>
                <a:cs typeface="Arial"/>
              </a:rPr>
              <a:t>Augmentation</a:t>
            </a:r>
            <a:r>
              <a:rPr lang="de-DE">
                <a:latin typeface="Arial"/>
                <a:cs typeface="Arial"/>
              </a:rPr>
              <a:t> </a:t>
            </a:r>
            <a:r>
              <a:rPr lang="de-DE" err="1">
                <a:latin typeface="Arial"/>
                <a:cs typeface="Arial"/>
              </a:rPr>
              <a:t>applied</a:t>
            </a:r>
            <a:endParaRPr lang="de-DE">
              <a:latin typeface="Arial"/>
              <a:cs typeface="Arial"/>
            </a:endParaRPr>
          </a:p>
          <a:p>
            <a:pPr marL="271145" indent="-271145"/>
            <a:endParaRPr lang="de-DE">
              <a:latin typeface="Arial"/>
              <a:cs typeface="Arial"/>
            </a:endParaRPr>
          </a:p>
          <a:p>
            <a:pPr marL="271145" indent="-271145"/>
            <a:endParaRPr lang="de-DE">
              <a:latin typeface="Arial"/>
              <a:cs typeface="Arial"/>
            </a:endParaRPr>
          </a:p>
        </p:txBody>
      </p:sp>
      <p:sp>
        <p:nvSpPr>
          <p:cNvPr id="8" name="!!restore color">
            <a:extLst>
              <a:ext uri="{FF2B5EF4-FFF2-40B4-BE49-F238E27FC236}">
                <a16:creationId xmlns:a16="http://schemas.microsoft.com/office/drawing/2014/main" id="{B3B743DD-31D8-06E2-301D-A57DFDC09903}"/>
              </a:ext>
            </a:extLst>
          </p:cNvPr>
          <p:cNvSpPr txBox="1">
            <a:spLocks/>
          </p:cNvSpPr>
          <p:nvPr/>
        </p:nvSpPr>
        <p:spPr bwMode="auto">
          <a:xfrm>
            <a:off x="857252" y="2479325"/>
            <a:ext cx="3129310" cy="3497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5"/>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6"/>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a:latin typeface="Arial"/>
                <a:cs typeface="Arial"/>
              </a:rPr>
              <a:t>Restore </a:t>
            </a:r>
            <a:r>
              <a:rPr lang="de-DE" b="1" err="1">
                <a:latin typeface="Arial"/>
                <a:cs typeface="Arial"/>
              </a:rPr>
              <a:t>color</a:t>
            </a:r>
            <a:r>
              <a:rPr lang="de-DE" b="1">
                <a:latin typeface="Arial"/>
                <a:cs typeface="Arial"/>
              </a:rPr>
              <a:t> </a:t>
            </a:r>
            <a:r>
              <a:rPr lang="de-DE" b="1" err="1">
                <a:latin typeface="Arial"/>
                <a:cs typeface="Arial"/>
              </a:rPr>
              <a:t>information</a:t>
            </a:r>
            <a:endParaRPr lang="de-DE" b="1">
              <a:latin typeface="Arial"/>
              <a:cs typeface="Arial"/>
            </a:endParaRPr>
          </a:p>
          <a:p>
            <a:pPr marL="271145" indent="-271145">
              <a:buChar char="•"/>
            </a:pPr>
            <a:endParaRPr lang="de-DE">
              <a:latin typeface="Arial"/>
              <a:cs typeface="Arial"/>
            </a:endParaRPr>
          </a:p>
          <a:p>
            <a:pPr marL="271145" indent="-271145"/>
            <a:endParaRPr lang="de-DE">
              <a:latin typeface="Arial"/>
              <a:cs typeface="Arial"/>
            </a:endParaRPr>
          </a:p>
        </p:txBody>
      </p:sp>
    </p:spTree>
    <p:extLst>
      <p:ext uri="{BB962C8B-B14F-4D97-AF65-F5344CB8AC3E}">
        <p14:creationId xmlns:p14="http://schemas.microsoft.com/office/powerpoint/2010/main" val="254086945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8">
            <a:extLst>
              <a:ext uri="{FF2B5EF4-FFF2-40B4-BE49-F238E27FC236}">
                <a16:creationId xmlns:a16="http://schemas.microsoft.com/office/drawing/2014/main" id="{5F7A343C-1F59-D293-EA75-73862FA2FF4A}"/>
              </a:ext>
            </a:extLst>
          </p:cNvPr>
          <p:cNvGrpSpPr/>
          <p:nvPr/>
        </p:nvGrpSpPr>
        <p:grpSpPr>
          <a:xfrm>
            <a:off x="6244539" y="2701720"/>
            <a:ext cx="841096" cy="726827"/>
            <a:chOff x="1392818" y="2711367"/>
            <a:chExt cx="5702462" cy="2405157"/>
          </a:xfrm>
        </p:grpSpPr>
        <p:cxnSp>
          <p:nvCxnSpPr>
            <p:cNvPr id="20" name="Straight Arrow Connector 19">
              <a:extLst>
                <a:ext uri="{FF2B5EF4-FFF2-40B4-BE49-F238E27FC236}">
                  <a16:creationId xmlns:a16="http://schemas.microsoft.com/office/drawing/2014/main" id="{FA4789FE-A85E-3099-308D-3E617B993F00}"/>
                </a:ext>
              </a:extLst>
            </p:cNvPr>
            <p:cNvCxnSpPr>
              <a:cxnSpLocks/>
            </p:cNvCxnSpPr>
            <p:nvPr/>
          </p:nvCxnSpPr>
          <p:spPr>
            <a:xfrm flipH="1">
              <a:off x="1392818" y="3010381"/>
              <a:ext cx="5326283" cy="2052576"/>
            </a:xfrm>
            <a:prstGeom prst="straightConnector1">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3A559C6-6212-9C14-D792-409ECDCD8F24}"/>
                </a:ext>
              </a:extLst>
            </p:cNvPr>
            <p:cNvCxnSpPr/>
            <p:nvPr/>
          </p:nvCxnSpPr>
          <p:spPr>
            <a:xfrm flipH="1">
              <a:off x="3032567" y="2711368"/>
              <a:ext cx="4062713" cy="1261640"/>
            </a:xfrm>
            <a:prstGeom prst="straightConnector1">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29FA75E-F56F-DF9A-009E-B5DBE8AD3B3B}"/>
                </a:ext>
              </a:extLst>
            </p:cNvPr>
            <p:cNvCxnSpPr>
              <a:cxnSpLocks/>
            </p:cNvCxnSpPr>
            <p:nvPr/>
          </p:nvCxnSpPr>
          <p:spPr>
            <a:xfrm flipH="1">
              <a:off x="1412111" y="2711367"/>
              <a:ext cx="5287699" cy="1261640"/>
            </a:xfrm>
            <a:prstGeom prst="straightConnector1">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B569AB6-2E15-C0C9-BD5A-CF542FFA6FAB}"/>
                </a:ext>
              </a:extLst>
            </p:cNvPr>
            <p:cNvCxnSpPr>
              <a:cxnSpLocks/>
            </p:cNvCxnSpPr>
            <p:nvPr/>
          </p:nvCxnSpPr>
          <p:spPr>
            <a:xfrm flipH="1">
              <a:off x="3022919" y="3010380"/>
              <a:ext cx="4053068" cy="2052577"/>
            </a:xfrm>
            <a:prstGeom prst="straightConnector1">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24" name="!!restore color" descr="Ein Bild, das Screenshot, Regal, Schublade, Licht enthält.&#10;&#10;Beschreibung automatisch generiert.">
              <a:extLst>
                <a:ext uri="{FF2B5EF4-FFF2-40B4-BE49-F238E27FC236}">
                  <a16:creationId xmlns:a16="http://schemas.microsoft.com/office/drawing/2014/main" id="{4B491D39-FD16-5BB4-F955-7CFC13CB4AB9}"/>
                </a:ext>
              </a:extLst>
            </p:cNvPr>
            <p:cNvPicPr>
              <a:picLocks noChangeAspect="1"/>
            </p:cNvPicPr>
            <p:nvPr/>
          </p:nvPicPr>
          <p:blipFill>
            <a:blip r:embed="rId3"/>
            <a:srcRect l="65730" t="7584" r="20225" b="82303"/>
            <a:stretch/>
          </p:blipFill>
          <p:spPr>
            <a:xfrm>
              <a:off x="1422926" y="3949893"/>
              <a:ext cx="1629427" cy="1166631"/>
            </a:xfrm>
            <a:prstGeom prst="rect">
              <a:avLst/>
            </a:prstGeom>
          </p:spPr>
        </p:pic>
      </p:grpSp>
      <p:pic>
        <p:nvPicPr>
          <p:cNvPr id="5" name="!!defect" descr="Ein Bild, das Screenshot, Regal, Schublade, Licht enthält.&#10;&#10;Beschreibung automatisch generiert.">
            <a:extLst>
              <a:ext uri="{FF2B5EF4-FFF2-40B4-BE49-F238E27FC236}">
                <a16:creationId xmlns:a16="http://schemas.microsoft.com/office/drawing/2014/main" id="{A9705385-C007-33D0-2602-907CC4F05EE1}"/>
              </a:ext>
            </a:extLst>
          </p:cNvPr>
          <p:cNvPicPr>
            <a:picLocks noChangeAspect="1"/>
          </p:cNvPicPr>
          <p:nvPr/>
        </p:nvPicPr>
        <p:blipFill>
          <a:blip r:embed="rId3"/>
          <a:stretch>
            <a:fillRect/>
          </a:stretch>
        </p:blipFill>
        <p:spPr>
          <a:xfrm>
            <a:off x="4384117" y="2416247"/>
            <a:ext cx="3429000" cy="3429000"/>
          </a:xfrm>
          <a:prstGeom prst="rect">
            <a:avLst/>
          </a:prstGeom>
        </p:spPr>
      </p:pic>
      <p:sp>
        <p:nvSpPr>
          <p:cNvPr id="2" name="!!Dataset Collec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dirty="0" err="1">
                <a:latin typeface="Arial"/>
                <a:cs typeface="Arial"/>
              </a:rPr>
              <a:t>Methodology</a:t>
            </a:r>
            <a:endParaRPr lang="de-DE" b="0" dirty="0" err="1">
              <a:solidFill>
                <a:srgbClr val="000000"/>
              </a:solidFill>
              <a:latin typeface="Arial"/>
              <a:cs typeface="Arial"/>
            </a:endParaRPr>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14</a:t>
            </a:fld>
            <a:endParaRPr lang="de-DE"/>
          </a:p>
        </p:txBody>
      </p:sp>
      <p:sp>
        <p:nvSpPr>
          <p:cNvPr id="6" name="Rectangle 4">
            <a:extLst>
              <a:ext uri="{FF2B5EF4-FFF2-40B4-BE49-F238E27FC236}">
                <a16:creationId xmlns:a16="http://schemas.microsoft.com/office/drawing/2014/main" id="{969684BB-7A2F-9F4A-D7CB-1BBC84287026}"/>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dirty="0">
                <a:latin typeface="Arial"/>
                <a:cs typeface="Arial"/>
              </a:rPr>
              <a:t>Data Collection: Image </a:t>
            </a:r>
            <a:r>
              <a:rPr lang="de-DE" b="1" dirty="0" err="1">
                <a:latin typeface="Arial"/>
                <a:cs typeface="Arial"/>
              </a:rPr>
              <a:t>Preprocessing</a:t>
            </a:r>
            <a:endParaRPr lang="de-DE" b="1" dirty="0" err="1">
              <a:cs typeface="Arial"/>
            </a:endParaRPr>
          </a:p>
        </p:txBody>
      </p:sp>
      <p:pic>
        <p:nvPicPr>
          <p:cNvPr id="7" name="Grafik 6" descr="Ein Bild, das Screenshot, Regal, Buch, Schublade enthält.&#10;&#10;Beschreibung automatisch generiert.">
            <a:extLst>
              <a:ext uri="{FF2B5EF4-FFF2-40B4-BE49-F238E27FC236}">
                <a16:creationId xmlns:a16="http://schemas.microsoft.com/office/drawing/2014/main" id="{594B24F4-1E83-3430-BC67-E5D632D76856}"/>
              </a:ext>
            </a:extLst>
          </p:cNvPr>
          <p:cNvPicPr>
            <a:picLocks noChangeAspect="1"/>
          </p:cNvPicPr>
          <p:nvPr/>
        </p:nvPicPr>
        <p:blipFill>
          <a:blip r:embed="rId4"/>
          <a:stretch>
            <a:fillRect/>
          </a:stretch>
        </p:blipFill>
        <p:spPr>
          <a:xfrm>
            <a:off x="8238372" y="2413073"/>
            <a:ext cx="3436435" cy="3436435"/>
          </a:xfrm>
          <a:prstGeom prst="rect">
            <a:avLst/>
          </a:prstGeom>
        </p:spPr>
      </p:pic>
      <p:sp>
        <p:nvSpPr>
          <p:cNvPr id="10" name="Pfeil: gebogen 9">
            <a:extLst>
              <a:ext uri="{FF2B5EF4-FFF2-40B4-BE49-F238E27FC236}">
                <a16:creationId xmlns:a16="http://schemas.microsoft.com/office/drawing/2014/main" id="{749BE2DF-86DB-231E-641E-FE7ED9AD2770}"/>
              </a:ext>
            </a:extLst>
          </p:cNvPr>
          <p:cNvSpPr/>
          <p:nvPr/>
        </p:nvSpPr>
        <p:spPr>
          <a:xfrm>
            <a:off x="6481158" y="1139298"/>
            <a:ext cx="3308224" cy="2287737"/>
          </a:xfrm>
          <a:prstGeom prst="circular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2" name="Textfeld 11">
            <a:extLst>
              <a:ext uri="{FF2B5EF4-FFF2-40B4-BE49-F238E27FC236}">
                <a16:creationId xmlns:a16="http://schemas.microsoft.com/office/drawing/2014/main" id="{2A3C8AF1-76CA-8FB8-A143-464E0E83928F}"/>
              </a:ext>
            </a:extLst>
          </p:cNvPr>
          <p:cNvSpPr txBox="1"/>
          <p:nvPr/>
        </p:nvSpPr>
        <p:spPr>
          <a:xfrm>
            <a:off x="7520196" y="1635975"/>
            <a:ext cx="143175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a:latin typeface="Arial"/>
                <a:cs typeface="Arial"/>
              </a:rPr>
              <a:t>Horizontal </a:t>
            </a:r>
            <a:r>
              <a:rPr lang="de-DE" err="1">
                <a:latin typeface="Arial"/>
                <a:cs typeface="Arial"/>
              </a:rPr>
              <a:t>flip</a:t>
            </a:r>
            <a:r>
              <a:rPr lang="de-DE">
                <a:latin typeface="Arial"/>
                <a:cs typeface="Arial"/>
              </a:rPr>
              <a:t> </a:t>
            </a:r>
            <a:r>
              <a:rPr lang="de-DE" err="1">
                <a:latin typeface="Arial"/>
                <a:cs typeface="Arial"/>
              </a:rPr>
              <a:t>applied</a:t>
            </a:r>
            <a:endParaRPr lang="de-DE" err="1">
              <a:cs typeface="Arial" charset="0"/>
            </a:endParaRPr>
          </a:p>
        </p:txBody>
      </p:sp>
      <p:sp>
        <p:nvSpPr>
          <p:cNvPr id="17" name="Inhaltsplatzhalter 2">
            <a:extLst>
              <a:ext uri="{FF2B5EF4-FFF2-40B4-BE49-F238E27FC236}">
                <a16:creationId xmlns:a16="http://schemas.microsoft.com/office/drawing/2014/main" id="{74FC9251-AE88-A75C-83A8-16B4C7AB3D9D}"/>
              </a:ext>
            </a:extLst>
          </p:cNvPr>
          <p:cNvSpPr txBox="1">
            <a:spLocks/>
          </p:cNvSpPr>
          <p:nvPr/>
        </p:nvSpPr>
        <p:spPr bwMode="auto">
          <a:xfrm>
            <a:off x="855043" y="3426031"/>
            <a:ext cx="3129310" cy="3497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5"/>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6"/>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b="1">
                <a:latin typeface="Arial"/>
                <a:cs typeface="Arial"/>
              </a:rPr>
              <a:t>Augmentation</a:t>
            </a:r>
            <a:r>
              <a:rPr lang="de-DE">
                <a:latin typeface="Arial"/>
                <a:cs typeface="Arial"/>
              </a:rPr>
              <a:t> </a:t>
            </a:r>
            <a:r>
              <a:rPr lang="de-DE" err="1">
                <a:latin typeface="Arial"/>
                <a:cs typeface="Arial"/>
              </a:rPr>
              <a:t>applied</a:t>
            </a:r>
            <a:endParaRPr lang="de-DE">
              <a:latin typeface="Arial"/>
              <a:cs typeface="Arial"/>
            </a:endParaRPr>
          </a:p>
          <a:p>
            <a:pPr marL="271145" indent="-271145"/>
            <a:endParaRPr lang="de-DE">
              <a:latin typeface="Arial"/>
              <a:cs typeface="Arial"/>
            </a:endParaRPr>
          </a:p>
          <a:p>
            <a:pPr marL="271145" indent="-271145"/>
            <a:endParaRPr lang="de-DE">
              <a:latin typeface="Arial"/>
              <a:cs typeface="Arial"/>
            </a:endParaRPr>
          </a:p>
        </p:txBody>
      </p:sp>
      <p:sp>
        <p:nvSpPr>
          <p:cNvPr id="3" name="Rectangle 2">
            <a:extLst>
              <a:ext uri="{FF2B5EF4-FFF2-40B4-BE49-F238E27FC236}">
                <a16:creationId xmlns:a16="http://schemas.microsoft.com/office/drawing/2014/main" id="{F3CADF9D-7568-C826-485C-17A1C1FFCFF1}"/>
              </a:ext>
            </a:extLst>
          </p:cNvPr>
          <p:cNvSpPr/>
          <p:nvPr/>
        </p:nvSpPr>
        <p:spPr>
          <a:xfrm>
            <a:off x="6703671" y="2700759"/>
            <a:ext cx="385822" cy="27007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illed_with_black">
            <a:extLst>
              <a:ext uri="{FF2B5EF4-FFF2-40B4-BE49-F238E27FC236}">
                <a16:creationId xmlns:a16="http://schemas.microsoft.com/office/drawing/2014/main" id="{7D06540C-D844-7DE3-2DE9-E3F3EAC01588}"/>
              </a:ext>
            </a:extLst>
          </p:cNvPr>
          <p:cNvSpPr txBox="1">
            <a:spLocks/>
          </p:cNvSpPr>
          <p:nvPr/>
        </p:nvSpPr>
        <p:spPr bwMode="auto">
          <a:xfrm>
            <a:off x="855043" y="2830509"/>
            <a:ext cx="3129310" cy="3497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5"/>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6"/>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a:latin typeface="Arial"/>
                <a:cs typeface="Arial"/>
              </a:rPr>
              <a:t>The </a:t>
            </a:r>
            <a:r>
              <a:rPr lang="de-DE" err="1">
                <a:latin typeface="Arial"/>
                <a:cs typeface="Arial"/>
              </a:rPr>
              <a:t>sides</a:t>
            </a:r>
            <a:r>
              <a:rPr lang="de-DE">
                <a:latin typeface="Arial"/>
                <a:cs typeface="Arial"/>
              </a:rPr>
              <a:t> </a:t>
            </a:r>
            <a:r>
              <a:rPr lang="de-DE" err="1">
                <a:latin typeface="Arial"/>
                <a:cs typeface="Arial"/>
              </a:rPr>
              <a:t>are</a:t>
            </a:r>
            <a:r>
              <a:rPr lang="de-DE">
                <a:latin typeface="Arial"/>
                <a:cs typeface="Arial"/>
              </a:rPr>
              <a:t> </a:t>
            </a:r>
            <a:r>
              <a:rPr lang="de-DE" b="1" err="1">
                <a:latin typeface="Arial"/>
                <a:cs typeface="Arial"/>
              </a:rPr>
              <a:t>filled</a:t>
            </a:r>
            <a:r>
              <a:rPr lang="de-DE" b="1">
                <a:latin typeface="Arial"/>
                <a:cs typeface="Arial"/>
              </a:rPr>
              <a:t> </a:t>
            </a:r>
            <a:r>
              <a:rPr lang="de-DE" b="1" err="1">
                <a:latin typeface="Arial"/>
                <a:cs typeface="Arial"/>
              </a:rPr>
              <a:t>with</a:t>
            </a:r>
            <a:r>
              <a:rPr lang="de-DE" b="1">
                <a:latin typeface="Arial"/>
                <a:cs typeface="Arial"/>
              </a:rPr>
              <a:t> </a:t>
            </a:r>
            <a:r>
              <a:rPr lang="de-DE" b="1" err="1">
                <a:latin typeface="Arial"/>
                <a:cs typeface="Arial"/>
              </a:rPr>
              <a:t>black</a:t>
            </a:r>
            <a:endParaRPr lang="de-DE" b="1">
              <a:latin typeface="Arial"/>
              <a:cs typeface="Arial"/>
            </a:endParaRPr>
          </a:p>
          <a:p>
            <a:pPr marL="271145" indent="-271145"/>
            <a:endParaRPr lang="de-DE" b="1">
              <a:latin typeface="Arial"/>
              <a:cs typeface="Arial"/>
            </a:endParaRPr>
          </a:p>
          <a:p>
            <a:pPr marL="271145" indent="-271145"/>
            <a:endParaRPr lang="de-DE">
              <a:latin typeface="Arial"/>
              <a:cs typeface="Arial"/>
            </a:endParaRPr>
          </a:p>
        </p:txBody>
      </p:sp>
      <p:sp>
        <p:nvSpPr>
          <p:cNvPr id="29" name="!!pgm2jpg">
            <a:extLst>
              <a:ext uri="{FF2B5EF4-FFF2-40B4-BE49-F238E27FC236}">
                <a16:creationId xmlns:a16="http://schemas.microsoft.com/office/drawing/2014/main" id="{A6DDC946-671A-A849-47A6-0C4D9E2966C8}"/>
              </a:ext>
            </a:extLst>
          </p:cNvPr>
          <p:cNvSpPr txBox="1">
            <a:spLocks/>
          </p:cNvSpPr>
          <p:nvPr/>
        </p:nvSpPr>
        <p:spPr bwMode="auto">
          <a:xfrm>
            <a:off x="857252" y="2132085"/>
            <a:ext cx="3129310" cy="3497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5"/>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6"/>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err="1">
                <a:latin typeface="Arial"/>
                <a:cs typeface="Arial"/>
              </a:rPr>
              <a:t>Convert</a:t>
            </a:r>
            <a:r>
              <a:rPr lang="de-DE">
                <a:latin typeface="Arial"/>
                <a:cs typeface="Arial"/>
              </a:rPr>
              <a:t> .</a:t>
            </a:r>
            <a:r>
              <a:rPr lang="de-DE" err="1">
                <a:latin typeface="Arial"/>
                <a:cs typeface="Arial"/>
              </a:rPr>
              <a:t>pgm</a:t>
            </a:r>
            <a:r>
              <a:rPr lang="de-DE">
                <a:latin typeface="Arial"/>
                <a:cs typeface="Arial"/>
              </a:rPr>
              <a:t> </a:t>
            </a:r>
            <a:r>
              <a:rPr lang="de-DE" err="1">
                <a:latin typeface="Arial"/>
                <a:cs typeface="Arial"/>
              </a:rPr>
              <a:t>to</a:t>
            </a:r>
            <a:r>
              <a:rPr lang="de-DE">
                <a:latin typeface="Arial"/>
                <a:cs typeface="Arial"/>
              </a:rPr>
              <a:t> </a:t>
            </a:r>
            <a:r>
              <a:rPr lang="de-DE" b="1">
                <a:latin typeface="Arial"/>
                <a:cs typeface="Arial"/>
              </a:rPr>
              <a:t>.</a:t>
            </a:r>
            <a:r>
              <a:rPr lang="de-DE" b="1" err="1">
                <a:latin typeface="Arial"/>
                <a:cs typeface="Arial"/>
              </a:rPr>
              <a:t>jpg</a:t>
            </a:r>
            <a:endParaRPr lang="de-DE" b="1">
              <a:latin typeface="Arial"/>
              <a:cs typeface="Arial"/>
            </a:endParaRPr>
          </a:p>
          <a:p>
            <a:pPr marL="271145" indent="-271145">
              <a:buChar char="•"/>
            </a:pPr>
            <a:endParaRPr lang="de-DE">
              <a:latin typeface="Arial"/>
              <a:cs typeface="Arial"/>
            </a:endParaRPr>
          </a:p>
          <a:p>
            <a:pPr marL="271145" indent="-271145"/>
            <a:endParaRPr lang="de-DE">
              <a:latin typeface="Arial"/>
              <a:cs typeface="Arial"/>
            </a:endParaRPr>
          </a:p>
        </p:txBody>
      </p:sp>
      <p:sp>
        <p:nvSpPr>
          <p:cNvPr id="31" name="!!restore color">
            <a:extLst>
              <a:ext uri="{FF2B5EF4-FFF2-40B4-BE49-F238E27FC236}">
                <a16:creationId xmlns:a16="http://schemas.microsoft.com/office/drawing/2014/main" id="{5B9EB959-116F-29C3-6BE5-917BFFB4CEBA}"/>
              </a:ext>
            </a:extLst>
          </p:cNvPr>
          <p:cNvSpPr txBox="1">
            <a:spLocks/>
          </p:cNvSpPr>
          <p:nvPr/>
        </p:nvSpPr>
        <p:spPr bwMode="auto">
          <a:xfrm>
            <a:off x="857252" y="2479325"/>
            <a:ext cx="3129310" cy="3497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5"/>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6"/>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a:latin typeface="Arial"/>
                <a:cs typeface="Arial"/>
              </a:rPr>
              <a:t>Restore </a:t>
            </a:r>
            <a:r>
              <a:rPr lang="de-DE" b="1" err="1">
                <a:latin typeface="Arial"/>
                <a:cs typeface="Arial"/>
              </a:rPr>
              <a:t>color</a:t>
            </a:r>
            <a:r>
              <a:rPr lang="de-DE" b="1">
                <a:latin typeface="Arial"/>
                <a:cs typeface="Arial"/>
              </a:rPr>
              <a:t> </a:t>
            </a:r>
            <a:r>
              <a:rPr lang="de-DE" b="1" err="1">
                <a:latin typeface="Arial"/>
                <a:cs typeface="Arial"/>
              </a:rPr>
              <a:t>information</a:t>
            </a:r>
            <a:endParaRPr lang="de-DE" b="1">
              <a:latin typeface="Arial"/>
              <a:cs typeface="Arial"/>
            </a:endParaRPr>
          </a:p>
          <a:p>
            <a:pPr marL="271145" indent="-271145">
              <a:buChar char="•"/>
            </a:pPr>
            <a:endParaRPr lang="de-DE">
              <a:latin typeface="Arial"/>
              <a:cs typeface="Arial"/>
            </a:endParaRPr>
          </a:p>
          <a:p>
            <a:pPr marL="271145" indent="-271145"/>
            <a:endParaRPr lang="de-DE">
              <a:latin typeface="Arial"/>
              <a:cs typeface="Arial"/>
            </a:endParaRPr>
          </a:p>
        </p:txBody>
      </p:sp>
    </p:spTree>
    <p:extLst>
      <p:ext uri="{BB962C8B-B14F-4D97-AF65-F5344CB8AC3E}">
        <p14:creationId xmlns:p14="http://schemas.microsoft.com/office/powerpoint/2010/main" val="8210131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defect" descr="Ein Bild, das Screenshot, Regal, Schublade, Licht enthält.&#10;&#10;Beschreibung automatisch generiert.">
            <a:extLst>
              <a:ext uri="{FF2B5EF4-FFF2-40B4-BE49-F238E27FC236}">
                <a16:creationId xmlns:a16="http://schemas.microsoft.com/office/drawing/2014/main" id="{A9705385-C007-33D0-2602-907CC4F05EE1}"/>
              </a:ext>
            </a:extLst>
          </p:cNvPr>
          <p:cNvPicPr>
            <a:picLocks noChangeAspect="1"/>
          </p:cNvPicPr>
          <p:nvPr/>
        </p:nvPicPr>
        <p:blipFill>
          <a:blip r:embed="rId3"/>
          <a:stretch>
            <a:fillRect/>
          </a:stretch>
        </p:blipFill>
        <p:spPr>
          <a:xfrm>
            <a:off x="4384117" y="2416247"/>
            <a:ext cx="3429000" cy="3429000"/>
          </a:xfrm>
          <a:prstGeom prst="rect">
            <a:avLst/>
          </a:prstGeom>
        </p:spPr>
      </p:pic>
      <p:grpSp>
        <p:nvGrpSpPr>
          <p:cNvPr id="19" name="Group 8">
            <a:extLst>
              <a:ext uri="{FF2B5EF4-FFF2-40B4-BE49-F238E27FC236}">
                <a16:creationId xmlns:a16="http://schemas.microsoft.com/office/drawing/2014/main" id="{3E86F8B0-2BCD-9165-B22C-746745251764}"/>
              </a:ext>
            </a:extLst>
          </p:cNvPr>
          <p:cNvGrpSpPr/>
          <p:nvPr/>
        </p:nvGrpSpPr>
        <p:grpSpPr>
          <a:xfrm>
            <a:off x="1209552" y="2663140"/>
            <a:ext cx="5876083" cy="3061055"/>
            <a:chOff x="1392818" y="2711367"/>
            <a:chExt cx="5702462" cy="2405157"/>
          </a:xfrm>
        </p:grpSpPr>
        <p:cxnSp>
          <p:nvCxnSpPr>
            <p:cNvPr id="16" name="Straight Arrow Connector 15">
              <a:extLst>
                <a:ext uri="{FF2B5EF4-FFF2-40B4-BE49-F238E27FC236}">
                  <a16:creationId xmlns:a16="http://schemas.microsoft.com/office/drawing/2014/main" id="{8E1D35B0-8FD8-F927-47A8-E4E1B0FE39C7}"/>
                </a:ext>
              </a:extLst>
            </p:cNvPr>
            <p:cNvCxnSpPr>
              <a:cxnSpLocks/>
            </p:cNvCxnSpPr>
            <p:nvPr/>
          </p:nvCxnSpPr>
          <p:spPr>
            <a:xfrm flipH="1">
              <a:off x="1392818" y="3010381"/>
              <a:ext cx="5326283" cy="2052576"/>
            </a:xfrm>
            <a:prstGeom prst="straightConnector1">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68AC44D-86E6-7952-73E5-A6F1D1A44109}"/>
                </a:ext>
              </a:extLst>
            </p:cNvPr>
            <p:cNvCxnSpPr/>
            <p:nvPr/>
          </p:nvCxnSpPr>
          <p:spPr>
            <a:xfrm flipH="1">
              <a:off x="3032567" y="2711368"/>
              <a:ext cx="4062713" cy="1261640"/>
            </a:xfrm>
            <a:prstGeom prst="straightConnector1">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CD96D6B-5960-261F-327E-454E1CA95919}"/>
                </a:ext>
              </a:extLst>
            </p:cNvPr>
            <p:cNvCxnSpPr>
              <a:cxnSpLocks/>
            </p:cNvCxnSpPr>
            <p:nvPr/>
          </p:nvCxnSpPr>
          <p:spPr>
            <a:xfrm flipH="1">
              <a:off x="1412111" y="2711367"/>
              <a:ext cx="5287699" cy="1261640"/>
            </a:xfrm>
            <a:prstGeom prst="straightConnector1">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F824D89-F439-2904-FD71-EBA7A1E5E507}"/>
                </a:ext>
              </a:extLst>
            </p:cNvPr>
            <p:cNvCxnSpPr>
              <a:cxnSpLocks/>
            </p:cNvCxnSpPr>
            <p:nvPr/>
          </p:nvCxnSpPr>
          <p:spPr>
            <a:xfrm flipH="1">
              <a:off x="3022919" y="3010380"/>
              <a:ext cx="4053068" cy="2052577"/>
            </a:xfrm>
            <a:prstGeom prst="straightConnector1">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8" name="!!defect_zooom" descr="Ein Bild, das Screenshot, Regal, Schublade, Licht enthält.&#10;&#10;Beschreibung automatisch generiert.">
              <a:extLst>
                <a:ext uri="{FF2B5EF4-FFF2-40B4-BE49-F238E27FC236}">
                  <a16:creationId xmlns:a16="http://schemas.microsoft.com/office/drawing/2014/main" id="{5926C689-6CF5-6F01-6BAF-79B19D42336E}"/>
                </a:ext>
              </a:extLst>
            </p:cNvPr>
            <p:cNvPicPr>
              <a:picLocks noChangeAspect="1"/>
            </p:cNvPicPr>
            <p:nvPr/>
          </p:nvPicPr>
          <p:blipFill>
            <a:blip r:embed="rId3"/>
            <a:srcRect l="65730" t="7584" r="20225" b="82303"/>
            <a:stretch/>
          </p:blipFill>
          <p:spPr>
            <a:xfrm>
              <a:off x="1422926" y="3949893"/>
              <a:ext cx="1629427" cy="1166631"/>
            </a:xfrm>
            <a:prstGeom prst="rect">
              <a:avLst/>
            </a:prstGeom>
          </p:spPr>
        </p:pic>
      </p:grpSp>
      <p:sp>
        <p:nvSpPr>
          <p:cNvPr id="2" name="!!Dataset Collec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dirty="0" err="1">
                <a:latin typeface="Arial"/>
                <a:cs typeface="Arial"/>
              </a:rPr>
              <a:t>Methodology</a:t>
            </a:r>
            <a:endParaRPr lang="de-DE" b="0" dirty="0" err="1">
              <a:solidFill>
                <a:srgbClr val="000000"/>
              </a:solidFill>
              <a:latin typeface="Arial"/>
              <a:cs typeface="Arial"/>
            </a:endParaRPr>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15</a:t>
            </a:fld>
            <a:endParaRPr lang="de-DE"/>
          </a:p>
        </p:txBody>
      </p:sp>
      <p:sp>
        <p:nvSpPr>
          <p:cNvPr id="6" name="Rectangle 4">
            <a:extLst>
              <a:ext uri="{FF2B5EF4-FFF2-40B4-BE49-F238E27FC236}">
                <a16:creationId xmlns:a16="http://schemas.microsoft.com/office/drawing/2014/main" id="{969684BB-7A2F-9F4A-D7CB-1BBC84287026}"/>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dirty="0">
                <a:latin typeface="Arial"/>
                <a:cs typeface="Arial"/>
              </a:rPr>
              <a:t>Data Collection: Image </a:t>
            </a:r>
            <a:r>
              <a:rPr lang="de-DE" b="1" dirty="0" err="1">
                <a:latin typeface="Arial"/>
                <a:cs typeface="Arial"/>
              </a:rPr>
              <a:t>Preprocessing</a:t>
            </a:r>
            <a:endParaRPr lang="de-DE" b="1" dirty="0" err="1">
              <a:cs typeface="Arial"/>
            </a:endParaRPr>
          </a:p>
        </p:txBody>
      </p:sp>
      <p:pic>
        <p:nvPicPr>
          <p:cNvPr id="7" name="Grafik 6" descr="Ein Bild, das Screenshot, Regal, Buch, Schublade enthält.&#10;&#10;Beschreibung automatisch generiert.">
            <a:extLst>
              <a:ext uri="{FF2B5EF4-FFF2-40B4-BE49-F238E27FC236}">
                <a16:creationId xmlns:a16="http://schemas.microsoft.com/office/drawing/2014/main" id="{594B24F4-1E83-3430-BC67-E5D632D76856}"/>
              </a:ext>
            </a:extLst>
          </p:cNvPr>
          <p:cNvPicPr>
            <a:picLocks noChangeAspect="1"/>
          </p:cNvPicPr>
          <p:nvPr/>
        </p:nvPicPr>
        <p:blipFill>
          <a:blip r:embed="rId4"/>
          <a:stretch>
            <a:fillRect/>
          </a:stretch>
        </p:blipFill>
        <p:spPr>
          <a:xfrm>
            <a:off x="8238372" y="2413073"/>
            <a:ext cx="3436435" cy="3436435"/>
          </a:xfrm>
          <a:prstGeom prst="rect">
            <a:avLst/>
          </a:prstGeom>
        </p:spPr>
      </p:pic>
      <p:sp>
        <p:nvSpPr>
          <p:cNvPr id="10" name="Pfeil: gebogen 9">
            <a:extLst>
              <a:ext uri="{FF2B5EF4-FFF2-40B4-BE49-F238E27FC236}">
                <a16:creationId xmlns:a16="http://schemas.microsoft.com/office/drawing/2014/main" id="{749BE2DF-86DB-231E-641E-FE7ED9AD2770}"/>
              </a:ext>
            </a:extLst>
          </p:cNvPr>
          <p:cNvSpPr/>
          <p:nvPr/>
        </p:nvSpPr>
        <p:spPr>
          <a:xfrm>
            <a:off x="6481158" y="1139298"/>
            <a:ext cx="3308224" cy="2287737"/>
          </a:xfrm>
          <a:prstGeom prst="circular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2" name="Textfeld 11">
            <a:extLst>
              <a:ext uri="{FF2B5EF4-FFF2-40B4-BE49-F238E27FC236}">
                <a16:creationId xmlns:a16="http://schemas.microsoft.com/office/drawing/2014/main" id="{2A3C8AF1-76CA-8FB8-A143-464E0E83928F}"/>
              </a:ext>
            </a:extLst>
          </p:cNvPr>
          <p:cNvSpPr txBox="1"/>
          <p:nvPr/>
        </p:nvSpPr>
        <p:spPr>
          <a:xfrm>
            <a:off x="7520196" y="1635975"/>
            <a:ext cx="143175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a:latin typeface="Arial"/>
                <a:cs typeface="Arial"/>
              </a:rPr>
              <a:t>Horizontal </a:t>
            </a:r>
            <a:r>
              <a:rPr lang="de-DE" err="1">
                <a:latin typeface="Arial"/>
                <a:cs typeface="Arial"/>
              </a:rPr>
              <a:t>flip</a:t>
            </a:r>
            <a:r>
              <a:rPr lang="de-DE">
                <a:latin typeface="Arial"/>
                <a:cs typeface="Arial"/>
              </a:rPr>
              <a:t> </a:t>
            </a:r>
            <a:r>
              <a:rPr lang="de-DE" err="1">
                <a:latin typeface="Arial"/>
                <a:cs typeface="Arial"/>
              </a:rPr>
              <a:t>applied</a:t>
            </a:r>
            <a:endParaRPr lang="de-DE" err="1">
              <a:cs typeface="Arial" charset="0"/>
            </a:endParaRPr>
          </a:p>
        </p:txBody>
      </p:sp>
      <p:sp>
        <p:nvSpPr>
          <p:cNvPr id="17" name="Inhaltsplatzhalter 2">
            <a:extLst>
              <a:ext uri="{FF2B5EF4-FFF2-40B4-BE49-F238E27FC236}">
                <a16:creationId xmlns:a16="http://schemas.microsoft.com/office/drawing/2014/main" id="{74FC9251-AE88-A75C-83A8-16B4C7AB3D9D}"/>
              </a:ext>
            </a:extLst>
          </p:cNvPr>
          <p:cNvSpPr txBox="1">
            <a:spLocks/>
          </p:cNvSpPr>
          <p:nvPr/>
        </p:nvSpPr>
        <p:spPr bwMode="auto">
          <a:xfrm>
            <a:off x="855043" y="3426031"/>
            <a:ext cx="3129310" cy="3497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5"/>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6"/>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b="1">
                <a:latin typeface="Arial"/>
                <a:cs typeface="Arial"/>
              </a:rPr>
              <a:t>Augmentation</a:t>
            </a:r>
            <a:r>
              <a:rPr lang="de-DE">
                <a:latin typeface="Arial"/>
                <a:cs typeface="Arial"/>
              </a:rPr>
              <a:t> </a:t>
            </a:r>
            <a:r>
              <a:rPr lang="de-DE" err="1">
                <a:latin typeface="Arial"/>
                <a:cs typeface="Arial"/>
              </a:rPr>
              <a:t>applied</a:t>
            </a:r>
            <a:endParaRPr lang="de-DE">
              <a:latin typeface="Arial"/>
              <a:cs typeface="Arial"/>
            </a:endParaRPr>
          </a:p>
          <a:p>
            <a:pPr marL="271145" indent="-271145"/>
            <a:endParaRPr lang="de-DE">
              <a:latin typeface="Arial"/>
              <a:cs typeface="Arial"/>
            </a:endParaRPr>
          </a:p>
          <a:p>
            <a:pPr marL="271145" indent="-271145"/>
            <a:endParaRPr lang="de-DE">
              <a:latin typeface="Arial"/>
              <a:cs typeface="Arial"/>
            </a:endParaRPr>
          </a:p>
        </p:txBody>
      </p:sp>
      <p:sp>
        <p:nvSpPr>
          <p:cNvPr id="3" name="Rectangle 2">
            <a:extLst>
              <a:ext uri="{FF2B5EF4-FFF2-40B4-BE49-F238E27FC236}">
                <a16:creationId xmlns:a16="http://schemas.microsoft.com/office/drawing/2014/main" id="{F3CADF9D-7568-C826-485C-17A1C1FFCFF1}"/>
              </a:ext>
            </a:extLst>
          </p:cNvPr>
          <p:cNvSpPr/>
          <p:nvPr/>
        </p:nvSpPr>
        <p:spPr>
          <a:xfrm>
            <a:off x="6703671" y="2700759"/>
            <a:ext cx="385822" cy="27007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illed_with_black">
            <a:extLst>
              <a:ext uri="{FF2B5EF4-FFF2-40B4-BE49-F238E27FC236}">
                <a16:creationId xmlns:a16="http://schemas.microsoft.com/office/drawing/2014/main" id="{96CB4992-F6C3-EC01-9B1C-366A04CC785A}"/>
              </a:ext>
            </a:extLst>
          </p:cNvPr>
          <p:cNvSpPr txBox="1">
            <a:spLocks/>
          </p:cNvSpPr>
          <p:nvPr/>
        </p:nvSpPr>
        <p:spPr bwMode="auto">
          <a:xfrm>
            <a:off x="855043" y="2830509"/>
            <a:ext cx="3129310" cy="3497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5"/>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6"/>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a:latin typeface="Arial"/>
                <a:cs typeface="Arial"/>
              </a:rPr>
              <a:t>The </a:t>
            </a:r>
            <a:r>
              <a:rPr lang="de-DE" err="1">
                <a:latin typeface="Arial"/>
                <a:cs typeface="Arial"/>
              </a:rPr>
              <a:t>sides</a:t>
            </a:r>
            <a:r>
              <a:rPr lang="de-DE">
                <a:latin typeface="Arial"/>
                <a:cs typeface="Arial"/>
              </a:rPr>
              <a:t> </a:t>
            </a:r>
            <a:r>
              <a:rPr lang="de-DE" err="1">
                <a:latin typeface="Arial"/>
                <a:cs typeface="Arial"/>
              </a:rPr>
              <a:t>are</a:t>
            </a:r>
            <a:r>
              <a:rPr lang="de-DE">
                <a:latin typeface="Arial"/>
                <a:cs typeface="Arial"/>
              </a:rPr>
              <a:t> </a:t>
            </a:r>
            <a:r>
              <a:rPr lang="de-DE" b="1" err="1">
                <a:latin typeface="Arial"/>
                <a:cs typeface="Arial"/>
              </a:rPr>
              <a:t>filled</a:t>
            </a:r>
            <a:r>
              <a:rPr lang="de-DE" b="1">
                <a:latin typeface="Arial"/>
                <a:cs typeface="Arial"/>
              </a:rPr>
              <a:t> </a:t>
            </a:r>
            <a:r>
              <a:rPr lang="de-DE" b="1" err="1">
                <a:latin typeface="Arial"/>
                <a:cs typeface="Arial"/>
              </a:rPr>
              <a:t>with</a:t>
            </a:r>
            <a:r>
              <a:rPr lang="de-DE" b="1">
                <a:latin typeface="Arial"/>
                <a:cs typeface="Arial"/>
              </a:rPr>
              <a:t> </a:t>
            </a:r>
            <a:r>
              <a:rPr lang="de-DE" b="1" err="1">
                <a:latin typeface="Arial"/>
                <a:cs typeface="Arial"/>
              </a:rPr>
              <a:t>black</a:t>
            </a:r>
            <a:endParaRPr lang="de-DE" b="1">
              <a:latin typeface="Arial"/>
              <a:cs typeface="Arial"/>
            </a:endParaRPr>
          </a:p>
          <a:p>
            <a:pPr marL="271145" indent="-271145"/>
            <a:endParaRPr lang="de-DE">
              <a:latin typeface="Arial"/>
              <a:cs typeface="Arial"/>
            </a:endParaRPr>
          </a:p>
          <a:p>
            <a:pPr marL="271145" indent="-271145"/>
            <a:endParaRPr lang="de-DE">
              <a:latin typeface="Arial"/>
              <a:cs typeface="Arial"/>
            </a:endParaRPr>
          </a:p>
        </p:txBody>
      </p:sp>
      <p:sp>
        <p:nvSpPr>
          <p:cNvPr id="22" name="!!pgm2jpg">
            <a:extLst>
              <a:ext uri="{FF2B5EF4-FFF2-40B4-BE49-F238E27FC236}">
                <a16:creationId xmlns:a16="http://schemas.microsoft.com/office/drawing/2014/main" id="{11D84F35-42B0-0CB4-FEC3-DF78D1F4B2D4}"/>
              </a:ext>
            </a:extLst>
          </p:cNvPr>
          <p:cNvSpPr txBox="1">
            <a:spLocks/>
          </p:cNvSpPr>
          <p:nvPr/>
        </p:nvSpPr>
        <p:spPr bwMode="auto">
          <a:xfrm>
            <a:off x="857252" y="2132085"/>
            <a:ext cx="3129310" cy="3497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5"/>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6"/>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err="1">
                <a:latin typeface="Arial"/>
                <a:cs typeface="Arial"/>
              </a:rPr>
              <a:t>Convert</a:t>
            </a:r>
            <a:r>
              <a:rPr lang="de-DE">
                <a:latin typeface="Arial"/>
                <a:cs typeface="Arial"/>
              </a:rPr>
              <a:t> .</a:t>
            </a:r>
            <a:r>
              <a:rPr lang="de-DE" err="1">
                <a:latin typeface="Arial"/>
                <a:cs typeface="Arial"/>
              </a:rPr>
              <a:t>pgm</a:t>
            </a:r>
            <a:r>
              <a:rPr lang="de-DE">
                <a:latin typeface="Arial"/>
                <a:cs typeface="Arial"/>
              </a:rPr>
              <a:t> </a:t>
            </a:r>
            <a:r>
              <a:rPr lang="de-DE" err="1">
                <a:latin typeface="Arial"/>
                <a:cs typeface="Arial"/>
              </a:rPr>
              <a:t>to</a:t>
            </a:r>
            <a:r>
              <a:rPr lang="de-DE">
                <a:latin typeface="Arial"/>
                <a:cs typeface="Arial"/>
              </a:rPr>
              <a:t> </a:t>
            </a:r>
            <a:r>
              <a:rPr lang="de-DE" b="1">
                <a:latin typeface="Arial"/>
                <a:cs typeface="Arial"/>
              </a:rPr>
              <a:t>.</a:t>
            </a:r>
            <a:r>
              <a:rPr lang="de-DE" b="1" err="1">
                <a:latin typeface="Arial"/>
                <a:cs typeface="Arial"/>
              </a:rPr>
              <a:t>jpg</a:t>
            </a:r>
            <a:endParaRPr lang="de-DE" b="1">
              <a:latin typeface="Arial"/>
              <a:cs typeface="Arial"/>
            </a:endParaRPr>
          </a:p>
          <a:p>
            <a:pPr marL="271145" indent="-271145">
              <a:buChar char="•"/>
            </a:pPr>
            <a:endParaRPr lang="de-DE">
              <a:latin typeface="Arial"/>
              <a:cs typeface="Arial"/>
            </a:endParaRPr>
          </a:p>
          <a:p>
            <a:pPr marL="271145" indent="-271145"/>
            <a:endParaRPr lang="de-DE">
              <a:latin typeface="Arial"/>
              <a:cs typeface="Arial"/>
            </a:endParaRPr>
          </a:p>
        </p:txBody>
      </p:sp>
      <p:sp>
        <p:nvSpPr>
          <p:cNvPr id="24" name="!!restore color">
            <a:extLst>
              <a:ext uri="{FF2B5EF4-FFF2-40B4-BE49-F238E27FC236}">
                <a16:creationId xmlns:a16="http://schemas.microsoft.com/office/drawing/2014/main" id="{DDD10084-D410-BCC4-B0A8-5048A64F31C3}"/>
              </a:ext>
            </a:extLst>
          </p:cNvPr>
          <p:cNvSpPr txBox="1">
            <a:spLocks/>
          </p:cNvSpPr>
          <p:nvPr/>
        </p:nvSpPr>
        <p:spPr bwMode="auto">
          <a:xfrm>
            <a:off x="857252" y="2479325"/>
            <a:ext cx="3129310" cy="3497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5"/>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6"/>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a:latin typeface="Arial"/>
                <a:cs typeface="Arial"/>
              </a:rPr>
              <a:t>Restore </a:t>
            </a:r>
            <a:r>
              <a:rPr lang="de-DE" b="1" err="1">
                <a:latin typeface="Arial"/>
                <a:cs typeface="Arial"/>
              </a:rPr>
              <a:t>color</a:t>
            </a:r>
            <a:r>
              <a:rPr lang="de-DE" b="1">
                <a:latin typeface="Arial"/>
                <a:cs typeface="Arial"/>
              </a:rPr>
              <a:t> </a:t>
            </a:r>
            <a:r>
              <a:rPr lang="de-DE" b="1" err="1">
                <a:latin typeface="Arial"/>
                <a:cs typeface="Arial"/>
              </a:rPr>
              <a:t>information</a:t>
            </a:r>
            <a:endParaRPr lang="de-DE" b="1">
              <a:latin typeface="Arial"/>
              <a:cs typeface="Arial"/>
            </a:endParaRPr>
          </a:p>
          <a:p>
            <a:pPr marL="271145" indent="-271145">
              <a:buChar char="•"/>
            </a:pPr>
            <a:endParaRPr lang="de-DE">
              <a:latin typeface="Arial"/>
              <a:cs typeface="Arial"/>
            </a:endParaRPr>
          </a:p>
          <a:p>
            <a:pPr marL="271145" indent="-271145"/>
            <a:endParaRPr lang="de-DE">
              <a:latin typeface="Arial"/>
              <a:cs typeface="Arial"/>
            </a:endParaRPr>
          </a:p>
        </p:txBody>
      </p:sp>
    </p:spTree>
    <p:extLst>
      <p:ext uri="{BB962C8B-B14F-4D97-AF65-F5344CB8AC3E}">
        <p14:creationId xmlns:p14="http://schemas.microsoft.com/office/powerpoint/2010/main" val="42912728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aset Collec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dirty="0" err="1">
                <a:latin typeface="Arial"/>
                <a:cs typeface="Arial"/>
              </a:rPr>
              <a:t>Methodology</a:t>
            </a:r>
            <a:endParaRPr lang="en-US" dirty="0" err="1"/>
          </a:p>
        </p:txBody>
      </p:sp>
      <p:sp>
        <p:nvSpPr>
          <p:cNvPr id="3" name="Inhaltsplatzhalter 2">
            <a:extLst>
              <a:ext uri="{FF2B5EF4-FFF2-40B4-BE49-F238E27FC236}">
                <a16:creationId xmlns:a16="http://schemas.microsoft.com/office/drawing/2014/main" id="{EC603C8C-59B1-674B-5614-32BD467CAF07}"/>
              </a:ext>
            </a:extLst>
          </p:cNvPr>
          <p:cNvSpPr>
            <a:spLocks noGrp="1"/>
          </p:cNvSpPr>
          <p:nvPr>
            <p:ph idx="1"/>
          </p:nvPr>
        </p:nvSpPr>
        <p:spPr/>
        <p:txBody>
          <a:bodyPr/>
          <a:lstStyle/>
          <a:p>
            <a:pPr marL="271145" indent="-271145"/>
            <a:r>
              <a:rPr lang="de-DE">
                <a:latin typeface="Arial"/>
                <a:cs typeface="Arial"/>
              </a:rPr>
              <a:t>Cut</a:t>
            </a:r>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16</a:t>
            </a:fld>
            <a:endParaRPr lang="de-DE"/>
          </a:p>
        </p:txBody>
      </p:sp>
      <p:sp>
        <p:nvSpPr>
          <p:cNvPr id="6" name="Rectangle 4">
            <a:extLst>
              <a:ext uri="{FF2B5EF4-FFF2-40B4-BE49-F238E27FC236}">
                <a16:creationId xmlns:a16="http://schemas.microsoft.com/office/drawing/2014/main" id="{969684BB-7A2F-9F4A-D7CB-1BBC84287026}"/>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dirty="0">
                <a:latin typeface="Arial"/>
                <a:cs typeface="Arial"/>
              </a:rPr>
              <a:t>Data Collection: </a:t>
            </a:r>
            <a:r>
              <a:rPr lang="de-DE" b="1" dirty="0" err="1">
                <a:latin typeface="Arial"/>
                <a:cs typeface="Arial"/>
              </a:rPr>
              <a:t>Defect</a:t>
            </a:r>
            <a:r>
              <a:rPr lang="de-DE" b="1" dirty="0">
                <a:latin typeface="Arial"/>
                <a:cs typeface="Arial"/>
              </a:rPr>
              <a:t> </a:t>
            </a:r>
            <a:r>
              <a:rPr lang="de-DE" b="1" dirty="0" err="1">
                <a:latin typeface="Arial"/>
                <a:cs typeface="Arial"/>
              </a:rPr>
              <a:t>Types</a:t>
            </a:r>
            <a:r>
              <a:rPr lang="de-DE" b="1" dirty="0">
                <a:latin typeface="Arial"/>
                <a:cs typeface="Arial"/>
              </a:rPr>
              <a:t> </a:t>
            </a:r>
            <a:endParaRPr lang="de-DE" b="1" dirty="0">
              <a:cs typeface="Arial"/>
            </a:endParaRPr>
          </a:p>
        </p:txBody>
      </p:sp>
      <p:pic>
        <p:nvPicPr>
          <p:cNvPr id="5" name="!!defect_zooom" descr="Ein Bild, das Text, Screenshot, Grafikdesign, Grafiken enthält.&#10;&#10;Beschreibung automatisch generiert.">
            <a:extLst>
              <a:ext uri="{FF2B5EF4-FFF2-40B4-BE49-F238E27FC236}">
                <a16:creationId xmlns:a16="http://schemas.microsoft.com/office/drawing/2014/main" id="{E7E39E1A-CFC1-B9C4-1B13-C5B8E7443301}"/>
              </a:ext>
            </a:extLst>
          </p:cNvPr>
          <p:cNvPicPr>
            <a:picLocks noChangeAspect="1"/>
          </p:cNvPicPr>
          <p:nvPr/>
        </p:nvPicPr>
        <p:blipFill>
          <a:blip r:embed="rId3"/>
          <a:stretch>
            <a:fillRect/>
          </a:stretch>
        </p:blipFill>
        <p:spPr>
          <a:xfrm>
            <a:off x="860270" y="2900013"/>
            <a:ext cx="2433290" cy="3102363"/>
          </a:xfrm>
          <a:prstGeom prst="rect">
            <a:avLst/>
          </a:prstGeom>
          <a:effectLst>
            <a:outerShdw blurRad="50800" dist="38100" dir="2700000">
              <a:srgbClr val="000000">
                <a:alpha val="40000"/>
              </a:srgbClr>
            </a:outerShdw>
          </a:effectLst>
        </p:spPr>
      </p:pic>
      <p:pic>
        <p:nvPicPr>
          <p:cNvPr id="9" name="Grafik 8" descr="Ein Bild, das Text, Screenshot, Farbigkeit, Grafiken enthält.&#10;&#10;Beschreibung automatisch generiert." hidden="1">
            <a:extLst>
              <a:ext uri="{FF2B5EF4-FFF2-40B4-BE49-F238E27FC236}">
                <a16:creationId xmlns:a16="http://schemas.microsoft.com/office/drawing/2014/main" id="{690AA20A-1E7D-C083-188D-2132709FF26B}"/>
              </a:ext>
            </a:extLst>
          </p:cNvPr>
          <p:cNvPicPr>
            <a:picLocks noChangeAspect="1"/>
          </p:cNvPicPr>
          <p:nvPr/>
        </p:nvPicPr>
        <p:blipFill>
          <a:blip r:embed="rId4"/>
          <a:stretch>
            <a:fillRect/>
          </a:stretch>
        </p:blipFill>
        <p:spPr>
          <a:xfrm>
            <a:off x="3388344" y="3877604"/>
            <a:ext cx="2413775" cy="2122914"/>
          </a:xfrm>
          <a:prstGeom prst="rect">
            <a:avLst/>
          </a:prstGeom>
          <a:effectLst>
            <a:outerShdw blurRad="50800" dist="38100" dir="2700000">
              <a:srgbClr val="000000">
                <a:alpha val="40000"/>
              </a:srgbClr>
            </a:outerShdw>
          </a:effectLst>
        </p:spPr>
      </p:pic>
      <p:pic>
        <p:nvPicPr>
          <p:cNvPr id="10" name="Grafik 9" descr="Ein Bild, das Text, Screenshot, Schrift, Rechteck enthält.&#10;&#10;Beschreibung automatisch generiert." hidden="1">
            <a:extLst>
              <a:ext uri="{FF2B5EF4-FFF2-40B4-BE49-F238E27FC236}">
                <a16:creationId xmlns:a16="http://schemas.microsoft.com/office/drawing/2014/main" id="{22E8809F-C83A-E518-AEBE-CDAE5441A4B8}"/>
              </a:ext>
            </a:extLst>
          </p:cNvPr>
          <p:cNvPicPr>
            <a:picLocks noChangeAspect="1"/>
          </p:cNvPicPr>
          <p:nvPr/>
        </p:nvPicPr>
        <p:blipFill>
          <a:blip r:embed="rId5"/>
          <a:stretch>
            <a:fillRect/>
          </a:stretch>
        </p:blipFill>
        <p:spPr>
          <a:xfrm>
            <a:off x="5920717" y="4450497"/>
            <a:ext cx="2775957" cy="1543980"/>
          </a:xfrm>
          <a:prstGeom prst="rect">
            <a:avLst/>
          </a:prstGeom>
          <a:effectLst>
            <a:outerShdw blurRad="50800" dist="38100" dir="2700000">
              <a:srgbClr val="000000">
                <a:alpha val="40000"/>
              </a:srgbClr>
            </a:outerShdw>
          </a:effectLst>
        </p:spPr>
      </p:pic>
      <p:pic>
        <p:nvPicPr>
          <p:cNvPr id="11" name="Grafik 10" descr="Ein Bild, das Text, Screenshot, Farbigkeit, Schrift enthält.&#10;&#10;Beschreibung automatisch generiert." hidden="1">
            <a:extLst>
              <a:ext uri="{FF2B5EF4-FFF2-40B4-BE49-F238E27FC236}">
                <a16:creationId xmlns:a16="http://schemas.microsoft.com/office/drawing/2014/main" id="{1862A2BB-3B26-9F97-A8AD-811AEC1666E2}"/>
              </a:ext>
            </a:extLst>
          </p:cNvPr>
          <p:cNvPicPr>
            <a:picLocks noChangeAspect="1"/>
          </p:cNvPicPr>
          <p:nvPr/>
        </p:nvPicPr>
        <p:blipFill>
          <a:blip r:embed="rId6"/>
          <a:stretch>
            <a:fillRect/>
          </a:stretch>
        </p:blipFill>
        <p:spPr>
          <a:xfrm>
            <a:off x="8778566" y="3335375"/>
            <a:ext cx="2784553" cy="2659102"/>
          </a:xfrm>
          <a:prstGeom prst="rect">
            <a:avLst/>
          </a:prstGeom>
          <a:effectLst>
            <a:outerShdw blurRad="50800" dist="38100" dir="2700000">
              <a:srgbClr val="000000">
                <a:alpha val="40000"/>
              </a:srgbClr>
            </a:outerShdw>
          </a:effectLst>
        </p:spPr>
      </p:pic>
    </p:spTree>
    <p:extLst>
      <p:ext uri="{BB962C8B-B14F-4D97-AF65-F5344CB8AC3E}">
        <p14:creationId xmlns:p14="http://schemas.microsoft.com/office/powerpoint/2010/main" val="139576690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aset Collec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dirty="0" err="1">
                <a:latin typeface="Arial"/>
                <a:cs typeface="Arial"/>
              </a:rPr>
              <a:t>Methodology</a:t>
            </a:r>
            <a:endParaRPr lang="de-DE" b="0" dirty="0" err="1">
              <a:solidFill>
                <a:srgbClr val="000000"/>
              </a:solidFill>
              <a:latin typeface="Arial"/>
              <a:cs typeface="Arial"/>
            </a:endParaRPr>
          </a:p>
        </p:txBody>
      </p:sp>
      <p:sp>
        <p:nvSpPr>
          <p:cNvPr id="3" name="Inhaltsplatzhalter 2">
            <a:extLst>
              <a:ext uri="{FF2B5EF4-FFF2-40B4-BE49-F238E27FC236}">
                <a16:creationId xmlns:a16="http://schemas.microsoft.com/office/drawing/2014/main" id="{EC603C8C-59B1-674B-5614-32BD467CAF07}"/>
              </a:ext>
            </a:extLst>
          </p:cNvPr>
          <p:cNvSpPr>
            <a:spLocks noGrp="1"/>
          </p:cNvSpPr>
          <p:nvPr>
            <p:ph idx="1"/>
          </p:nvPr>
        </p:nvSpPr>
        <p:spPr/>
        <p:txBody>
          <a:bodyPr/>
          <a:lstStyle/>
          <a:p>
            <a:pPr marL="271145" indent="-271145"/>
            <a:r>
              <a:rPr lang="de-DE">
                <a:latin typeface="Arial"/>
                <a:cs typeface="Arial"/>
              </a:rPr>
              <a:t>Cut, Missing</a:t>
            </a:r>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17</a:t>
            </a:fld>
            <a:endParaRPr lang="de-DE"/>
          </a:p>
        </p:txBody>
      </p:sp>
      <p:sp>
        <p:nvSpPr>
          <p:cNvPr id="6" name="Rectangle 4">
            <a:extLst>
              <a:ext uri="{FF2B5EF4-FFF2-40B4-BE49-F238E27FC236}">
                <a16:creationId xmlns:a16="http://schemas.microsoft.com/office/drawing/2014/main" id="{969684BB-7A2F-9F4A-D7CB-1BBC84287026}"/>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r>
              <a:rPr lang="de-DE" b="1" dirty="0">
                <a:latin typeface="Arial"/>
                <a:cs typeface="Arial"/>
              </a:rPr>
              <a:t>Data Collection: </a:t>
            </a:r>
            <a:r>
              <a:rPr lang="de-DE" b="1" dirty="0" err="1">
                <a:latin typeface="Arial"/>
                <a:cs typeface="Arial"/>
              </a:rPr>
              <a:t>Defect</a:t>
            </a:r>
            <a:r>
              <a:rPr lang="de-DE" b="1" dirty="0">
                <a:latin typeface="Arial"/>
                <a:cs typeface="Arial"/>
              </a:rPr>
              <a:t> </a:t>
            </a:r>
            <a:r>
              <a:rPr lang="de-DE" b="1" dirty="0" err="1">
                <a:latin typeface="Arial"/>
                <a:cs typeface="Arial"/>
              </a:rPr>
              <a:t>Types</a:t>
            </a:r>
            <a:r>
              <a:rPr lang="de-DE" b="1" dirty="0">
                <a:latin typeface="Arial"/>
                <a:cs typeface="Arial"/>
              </a:rPr>
              <a:t> </a:t>
            </a:r>
            <a:endParaRPr lang="de-DE" dirty="0">
              <a:latin typeface="Arial"/>
              <a:cs typeface="Arial"/>
            </a:endParaRPr>
          </a:p>
        </p:txBody>
      </p:sp>
      <p:pic>
        <p:nvPicPr>
          <p:cNvPr id="5" name="!!defect_zooom" descr="Ein Bild, das Text, Screenshot, Grafikdesign, Grafiken enthält.&#10;&#10;Beschreibung automatisch generiert.">
            <a:extLst>
              <a:ext uri="{FF2B5EF4-FFF2-40B4-BE49-F238E27FC236}">
                <a16:creationId xmlns:a16="http://schemas.microsoft.com/office/drawing/2014/main" id="{E7E39E1A-CFC1-B9C4-1B13-C5B8E7443301}"/>
              </a:ext>
            </a:extLst>
          </p:cNvPr>
          <p:cNvPicPr>
            <a:picLocks noChangeAspect="1"/>
          </p:cNvPicPr>
          <p:nvPr/>
        </p:nvPicPr>
        <p:blipFill>
          <a:blip r:embed="rId2"/>
          <a:stretch>
            <a:fillRect/>
          </a:stretch>
        </p:blipFill>
        <p:spPr>
          <a:xfrm>
            <a:off x="860270" y="2900013"/>
            <a:ext cx="2433290" cy="3102363"/>
          </a:xfrm>
          <a:prstGeom prst="rect">
            <a:avLst/>
          </a:prstGeom>
          <a:effectLst>
            <a:outerShdw blurRad="50800" dist="38100" dir="2700000">
              <a:srgbClr val="000000">
                <a:alpha val="40000"/>
              </a:srgbClr>
            </a:outerShdw>
          </a:effectLst>
        </p:spPr>
      </p:pic>
      <p:pic>
        <p:nvPicPr>
          <p:cNvPr id="9" name="Grafik 8" descr="Ein Bild, das Text, Screenshot, Farbigkeit, Grafiken enthält.&#10;&#10;Beschreibung automatisch generiert.">
            <a:extLst>
              <a:ext uri="{FF2B5EF4-FFF2-40B4-BE49-F238E27FC236}">
                <a16:creationId xmlns:a16="http://schemas.microsoft.com/office/drawing/2014/main" id="{690AA20A-1E7D-C083-188D-2132709FF26B}"/>
              </a:ext>
            </a:extLst>
          </p:cNvPr>
          <p:cNvPicPr>
            <a:picLocks noChangeAspect="1"/>
          </p:cNvPicPr>
          <p:nvPr/>
        </p:nvPicPr>
        <p:blipFill>
          <a:blip r:embed="rId3"/>
          <a:stretch>
            <a:fillRect/>
          </a:stretch>
        </p:blipFill>
        <p:spPr>
          <a:xfrm>
            <a:off x="3388344" y="3877604"/>
            <a:ext cx="2413775" cy="2122914"/>
          </a:xfrm>
          <a:prstGeom prst="rect">
            <a:avLst/>
          </a:prstGeom>
          <a:effectLst>
            <a:outerShdw blurRad="50800" dist="38100" dir="2700000">
              <a:srgbClr val="000000">
                <a:alpha val="40000"/>
              </a:srgbClr>
            </a:outerShdw>
          </a:effectLst>
        </p:spPr>
      </p:pic>
      <p:pic>
        <p:nvPicPr>
          <p:cNvPr id="10" name="Grafik 9" descr="Ein Bild, das Text, Screenshot, Schrift, Rechteck enthält.&#10;&#10;Beschreibung automatisch generiert." hidden="1">
            <a:extLst>
              <a:ext uri="{FF2B5EF4-FFF2-40B4-BE49-F238E27FC236}">
                <a16:creationId xmlns:a16="http://schemas.microsoft.com/office/drawing/2014/main" id="{22E8809F-C83A-E518-AEBE-CDAE5441A4B8}"/>
              </a:ext>
            </a:extLst>
          </p:cNvPr>
          <p:cNvPicPr>
            <a:picLocks noChangeAspect="1"/>
          </p:cNvPicPr>
          <p:nvPr/>
        </p:nvPicPr>
        <p:blipFill>
          <a:blip r:embed="rId4"/>
          <a:stretch>
            <a:fillRect/>
          </a:stretch>
        </p:blipFill>
        <p:spPr>
          <a:xfrm>
            <a:off x="5920717" y="4450497"/>
            <a:ext cx="2775957" cy="1543980"/>
          </a:xfrm>
          <a:prstGeom prst="rect">
            <a:avLst/>
          </a:prstGeom>
          <a:effectLst>
            <a:outerShdw blurRad="50800" dist="38100" dir="2700000">
              <a:srgbClr val="000000">
                <a:alpha val="40000"/>
              </a:srgbClr>
            </a:outerShdw>
          </a:effectLst>
        </p:spPr>
      </p:pic>
      <p:pic>
        <p:nvPicPr>
          <p:cNvPr id="11" name="Grafik 10" descr="Ein Bild, das Text, Screenshot, Farbigkeit, Schrift enthält.&#10;&#10;Beschreibung automatisch generiert." hidden="1">
            <a:extLst>
              <a:ext uri="{FF2B5EF4-FFF2-40B4-BE49-F238E27FC236}">
                <a16:creationId xmlns:a16="http://schemas.microsoft.com/office/drawing/2014/main" id="{1862A2BB-3B26-9F97-A8AD-811AEC1666E2}"/>
              </a:ext>
            </a:extLst>
          </p:cNvPr>
          <p:cNvPicPr>
            <a:picLocks noChangeAspect="1"/>
          </p:cNvPicPr>
          <p:nvPr/>
        </p:nvPicPr>
        <p:blipFill>
          <a:blip r:embed="rId5"/>
          <a:stretch>
            <a:fillRect/>
          </a:stretch>
        </p:blipFill>
        <p:spPr>
          <a:xfrm>
            <a:off x="8778566" y="3335375"/>
            <a:ext cx="2784553" cy="2659102"/>
          </a:xfrm>
          <a:prstGeom prst="rect">
            <a:avLst/>
          </a:prstGeom>
          <a:effectLst>
            <a:outerShdw blurRad="50800" dist="38100" dir="2700000">
              <a:srgbClr val="000000">
                <a:alpha val="40000"/>
              </a:srgbClr>
            </a:outerShdw>
          </a:effectLst>
        </p:spPr>
      </p:pic>
    </p:spTree>
    <p:extLst>
      <p:ext uri="{BB962C8B-B14F-4D97-AF65-F5344CB8AC3E}">
        <p14:creationId xmlns:p14="http://schemas.microsoft.com/office/powerpoint/2010/main" val="6445594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aset Collec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dirty="0" err="1">
                <a:latin typeface="Arial"/>
                <a:cs typeface="Arial"/>
              </a:rPr>
              <a:t>Methodology</a:t>
            </a:r>
            <a:endParaRPr lang="de-DE" b="0" dirty="0" err="1">
              <a:solidFill>
                <a:srgbClr val="000000"/>
              </a:solidFill>
              <a:latin typeface="Arial"/>
              <a:cs typeface="Arial"/>
            </a:endParaRPr>
          </a:p>
        </p:txBody>
      </p:sp>
      <p:sp>
        <p:nvSpPr>
          <p:cNvPr id="3" name="Inhaltsplatzhalter 2">
            <a:extLst>
              <a:ext uri="{FF2B5EF4-FFF2-40B4-BE49-F238E27FC236}">
                <a16:creationId xmlns:a16="http://schemas.microsoft.com/office/drawing/2014/main" id="{EC603C8C-59B1-674B-5614-32BD467CAF07}"/>
              </a:ext>
            </a:extLst>
          </p:cNvPr>
          <p:cNvSpPr>
            <a:spLocks noGrp="1"/>
          </p:cNvSpPr>
          <p:nvPr>
            <p:ph idx="1"/>
          </p:nvPr>
        </p:nvSpPr>
        <p:spPr/>
        <p:txBody>
          <a:bodyPr/>
          <a:lstStyle/>
          <a:p>
            <a:pPr marL="271145" indent="-271145"/>
            <a:r>
              <a:rPr lang="de-DE">
                <a:latin typeface="Arial"/>
                <a:cs typeface="Arial"/>
              </a:rPr>
              <a:t>Cut, </a:t>
            </a:r>
            <a:r>
              <a:rPr lang="de-DE" err="1">
                <a:latin typeface="Arial"/>
                <a:cs typeface="Arial"/>
              </a:rPr>
              <a:t>Missing</a:t>
            </a:r>
            <a:r>
              <a:rPr lang="de-DE">
                <a:latin typeface="Arial"/>
                <a:cs typeface="Arial"/>
              </a:rPr>
              <a:t>, Rough Surface</a:t>
            </a:r>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18</a:t>
            </a:fld>
            <a:endParaRPr lang="de-DE"/>
          </a:p>
        </p:txBody>
      </p:sp>
      <p:sp>
        <p:nvSpPr>
          <p:cNvPr id="6" name="Rectangle 4">
            <a:extLst>
              <a:ext uri="{FF2B5EF4-FFF2-40B4-BE49-F238E27FC236}">
                <a16:creationId xmlns:a16="http://schemas.microsoft.com/office/drawing/2014/main" id="{969684BB-7A2F-9F4A-D7CB-1BBC84287026}"/>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r>
              <a:rPr lang="de-DE" b="1" dirty="0">
                <a:latin typeface="Arial"/>
                <a:cs typeface="Arial"/>
              </a:rPr>
              <a:t>Data Collection: </a:t>
            </a:r>
            <a:r>
              <a:rPr lang="de-DE" b="1" dirty="0" err="1">
                <a:latin typeface="Arial"/>
                <a:cs typeface="Arial"/>
              </a:rPr>
              <a:t>Defect</a:t>
            </a:r>
            <a:r>
              <a:rPr lang="de-DE" b="1" dirty="0">
                <a:latin typeface="Arial"/>
                <a:cs typeface="Arial"/>
              </a:rPr>
              <a:t> </a:t>
            </a:r>
            <a:r>
              <a:rPr lang="de-DE" b="1" dirty="0" err="1">
                <a:latin typeface="Arial"/>
                <a:cs typeface="Arial"/>
              </a:rPr>
              <a:t>Types</a:t>
            </a:r>
            <a:r>
              <a:rPr lang="de-DE" b="1" dirty="0">
                <a:latin typeface="Arial"/>
                <a:cs typeface="Arial"/>
              </a:rPr>
              <a:t> </a:t>
            </a:r>
            <a:endParaRPr lang="de-DE" dirty="0">
              <a:latin typeface="Arial"/>
              <a:cs typeface="Arial"/>
            </a:endParaRPr>
          </a:p>
        </p:txBody>
      </p:sp>
      <p:pic>
        <p:nvPicPr>
          <p:cNvPr id="5" name="!!defect_zooom" descr="Ein Bild, das Text, Screenshot, Grafikdesign, Grafiken enthält.&#10;&#10;Beschreibung automatisch generiert.">
            <a:extLst>
              <a:ext uri="{FF2B5EF4-FFF2-40B4-BE49-F238E27FC236}">
                <a16:creationId xmlns:a16="http://schemas.microsoft.com/office/drawing/2014/main" id="{E7E39E1A-CFC1-B9C4-1B13-C5B8E7443301}"/>
              </a:ext>
            </a:extLst>
          </p:cNvPr>
          <p:cNvPicPr>
            <a:picLocks noChangeAspect="1"/>
          </p:cNvPicPr>
          <p:nvPr/>
        </p:nvPicPr>
        <p:blipFill>
          <a:blip r:embed="rId2"/>
          <a:stretch>
            <a:fillRect/>
          </a:stretch>
        </p:blipFill>
        <p:spPr>
          <a:xfrm>
            <a:off x="860270" y="2900013"/>
            <a:ext cx="2433290" cy="3102363"/>
          </a:xfrm>
          <a:prstGeom prst="rect">
            <a:avLst/>
          </a:prstGeom>
          <a:effectLst>
            <a:outerShdw blurRad="50800" dist="38100" dir="2700000">
              <a:srgbClr val="000000">
                <a:alpha val="40000"/>
              </a:srgbClr>
            </a:outerShdw>
          </a:effectLst>
        </p:spPr>
      </p:pic>
      <p:pic>
        <p:nvPicPr>
          <p:cNvPr id="9" name="Grafik 8" descr="Ein Bild, das Text, Screenshot, Farbigkeit, Grafiken enthält.&#10;&#10;Beschreibung automatisch generiert.">
            <a:extLst>
              <a:ext uri="{FF2B5EF4-FFF2-40B4-BE49-F238E27FC236}">
                <a16:creationId xmlns:a16="http://schemas.microsoft.com/office/drawing/2014/main" id="{690AA20A-1E7D-C083-188D-2132709FF26B}"/>
              </a:ext>
            </a:extLst>
          </p:cNvPr>
          <p:cNvPicPr>
            <a:picLocks noChangeAspect="1"/>
          </p:cNvPicPr>
          <p:nvPr/>
        </p:nvPicPr>
        <p:blipFill>
          <a:blip r:embed="rId3"/>
          <a:stretch>
            <a:fillRect/>
          </a:stretch>
        </p:blipFill>
        <p:spPr>
          <a:xfrm>
            <a:off x="3388344" y="3877604"/>
            <a:ext cx="2413775" cy="2122914"/>
          </a:xfrm>
          <a:prstGeom prst="rect">
            <a:avLst/>
          </a:prstGeom>
          <a:effectLst>
            <a:outerShdw blurRad="50800" dist="38100" dir="2700000">
              <a:srgbClr val="000000">
                <a:alpha val="40000"/>
              </a:srgbClr>
            </a:outerShdw>
          </a:effectLst>
        </p:spPr>
      </p:pic>
      <p:pic>
        <p:nvPicPr>
          <p:cNvPr id="10" name="Grafik 9" descr="Ein Bild, das Text, Screenshot, Schrift, Rechteck enthält.&#10;&#10;Beschreibung automatisch generiert.">
            <a:extLst>
              <a:ext uri="{FF2B5EF4-FFF2-40B4-BE49-F238E27FC236}">
                <a16:creationId xmlns:a16="http://schemas.microsoft.com/office/drawing/2014/main" id="{22E8809F-C83A-E518-AEBE-CDAE5441A4B8}"/>
              </a:ext>
            </a:extLst>
          </p:cNvPr>
          <p:cNvPicPr>
            <a:picLocks noChangeAspect="1"/>
          </p:cNvPicPr>
          <p:nvPr/>
        </p:nvPicPr>
        <p:blipFill>
          <a:blip r:embed="rId4"/>
          <a:stretch>
            <a:fillRect/>
          </a:stretch>
        </p:blipFill>
        <p:spPr>
          <a:xfrm>
            <a:off x="5920717" y="4450497"/>
            <a:ext cx="2775957" cy="1543980"/>
          </a:xfrm>
          <a:prstGeom prst="rect">
            <a:avLst/>
          </a:prstGeom>
          <a:effectLst>
            <a:outerShdw blurRad="50800" dist="38100" dir="2700000">
              <a:srgbClr val="000000">
                <a:alpha val="40000"/>
              </a:srgbClr>
            </a:outerShdw>
          </a:effectLst>
        </p:spPr>
      </p:pic>
      <p:pic>
        <p:nvPicPr>
          <p:cNvPr id="11" name="Grafik 10" descr="Ein Bild, das Text, Screenshot, Farbigkeit, Schrift enthält.&#10;&#10;Beschreibung automatisch generiert." hidden="1">
            <a:extLst>
              <a:ext uri="{FF2B5EF4-FFF2-40B4-BE49-F238E27FC236}">
                <a16:creationId xmlns:a16="http://schemas.microsoft.com/office/drawing/2014/main" id="{1862A2BB-3B26-9F97-A8AD-811AEC1666E2}"/>
              </a:ext>
            </a:extLst>
          </p:cNvPr>
          <p:cNvPicPr>
            <a:picLocks noChangeAspect="1"/>
          </p:cNvPicPr>
          <p:nvPr/>
        </p:nvPicPr>
        <p:blipFill>
          <a:blip r:embed="rId5"/>
          <a:stretch>
            <a:fillRect/>
          </a:stretch>
        </p:blipFill>
        <p:spPr>
          <a:xfrm>
            <a:off x="8778566" y="3335375"/>
            <a:ext cx="2784553" cy="2659102"/>
          </a:xfrm>
          <a:prstGeom prst="rect">
            <a:avLst/>
          </a:prstGeom>
          <a:effectLst>
            <a:outerShdw blurRad="50800" dist="38100" dir="2700000">
              <a:srgbClr val="000000">
                <a:alpha val="40000"/>
              </a:srgbClr>
            </a:outerShdw>
          </a:effectLst>
        </p:spPr>
      </p:pic>
    </p:spTree>
    <p:extLst>
      <p:ext uri="{BB962C8B-B14F-4D97-AF65-F5344CB8AC3E}">
        <p14:creationId xmlns:p14="http://schemas.microsoft.com/office/powerpoint/2010/main" val="126736183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aset Collec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dirty="0" err="1">
                <a:latin typeface="Arial"/>
                <a:cs typeface="Arial"/>
              </a:rPr>
              <a:t>Methodology</a:t>
            </a:r>
            <a:endParaRPr lang="de-DE" b="0" dirty="0" err="1">
              <a:solidFill>
                <a:srgbClr val="000000"/>
              </a:solidFill>
              <a:latin typeface="Arial"/>
              <a:cs typeface="Arial"/>
            </a:endParaRPr>
          </a:p>
        </p:txBody>
      </p:sp>
      <p:sp>
        <p:nvSpPr>
          <p:cNvPr id="3" name="Inhaltsplatzhalter 2">
            <a:extLst>
              <a:ext uri="{FF2B5EF4-FFF2-40B4-BE49-F238E27FC236}">
                <a16:creationId xmlns:a16="http://schemas.microsoft.com/office/drawing/2014/main" id="{EC603C8C-59B1-674B-5614-32BD467CAF07}"/>
              </a:ext>
            </a:extLst>
          </p:cNvPr>
          <p:cNvSpPr>
            <a:spLocks noGrp="1"/>
          </p:cNvSpPr>
          <p:nvPr>
            <p:ph idx="1"/>
          </p:nvPr>
        </p:nvSpPr>
        <p:spPr/>
        <p:txBody>
          <a:bodyPr/>
          <a:lstStyle/>
          <a:p>
            <a:pPr marL="271145" indent="-271145"/>
            <a:r>
              <a:rPr lang="de-DE">
                <a:latin typeface="Arial"/>
                <a:cs typeface="Arial"/>
              </a:rPr>
              <a:t>Cut, </a:t>
            </a:r>
            <a:r>
              <a:rPr lang="de-DE" err="1">
                <a:latin typeface="Arial"/>
                <a:cs typeface="Arial"/>
              </a:rPr>
              <a:t>Missing</a:t>
            </a:r>
            <a:r>
              <a:rPr lang="de-DE">
                <a:latin typeface="Arial"/>
                <a:cs typeface="Arial"/>
              </a:rPr>
              <a:t>, Rough Surface, </a:t>
            </a:r>
            <a:r>
              <a:rPr lang="de-DE" err="1">
                <a:latin typeface="Arial"/>
                <a:cs typeface="Arial"/>
              </a:rPr>
              <a:t>Excessive</a:t>
            </a:r>
            <a:r>
              <a:rPr lang="de-DE">
                <a:latin typeface="Arial"/>
                <a:cs typeface="Arial"/>
              </a:rPr>
              <a:t> Material</a:t>
            </a:r>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19</a:t>
            </a:fld>
            <a:endParaRPr lang="de-DE"/>
          </a:p>
        </p:txBody>
      </p:sp>
      <p:sp>
        <p:nvSpPr>
          <p:cNvPr id="6" name="Rectangle 4">
            <a:extLst>
              <a:ext uri="{FF2B5EF4-FFF2-40B4-BE49-F238E27FC236}">
                <a16:creationId xmlns:a16="http://schemas.microsoft.com/office/drawing/2014/main" id="{969684BB-7A2F-9F4A-D7CB-1BBC84287026}"/>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r>
              <a:rPr lang="de-DE" b="1" dirty="0">
                <a:latin typeface="Arial"/>
                <a:cs typeface="Arial"/>
              </a:rPr>
              <a:t>Data Collection: </a:t>
            </a:r>
            <a:r>
              <a:rPr lang="de-DE" b="1" dirty="0" err="1">
                <a:latin typeface="Arial"/>
                <a:cs typeface="Arial"/>
              </a:rPr>
              <a:t>Defect</a:t>
            </a:r>
            <a:r>
              <a:rPr lang="de-DE" b="1" dirty="0">
                <a:latin typeface="Arial"/>
                <a:cs typeface="Arial"/>
              </a:rPr>
              <a:t> </a:t>
            </a:r>
            <a:r>
              <a:rPr lang="de-DE" b="1" dirty="0" err="1">
                <a:latin typeface="Arial"/>
                <a:cs typeface="Arial"/>
              </a:rPr>
              <a:t>Types</a:t>
            </a:r>
            <a:r>
              <a:rPr lang="de-DE" b="1" dirty="0">
                <a:latin typeface="Arial"/>
                <a:cs typeface="Arial"/>
              </a:rPr>
              <a:t> </a:t>
            </a:r>
            <a:endParaRPr lang="de-DE" dirty="0">
              <a:latin typeface="Arial"/>
              <a:cs typeface="Arial"/>
            </a:endParaRPr>
          </a:p>
        </p:txBody>
      </p:sp>
      <p:pic>
        <p:nvPicPr>
          <p:cNvPr id="5" name="!!defect_zooom" descr="Ein Bild, das Text, Screenshot, Grafikdesign, Grafiken enthält.&#10;&#10;Beschreibung automatisch generiert.">
            <a:extLst>
              <a:ext uri="{FF2B5EF4-FFF2-40B4-BE49-F238E27FC236}">
                <a16:creationId xmlns:a16="http://schemas.microsoft.com/office/drawing/2014/main" id="{E7E39E1A-CFC1-B9C4-1B13-C5B8E7443301}"/>
              </a:ext>
            </a:extLst>
          </p:cNvPr>
          <p:cNvPicPr>
            <a:picLocks noChangeAspect="1"/>
          </p:cNvPicPr>
          <p:nvPr/>
        </p:nvPicPr>
        <p:blipFill>
          <a:blip r:embed="rId3"/>
          <a:stretch>
            <a:fillRect/>
          </a:stretch>
        </p:blipFill>
        <p:spPr>
          <a:xfrm>
            <a:off x="860270" y="2900013"/>
            <a:ext cx="2433290" cy="3102363"/>
          </a:xfrm>
          <a:prstGeom prst="rect">
            <a:avLst/>
          </a:prstGeom>
          <a:effectLst>
            <a:outerShdw blurRad="50800" dist="38100" dir="2700000">
              <a:srgbClr val="000000">
                <a:alpha val="40000"/>
              </a:srgbClr>
            </a:outerShdw>
          </a:effectLst>
        </p:spPr>
      </p:pic>
      <p:pic>
        <p:nvPicPr>
          <p:cNvPr id="9" name="Grafik 8" descr="Ein Bild, das Text, Screenshot, Farbigkeit, Grafiken enthält.&#10;&#10;Beschreibung automatisch generiert.">
            <a:extLst>
              <a:ext uri="{FF2B5EF4-FFF2-40B4-BE49-F238E27FC236}">
                <a16:creationId xmlns:a16="http://schemas.microsoft.com/office/drawing/2014/main" id="{690AA20A-1E7D-C083-188D-2132709FF26B}"/>
              </a:ext>
            </a:extLst>
          </p:cNvPr>
          <p:cNvPicPr>
            <a:picLocks noChangeAspect="1"/>
          </p:cNvPicPr>
          <p:nvPr/>
        </p:nvPicPr>
        <p:blipFill>
          <a:blip r:embed="rId4"/>
          <a:stretch>
            <a:fillRect/>
          </a:stretch>
        </p:blipFill>
        <p:spPr>
          <a:xfrm>
            <a:off x="3388344" y="3877604"/>
            <a:ext cx="2413775" cy="2122914"/>
          </a:xfrm>
          <a:prstGeom prst="rect">
            <a:avLst/>
          </a:prstGeom>
          <a:effectLst>
            <a:outerShdw blurRad="50800" dist="38100" dir="2700000">
              <a:srgbClr val="000000">
                <a:alpha val="40000"/>
              </a:srgbClr>
            </a:outerShdw>
          </a:effectLst>
        </p:spPr>
      </p:pic>
      <p:pic>
        <p:nvPicPr>
          <p:cNvPr id="10" name="Grafik 9" descr="Ein Bild, das Text, Screenshot, Schrift, Rechteck enthält.&#10;&#10;Beschreibung automatisch generiert.">
            <a:extLst>
              <a:ext uri="{FF2B5EF4-FFF2-40B4-BE49-F238E27FC236}">
                <a16:creationId xmlns:a16="http://schemas.microsoft.com/office/drawing/2014/main" id="{22E8809F-C83A-E518-AEBE-CDAE5441A4B8}"/>
              </a:ext>
            </a:extLst>
          </p:cNvPr>
          <p:cNvPicPr>
            <a:picLocks noChangeAspect="1"/>
          </p:cNvPicPr>
          <p:nvPr/>
        </p:nvPicPr>
        <p:blipFill>
          <a:blip r:embed="rId5"/>
          <a:stretch>
            <a:fillRect/>
          </a:stretch>
        </p:blipFill>
        <p:spPr>
          <a:xfrm>
            <a:off x="5920717" y="4450497"/>
            <a:ext cx="2775957" cy="1543980"/>
          </a:xfrm>
          <a:prstGeom prst="rect">
            <a:avLst/>
          </a:prstGeom>
          <a:effectLst>
            <a:outerShdw blurRad="50800" dist="38100" dir="2700000">
              <a:srgbClr val="000000">
                <a:alpha val="40000"/>
              </a:srgbClr>
            </a:outerShdw>
          </a:effectLst>
        </p:spPr>
      </p:pic>
      <p:pic>
        <p:nvPicPr>
          <p:cNvPr id="11" name="Grafik 10" descr="Ein Bild, das Text, Screenshot, Farbigkeit, Schrift enthält.&#10;&#10;Beschreibung automatisch generiert.">
            <a:extLst>
              <a:ext uri="{FF2B5EF4-FFF2-40B4-BE49-F238E27FC236}">
                <a16:creationId xmlns:a16="http://schemas.microsoft.com/office/drawing/2014/main" id="{1862A2BB-3B26-9F97-A8AD-811AEC1666E2}"/>
              </a:ext>
            </a:extLst>
          </p:cNvPr>
          <p:cNvPicPr>
            <a:picLocks noChangeAspect="1"/>
          </p:cNvPicPr>
          <p:nvPr/>
        </p:nvPicPr>
        <p:blipFill>
          <a:blip r:embed="rId6"/>
          <a:stretch>
            <a:fillRect/>
          </a:stretch>
        </p:blipFill>
        <p:spPr>
          <a:xfrm>
            <a:off x="8778566" y="3335375"/>
            <a:ext cx="2784553" cy="2659102"/>
          </a:xfrm>
          <a:prstGeom prst="rect">
            <a:avLst/>
          </a:prstGeom>
          <a:effectLst>
            <a:outerShdw blurRad="50800" dist="38100" dir="2700000">
              <a:srgbClr val="000000">
                <a:alpha val="40000"/>
              </a:srgbClr>
            </a:outerShdw>
          </a:effectLst>
        </p:spPr>
      </p:pic>
    </p:spTree>
    <p:extLst>
      <p:ext uri="{BB962C8B-B14F-4D97-AF65-F5344CB8AC3E}">
        <p14:creationId xmlns:p14="http://schemas.microsoft.com/office/powerpoint/2010/main" val="42852127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aset Collec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dirty="0" err="1">
                <a:latin typeface="Arial"/>
                <a:cs typeface="Arial"/>
              </a:rPr>
              <a:t>Methodology</a:t>
            </a:r>
            <a:endParaRPr lang="en-US" dirty="0" err="1"/>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20</a:t>
            </a:fld>
            <a:endParaRPr lang="de-DE"/>
          </a:p>
        </p:txBody>
      </p:sp>
      <p:sp>
        <p:nvSpPr>
          <p:cNvPr id="7" name="Rectangle 4">
            <a:extLst>
              <a:ext uri="{FF2B5EF4-FFF2-40B4-BE49-F238E27FC236}">
                <a16:creationId xmlns:a16="http://schemas.microsoft.com/office/drawing/2014/main" id="{73F6066D-CF0E-9F53-250C-72748FCCD813}"/>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dirty="0">
                <a:latin typeface="Arial"/>
                <a:cs typeface="Arial"/>
              </a:rPr>
              <a:t>Model Training: Transfer Learning</a:t>
            </a:r>
            <a:endParaRPr lang="de-DE" b="1" dirty="0">
              <a:cs typeface="Arial"/>
            </a:endParaRPr>
          </a:p>
        </p:txBody>
      </p:sp>
      <p:sp>
        <p:nvSpPr>
          <p:cNvPr id="8" name="!!pgm2jpg">
            <a:extLst>
              <a:ext uri="{FF2B5EF4-FFF2-40B4-BE49-F238E27FC236}">
                <a16:creationId xmlns:a16="http://schemas.microsoft.com/office/drawing/2014/main" id="{03F839D2-3164-DB43-D1AD-E334A4F069C3}"/>
              </a:ext>
            </a:extLst>
          </p:cNvPr>
          <p:cNvSpPr txBox="1">
            <a:spLocks/>
          </p:cNvSpPr>
          <p:nvPr/>
        </p:nvSpPr>
        <p:spPr bwMode="auto">
          <a:xfrm>
            <a:off x="857252" y="2141730"/>
            <a:ext cx="3765917" cy="3400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3"/>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4"/>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endParaRPr lang="de-DE">
              <a:latin typeface="Arial"/>
              <a:cs typeface="Arial"/>
            </a:endParaRPr>
          </a:p>
          <a:p>
            <a:pPr marL="271145" indent="-271145"/>
            <a:r>
              <a:rPr lang="de-DE">
                <a:latin typeface="Arial"/>
                <a:cs typeface="Arial"/>
              </a:rPr>
              <a:t>Main </a:t>
            </a:r>
            <a:r>
              <a:rPr lang="de-DE" err="1">
                <a:latin typeface="Arial"/>
                <a:cs typeface="Arial"/>
              </a:rPr>
              <a:t>technique</a:t>
            </a:r>
            <a:endParaRPr lang="de-DE"/>
          </a:p>
          <a:p>
            <a:pPr marL="271145" indent="-271145"/>
            <a:r>
              <a:rPr lang="de-DE" b="1">
                <a:latin typeface="Arial"/>
                <a:cs typeface="Arial"/>
              </a:rPr>
              <a:t>Transfers </a:t>
            </a:r>
            <a:r>
              <a:rPr lang="de-DE" b="1" err="1">
                <a:latin typeface="Arial"/>
                <a:cs typeface="Arial"/>
              </a:rPr>
              <a:t>knowledge</a:t>
            </a:r>
            <a:r>
              <a:rPr lang="de-DE">
                <a:latin typeface="Arial"/>
                <a:cs typeface="Arial"/>
              </a:rPr>
              <a:t> </a:t>
            </a:r>
            <a:r>
              <a:rPr lang="de-DE" err="1">
                <a:latin typeface="Arial"/>
                <a:cs typeface="Arial"/>
              </a:rPr>
              <a:t>from</a:t>
            </a:r>
            <a:r>
              <a:rPr lang="de-DE">
                <a:latin typeface="Arial"/>
                <a:cs typeface="Arial"/>
              </a:rPr>
              <a:t> </a:t>
            </a:r>
            <a:r>
              <a:rPr lang="de-DE" err="1">
                <a:latin typeface="Arial"/>
                <a:cs typeface="Arial"/>
              </a:rPr>
              <a:t>one</a:t>
            </a:r>
            <a:r>
              <a:rPr lang="de-DE">
                <a:latin typeface="Arial"/>
                <a:cs typeface="Arial"/>
              </a:rPr>
              <a:t> </a:t>
            </a:r>
            <a:r>
              <a:rPr lang="de-DE" err="1">
                <a:latin typeface="Arial"/>
                <a:cs typeface="Arial"/>
              </a:rPr>
              <a:t>task</a:t>
            </a:r>
            <a:r>
              <a:rPr lang="de-DE">
                <a:latin typeface="Arial"/>
                <a:cs typeface="Arial"/>
              </a:rPr>
              <a:t> </a:t>
            </a:r>
            <a:r>
              <a:rPr lang="de-DE" err="1">
                <a:latin typeface="Arial"/>
                <a:cs typeface="Arial"/>
              </a:rPr>
              <a:t>to</a:t>
            </a:r>
            <a:r>
              <a:rPr lang="de-DE">
                <a:latin typeface="Arial"/>
                <a:cs typeface="Arial"/>
              </a:rPr>
              <a:t> a </a:t>
            </a:r>
            <a:r>
              <a:rPr lang="de-DE" err="1">
                <a:latin typeface="Arial"/>
                <a:cs typeface="Arial"/>
              </a:rPr>
              <a:t>related</a:t>
            </a:r>
            <a:r>
              <a:rPr lang="de-DE">
                <a:latin typeface="Arial"/>
                <a:cs typeface="Arial"/>
              </a:rPr>
              <a:t> </a:t>
            </a:r>
            <a:r>
              <a:rPr lang="de-DE" err="1">
                <a:latin typeface="Arial"/>
                <a:cs typeface="Arial"/>
              </a:rPr>
              <a:t>task</a:t>
            </a:r>
            <a:endParaRPr lang="de-DE">
              <a:latin typeface="Arial"/>
              <a:cs typeface="Arial"/>
            </a:endParaRPr>
          </a:p>
          <a:p>
            <a:pPr marL="271145" indent="-271145"/>
            <a:r>
              <a:rPr lang="de-DE">
                <a:latin typeface="Arial"/>
                <a:cs typeface="Arial"/>
              </a:rPr>
              <a:t>Ideal </a:t>
            </a:r>
            <a:r>
              <a:rPr lang="de-DE" err="1">
                <a:latin typeface="Arial"/>
                <a:cs typeface="Arial"/>
              </a:rPr>
              <a:t>for</a:t>
            </a:r>
            <a:r>
              <a:rPr lang="de-DE">
                <a:latin typeface="Arial"/>
                <a:cs typeface="Arial"/>
              </a:rPr>
              <a:t> </a:t>
            </a:r>
            <a:r>
              <a:rPr lang="de-DE" err="1">
                <a:latin typeface="Arial"/>
                <a:cs typeface="Arial"/>
              </a:rPr>
              <a:t>scenarios</a:t>
            </a:r>
            <a:r>
              <a:rPr lang="de-DE">
                <a:latin typeface="Arial"/>
                <a:cs typeface="Arial"/>
              </a:rPr>
              <a:t> </a:t>
            </a:r>
            <a:r>
              <a:rPr lang="de-DE" err="1">
                <a:latin typeface="Arial"/>
                <a:cs typeface="Arial"/>
              </a:rPr>
              <a:t>with</a:t>
            </a:r>
            <a:r>
              <a:rPr lang="de-DE">
                <a:latin typeface="Arial"/>
                <a:cs typeface="Arial"/>
              </a:rPr>
              <a:t> </a:t>
            </a:r>
            <a:r>
              <a:rPr lang="de-DE" b="1">
                <a:latin typeface="Arial"/>
                <a:cs typeface="Arial"/>
              </a:rPr>
              <a:t>limited </a:t>
            </a:r>
            <a:r>
              <a:rPr lang="de-DE" b="1" err="1">
                <a:latin typeface="Arial"/>
                <a:cs typeface="Arial"/>
              </a:rPr>
              <a:t>data</a:t>
            </a:r>
            <a:r>
              <a:rPr lang="de-DE" b="1">
                <a:latin typeface="Arial"/>
                <a:cs typeface="Arial"/>
              </a:rPr>
              <a:t> </a:t>
            </a:r>
            <a:r>
              <a:rPr lang="de-DE">
                <a:latin typeface="Arial"/>
                <a:cs typeface="Arial"/>
              </a:rPr>
              <a:t>and</a:t>
            </a:r>
            <a:r>
              <a:rPr lang="de-DE" b="1">
                <a:latin typeface="Arial"/>
                <a:cs typeface="Arial"/>
              </a:rPr>
              <a:t> </a:t>
            </a:r>
            <a:r>
              <a:rPr lang="de-DE" b="1" err="1">
                <a:latin typeface="Arial"/>
                <a:cs typeface="Arial"/>
              </a:rPr>
              <a:t>computational</a:t>
            </a:r>
            <a:r>
              <a:rPr lang="de-DE" b="1">
                <a:latin typeface="Arial"/>
                <a:cs typeface="Arial"/>
              </a:rPr>
              <a:t> </a:t>
            </a:r>
            <a:r>
              <a:rPr lang="de-DE" b="1" err="1">
                <a:latin typeface="Arial"/>
                <a:cs typeface="Arial"/>
              </a:rPr>
              <a:t>resources</a:t>
            </a:r>
            <a:endParaRPr lang="de-DE" b="1">
              <a:latin typeface="Arial"/>
              <a:cs typeface="Arial"/>
            </a:endParaRPr>
          </a:p>
          <a:p>
            <a:pPr marL="271145" indent="-271145"/>
            <a:r>
              <a:rPr lang="de-DE" b="1" err="1">
                <a:latin typeface="Arial"/>
                <a:cs typeface="Arial"/>
              </a:rPr>
              <a:t>Reduced</a:t>
            </a:r>
            <a:r>
              <a:rPr lang="de-DE" b="1">
                <a:latin typeface="Arial"/>
                <a:cs typeface="Arial"/>
              </a:rPr>
              <a:t> </a:t>
            </a:r>
            <a:r>
              <a:rPr lang="de-DE" b="1" err="1">
                <a:latin typeface="Arial"/>
                <a:cs typeface="Arial"/>
              </a:rPr>
              <a:t>training</a:t>
            </a:r>
            <a:r>
              <a:rPr lang="de-DE" b="1">
                <a:latin typeface="Arial"/>
                <a:cs typeface="Arial"/>
              </a:rPr>
              <a:t> time</a:t>
            </a:r>
          </a:p>
          <a:p>
            <a:pPr marL="271145" indent="-271145"/>
            <a:endParaRPr lang="de-DE">
              <a:latin typeface="Arial"/>
              <a:cs typeface="Arial"/>
            </a:endParaRPr>
          </a:p>
          <a:p>
            <a:pPr marL="271145" indent="-271145"/>
            <a:endParaRPr lang="de-DE">
              <a:latin typeface="Arial"/>
              <a:cs typeface="Arial"/>
            </a:endParaRPr>
          </a:p>
          <a:p>
            <a:pPr marL="271145" indent="-271145"/>
            <a:endParaRPr lang="de-DE">
              <a:latin typeface="Arial"/>
              <a:cs typeface="Arial"/>
            </a:endParaRPr>
          </a:p>
        </p:txBody>
      </p:sp>
      <p:sp>
        <p:nvSpPr>
          <p:cNvPr id="5" name="Oval 4">
            <a:extLst>
              <a:ext uri="{FF2B5EF4-FFF2-40B4-BE49-F238E27FC236}">
                <a16:creationId xmlns:a16="http://schemas.microsoft.com/office/drawing/2014/main" id="{A5D07C44-E4D3-1976-B010-D8724847C9E7}"/>
              </a:ext>
            </a:extLst>
          </p:cNvPr>
          <p:cNvSpPr/>
          <p:nvPr/>
        </p:nvSpPr>
        <p:spPr>
          <a:xfrm>
            <a:off x="4800455" y="2299476"/>
            <a:ext cx="1711890" cy="1210849"/>
          </a:xfrm>
          <a:prstGeom prst="ellipse">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970C5F5-8A1F-BFA2-3B01-7755FACB2204}"/>
              </a:ext>
            </a:extLst>
          </p:cNvPr>
          <p:cNvSpPr/>
          <p:nvPr/>
        </p:nvSpPr>
        <p:spPr>
          <a:xfrm>
            <a:off x="4848682" y="4373273"/>
            <a:ext cx="1711890" cy="1210849"/>
          </a:xfrm>
          <a:prstGeom prst="ellipse">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655211EB-7057-150A-EC5C-5E662520A143}"/>
              </a:ext>
            </a:extLst>
          </p:cNvPr>
          <p:cNvSpPr/>
          <p:nvPr/>
        </p:nvSpPr>
        <p:spPr>
          <a:xfrm>
            <a:off x="7381766" y="2406371"/>
            <a:ext cx="1983287" cy="1002082"/>
          </a:xfrm>
          <a:prstGeom prst="roundRec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0BB3257B-C3CA-4BD9-14D5-465A294982AC}"/>
              </a:ext>
            </a:extLst>
          </p:cNvPr>
          <p:cNvSpPr/>
          <p:nvPr/>
        </p:nvSpPr>
        <p:spPr>
          <a:xfrm>
            <a:off x="7381766" y="4480168"/>
            <a:ext cx="1983287" cy="1002082"/>
          </a:xfrm>
          <a:prstGeom prst="roundRec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5F9CBD8F-8704-7A81-4D1F-6EBFBC8D40B0}"/>
              </a:ext>
            </a:extLst>
          </p:cNvPr>
          <p:cNvSpPr/>
          <p:nvPr/>
        </p:nvSpPr>
        <p:spPr>
          <a:xfrm>
            <a:off x="10092171" y="3438447"/>
            <a:ext cx="1983287" cy="1002082"/>
          </a:xfrm>
          <a:prstGeom prst="roundRec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975E3E8-E2D2-78F3-75C5-2A605037E095}"/>
              </a:ext>
            </a:extLst>
          </p:cNvPr>
          <p:cNvSpPr txBox="1"/>
          <p:nvPr/>
        </p:nvSpPr>
        <p:spPr>
          <a:xfrm>
            <a:off x="5147960" y="2728374"/>
            <a:ext cx="101252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Arial"/>
                <a:cs typeface="Arial"/>
              </a:rPr>
              <a:t>Task A</a:t>
            </a:r>
            <a:endParaRPr lang="en-US">
              <a:cs typeface="Arial" charset="0"/>
            </a:endParaRPr>
          </a:p>
        </p:txBody>
      </p:sp>
      <p:sp>
        <p:nvSpPr>
          <p:cNvPr id="17" name="TextBox 16">
            <a:extLst>
              <a:ext uri="{FF2B5EF4-FFF2-40B4-BE49-F238E27FC236}">
                <a16:creationId xmlns:a16="http://schemas.microsoft.com/office/drawing/2014/main" id="{AB6926CF-4016-60D1-2334-55927A16571E}"/>
              </a:ext>
            </a:extLst>
          </p:cNvPr>
          <p:cNvSpPr txBox="1"/>
          <p:nvPr/>
        </p:nvSpPr>
        <p:spPr>
          <a:xfrm>
            <a:off x="5099731" y="4789488"/>
            <a:ext cx="121084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Arial"/>
                <a:cs typeface="Arial"/>
              </a:rPr>
              <a:t>Task B</a:t>
            </a:r>
            <a:endParaRPr lang="en-US">
              <a:cs typeface="Arial" charset="0"/>
            </a:endParaRPr>
          </a:p>
        </p:txBody>
      </p:sp>
      <p:sp>
        <p:nvSpPr>
          <p:cNvPr id="18" name="TextBox 17">
            <a:extLst>
              <a:ext uri="{FF2B5EF4-FFF2-40B4-BE49-F238E27FC236}">
                <a16:creationId xmlns:a16="http://schemas.microsoft.com/office/drawing/2014/main" id="{F3449956-E4F0-8212-E6BC-7C5084466F91}"/>
              </a:ext>
            </a:extLst>
          </p:cNvPr>
          <p:cNvSpPr txBox="1"/>
          <p:nvPr/>
        </p:nvSpPr>
        <p:spPr>
          <a:xfrm>
            <a:off x="7695710" y="2590827"/>
            <a:ext cx="136610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Arial"/>
                <a:cs typeface="Arial"/>
              </a:rPr>
              <a:t>Pre-trained Model</a:t>
            </a:r>
            <a:endParaRPr lang="en-US">
              <a:cs typeface="Arial" charset="0"/>
            </a:endParaRPr>
          </a:p>
        </p:txBody>
      </p:sp>
      <p:sp>
        <p:nvSpPr>
          <p:cNvPr id="19" name="TextBox 18">
            <a:extLst>
              <a:ext uri="{FF2B5EF4-FFF2-40B4-BE49-F238E27FC236}">
                <a16:creationId xmlns:a16="http://schemas.microsoft.com/office/drawing/2014/main" id="{2D55C9AA-18EC-C1F7-1432-B39A99B0F3C1}"/>
              </a:ext>
            </a:extLst>
          </p:cNvPr>
          <p:cNvSpPr txBox="1"/>
          <p:nvPr/>
        </p:nvSpPr>
        <p:spPr>
          <a:xfrm>
            <a:off x="7641009" y="4788827"/>
            <a:ext cx="146136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Arial"/>
                <a:cs typeface="Arial"/>
              </a:rPr>
              <a:t>New Model</a:t>
            </a:r>
            <a:endParaRPr lang="en-US">
              <a:cs typeface="Arial" charset="0"/>
            </a:endParaRPr>
          </a:p>
        </p:txBody>
      </p:sp>
      <p:sp>
        <p:nvSpPr>
          <p:cNvPr id="20" name="TextBox 19">
            <a:extLst>
              <a:ext uri="{FF2B5EF4-FFF2-40B4-BE49-F238E27FC236}">
                <a16:creationId xmlns:a16="http://schemas.microsoft.com/office/drawing/2014/main" id="{42C98653-A8B5-B4D7-6F8E-CAF9BC812BB7}"/>
              </a:ext>
            </a:extLst>
          </p:cNvPr>
          <p:cNvSpPr txBox="1"/>
          <p:nvPr/>
        </p:nvSpPr>
        <p:spPr>
          <a:xfrm>
            <a:off x="10402152" y="3754504"/>
            <a:ext cx="136517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Arial"/>
                <a:cs typeface="Arial"/>
              </a:rPr>
              <a:t>Knowledge</a:t>
            </a:r>
            <a:endParaRPr lang="en-US">
              <a:cs typeface="Arial"/>
            </a:endParaRPr>
          </a:p>
        </p:txBody>
      </p:sp>
      <p:cxnSp>
        <p:nvCxnSpPr>
          <p:cNvPr id="3" name="Straight Arrow Connector 2">
            <a:extLst>
              <a:ext uri="{FF2B5EF4-FFF2-40B4-BE49-F238E27FC236}">
                <a16:creationId xmlns:a16="http://schemas.microsoft.com/office/drawing/2014/main" id="{89C47F97-6DB9-C615-1F11-41869835FA6E}"/>
              </a:ext>
            </a:extLst>
          </p:cNvPr>
          <p:cNvCxnSpPr/>
          <p:nvPr/>
        </p:nvCxnSpPr>
        <p:spPr>
          <a:xfrm>
            <a:off x="6555168" y="2904206"/>
            <a:ext cx="837235" cy="7717"/>
          </a:xfrm>
          <a:prstGeom prst="straightConnector1">
            <a:avLst/>
          </a:prstGeom>
          <a:ln>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20267168-1B3B-C7DD-1F1B-63ECA2C23FFB}"/>
              </a:ext>
            </a:extLst>
          </p:cNvPr>
          <p:cNvCxnSpPr>
            <a:cxnSpLocks/>
          </p:cNvCxnSpPr>
          <p:nvPr/>
        </p:nvCxnSpPr>
        <p:spPr>
          <a:xfrm flipH="1" flipV="1">
            <a:off x="6582175" y="4976075"/>
            <a:ext cx="821802" cy="11574"/>
          </a:xfrm>
          <a:prstGeom prst="straightConnector1">
            <a:avLst/>
          </a:prstGeom>
          <a:ln>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FDFE3D2C-1169-DFE1-3871-83F0803EBD55}"/>
              </a:ext>
            </a:extLst>
          </p:cNvPr>
          <p:cNvCxnSpPr/>
          <p:nvPr/>
        </p:nvCxnSpPr>
        <p:spPr>
          <a:xfrm>
            <a:off x="9364401" y="2906692"/>
            <a:ext cx="721488" cy="837235"/>
          </a:xfrm>
          <a:prstGeom prst="bentConnector3">
            <a:avLst/>
          </a:prstGeom>
          <a:ln>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D4279D33-6334-32A6-5DB6-90110B4FE155}"/>
              </a:ext>
            </a:extLst>
          </p:cNvPr>
          <p:cNvCxnSpPr/>
          <p:nvPr/>
        </p:nvCxnSpPr>
        <p:spPr>
          <a:xfrm flipH="1">
            <a:off x="9379954" y="4274553"/>
            <a:ext cx="754285" cy="692551"/>
          </a:xfrm>
          <a:prstGeom prst="bentConnector3">
            <a:avLst/>
          </a:prstGeom>
          <a:ln>
            <a:solidFill>
              <a:srgbClr val="33333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87580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aset Collec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dirty="0" err="1">
                <a:latin typeface="Arial"/>
                <a:cs typeface="Arial"/>
              </a:rPr>
              <a:t>Methodology</a:t>
            </a:r>
            <a:endParaRPr lang="de-DE" b="0" dirty="0" err="1">
              <a:solidFill>
                <a:srgbClr val="000000"/>
              </a:solidFill>
              <a:latin typeface="Arial"/>
              <a:cs typeface="Arial"/>
            </a:endParaRPr>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21</a:t>
            </a:fld>
            <a:endParaRPr lang="de-DE"/>
          </a:p>
        </p:txBody>
      </p:sp>
      <p:sp>
        <p:nvSpPr>
          <p:cNvPr id="7" name="Rectangle 4">
            <a:extLst>
              <a:ext uri="{FF2B5EF4-FFF2-40B4-BE49-F238E27FC236}">
                <a16:creationId xmlns:a16="http://schemas.microsoft.com/office/drawing/2014/main" id="{73F6066D-CF0E-9F53-250C-72748FCCD813}"/>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dirty="0">
                <a:latin typeface="Arial"/>
                <a:cs typeface="Arial"/>
              </a:rPr>
              <a:t>Model Training: </a:t>
            </a:r>
            <a:r>
              <a:rPr lang="de-DE" b="1" dirty="0" err="1">
                <a:latin typeface="Arial"/>
                <a:cs typeface="Arial"/>
              </a:rPr>
              <a:t>Pre-trained</a:t>
            </a:r>
            <a:r>
              <a:rPr lang="de-DE" b="1" dirty="0">
                <a:latin typeface="Arial"/>
                <a:cs typeface="Arial"/>
              </a:rPr>
              <a:t> Models</a:t>
            </a:r>
            <a:endParaRPr lang="en-US" dirty="0">
              <a:cs typeface="Arial"/>
            </a:endParaRPr>
          </a:p>
        </p:txBody>
      </p:sp>
      <p:sp>
        <p:nvSpPr>
          <p:cNvPr id="8" name="Content Placeholder 7">
            <a:extLst>
              <a:ext uri="{FF2B5EF4-FFF2-40B4-BE49-F238E27FC236}">
                <a16:creationId xmlns:a16="http://schemas.microsoft.com/office/drawing/2014/main" id="{6873F395-87F4-4E6F-2BA2-79EF75823C79}"/>
              </a:ext>
            </a:extLst>
          </p:cNvPr>
          <p:cNvSpPr>
            <a:spLocks noGrp="1"/>
          </p:cNvSpPr>
          <p:nvPr>
            <p:ph idx="1"/>
          </p:nvPr>
        </p:nvSpPr>
        <p:spPr/>
        <p:txBody>
          <a:bodyPr/>
          <a:lstStyle/>
          <a:p>
            <a:pPr marL="0" indent="0">
              <a:buNone/>
            </a:pPr>
            <a:endParaRPr lang="en-US" b="1" dirty="0"/>
          </a:p>
          <a:p>
            <a:pPr marL="271145" indent="-271145"/>
            <a:r>
              <a:rPr lang="en-US" b="1" dirty="0" err="1">
                <a:latin typeface="Arial"/>
                <a:cs typeface="Arial"/>
              </a:rPr>
              <a:t>Tensorflow</a:t>
            </a:r>
            <a:r>
              <a:rPr lang="en-US" b="1" dirty="0">
                <a:latin typeface="Arial"/>
                <a:cs typeface="Arial"/>
              </a:rPr>
              <a:t> Object Detection (TFOD) Model Zoo</a:t>
            </a:r>
            <a:endParaRPr lang="en-US" dirty="0">
              <a:latin typeface="Arial"/>
              <a:cs typeface="Arial"/>
            </a:endParaRPr>
          </a:p>
          <a:p>
            <a:pPr marL="742315" lvl="1" indent="-285115">
              <a:buFont typeface="Courier New,monospace"/>
              <a:buChar char="o"/>
            </a:pPr>
            <a:r>
              <a:rPr lang="en-US" dirty="0">
                <a:latin typeface="Arial"/>
                <a:cs typeface="Arial"/>
              </a:rPr>
              <a:t>Single Shot Detector (SSD) </a:t>
            </a:r>
            <a:r>
              <a:rPr lang="en-US" dirty="0" err="1">
                <a:latin typeface="Arial"/>
                <a:cs typeface="Arial"/>
              </a:rPr>
              <a:t>MobileNet</a:t>
            </a:r>
            <a:r>
              <a:rPr lang="en-US" dirty="0">
                <a:latin typeface="Arial"/>
                <a:cs typeface="Arial"/>
              </a:rPr>
              <a:t> V2 </a:t>
            </a:r>
            <a:r>
              <a:rPr lang="en-US" dirty="0" err="1">
                <a:latin typeface="Arial"/>
                <a:cs typeface="Arial"/>
              </a:rPr>
              <a:t>FPNLite</a:t>
            </a:r>
            <a:r>
              <a:rPr lang="en-US" dirty="0">
                <a:latin typeface="Arial"/>
                <a:cs typeface="Arial"/>
              </a:rPr>
              <a:t> 640x640</a:t>
            </a:r>
          </a:p>
          <a:p>
            <a:pPr marL="742315" lvl="1" indent="-285115">
              <a:buFont typeface="Courier New,monospace"/>
              <a:buChar char="o"/>
            </a:pPr>
            <a:r>
              <a:rPr lang="en-US" dirty="0" err="1">
                <a:latin typeface="Arial"/>
                <a:cs typeface="Arial"/>
              </a:rPr>
              <a:t>EfficientDet</a:t>
            </a:r>
            <a:endParaRPr lang="en-US" dirty="0"/>
          </a:p>
          <a:p>
            <a:pPr marL="271145" indent="-271145"/>
            <a:r>
              <a:rPr lang="en-US" b="1" dirty="0">
                <a:latin typeface="Arial"/>
                <a:cs typeface="Arial"/>
              </a:rPr>
              <a:t>You Only Look Once (YOLO)</a:t>
            </a:r>
            <a:endParaRPr lang="zh-TW" altLang="en-US" dirty="0">
              <a:latin typeface="Arial"/>
              <a:cs typeface="Arial"/>
            </a:endParaRPr>
          </a:p>
          <a:p>
            <a:pPr marL="742315" lvl="1" indent="-285115">
              <a:buFont typeface="Courier New,monospace"/>
              <a:buChar char="o"/>
            </a:pPr>
            <a:r>
              <a:rPr lang="en-US" dirty="0">
                <a:latin typeface="Arial"/>
                <a:cs typeface="Arial"/>
              </a:rPr>
              <a:t>YOLOv8 family (n, s, m, l, x)</a:t>
            </a:r>
            <a:endParaRPr lang="en-US" dirty="0"/>
          </a:p>
          <a:p>
            <a:pPr marL="271145" indent="-271145"/>
            <a:r>
              <a:rPr lang="en-US" dirty="0">
                <a:latin typeface="Arial"/>
                <a:cs typeface="Arial"/>
              </a:rPr>
              <a:t>Pre-trained on the COCO dataset</a:t>
            </a:r>
            <a:endParaRPr lang="en-US" dirty="0"/>
          </a:p>
          <a:p>
            <a:pPr marL="742315" lvl="1" indent="-285115">
              <a:buFont typeface="Courier New"/>
              <a:buChar char="o"/>
            </a:pPr>
            <a:endParaRPr lang="en-US" dirty="0"/>
          </a:p>
        </p:txBody>
      </p:sp>
    </p:spTree>
    <p:extLst>
      <p:ext uri="{BB962C8B-B14F-4D97-AF65-F5344CB8AC3E}">
        <p14:creationId xmlns:p14="http://schemas.microsoft.com/office/powerpoint/2010/main" val="8135512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aset Collec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dirty="0" err="1">
                <a:latin typeface="Arial"/>
                <a:cs typeface="Arial"/>
              </a:rPr>
              <a:t>Methodology</a:t>
            </a:r>
            <a:endParaRPr lang="de-DE" b="0" dirty="0" err="1">
              <a:solidFill>
                <a:srgbClr val="000000"/>
              </a:solidFill>
              <a:latin typeface="Arial"/>
              <a:cs typeface="Arial"/>
            </a:endParaRPr>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22</a:t>
            </a:fld>
            <a:endParaRPr lang="de-DE"/>
          </a:p>
        </p:txBody>
      </p:sp>
      <p:sp>
        <p:nvSpPr>
          <p:cNvPr id="7" name="Rectangle 4">
            <a:extLst>
              <a:ext uri="{FF2B5EF4-FFF2-40B4-BE49-F238E27FC236}">
                <a16:creationId xmlns:a16="http://schemas.microsoft.com/office/drawing/2014/main" id="{73F6066D-CF0E-9F53-250C-72748FCCD813}"/>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a:latin typeface="Arial"/>
                <a:cs typeface="Arial"/>
              </a:rPr>
              <a:t>Evaluation </a:t>
            </a:r>
            <a:r>
              <a:rPr lang="de-DE" b="1" err="1">
                <a:latin typeface="Arial"/>
                <a:cs typeface="Arial"/>
              </a:rPr>
              <a:t>Metrics</a:t>
            </a:r>
            <a:endParaRPr lang="de-DE" b="1" err="1">
              <a:cs typeface="Arial"/>
            </a:endParaRPr>
          </a:p>
        </p:txBody>
      </p:sp>
      <p:sp>
        <p:nvSpPr>
          <p:cNvPr id="8" name="Content Placeholder 7">
            <a:extLst>
              <a:ext uri="{FF2B5EF4-FFF2-40B4-BE49-F238E27FC236}">
                <a16:creationId xmlns:a16="http://schemas.microsoft.com/office/drawing/2014/main" id="{6873F395-87F4-4E6F-2BA2-79EF75823C79}"/>
              </a:ext>
            </a:extLst>
          </p:cNvPr>
          <p:cNvSpPr>
            <a:spLocks noGrp="1"/>
          </p:cNvSpPr>
          <p:nvPr>
            <p:ph idx="1"/>
          </p:nvPr>
        </p:nvSpPr>
        <p:spPr/>
        <p:txBody>
          <a:bodyPr/>
          <a:lstStyle/>
          <a:p>
            <a:pPr marL="271145" indent="-271145"/>
            <a:endParaRPr lang="en-US">
              <a:latin typeface="Arial"/>
              <a:cs typeface="Arial"/>
            </a:endParaRPr>
          </a:p>
          <a:p>
            <a:pPr marL="271145" indent="-271145"/>
            <a:r>
              <a:rPr lang="en-US">
                <a:latin typeface="Arial"/>
                <a:cs typeface="Arial"/>
              </a:rPr>
              <a:t>Mean average precision (</a:t>
            </a:r>
            <a:r>
              <a:rPr lang="en-US" err="1">
                <a:latin typeface="Arial"/>
                <a:cs typeface="Arial"/>
              </a:rPr>
              <a:t>mAP</a:t>
            </a:r>
            <a:r>
              <a:rPr lang="en-US">
                <a:latin typeface="Arial"/>
                <a:cs typeface="Arial"/>
              </a:rPr>
              <a:t>)</a:t>
            </a:r>
            <a:endParaRPr lang="en-US"/>
          </a:p>
          <a:p>
            <a:pPr marL="271145" indent="-271145"/>
            <a:r>
              <a:rPr lang="en-US">
                <a:latin typeface="Arial"/>
                <a:cs typeface="Arial"/>
              </a:rPr>
              <a:t>Inference speed</a:t>
            </a:r>
          </a:p>
          <a:p>
            <a:pPr marL="271145" indent="-271145"/>
            <a:r>
              <a:rPr lang="en-US">
                <a:latin typeface="Arial"/>
                <a:cs typeface="Arial"/>
              </a:rPr>
              <a:t>Training time</a:t>
            </a:r>
          </a:p>
          <a:p>
            <a:pPr marL="271145" indent="-271145"/>
            <a:r>
              <a:rPr lang="en-US">
                <a:latin typeface="Arial"/>
                <a:cs typeface="Arial"/>
              </a:rPr>
              <a:t>(Ease of installation)</a:t>
            </a:r>
            <a:endParaRPr lang="en-US"/>
          </a:p>
          <a:p>
            <a:pPr marL="271145" indent="-271145"/>
            <a:endParaRPr lang="en-US"/>
          </a:p>
          <a:p>
            <a:pPr marL="271145" indent="-271145"/>
            <a:endParaRPr lang="en-US"/>
          </a:p>
          <a:p>
            <a:pPr marL="271145" indent="-271145"/>
            <a:endParaRPr lang="en-US"/>
          </a:p>
        </p:txBody>
      </p:sp>
    </p:spTree>
    <p:extLst>
      <p:ext uri="{BB962C8B-B14F-4D97-AF65-F5344CB8AC3E}">
        <p14:creationId xmlns:p14="http://schemas.microsoft.com/office/powerpoint/2010/main" val="1666009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aset Collec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dirty="0" err="1">
                <a:latin typeface="Arial"/>
                <a:cs typeface="Arial"/>
              </a:rPr>
              <a:t>Methodology</a:t>
            </a:r>
            <a:endParaRPr lang="de-DE" b="0" dirty="0" err="1">
              <a:solidFill>
                <a:srgbClr val="000000"/>
              </a:solidFill>
              <a:latin typeface="Arial"/>
              <a:cs typeface="Arial"/>
            </a:endParaRPr>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23</a:t>
            </a:fld>
            <a:endParaRPr lang="de-DE"/>
          </a:p>
        </p:txBody>
      </p:sp>
      <p:sp>
        <p:nvSpPr>
          <p:cNvPr id="6" name="Rectangle 4">
            <a:extLst>
              <a:ext uri="{FF2B5EF4-FFF2-40B4-BE49-F238E27FC236}">
                <a16:creationId xmlns:a16="http://schemas.microsoft.com/office/drawing/2014/main" id="{ED06F6C4-0B28-DF9C-D886-45C6D10E5631}"/>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dirty="0">
                <a:latin typeface="Arial"/>
                <a:cs typeface="Arial"/>
              </a:rPr>
              <a:t>Model Export: Open </a:t>
            </a:r>
            <a:r>
              <a:rPr lang="de-DE" b="1" dirty="0" err="1">
                <a:latin typeface="Arial"/>
                <a:cs typeface="Arial"/>
              </a:rPr>
              <a:t>Neural</a:t>
            </a:r>
            <a:r>
              <a:rPr lang="de-DE" b="1" dirty="0">
                <a:latin typeface="Arial"/>
                <a:cs typeface="Arial"/>
              </a:rPr>
              <a:t> Network </a:t>
            </a:r>
            <a:r>
              <a:rPr lang="de-DE" b="1" dirty="0">
                <a:solidFill>
                  <a:srgbClr val="000000"/>
                </a:solidFill>
                <a:latin typeface="Arial"/>
                <a:cs typeface="Arial"/>
              </a:rPr>
              <a:t>Exchange (ONNX)</a:t>
            </a:r>
            <a:endParaRPr lang="en-US" dirty="0" err="1">
              <a:cs typeface="Arial"/>
            </a:endParaRPr>
          </a:p>
        </p:txBody>
      </p:sp>
      <p:sp>
        <p:nvSpPr>
          <p:cNvPr id="5" name="內容版面配置區 4">
            <a:extLst>
              <a:ext uri="{FF2B5EF4-FFF2-40B4-BE49-F238E27FC236}">
                <a16:creationId xmlns:a16="http://schemas.microsoft.com/office/drawing/2014/main" id="{74AF7A97-CC88-8437-8FF7-01D5561B3C9A}"/>
              </a:ext>
            </a:extLst>
          </p:cNvPr>
          <p:cNvSpPr>
            <a:spLocks noGrp="1"/>
          </p:cNvSpPr>
          <p:nvPr>
            <p:ph idx="1"/>
          </p:nvPr>
        </p:nvSpPr>
        <p:spPr/>
        <p:txBody>
          <a:bodyPr/>
          <a:lstStyle/>
          <a:p>
            <a:pPr marL="271145" indent="-271145"/>
            <a:r>
              <a:rPr lang="zh-TW" altLang="en-US" dirty="0">
                <a:latin typeface="Arial"/>
                <a:ea typeface="新細明體"/>
                <a:cs typeface="Arial"/>
              </a:rPr>
              <a:t>Open source project originally developed by Microsoft and Facebook</a:t>
            </a:r>
            <a:endParaRPr lang="zh-TW" altLang="en-US" dirty="0">
              <a:ea typeface="新細明體" panose="02020500000000000000" pitchFamily="18" charset="-120"/>
            </a:endParaRPr>
          </a:p>
          <a:p>
            <a:pPr marL="271145" indent="-271145"/>
            <a:r>
              <a:rPr lang="zh-TW" dirty="0">
                <a:latin typeface="Arial"/>
                <a:ea typeface="新細明體"/>
                <a:cs typeface="Arial"/>
              </a:rPr>
              <a:t>Allows model conversion between different frameworks (e.g., PyTorch, TensorFlow).</a:t>
            </a:r>
            <a:r>
              <a:rPr lang="zh-TW" altLang="en-US" dirty="0">
                <a:latin typeface="Arial"/>
                <a:ea typeface="新細明體"/>
                <a:cs typeface="Arial"/>
              </a:rPr>
              <a:t> </a:t>
            </a:r>
            <a:endParaRPr lang="zh-TW" altLang="en-US" dirty="0">
              <a:ea typeface="新細明體"/>
            </a:endParaRPr>
          </a:p>
          <a:p>
            <a:pPr marL="271145" indent="-271145"/>
            <a:r>
              <a:rPr lang="zh-TW" b="1" dirty="0">
                <a:latin typeface="Arial"/>
                <a:ea typeface="新細明體"/>
                <a:cs typeface="Arial"/>
              </a:rPr>
              <a:t>Improves inference speed on CPU</a:t>
            </a:r>
            <a:r>
              <a:rPr lang="zh-TW" dirty="0">
                <a:latin typeface="Arial"/>
                <a:ea typeface="新細明體"/>
                <a:cs typeface="Arial"/>
              </a:rPr>
              <a:t> by converting models to ONNX</a:t>
            </a:r>
            <a:r>
              <a:rPr lang="en-US" altLang="zh-TW" dirty="0">
                <a:latin typeface="Arial"/>
                <a:ea typeface="新細明體"/>
                <a:cs typeface="Arial"/>
              </a:rPr>
              <a:t> without sacrificing the accuracy</a:t>
            </a:r>
            <a:r>
              <a:rPr lang="zh-TW" dirty="0">
                <a:latin typeface="Arial"/>
                <a:ea typeface="新細明體"/>
                <a:cs typeface="Arial"/>
              </a:rPr>
              <a:t>.</a:t>
            </a:r>
            <a:endParaRPr lang="zh-TW" altLang="en-US" dirty="0">
              <a:latin typeface="Arial"/>
              <a:ea typeface="新細明體"/>
              <a:cs typeface="Arial"/>
            </a:endParaRPr>
          </a:p>
          <a:p>
            <a:pPr marL="271145" indent="-271145"/>
            <a:endParaRPr lang="zh-TW" altLang="en-US" dirty="0">
              <a:ea typeface="新細明體"/>
            </a:endParaRPr>
          </a:p>
        </p:txBody>
      </p:sp>
      <p:pic>
        <p:nvPicPr>
          <p:cNvPr id="8" name="!!Dataset Collection" descr="Introduction to ONNX - ONNX 1.18.0 documentation">
            <a:extLst>
              <a:ext uri="{FF2B5EF4-FFF2-40B4-BE49-F238E27FC236}">
                <a16:creationId xmlns:a16="http://schemas.microsoft.com/office/drawing/2014/main" id="{295EE452-6B92-C899-E2C8-782A95F0A797}"/>
              </a:ext>
            </a:extLst>
          </p:cNvPr>
          <p:cNvPicPr>
            <a:picLocks noChangeAspect="1"/>
          </p:cNvPicPr>
          <p:nvPr/>
        </p:nvPicPr>
        <p:blipFill>
          <a:blip r:embed="rId3"/>
          <a:stretch>
            <a:fillRect/>
          </a:stretch>
        </p:blipFill>
        <p:spPr>
          <a:xfrm>
            <a:off x="2887055" y="3868393"/>
            <a:ext cx="5719983" cy="1585252"/>
          </a:xfrm>
          <a:prstGeom prst="rect">
            <a:avLst/>
          </a:prstGeom>
        </p:spPr>
      </p:pic>
      <p:sp>
        <p:nvSpPr>
          <p:cNvPr id="10" name="TextBox 5">
            <a:extLst>
              <a:ext uri="{FF2B5EF4-FFF2-40B4-BE49-F238E27FC236}">
                <a16:creationId xmlns:a16="http://schemas.microsoft.com/office/drawing/2014/main" id="{4F61DB30-8E5E-DAD6-3503-9FB2C38DF988}"/>
              </a:ext>
            </a:extLst>
          </p:cNvPr>
          <p:cNvSpPr txBox="1"/>
          <p:nvPr/>
        </p:nvSpPr>
        <p:spPr>
          <a:xfrm>
            <a:off x="4875199" y="5514866"/>
            <a:ext cx="175009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BABABA"/>
                </a:solidFill>
                <a:latin typeface="Arial"/>
                <a:cs typeface="Arial"/>
              </a:rPr>
              <a:t>Source: https://onnx.ai/</a:t>
            </a:r>
            <a:endParaRPr lang="en-US" sz="1200">
              <a:solidFill>
                <a:srgbClr val="BABABA"/>
              </a:solidFill>
              <a:cs typeface="Arial"/>
            </a:endParaRPr>
          </a:p>
        </p:txBody>
      </p:sp>
    </p:spTree>
    <p:extLst>
      <p:ext uri="{BB962C8B-B14F-4D97-AF65-F5344CB8AC3E}">
        <p14:creationId xmlns:p14="http://schemas.microsoft.com/office/powerpoint/2010/main" val="193734244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Foliennummernplatzhalter 5"/>
          <p:cNvSpPr>
            <a:spLocks noGrp="1"/>
          </p:cNvSpPr>
          <p:nvPr>
            <p:ph type="sldNum" sz="quarter" idx="12"/>
          </p:nvPr>
        </p:nvSpPr>
        <p:spPr>
          <a:noFill/>
        </p:spPr>
        <p:txBody>
          <a:bodyPr/>
          <a:lstStyle/>
          <a:p>
            <a:fld id="{4ACCD8DA-ADF9-4473-9BD1-76EC6243D444}" type="slidenum">
              <a:rPr lang="de-DE" smtClean="0"/>
              <a:pPr/>
              <a:t>24</a:t>
            </a:fld>
            <a:endParaRPr lang="de-DE"/>
          </a:p>
        </p:txBody>
      </p:sp>
      <p:sp>
        <p:nvSpPr>
          <p:cNvPr id="4100" name="!!thesis title"/>
          <p:cNvSpPr>
            <a:spLocks noGrp="1"/>
          </p:cNvSpPr>
          <p:nvPr>
            <p:ph type="title"/>
          </p:nvPr>
        </p:nvSpPr>
        <p:spPr/>
        <p:txBody>
          <a:bodyPr/>
          <a:lstStyle/>
          <a:p>
            <a:pPr eaLnBrk="1" hangingPunct="1"/>
            <a:r>
              <a:rPr lang="de-DE">
                <a:latin typeface="Arial" charset="0"/>
                <a:cs typeface="Arial" charset="0"/>
              </a:rPr>
              <a:t>Agenda</a:t>
            </a:r>
          </a:p>
        </p:txBody>
      </p:sp>
      <p:sp>
        <p:nvSpPr>
          <p:cNvPr id="4101" name="!!Introduction"/>
          <p:cNvSpPr>
            <a:spLocks noGrp="1"/>
          </p:cNvSpPr>
          <p:nvPr>
            <p:ph type="body" idx="1"/>
          </p:nvPr>
        </p:nvSpPr>
        <p:spPr>
          <a:xfrm>
            <a:off x="909896" y="1719754"/>
            <a:ext cx="10574399" cy="574655"/>
          </a:xfrm>
        </p:spPr>
        <p:txBody>
          <a:bodyPr/>
          <a:lstStyle/>
          <a:p>
            <a:pPr marL="271145" indent="-271145" eaLnBrk="1" hangingPunct="1">
              <a:lnSpc>
                <a:spcPct val="200000"/>
              </a:lnSpc>
            </a:pPr>
            <a:r>
              <a:rPr lang="de-DE" err="1">
                <a:latin typeface="Arial"/>
                <a:cs typeface="Arial"/>
              </a:rPr>
              <a:t>Introduction</a:t>
            </a:r>
            <a:endParaRPr lang="de-DE" err="1">
              <a:latin typeface="Arial" charset="0"/>
              <a:cs typeface="Arial" charset="0"/>
            </a:endParaRPr>
          </a:p>
        </p:txBody>
      </p:sp>
      <p:sp>
        <p:nvSpPr>
          <p:cNvPr id="4" name="!!Dataset Collection">
            <a:extLst>
              <a:ext uri="{FF2B5EF4-FFF2-40B4-BE49-F238E27FC236}">
                <a16:creationId xmlns:a16="http://schemas.microsoft.com/office/drawing/2014/main" id="{B8F86B42-C014-8372-E127-0788B6B341D0}"/>
              </a:ext>
            </a:extLst>
          </p:cNvPr>
          <p:cNvSpPr txBox="1">
            <a:spLocks/>
          </p:cNvSpPr>
          <p:nvPr/>
        </p:nvSpPr>
        <p:spPr bwMode="auto">
          <a:xfrm>
            <a:off x="903958" y="229768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3"/>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4"/>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dirty="0" err="1">
                <a:latin typeface="Arial"/>
                <a:cs typeface="Arial"/>
              </a:rPr>
              <a:t>Methodology</a:t>
            </a:r>
            <a:endParaRPr lang="en-US" dirty="0"/>
          </a:p>
          <a:p>
            <a:pPr marL="271145" indent="-271145">
              <a:lnSpc>
                <a:spcPct val="200000"/>
              </a:lnSpc>
            </a:pPr>
            <a:endParaRPr lang="de-DE" dirty="0">
              <a:latin typeface="Arial" charset="0"/>
              <a:cs typeface="Arial" charset="0"/>
            </a:endParaRPr>
          </a:p>
          <a:p>
            <a:pPr marL="271145" indent="-271145">
              <a:lnSpc>
                <a:spcPct val="200000"/>
              </a:lnSpc>
            </a:pPr>
            <a:endParaRPr lang="de-DE" dirty="0">
              <a:latin typeface="Arial" charset="0"/>
              <a:cs typeface="Arial" charset="0"/>
            </a:endParaRPr>
          </a:p>
        </p:txBody>
      </p:sp>
      <p:sp>
        <p:nvSpPr>
          <p:cNvPr id="8" name="!!Performance Evaluation">
            <a:extLst>
              <a:ext uri="{FF2B5EF4-FFF2-40B4-BE49-F238E27FC236}">
                <a16:creationId xmlns:a16="http://schemas.microsoft.com/office/drawing/2014/main" id="{B14C5E6F-6622-39FF-243A-A0581C1C9E5C}"/>
              </a:ext>
            </a:extLst>
          </p:cNvPr>
          <p:cNvSpPr txBox="1">
            <a:spLocks/>
          </p:cNvSpPr>
          <p:nvPr/>
        </p:nvSpPr>
        <p:spPr bwMode="auto">
          <a:xfrm>
            <a:off x="912417" y="2859649"/>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3"/>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4"/>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b="1" dirty="0" err="1">
                <a:latin typeface="Arial"/>
                <a:cs typeface="Arial"/>
              </a:rPr>
              <a:t>Results</a:t>
            </a:r>
            <a:endParaRPr lang="en-US" b="1" dirty="0" err="1"/>
          </a:p>
        </p:txBody>
      </p:sp>
      <p:sp>
        <p:nvSpPr>
          <p:cNvPr id="10" name="!!Conclusion">
            <a:extLst>
              <a:ext uri="{FF2B5EF4-FFF2-40B4-BE49-F238E27FC236}">
                <a16:creationId xmlns:a16="http://schemas.microsoft.com/office/drawing/2014/main" id="{9ABC9B59-1D6B-BFA5-120E-7C52FD0A4394}"/>
              </a:ext>
            </a:extLst>
          </p:cNvPr>
          <p:cNvSpPr txBox="1">
            <a:spLocks/>
          </p:cNvSpPr>
          <p:nvPr/>
        </p:nvSpPr>
        <p:spPr bwMode="auto">
          <a:xfrm>
            <a:off x="916918" y="3448021"/>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3"/>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4"/>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err="1">
                <a:latin typeface="Arial"/>
                <a:cs typeface="Arial"/>
              </a:rPr>
              <a:t>Conclusion</a:t>
            </a:r>
            <a:r>
              <a:rPr lang="de-DE">
                <a:latin typeface="Arial"/>
                <a:cs typeface="Arial"/>
              </a:rPr>
              <a:t> and Future Work</a:t>
            </a:r>
          </a:p>
          <a:p>
            <a:pPr marL="271145" indent="-271145">
              <a:lnSpc>
                <a:spcPct val="200000"/>
              </a:lnSpc>
            </a:pPr>
            <a:endParaRPr lang="de-DE">
              <a:latin typeface="Arial" charset="0"/>
              <a:cs typeface="Arial" charset="0"/>
            </a:endParaRPr>
          </a:p>
        </p:txBody>
      </p:sp>
      <p:pic>
        <p:nvPicPr>
          <p:cNvPr id="5" name="Grafik 4" descr="Ein Bild, das Text, Screenshot, Grafikdesign, Grafiken enthält.&#10;&#10;Beschreibung automatisch generiert.">
            <a:extLst>
              <a:ext uri="{FF2B5EF4-FFF2-40B4-BE49-F238E27FC236}">
                <a16:creationId xmlns:a16="http://schemas.microsoft.com/office/drawing/2014/main" id="{C1E87D55-8F82-7785-C532-3347F040AED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05744" y="2010433"/>
            <a:ext cx="6372225" cy="2876550"/>
          </a:xfrm>
          <a:prstGeom prst="rect">
            <a:avLst/>
          </a:prstGeom>
        </p:spPr>
      </p:pic>
    </p:spTree>
    <p:extLst>
      <p:ext uri="{BB962C8B-B14F-4D97-AF65-F5344CB8AC3E}">
        <p14:creationId xmlns:p14="http://schemas.microsoft.com/office/powerpoint/2010/main" val="374770256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erformance Evalua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dirty="0" err="1">
                <a:latin typeface="Arial"/>
                <a:cs typeface="Arial"/>
              </a:rPr>
              <a:t>Results</a:t>
            </a:r>
            <a:endParaRPr lang="de-DE" b="0" dirty="0" err="1">
              <a:solidFill>
                <a:srgbClr val="000000"/>
              </a:solidFill>
              <a:latin typeface="Arial"/>
              <a:cs typeface="Arial"/>
            </a:endParaRPr>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25</a:t>
            </a:fld>
            <a:endParaRPr lang="de-DE"/>
          </a:p>
        </p:txBody>
      </p:sp>
      <p:sp>
        <p:nvSpPr>
          <p:cNvPr id="7" name="Rectangle 4">
            <a:extLst>
              <a:ext uri="{FF2B5EF4-FFF2-40B4-BE49-F238E27FC236}">
                <a16:creationId xmlns:a16="http://schemas.microsoft.com/office/drawing/2014/main" id="{73F6066D-CF0E-9F53-250C-72748FCCD813}"/>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dirty="0">
                <a:latin typeface="Arial"/>
                <a:cs typeface="Arial"/>
              </a:rPr>
              <a:t>Preliminary Model Comparison and Selection</a:t>
            </a:r>
            <a:endParaRPr lang="de-DE" b="1" dirty="0">
              <a:cs typeface="Arial"/>
            </a:endParaRPr>
          </a:p>
        </p:txBody>
      </p:sp>
      <p:pic>
        <p:nvPicPr>
          <p:cNvPr id="10" name="Content Placeholder 9" descr="A graph of a graph&#10;&#10;Description automatically generated">
            <a:extLst>
              <a:ext uri="{FF2B5EF4-FFF2-40B4-BE49-F238E27FC236}">
                <a16:creationId xmlns:a16="http://schemas.microsoft.com/office/drawing/2014/main" id="{8F45C642-3793-4CE7-B79C-3B1270C11BB1}"/>
              </a:ext>
            </a:extLst>
          </p:cNvPr>
          <p:cNvPicPr>
            <a:picLocks noGrp="1" noChangeAspect="1"/>
          </p:cNvPicPr>
          <p:nvPr>
            <p:ph idx="1"/>
          </p:nvPr>
        </p:nvPicPr>
        <p:blipFill>
          <a:blip r:embed="rId3"/>
          <a:stretch>
            <a:fillRect/>
          </a:stretch>
        </p:blipFill>
        <p:spPr>
          <a:xfrm>
            <a:off x="5416879" y="2132690"/>
            <a:ext cx="5670590" cy="3983039"/>
          </a:xfrm>
          <a:effectLst>
            <a:outerShdw blurRad="50800" dist="38100" dir="2700000">
              <a:srgbClr val="000000">
                <a:alpha val="40000"/>
              </a:srgbClr>
            </a:outerShdw>
          </a:effectLst>
        </p:spPr>
      </p:pic>
      <p:sp>
        <p:nvSpPr>
          <p:cNvPr id="5" name="Content Placeholder 7">
            <a:extLst>
              <a:ext uri="{FF2B5EF4-FFF2-40B4-BE49-F238E27FC236}">
                <a16:creationId xmlns:a16="http://schemas.microsoft.com/office/drawing/2014/main" id="{0589D5B6-78A9-BF3E-1EC6-3A67B60B965D}"/>
              </a:ext>
            </a:extLst>
          </p:cNvPr>
          <p:cNvSpPr txBox="1">
            <a:spLocks/>
          </p:cNvSpPr>
          <p:nvPr/>
        </p:nvSpPr>
        <p:spPr bwMode="auto">
          <a:xfrm>
            <a:off x="857252" y="2132690"/>
            <a:ext cx="4560256" cy="39830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4"/>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5"/>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en-US" b="1">
                <a:latin typeface="Arial"/>
                <a:cs typeface="Arial"/>
              </a:rPr>
              <a:t>YOLOv8n out-performs SSD</a:t>
            </a:r>
            <a:r>
              <a:rPr lang="en-US">
                <a:latin typeface="Arial"/>
                <a:cs typeface="Arial"/>
              </a:rPr>
              <a:t> in all metrics</a:t>
            </a:r>
          </a:p>
          <a:p>
            <a:pPr marL="271145" indent="-271145"/>
            <a:r>
              <a:rPr lang="en-US">
                <a:latin typeface="Arial"/>
                <a:cs typeface="Arial"/>
              </a:rPr>
              <a:t>Performance of SSD was also reduced after introduced an additional class</a:t>
            </a:r>
            <a:endParaRPr lang="en-US"/>
          </a:p>
          <a:p>
            <a:pPr marL="271145" indent="-271145"/>
            <a:r>
              <a:rPr lang="en-US">
                <a:latin typeface="Arial"/>
                <a:cs typeface="Arial"/>
              </a:rPr>
              <a:t>Further training attempts were conducted on all the models from the </a:t>
            </a:r>
            <a:r>
              <a:rPr lang="en-US" b="1">
                <a:latin typeface="Arial"/>
                <a:cs typeface="Arial"/>
              </a:rPr>
              <a:t>YOLOv8 family</a:t>
            </a:r>
            <a:endParaRPr lang="en-US" b="1"/>
          </a:p>
          <a:p>
            <a:pPr marL="271145" indent="-271145"/>
            <a:endParaRPr lang="en-US"/>
          </a:p>
          <a:p>
            <a:pPr marL="271145" indent="-271145"/>
            <a:endParaRPr lang="en-US"/>
          </a:p>
          <a:p>
            <a:pPr marL="271145" indent="-271145"/>
            <a:endParaRPr lang="en-US"/>
          </a:p>
          <a:p>
            <a:pPr marL="271145" indent="-271145"/>
            <a:endParaRPr lang="en-US"/>
          </a:p>
        </p:txBody>
      </p:sp>
      <p:sp>
        <p:nvSpPr>
          <p:cNvPr id="3" name="Rectangle 2">
            <a:extLst>
              <a:ext uri="{FF2B5EF4-FFF2-40B4-BE49-F238E27FC236}">
                <a16:creationId xmlns:a16="http://schemas.microsoft.com/office/drawing/2014/main" id="{5BA2A6C0-FA8F-BD8C-BA6C-83509F1F9504}"/>
              </a:ext>
            </a:extLst>
          </p:cNvPr>
          <p:cNvSpPr/>
          <p:nvPr/>
        </p:nvSpPr>
        <p:spPr>
          <a:xfrm>
            <a:off x="8026399" y="5604933"/>
            <a:ext cx="762000" cy="177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ea typeface="Calibri"/>
                <a:cs typeface="Calibri"/>
              </a:rPr>
              <a:t>Models</a:t>
            </a:r>
          </a:p>
        </p:txBody>
      </p:sp>
    </p:spTree>
    <p:extLst>
      <p:ext uri="{BB962C8B-B14F-4D97-AF65-F5344CB8AC3E}">
        <p14:creationId xmlns:p14="http://schemas.microsoft.com/office/powerpoint/2010/main" val="5724235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erformance Evalua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dirty="0" err="1">
                <a:latin typeface="Arial"/>
                <a:cs typeface="Arial"/>
              </a:rPr>
              <a:t>Results</a:t>
            </a:r>
            <a:endParaRPr lang="de-DE" b="0" dirty="0" err="1">
              <a:solidFill>
                <a:srgbClr val="000000"/>
              </a:solidFill>
              <a:latin typeface="Arial"/>
              <a:cs typeface="Arial"/>
            </a:endParaRPr>
          </a:p>
        </p:txBody>
      </p:sp>
      <p:pic>
        <p:nvPicPr>
          <p:cNvPr id="7" name="Content Placeholder 6" descr="A graph with numbers and letters&#10;&#10;Description automatically generated">
            <a:extLst>
              <a:ext uri="{FF2B5EF4-FFF2-40B4-BE49-F238E27FC236}">
                <a16:creationId xmlns:a16="http://schemas.microsoft.com/office/drawing/2014/main" id="{2E82959D-9FCD-C1D5-ACDF-5BC9446ED3CC}"/>
              </a:ext>
            </a:extLst>
          </p:cNvPr>
          <p:cNvPicPr>
            <a:picLocks noGrp="1" noChangeAspect="1"/>
          </p:cNvPicPr>
          <p:nvPr>
            <p:ph idx="1"/>
          </p:nvPr>
        </p:nvPicPr>
        <p:blipFill>
          <a:blip r:embed="rId3"/>
          <a:stretch>
            <a:fillRect/>
          </a:stretch>
        </p:blipFill>
        <p:spPr>
          <a:xfrm>
            <a:off x="5419842" y="2132690"/>
            <a:ext cx="5664665" cy="3983039"/>
          </a:xfrm>
          <a:effectLst>
            <a:outerShdw blurRad="50800" dist="38100" dir="2700000">
              <a:srgbClr val="000000">
                <a:alpha val="40000"/>
              </a:srgbClr>
            </a:outerShdw>
          </a:effectLst>
        </p:spPr>
      </p:pic>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26</a:t>
            </a:fld>
            <a:endParaRPr lang="de-DE"/>
          </a:p>
        </p:txBody>
      </p:sp>
      <p:sp>
        <p:nvSpPr>
          <p:cNvPr id="6" name="Rectangle 4">
            <a:extLst>
              <a:ext uri="{FF2B5EF4-FFF2-40B4-BE49-F238E27FC236}">
                <a16:creationId xmlns:a16="http://schemas.microsoft.com/office/drawing/2014/main" id="{ED06F6C4-0B28-DF9C-D886-45C6D10E5631}"/>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a:latin typeface="Arial"/>
                <a:cs typeface="Arial"/>
              </a:rPr>
              <a:t>YOLOv8 Model </a:t>
            </a:r>
            <a:r>
              <a:rPr lang="de-DE" b="1" err="1">
                <a:latin typeface="Arial"/>
                <a:cs typeface="Arial"/>
              </a:rPr>
              <a:t>Inference</a:t>
            </a:r>
            <a:r>
              <a:rPr lang="de-DE" b="1">
                <a:latin typeface="Arial"/>
                <a:cs typeface="Arial"/>
              </a:rPr>
              <a:t> Time vs. </a:t>
            </a:r>
            <a:r>
              <a:rPr lang="de-DE" b="1" err="1">
                <a:latin typeface="Arial"/>
                <a:cs typeface="Arial"/>
              </a:rPr>
              <a:t>mAP</a:t>
            </a:r>
            <a:endParaRPr lang="zh-TW" b="1" err="1">
              <a:ea typeface="新細明體"/>
              <a:cs typeface="Arial"/>
            </a:endParaRPr>
          </a:p>
        </p:txBody>
      </p:sp>
      <p:sp>
        <p:nvSpPr>
          <p:cNvPr id="5" name="Content Placeholder 7">
            <a:extLst>
              <a:ext uri="{FF2B5EF4-FFF2-40B4-BE49-F238E27FC236}">
                <a16:creationId xmlns:a16="http://schemas.microsoft.com/office/drawing/2014/main" id="{C60F60D7-9B11-1A6B-F3EE-14BDCE3DF80C}"/>
              </a:ext>
            </a:extLst>
          </p:cNvPr>
          <p:cNvSpPr txBox="1">
            <a:spLocks/>
          </p:cNvSpPr>
          <p:nvPr/>
        </p:nvSpPr>
        <p:spPr bwMode="auto">
          <a:xfrm>
            <a:off x="857252" y="2132690"/>
            <a:ext cx="4560256" cy="39830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4"/>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5"/>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en-US">
                <a:latin typeface="Arial"/>
                <a:cs typeface="Arial"/>
              </a:rPr>
              <a:t>The choice of model depends on the </a:t>
            </a:r>
            <a:r>
              <a:rPr lang="en-US" b="1">
                <a:latin typeface="Arial"/>
                <a:cs typeface="Arial"/>
              </a:rPr>
              <a:t>trade-off</a:t>
            </a:r>
            <a:r>
              <a:rPr lang="en-US">
                <a:latin typeface="Arial"/>
                <a:cs typeface="Arial"/>
              </a:rPr>
              <a:t> between </a:t>
            </a:r>
            <a:r>
              <a:rPr lang="en-US" b="1">
                <a:latin typeface="Arial"/>
                <a:cs typeface="Arial"/>
              </a:rPr>
              <a:t>speed</a:t>
            </a:r>
            <a:r>
              <a:rPr lang="en-US">
                <a:latin typeface="Arial"/>
                <a:cs typeface="Arial"/>
              </a:rPr>
              <a:t> and </a:t>
            </a:r>
            <a:r>
              <a:rPr lang="en-US" b="1">
                <a:latin typeface="Arial"/>
                <a:cs typeface="Arial"/>
              </a:rPr>
              <a:t>accuracy</a:t>
            </a:r>
            <a:endParaRPr lang="en-US" b="1"/>
          </a:p>
          <a:p>
            <a:pPr marL="271145" indent="-271145"/>
            <a:r>
              <a:rPr lang="en-US">
                <a:latin typeface="Arial"/>
                <a:cs typeface="Arial"/>
              </a:rPr>
              <a:t>The n model and the s model is more suitable for industrial environment</a:t>
            </a:r>
            <a:endParaRPr lang="en-US" err="1"/>
          </a:p>
          <a:p>
            <a:pPr marL="271145" indent="-271145"/>
            <a:endParaRPr lang="en-US"/>
          </a:p>
          <a:p>
            <a:pPr marL="271145" indent="-271145"/>
            <a:endParaRPr lang="en-US"/>
          </a:p>
          <a:p>
            <a:pPr marL="271145" indent="-271145"/>
            <a:endParaRPr lang="en-US"/>
          </a:p>
          <a:p>
            <a:pPr marL="271145" indent="-271145"/>
            <a:endParaRPr lang="en-US"/>
          </a:p>
        </p:txBody>
      </p:sp>
    </p:spTree>
    <p:extLst>
      <p:ext uri="{BB962C8B-B14F-4D97-AF65-F5344CB8AC3E}">
        <p14:creationId xmlns:p14="http://schemas.microsoft.com/office/powerpoint/2010/main" val="269590196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erformance Evalua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dirty="0" err="1">
                <a:latin typeface="Arial"/>
                <a:cs typeface="Arial"/>
              </a:rPr>
              <a:t>Results</a:t>
            </a:r>
            <a:endParaRPr lang="en-US" dirty="0" err="1"/>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27</a:t>
            </a:fld>
            <a:endParaRPr lang="de-DE"/>
          </a:p>
        </p:txBody>
      </p:sp>
      <p:sp>
        <p:nvSpPr>
          <p:cNvPr id="6" name="Rectangle 4">
            <a:extLst>
              <a:ext uri="{FF2B5EF4-FFF2-40B4-BE49-F238E27FC236}">
                <a16:creationId xmlns:a16="http://schemas.microsoft.com/office/drawing/2014/main" id="{ED06F6C4-0B28-DF9C-D886-45C6D10E5631}"/>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err="1">
                <a:latin typeface="Arial"/>
                <a:cs typeface="Arial"/>
              </a:rPr>
              <a:t>Inference</a:t>
            </a:r>
            <a:r>
              <a:rPr lang="de-DE" b="1">
                <a:latin typeface="Arial"/>
                <a:cs typeface="Arial"/>
              </a:rPr>
              <a:t> Speed </a:t>
            </a:r>
            <a:r>
              <a:rPr lang="de-DE" b="1" err="1">
                <a:latin typeface="Arial"/>
                <a:cs typeface="Arial"/>
              </a:rPr>
              <a:t>Comparison</a:t>
            </a:r>
            <a:r>
              <a:rPr lang="de-DE" b="1">
                <a:latin typeface="Arial"/>
                <a:cs typeface="Arial"/>
              </a:rPr>
              <a:t> and </a:t>
            </a:r>
            <a:r>
              <a:rPr lang="de-DE" b="1" err="1">
                <a:latin typeface="Arial"/>
                <a:cs typeface="Arial"/>
              </a:rPr>
              <a:t>Speedup</a:t>
            </a:r>
            <a:r>
              <a:rPr lang="de-DE" b="1">
                <a:latin typeface="Arial"/>
                <a:cs typeface="Arial"/>
              </a:rPr>
              <a:t> </a:t>
            </a:r>
            <a:r>
              <a:rPr lang="de-DE" b="1" err="1">
                <a:latin typeface="Arial"/>
                <a:cs typeface="Arial"/>
              </a:rPr>
              <a:t>Factors</a:t>
            </a:r>
            <a:endParaRPr lang="zh-TW" altLang="en-US" b="1" err="1">
              <a:ea typeface="新細明體"/>
              <a:cs typeface="Arial"/>
            </a:endParaRPr>
          </a:p>
        </p:txBody>
      </p:sp>
      <p:pic>
        <p:nvPicPr>
          <p:cNvPr id="9" name="Picture 8" descr="A graph of a graph with blue and green bars&#10;&#10;Description automatically generated">
            <a:extLst>
              <a:ext uri="{FF2B5EF4-FFF2-40B4-BE49-F238E27FC236}">
                <a16:creationId xmlns:a16="http://schemas.microsoft.com/office/drawing/2014/main" id="{7CA0DC54-49E2-94BA-4208-BF1D51D4A381}"/>
              </a:ext>
            </a:extLst>
          </p:cNvPr>
          <p:cNvPicPr>
            <a:picLocks noChangeAspect="1"/>
          </p:cNvPicPr>
          <p:nvPr/>
        </p:nvPicPr>
        <p:blipFill>
          <a:blip r:embed="rId3"/>
          <a:stretch>
            <a:fillRect/>
          </a:stretch>
        </p:blipFill>
        <p:spPr>
          <a:xfrm>
            <a:off x="6294547" y="2186576"/>
            <a:ext cx="4986272" cy="3977535"/>
          </a:xfrm>
          <a:prstGeom prst="rect">
            <a:avLst/>
          </a:prstGeom>
          <a:effectLst>
            <a:outerShdw blurRad="50800" dist="38100" dir="2700000">
              <a:srgbClr val="000000">
                <a:alpha val="40000"/>
              </a:srgbClr>
            </a:outerShdw>
          </a:effectLst>
        </p:spPr>
      </p:pic>
      <p:pic>
        <p:nvPicPr>
          <p:cNvPr id="7" name="Content Placeholder 6">
            <a:extLst>
              <a:ext uri="{FF2B5EF4-FFF2-40B4-BE49-F238E27FC236}">
                <a16:creationId xmlns:a16="http://schemas.microsoft.com/office/drawing/2014/main" id="{C8221CB5-21EC-5B2A-B6C6-622656AF4706}"/>
              </a:ext>
            </a:extLst>
          </p:cNvPr>
          <p:cNvPicPr>
            <a:picLocks noGrp="1" noChangeAspect="1"/>
          </p:cNvPicPr>
          <p:nvPr>
            <p:ph idx="1"/>
          </p:nvPr>
        </p:nvPicPr>
        <p:blipFill>
          <a:blip r:embed="rId4"/>
          <a:stretch>
            <a:fillRect/>
          </a:stretch>
        </p:blipFill>
        <p:spPr>
          <a:xfrm>
            <a:off x="851092" y="2184881"/>
            <a:ext cx="5282384" cy="3983039"/>
          </a:xfrm>
        </p:spPr>
      </p:pic>
    </p:spTree>
    <p:extLst>
      <p:ext uri="{BB962C8B-B14F-4D97-AF65-F5344CB8AC3E}">
        <p14:creationId xmlns:p14="http://schemas.microsoft.com/office/powerpoint/2010/main" val="204415669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Foliennummernplatzhalter 5"/>
          <p:cNvSpPr>
            <a:spLocks noGrp="1"/>
          </p:cNvSpPr>
          <p:nvPr>
            <p:ph type="sldNum" sz="quarter" idx="12"/>
          </p:nvPr>
        </p:nvSpPr>
        <p:spPr>
          <a:noFill/>
        </p:spPr>
        <p:txBody>
          <a:bodyPr/>
          <a:lstStyle/>
          <a:p>
            <a:fld id="{4ACCD8DA-ADF9-4473-9BD1-76EC6243D444}" type="slidenum">
              <a:rPr lang="de-DE" smtClean="0"/>
              <a:pPr/>
              <a:t>28</a:t>
            </a:fld>
            <a:endParaRPr lang="de-DE"/>
          </a:p>
        </p:txBody>
      </p:sp>
      <p:sp>
        <p:nvSpPr>
          <p:cNvPr id="4100" name="!!thesis title"/>
          <p:cNvSpPr>
            <a:spLocks noGrp="1"/>
          </p:cNvSpPr>
          <p:nvPr>
            <p:ph type="title"/>
          </p:nvPr>
        </p:nvSpPr>
        <p:spPr/>
        <p:txBody>
          <a:bodyPr/>
          <a:lstStyle/>
          <a:p>
            <a:pPr eaLnBrk="1" hangingPunct="1"/>
            <a:r>
              <a:rPr lang="de-DE">
                <a:latin typeface="Arial" charset="0"/>
                <a:cs typeface="Arial" charset="0"/>
              </a:rPr>
              <a:t>Agenda</a:t>
            </a:r>
          </a:p>
        </p:txBody>
      </p:sp>
      <p:sp>
        <p:nvSpPr>
          <p:cNvPr id="4101" name="!!Introduction"/>
          <p:cNvSpPr>
            <a:spLocks noGrp="1"/>
          </p:cNvSpPr>
          <p:nvPr>
            <p:ph type="body" idx="1"/>
          </p:nvPr>
        </p:nvSpPr>
        <p:spPr>
          <a:xfrm>
            <a:off x="909896" y="1719754"/>
            <a:ext cx="10574399" cy="574655"/>
          </a:xfrm>
        </p:spPr>
        <p:txBody>
          <a:bodyPr/>
          <a:lstStyle/>
          <a:p>
            <a:pPr marL="271145" indent="-271145" eaLnBrk="1" hangingPunct="1">
              <a:lnSpc>
                <a:spcPct val="200000"/>
              </a:lnSpc>
            </a:pPr>
            <a:r>
              <a:rPr lang="de-DE" err="1">
                <a:latin typeface="Arial"/>
                <a:cs typeface="Arial"/>
              </a:rPr>
              <a:t>Introduction</a:t>
            </a:r>
            <a:endParaRPr lang="de-DE" err="1">
              <a:latin typeface="Arial" charset="0"/>
              <a:cs typeface="Arial" charset="0"/>
            </a:endParaRPr>
          </a:p>
        </p:txBody>
      </p:sp>
      <p:sp>
        <p:nvSpPr>
          <p:cNvPr id="4" name="!!Dataset Collection">
            <a:extLst>
              <a:ext uri="{FF2B5EF4-FFF2-40B4-BE49-F238E27FC236}">
                <a16:creationId xmlns:a16="http://schemas.microsoft.com/office/drawing/2014/main" id="{B8F86B42-C014-8372-E127-0788B6B341D0}"/>
              </a:ext>
            </a:extLst>
          </p:cNvPr>
          <p:cNvSpPr txBox="1">
            <a:spLocks/>
          </p:cNvSpPr>
          <p:nvPr/>
        </p:nvSpPr>
        <p:spPr bwMode="auto">
          <a:xfrm>
            <a:off x="903958" y="229768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3"/>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4"/>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dirty="0" err="1">
                <a:latin typeface="Arial"/>
                <a:cs typeface="Arial"/>
              </a:rPr>
              <a:t>Methodology</a:t>
            </a:r>
            <a:endParaRPr lang="en-US" dirty="0"/>
          </a:p>
          <a:p>
            <a:pPr marL="271145" indent="-271145">
              <a:lnSpc>
                <a:spcPct val="200000"/>
              </a:lnSpc>
            </a:pPr>
            <a:endParaRPr lang="de-DE" dirty="0">
              <a:latin typeface="Arial" charset="0"/>
              <a:cs typeface="Arial" charset="0"/>
            </a:endParaRPr>
          </a:p>
          <a:p>
            <a:pPr marL="271145" indent="-271145">
              <a:lnSpc>
                <a:spcPct val="200000"/>
              </a:lnSpc>
            </a:pPr>
            <a:endParaRPr lang="de-DE" dirty="0">
              <a:latin typeface="Arial" charset="0"/>
              <a:cs typeface="Arial" charset="0"/>
            </a:endParaRPr>
          </a:p>
        </p:txBody>
      </p:sp>
      <p:sp>
        <p:nvSpPr>
          <p:cNvPr id="8" name="!!Performance Evaluation">
            <a:extLst>
              <a:ext uri="{FF2B5EF4-FFF2-40B4-BE49-F238E27FC236}">
                <a16:creationId xmlns:a16="http://schemas.microsoft.com/office/drawing/2014/main" id="{B14C5E6F-6622-39FF-243A-A0581C1C9E5C}"/>
              </a:ext>
            </a:extLst>
          </p:cNvPr>
          <p:cNvSpPr txBox="1">
            <a:spLocks/>
          </p:cNvSpPr>
          <p:nvPr/>
        </p:nvSpPr>
        <p:spPr bwMode="auto">
          <a:xfrm>
            <a:off x="912417" y="2859649"/>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3"/>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4"/>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dirty="0" err="1">
                <a:latin typeface="Arial"/>
                <a:cs typeface="Arial"/>
              </a:rPr>
              <a:t>Results</a:t>
            </a:r>
            <a:endParaRPr lang="en-US" dirty="0" err="1">
              <a:latin typeface="Arial"/>
              <a:cs typeface="Arial"/>
            </a:endParaRPr>
          </a:p>
        </p:txBody>
      </p:sp>
      <p:sp>
        <p:nvSpPr>
          <p:cNvPr id="10" name="!!Conclusion">
            <a:extLst>
              <a:ext uri="{FF2B5EF4-FFF2-40B4-BE49-F238E27FC236}">
                <a16:creationId xmlns:a16="http://schemas.microsoft.com/office/drawing/2014/main" id="{9ABC9B59-1D6B-BFA5-120E-7C52FD0A4394}"/>
              </a:ext>
            </a:extLst>
          </p:cNvPr>
          <p:cNvSpPr txBox="1">
            <a:spLocks/>
          </p:cNvSpPr>
          <p:nvPr/>
        </p:nvSpPr>
        <p:spPr bwMode="auto">
          <a:xfrm>
            <a:off x="916918" y="3448021"/>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3"/>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4"/>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b="1" dirty="0" err="1">
                <a:latin typeface="Arial"/>
                <a:cs typeface="Arial"/>
              </a:rPr>
              <a:t>Conclusion</a:t>
            </a:r>
            <a:r>
              <a:rPr lang="de-DE" b="1" dirty="0">
                <a:latin typeface="Arial"/>
                <a:cs typeface="Arial"/>
              </a:rPr>
              <a:t> and Future Work</a:t>
            </a:r>
          </a:p>
          <a:p>
            <a:pPr marL="271145" indent="-271145">
              <a:lnSpc>
                <a:spcPct val="200000"/>
              </a:lnSpc>
            </a:pPr>
            <a:endParaRPr lang="de-DE" b="1" dirty="0">
              <a:latin typeface="Arial" charset="0"/>
              <a:cs typeface="Arial" charset="0"/>
            </a:endParaRPr>
          </a:p>
        </p:txBody>
      </p:sp>
      <p:pic>
        <p:nvPicPr>
          <p:cNvPr id="5" name="Grafik 4" descr="Ein Bild, das Text, Screenshot, Grafikdesign, Grafiken enthält.&#10;&#10;Beschreibung automatisch generiert.">
            <a:extLst>
              <a:ext uri="{FF2B5EF4-FFF2-40B4-BE49-F238E27FC236}">
                <a16:creationId xmlns:a16="http://schemas.microsoft.com/office/drawing/2014/main" id="{C1E87D55-8F82-7785-C532-3347F040AED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05744" y="2010433"/>
            <a:ext cx="6372225" cy="2876550"/>
          </a:xfrm>
          <a:prstGeom prst="rect">
            <a:avLst/>
          </a:prstGeom>
        </p:spPr>
      </p:pic>
    </p:spTree>
    <p:extLst>
      <p:ext uri="{BB962C8B-B14F-4D97-AF65-F5344CB8AC3E}">
        <p14:creationId xmlns:p14="http://schemas.microsoft.com/office/powerpoint/2010/main" val="34519106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clus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err="1">
                <a:latin typeface="Arial"/>
                <a:cs typeface="Arial"/>
              </a:rPr>
              <a:t>Conclusion</a:t>
            </a:r>
            <a:r>
              <a:rPr lang="de-DE">
                <a:latin typeface="Arial"/>
                <a:cs typeface="Arial"/>
              </a:rPr>
              <a:t> and Future Work</a:t>
            </a:r>
            <a:endParaRPr lang="de-DE"/>
          </a:p>
        </p:txBody>
      </p:sp>
      <p:sp>
        <p:nvSpPr>
          <p:cNvPr id="3" name="Inhaltsplatzhalter 2">
            <a:extLst>
              <a:ext uri="{FF2B5EF4-FFF2-40B4-BE49-F238E27FC236}">
                <a16:creationId xmlns:a16="http://schemas.microsoft.com/office/drawing/2014/main" id="{EC603C8C-59B1-674B-5614-32BD467CAF07}"/>
              </a:ext>
            </a:extLst>
          </p:cNvPr>
          <p:cNvSpPr>
            <a:spLocks noGrp="1"/>
          </p:cNvSpPr>
          <p:nvPr>
            <p:ph idx="1"/>
          </p:nvPr>
        </p:nvSpPr>
        <p:spPr/>
        <p:txBody>
          <a:bodyPr/>
          <a:lstStyle/>
          <a:p>
            <a:pPr marL="271145" indent="-271145"/>
            <a:r>
              <a:rPr lang="de-DE" b="1">
                <a:latin typeface="Arial"/>
                <a:cs typeface="Arial"/>
              </a:rPr>
              <a:t>Fine-tuning YOLOv8 </a:t>
            </a:r>
            <a:r>
              <a:rPr lang="de-DE" b="1" err="1">
                <a:latin typeface="Arial"/>
                <a:cs typeface="Arial"/>
              </a:rPr>
              <a:t>models</a:t>
            </a:r>
            <a:r>
              <a:rPr lang="de-DE">
                <a:latin typeface="Arial"/>
                <a:cs typeface="Arial"/>
              </a:rPr>
              <a:t> </a:t>
            </a:r>
            <a:r>
              <a:rPr lang="de-DE" err="1">
                <a:latin typeface="Arial"/>
                <a:cs typeface="Arial"/>
              </a:rPr>
              <a:t>for</a:t>
            </a:r>
            <a:r>
              <a:rPr lang="de-DE">
                <a:latin typeface="Arial"/>
                <a:cs typeface="Arial"/>
              </a:rPr>
              <a:t> </a:t>
            </a:r>
            <a:r>
              <a:rPr lang="de-DE" err="1">
                <a:latin typeface="Arial"/>
                <a:cs typeface="Arial"/>
              </a:rPr>
              <a:t>surface</a:t>
            </a:r>
            <a:r>
              <a:rPr lang="de-DE">
                <a:latin typeface="Arial"/>
                <a:cs typeface="Arial"/>
              </a:rPr>
              <a:t> </a:t>
            </a:r>
            <a:r>
              <a:rPr lang="de-DE" err="1">
                <a:latin typeface="Arial"/>
                <a:cs typeface="Arial"/>
              </a:rPr>
              <a:t>defect</a:t>
            </a:r>
            <a:r>
              <a:rPr lang="de-DE">
                <a:latin typeface="Arial"/>
                <a:cs typeface="Arial"/>
              </a:rPr>
              <a:t> </a:t>
            </a:r>
            <a:r>
              <a:rPr lang="de-DE" err="1">
                <a:latin typeface="Arial"/>
                <a:cs typeface="Arial"/>
              </a:rPr>
              <a:t>inspection</a:t>
            </a:r>
            <a:r>
              <a:rPr lang="de-DE">
                <a:latin typeface="Arial"/>
                <a:cs typeface="Arial"/>
              </a:rPr>
              <a:t> </a:t>
            </a:r>
            <a:r>
              <a:rPr lang="de-DE" err="1">
                <a:latin typeface="Arial"/>
                <a:cs typeface="Arial"/>
              </a:rPr>
              <a:t>of</a:t>
            </a:r>
            <a:r>
              <a:rPr lang="de-DE">
                <a:latin typeface="Arial"/>
                <a:cs typeface="Arial"/>
              </a:rPr>
              <a:t> </a:t>
            </a:r>
            <a:r>
              <a:rPr lang="de-DE" err="1">
                <a:latin typeface="Arial"/>
                <a:cs typeface="Arial"/>
              </a:rPr>
              <a:t>sealing</a:t>
            </a:r>
            <a:r>
              <a:rPr lang="de-DE">
                <a:latin typeface="Arial"/>
                <a:cs typeface="Arial"/>
              </a:rPr>
              <a:t> </a:t>
            </a:r>
            <a:r>
              <a:rPr lang="de-DE" err="1">
                <a:latin typeface="Arial"/>
                <a:cs typeface="Arial"/>
              </a:rPr>
              <a:t>products</a:t>
            </a:r>
            <a:endParaRPr lang="de-DE">
              <a:latin typeface="Arial"/>
              <a:cs typeface="Arial"/>
            </a:endParaRPr>
          </a:p>
          <a:p>
            <a:pPr marL="271145" indent="-271145"/>
            <a:r>
              <a:rPr lang="de-DE">
                <a:latin typeface="Arial"/>
                <a:cs typeface="Arial"/>
              </a:rPr>
              <a:t>Development </a:t>
            </a:r>
            <a:r>
              <a:rPr lang="de-DE" err="1">
                <a:latin typeface="Arial"/>
                <a:cs typeface="Arial"/>
              </a:rPr>
              <a:t>of</a:t>
            </a:r>
            <a:r>
              <a:rPr lang="de-DE">
                <a:latin typeface="Arial"/>
                <a:cs typeface="Arial"/>
              </a:rPr>
              <a:t> a user-</a:t>
            </a:r>
            <a:r>
              <a:rPr lang="de-DE" err="1">
                <a:latin typeface="Arial"/>
                <a:cs typeface="Arial"/>
              </a:rPr>
              <a:t>friendly</a:t>
            </a:r>
            <a:r>
              <a:rPr lang="de-DE">
                <a:latin typeface="Arial"/>
                <a:cs typeface="Arial"/>
              </a:rPr>
              <a:t> </a:t>
            </a:r>
            <a:r>
              <a:rPr lang="de-DE" b="1">
                <a:latin typeface="Arial"/>
                <a:cs typeface="Arial"/>
              </a:rPr>
              <a:t>GUI</a:t>
            </a:r>
            <a:endParaRPr lang="de-DE" b="1"/>
          </a:p>
          <a:p>
            <a:pPr marL="271145" indent="-271145"/>
            <a:r>
              <a:rPr lang="de-DE">
                <a:latin typeface="Arial"/>
                <a:cs typeface="Arial"/>
              </a:rPr>
              <a:t>Establishment and </a:t>
            </a:r>
            <a:r>
              <a:rPr lang="de-DE" err="1">
                <a:latin typeface="Arial"/>
                <a:cs typeface="Arial"/>
              </a:rPr>
              <a:t>maintaining</a:t>
            </a:r>
            <a:r>
              <a:rPr lang="de-DE">
                <a:latin typeface="Arial"/>
                <a:cs typeface="Arial"/>
              </a:rPr>
              <a:t> a </a:t>
            </a:r>
            <a:r>
              <a:rPr lang="de-DE" b="1">
                <a:latin typeface="Arial"/>
                <a:cs typeface="Arial"/>
              </a:rPr>
              <a:t>GitHub </a:t>
            </a:r>
            <a:r>
              <a:rPr lang="de-DE" b="1" err="1">
                <a:latin typeface="Arial"/>
                <a:cs typeface="Arial"/>
              </a:rPr>
              <a:t>repository</a:t>
            </a:r>
            <a:endParaRPr lang="de-DE" b="1"/>
          </a:p>
          <a:p>
            <a:pPr marL="271145" indent="-271145"/>
            <a:r>
              <a:rPr lang="de-DE" b="1">
                <a:latin typeface="Arial"/>
                <a:cs typeface="Arial"/>
              </a:rPr>
              <a:t>ONNX </a:t>
            </a:r>
            <a:r>
              <a:rPr lang="de-DE" b="1" err="1">
                <a:latin typeface="Arial"/>
                <a:cs typeface="Arial"/>
              </a:rPr>
              <a:t>detection</a:t>
            </a:r>
            <a:r>
              <a:rPr lang="de-DE" b="1">
                <a:latin typeface="Arial"/>
                <a:cs typeface="Arial"/>
              </a:rPr>
              <a:t> </a:t>
            </a:r>
            <a:r>
              <a:rPr lang="de-DE" b="1" err="1">
                <a:latin typeface="Arial"/>
                <a:cs typeface="Arial"/>
              </a:rPr>
              <a:t>speed</a:t>
            </a:r>
            <a:r>
              <a:rPr lang="de-DE" b="1">
                <a:latin typeface="Arial"/>
                <a:cs typeface="Arial"/>
              </a:rPr>
              <a:t> </a:t>
            </a:r>
            <a:r>
              <a:rPr lang="de-DE" b="1" err="1">
                <a:latin typeface="Arial"/>
                <a:cs typeface="Arial"/>
              </a:rPr>
              <a:t>up</a:t>
            </a:r>
            <a:r>
              <a:rPr lang="de-DE">
                <a:latin typeface="Arial"/>
                <a:cs typeface="Arial"/>
              </a:rPr>
              <a:t> </a:t>
            </a:r>
            <a:r>
              <a:rPr lang="de-DE" err="1">
                <a:latin typeface="Arial"/>
                <a:cs typeface="Arial"/>
              </a:rPr>
              <a:t>for</a:t>
            </a:r>
            <a:r>
              <a:rPr lang="de-DE">
                <a:latin typeface="Arial"/>
                <a:cs typeface="Arial"/>
              </a:rPr>
              <a:t> CPU-</a:t>
            </a:r>
            <a:r>
              <a:rPr lang="de-DE" err="1">
                <a:latin typeface="Arial"/>
                <a:cs typeface="Arial"/>
              </a:rPr>
              <a:t>based</a:t>
            </a:r>
            <a:r>
              <a:rPr lang="de-DE">
                <a:latin typeface="Arial"/>
                <a:cs typeface="Arial"/>
              </a:rPr>
              <a:t> </a:t>
            </a:r>
            <a:r>
              <a:rPr lang="de-DE" err="1">
                <a:latin typeface="Arial"/>
                <a:cs typeface="Arial"/>
              </a:rPr>
              <a:t>detection</a:t>
            </a:r>
            <a:r>
              <a:rPr lang="de-DE">
                <a:latin typeface="Arial"/>
                <a:cs typeface="Arial"/>
              </a:rPr>
              <a:t> </a:t>
            </a:r>
            <a:r>
              <a:rPr lang="de-DE" err="1">
                <a:latin typeface="Arial"/>
                <a:cs typeface="Arial"/>
              </a:rPr>
              <a:t>tasks</a:t>
            </a:r>
            <a:endParaRPr lang="de-DE" err="1"/>
          </a:p>
          <a:p>
            <a:pPr marL="271145" indent="-271145"/>
            <a:endParaRPr lang="de-DE"/>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29</a:t>
            </a:fld>
            <a:endParaRPr lang="de-DE"/>
          </a:p>
        </p:txBody>
      </p:sp>
      <p:sp>
        <p:nvSpPr>
          <p:cNvPr id="6" name="Rectangle 4">
            <a:extLst>
              <a:ext uri="{FF2B5EF4-FFF2-40B4-BE49-F238E27FC236}">
                <a16:creationId xmlns:a16="http://schemas.microsoft.com/office/drawing/2014/main" id="{BE8206FB-15B4-1B47-18CE-0E22295CDFD8}"/>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a:latin typeface="Arial"/>
                <a:cs typeface="Arial"/>
              </a:rPr>
              <a:t>Key </a:t>
            </a:r>
            <a:r>
              <a:rPr lang="de-DE" b="1" err="1">
                <a:latin typeface="Arial"/>
                <a:cs typeface="Arial"/>
              </a:rPr>
              <a:t>Findings</a:t>
            </a:r>
            <a:r>
              <a:rPr lang="de-DE" b="1">
                <a:latin typeface="Arial"/>
                <a:cs typeface="Arial"/>
              </a:rPr>
              <a:t> &amp; </a:t>
            </a:r>
            <a:r>
              <a:rPr lang="de-DE" b="1" err="1">
                <a:latin typeface="Arial"/>
                <a:cs typeface="Arial"/>
              </a:rPr>
              <a:t>Contributions</a:t>
            </a:r>
            <a:endParaRPr lang="en-US" err="1"/>
          </a:p>
        </p:txBody>
      </p:sp>
    </p:spTree>
    <p:extLst>
      <p:ext uri="{BB962C8B-B14F-4D97-AF65-F5344CB8AC3E}">
        <p14:creationId xmlns:p14="http://schemas.microsoft.com/office/powerpoint/2010/main" val="1809979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clus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err="1">
                <a:latin typeface="Arial"/>
                <a:cs typeface="Arial"/>
              </a:rPr>
              <a:t>Conclusion</a:t>
            </a:r>
            <a:r>
              <a:rPr lang="de-DE">
                <a:latin typeface="Arial"/>
                <a:cs typeface="Arial"/>
              </a:rPr>
              <a:t> and Future Work</a:t>
            </a:r>
            <a:endParaRPr lang="de-DE"/>
          </a:p>
        </p:txBody>
      </p:sp>
      <p:sp>
        <p:nvSpPr>
          <p:cNvPr id="3" name="Inhaltsplatzhalter 2">
            <a:extLst>
              <a:ext uri="{FF2B5EF4-FFF2-40B4-BE49-F238E27FC236}">
                <a16:creationId xmlns:a16="http://schemas.microsoft.com/office/drawing/2014/main" id="{EC603C8C-59B1-674B-5614-32BD467CAF07}"/>
              </a:ext>
            </a:extLst>
          </p:cNvPr>
          <p:cNvSpPr>
            <a:spLocks noGrp="1"/>
          </p:cNvSpPr>
          <p:nvPr>
            <p:ph idx="1"/>
          </p:nvPr>
        </p:nvSpPr>
        <p:spPr>
          <a:xfrm>
            <a:off x="857252" y="2143128"/>
            <a:ext cx="10601234" cy="1177170"/>
          </a:xfrm>
        </p:spPr>
        <p:txBody>
          <a:bodyPr/>
          <a:lstStyle/>
          <a:p>
            <a:pPr marL="271145" indent="-271145"/>
            <a:r>
              <a:rPr lang="de-DE" b="1">
                <a:latin typeface="Arial"/>
                <a:cs typeface="Arial"/>
              </a:rPr>
              <a:t>Expansion </a:t>
            </a:r>
            <a:r>
              <a:rPr lang="de-DE" b="1" err="1">
                <a:latin typeface="Arial"/>
                <a:cs typeface="Arial"/>
              </a:rPr>
              <a:t>of</a:t>
            </a:r>
            <a:r>
              <a:rPr lang="de-DE" b="1">
                <a:latin typeface="Arial"/>
                <a:cs typeface="Arial"/>
              </a:rPr>
              <a:t> </a:t>
            </a:r>
            <a:r>
              <a:rPr lang="de-DE" b="1" err="1">
                <a:latin typeface="Arial"/>
                <a:cs typeface="Arial"/>
              </a:rPr>
              <a:t>datasets</a:t>
            </a:r>
            <a:r>
              <a:rPr lang="de-DE">
                <a:latin typeface="Arial"/>
                <a:cs typeface="Arial"/>
              </a:rPr>
              <a:t> </a:t>
            </a:r>
            <a:r>
              <a:rPr lang="de-DE" err="1">
                <a:latin typeface="Arial"/>
                <a:cs typeface="Arial"/>
              </a:rPr>
              <a:t>to</a:t>
            </a:r>
            <a:r>
              <a:rPr lang="de-DE">
                <a:latin typeface="Arial"/>
                <a:cs typeface="Arial"/>
              </a:rPr>
              <a:t> </a:t>
            </a:r>
            <a:r>
              <a:rPr lang="de-DE" err="1">
                <a:latin typeface="Arial"/>
                <a:cs typeface="Arial"/>
              </a:rPr>
              <a:t>increase</a:t>
            </a:r>
            <a:r>
              <a:rPr lang="de-DE">
                <a:latin typeface="Arial"/>
                <a:cs typeface="Arial"/>
              </a:rPr>
              <a:t> </a:t>
            </a:r>
            <a:r>
              <a:rPr lang="de-DE" err="1">
                <a:latin typeface="Arial"/>
                <a:cs typeface="Arial"/>
              </a:rPr>
              <a:t>the</a:t>
            </a:r>
            <a:r>
              <a:rPr lang="de-DE">
                <a:latin typeface="Arial"/>
                <a:cs typeface="Arial"/>
              </a:rPr>
              <a:t> </a:t>
            </a:r>
            <a:r>
              <a:rPr lang="de-DE" err="1">
                <a:latin typeface="Arial"/>
                <a:cs typeface="Arial"/>
              </a:rPr>
              <a:t>ability</a:t>
            </a:r>
            <a:r>
              <a:rPr lang="de-DE">
                <a:latin typeface="Arial"/>
                <a:cs typeface="Arial"/>
              </a:rPr>
              <a:t> </a:t>
            </a:r>
            <a:r>
              <a:rPr lang="de-DE" err="1">
                <a:latin typeface="Arial"/>
                <a:cs typeface="Arial"/>
              </a:rPr>
              <a:t>to</a:t>
            </a:r>
            <a:r>
              <a:rPr lang="de-DE">
                <a:latin typeface="Arial"/>
                <a:cs typeface="Arial"/>
              </a:rPr>
              <a:t> not </a:t>
            </a:r>
            <a:r>
              <a:rPr lang="de-DE" err="1">
                <a:latin typeface="Arial"/>
                <a:cs typeface="Arial"/>
              </a:rPr>
              <a:t>only</a:t>
            </a:r>
            <a:r>
              <a:rPr lang="de-DE">
                <a:latin typeface="Arial"/>
                <a:cs typeface="Arial"/>
              </a:rPr>
              <a:t> </a:t>
            </a:r>
            <a:r>
              <a:rPr lang="de-DE" err="1">
                <a:latin typeface="Arial"/>
                <a:cs typeface="Arial"/>
              </a:rPr>
              <a:t>detect</a:t>
            </a:r>
            <a:r>
              <a:rPr lang="de-DE">
                <a:latin typeface="Arial"/>
                <a:cs typeface="Arial"/>
              </a:rPr>
              <a:t> </a:t>
            </a:r>
            <a:r>
              <a:rPr lang="de-DE" err="1">
                <a:latin typeface="Arial"/>
                <a:cs typeface="Arial"/>
              </a:rPr>
              <a:t>lip</a:t>
            </a:r>
            <a:r>
              <a:rPr lang="de-DE">
                <a:latin typeface="Arial"/>
                <a:cs typeface="Arial"/>
              </a:rPr>
              <a:t> </a:t>
            </a:r>
            <a:r>
              <a:rPr lang="de-DE" err="1">
                <a:latin typeface="Arial"/>
                <a:cs typeface="Arial"/>
              </a:rPr>
              <a:t>seals</a:t>
            </a:r>
            <a:endParaRPr lang="de-DE" err="1"/>
          </a:p>
          <a:p>
            <a:pPr marL="271145" indent="-271145"/>
            <a:r>
              <a:rPr lang="de-DE" err="1">
                <a:latin typeface="Arial"/>
                <a:cs typeface="Arial"/>
              </a:rPr>
              <a:t>Increase</a:t>
            </a:r>
            <a:r>
              <a:rPr lang="de-DE">
                <a:latin typeface="Arial"/>
                <a:cs typeface="Arial"/>
              </a:rPr>
              <a:t> </a:t>
            </a:r>
            <a:r>
              <a:rPr lang="de-DE" b="1">
                <a:latin typeface="Arial"/>
                <a:cs typeface="Arial"/>
              </a:rPr>
              <a:t>code </a:t>
            </a:r>
            <a:r>
              <a:rPr lang="de-DE" b="1" err="1">
                <a:latin typeface="Arial"/>
                <a:cs typeface="Arial"/>
              </a:rPr>
              <a:t>base</a:t>
            </a:r>
            <a:r>
              <a:rPr lang="de-DE" b="1">
                <a:latin typeface="Arial"/>
                <a:cs typeface="Arial"/>
              </a:rPr>
              <a:t> </a:t>
            </a:r>
            <a:r>
              <a:rPr lang="de-DE" b="1" err="1">
                <a:latin typeface="Arial"/>
                <a:cs typeface="Arial"/>
              </a:rPr>
              <a:t>robustness</a:t>
            </a:r>
            <a:endParaRPr lang="de-DE" b="1" err="1"/>
          </a:p>
          <a:p>
            <a:pPr marL="271145" indent="-271145"/>
            <a:r>
              <a:rPr lang="de-DE" err="1">
                <a:latin typeface="Arial"/>
                <a:cs typeface="Arial"/>
              </a:rPr>
              <a:t>Continual</a:t>
            </a:r>
            <a:r>
              <a:rPr lang="de-DE">
                <a:latin typeface="Arial"/>
                <a:cs typeface="Arial"/>
              </a:rPr>
              <a:t> </a:t>
            </a:r>
            <a:r>
              <a:rPr lang="de-DE" err="1">
                <a:latin typeface="Arial"/>
                <a:cs typeface="Arial"/>
              </a:rPr>
              <a:t>enhancement</a:t>
            </a:r>
            <a:r>
              <a:rPr lang="de-DE">
                <a:latin typeface="Arial"/>
                <a:cs typeface="Arial"/>
              </a:rPr>
              <a:t> </a:t>
            </a:r>
            <a:r>
              <a:rPr lang="de-DE" err="1">
                <a:latin typeface="Arial"/>
                <a:cs typeface="Arial"/>
              </a:rPr>
              <a:t>of</a:t>
            </a:r>
            <a:r>
              <a:rPr lang="de-DE">
                <a:latin typeface="Arial"/>
                <a:cs typeface="Arial"/>
              </a:rPr>
              <a:t> </a:t>
            </a:r>
            <a:r>
              <a:rPr lang="de-DE" b="1" err="1">
                <a:latin typeface="Arial"/>
                <a:cs typeface="Arial"/>
              </a:rPr>
              <a:t>dataset</a:t>
            </a:r>
            <a:r>
              <a:rPr lang="de-DE" b="1">
                <a:latin typeface="Arial"/>
                <a:cs typeface="Arial"/>
              </a:rPr>
              <a:t> </a:t>
            </a:r>
            <a:r>
              <a:rPr lang="de-DE" b="1" err="1">
                <a:latin typeface="Arial"/>
                <a:cs typeface="Arial"/>
              </a:rPr>
              <a:t>quality</a:t>
            </a:r>
            <a:endParaRPr lang="de-DE" b="1" err="1"/>
          </a:p>
          <a:p>
            <a:pPr marL="271145" indent="-271145"/>
            <a:r>
              <a:rPr lang="de-DE" b="1" err="1">
                <a:latin typeface="Arial"/>
                <a:cs typeface="Arial"/>
              </a:rPr>
              <a:t>Deployment</a:t>
            </a:r>
            <a:r>
              <a:rPr lang="de-DE">
                <a:latin typeface="Arial"/>
                <a:cs typeface="Arial"/>
              </a:rPr>
              <a:t> </a:t>
            </a:r>
            <a:r>
              <a:rPr lang="de-DE" err="1">
                <a:latin typeface="Arial"/>
                <a:cs typeface="Arial"/>
              </a:rPr>
              <a:t>of</a:t>
            </a:r>
            <a:r>
              <a:rPr lang="de-DE">
                <a:latin typeface="Arial"/>
                <a:cs typeface="Arial"/>
              </a:rPr>
              <a:t> </a:t>
            </a:r>
            <a:r>
              <a:rPr lang="de-DE" err="1">
                <a:latin typeface="Arial"/>
                <a:cs typeface="Arial"/>
              </a:rPr>
              <a:t>the</a:t>
            </a:r>
            <a:r>
              <a:rPr lang="de-DE">
                <a:latin typeface="Arial"/>
                <a:cs typeface="Arial"/>
              </a:rPr>
              <a:t> </a:t>
            </a:r>
            <a:r>
              <a:rPr lang="de-DE" err="1">
                <a:latin typeface="Arial"/>
                <a:cs typeface="Arial"/>
              </a:rPr>
              <a:t>proposed</a:t>
            </a:r>
            <a:r>
              <a:rPr lang="de-DE">
                <a:latin typeface="Arial"/>
                <a:cs typeface="Arial"/>
              </a:rPr>
              <a:t> AI </a:t>
            </a:r>
            <a:r>
              <a:rPr lang="de-DE" err="1">
                <a:latin typeface="Arial"/>
                <a:cs typeface="Arial"/>
              </a:rPr>
              <a:t>system</a:t>
            </a:r>
            <a:r>
              <a:rPr lang="de-DE">
                <a:latin typeface="Arial"/>
                <a:cs typeface="Arial"/>
              </a:rPr>
              <a:t> </a:t>
            </a:r>
            <a:r>
              <a:rPr lang="de-DE" err="1">
                <a:latin typeface="Arial"/>
                <a:cs typeface="Arial"/>
              </a:rPr>
              <a:t>onto</a:t>
            </a:r>
            <a:r>
              <a:rPr lang="de-DE">
                <a:latin typeface="Arial"/>
                <a:cs typeface="Arial"/>
              </a:rPr>
              <a:t> </a:t>
            </a:r>
            <a:r>
              <a:rPr lang="de-DE" b="1" err="1">
                <a:latin typeface="Arial"/>
                <a:cs typeface="Arial"/>
              </a:rPr>
              <a:t>hardware</a:t>
            </a:r>
            <a:r>
              <a:rPr lang="de-DE" b="1">
                <a:latin typeface="Arial"/>
                <a:cs typeface="Arial"/>
              </a:rPr>
              <a:t> </a:t>
            </a:r>
            <a:r>
              <a:rPr lang="de-DE" err="1">
                <a:latin typeface="Arial"/>
                <a:cs typeface="Arial"/>
              </a:rPr>
              <a:t>or</a:t>
            </a:r>
            <a:r>
              <a:rPr lang="de-DE" b="1">
                <a:latin typeface="Arial"/>
                <a:cs typeface="Arial"/>
              </a:rPr>
              <a:t> </a:t>
            </a:r>
            <a:r>
              <a:rPr lang="de-DE" b="1" err="1">
                <a:latin typeface="Arial"/>
                <a:cs typeface="Arial"/>
              </a:rPr>
              <a:t>cloud</a:t>
            </a:r>
            <a:r>
              <a:rPr lang="de-DE" b="1">
                <a:latin typeface="Arial"/>
                <a:cs typeface="Arial"/>
              </a:rPr>
              <a:t> </a:t>
            </a:r>
            <a:r>
              <a:rPr lang="de-DE" b="1" err="1">
                <a:latin typeface="Arial"/>
                <a:cs typeface="Arial"/>
              </a:rPr>
              <a:t>platforms</a:t>
            </a:r>
          </a:p>
          <a:p>
            <a:pPr marL="0" indent="0">
              <a:buNone/>
            </a:pPr>
            <a:endParaRPr lang="de-DE"/>
          </a:p>
          <a:p>
            <a:pPr marL="271145" indent="-271145">
              <a:buChar char="•"/>
            </a:pPr>
            <a:endParaRPr lang="de-DE"/>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30</a:t>
            </a:fld>
            <a:endParaRPr lang="de-DE"/>
          </a:p>
        </p:txBody>
      </p:sp>
      <p:sp>
        <p:nvSpPr>
          <p:cNvPr id="6" name="Rectangle 4">
            <a:extLst>
              <a:ext uri="{FF2B5EF4-FFF2-40B4-BE49-F238E27FC236}">
                <a16:creationId xmlns:a16="http://schemas.microsoft.com/office/drawing/2014/main" id="{BE8206FB-15B4-1B47-18CE-0E22295CDFD8}"/>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a:latin typeface="Arial"/>
                <a:cs typeface="Arial"/>
              </a:rPr>
              <a:t>Future Outlook</a:t>
            </a:r>
            <a:endParaRPr lang="en-US"/>
          </a:p>
        </p:txBody>
      </p:sp>
      <p:sp>
        <p:nvSpPr>
          <p:cNvPr id="14" name="analytical" hidden="1">
            <a:extLst>
              <a:ext uri="{FF2B5EF4-FFF2-40B4-BE49-F238E27FC236}">
                <a16:creationId xmlns:a16="http://schemas.microsoft.com/office/drawing/2014/main" id="{A2E86B93-9500-E436-AE2A-3839750F208A}"/>
              </a:ext>
            </a:extLst>
          </p:cNvPr>
          <p:cNvSpPr txBox="1">
            <a:spLocks/>
          </p:cNvSpPr>
          <p:nvPr/>
        </p:nvSpPr>
        <p:spPr bwMode="auto">
          <a:xfrm>
            <a:off x="852980" y="3321024"/>
            <a:ext cx="10601234" cy="11771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3"/>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4"/>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a:latin typeface="Arial"/>
                <a:cs typeface="Arial"/>
              </a:rPr>
              <a:t>A </a:t>
            </a:r>
            <a:r>
              <a:rPr lang="de-DE" err="1">
                <a:latin typeface="Arial"/>
                <a:cs typeface="Arial"/>
              </a:rPr>
              <a:t>more</a:t>
            </a:r>
            <a:r>
              <a:rPr lang="de-DE">
                <a:latin typeface="Arial"/>
                <a:cs typeface="Arial"/>
              </a:rPr>
              <a:t> </a:t>
            </a:r>
            <a:r>
              <a:rPr lang="de-DE" b="1" err="1">
                <a:latin typeface="Arial"/>
                <a:cs typeface="Arial"/>
              </a:rPr>
              <a:t>analytical</a:t>
            </a:r>
            <a:r>
              <a:rPr lang="de-DE" b="1">
                <a:latin typeface="Arial"/>
                <a:cs typeface="Arial"/>
              </a:rPr>
              <a:t> </a:t>
            </a:r>
            <a:r>
              <a:rPr lang="de-DE" b="1" err="1">
                <a:latin typeface="Arial"/>
                <a:cs typeface="Arial"/>
              </a:rPr>
              <a:t>comparison</a:t>
            </a:r>
            <a:r>
              <a:rPr lang="de-DE">
                <a:latin typeface="Arial"/>
                <a:cs typeface="Arial"/>
              </a:rPr>
              <a:t> </a:t>
            </a:r>
            <a:r>
              <a:rPr lang="de-DE" err="1">
                <a:latin typeface="Arial"/>
                <a:cs typeface="Arial"/>
              </a:rPr>
              <a:t>between</a:t>
            </a:r>
            <a:r>
              <a:rPr lang="de-DE">
                <a:latin typeface="Arial"/>
                <a:cs typeface="Arial"/>
              </a:rPr>
              <a:t> </a:t>
            </a:r>
            <a:r>
              <a:rPr lang="de-DE" err="1">
                <a:latin typeface="Arial"/>
                <a:cs typeface="Arial"/>
              </a:rPr>
              <a:t>the</a:t>
            </a:r>
            <a:r>
              <a:rPr lang="de-DE">
                <a:latin typeface="Arial"/>
                <a:cs typeface="Arial"/>
              </a:rPr>
              <a:t> </a:t>
            </a:r>
            <a:r>
              <a:rPr lang="de-DE" err="1">
                <a:latin typeface="Arial"/>
                <a:cs typeface="Arial"/>
              </a:rPr>
              <a:t>proposed</a:t>
            </a:r>
            <a:r>
              <a:rPr lang="de-DE">
                <a:latin typeface="Arial"/>
                <a:cs typeface="Arial"/>
              </a:rPr>
              <a:t> </a:t>
            </a:r>
            <a:r>
              <a:rPr lang="de-DE" err="1">
                <a:latin typeface="Arial"/>
                <a:cs typeface="Arial"/>
              </a:rPr>
              <a:t>system</a:t>
            </a:r>
            <a:r>
              <a:rPr lang="de-DE">
                <a:latin typeface="Arial"/>
                <a:cs typeface="Arial"/>
              </a:rPr>
              <a:t> and </a:t>
            </a:r>
            <a:r>
              <a:rPr lang="de-DE" err="1">
                <a:latin typeface="Arial"/>
                <a:cs typeface="Arial"/>
              </a:rPr>
              <a:t>the</a:t>
            </a:r>
            <a:r>
              <a:rPr lang="de-DE">
                <a:latin typeface="Arial"/>
                <a:cs typeface="Arial"/>
              </a:rPr>
              <a:t> </a:t>
            </a:r>
            <a:r>
              <a:rPr lang="de-DE" err="1">
                <a:latin typeface="Arial"/>
                <a:cs typeface="Arial"/>
              </a:rPr>
              <a:t>currently</a:t>
            </a:r>
            <a:r>
              <a:rPr lang="de-DE">
                <a:latin typeface="Arial"/>
                <a:cs typeface="Arial"/>
              </a:rPr>
              <a:t> </a:t>
            </a:r>
            <a:r>
              <a:rPr lang="de-DE" err="1">
                <a:latin typeface="Arial"/>
                <a:cs typeface="Arial"/>
              </a:rPr>
              <a:t>employed</a:t>
            </a:r>
            <a:r>
              <a:rPr lang="de-DE">
                <a:latin typeface="Arial"/>
                <a:cs typeface="Arial"/>
              </a:rPr>
              <a:t> </a:t>
            </a:r>
            <a:r>
              <a:rPr lang="de-DE" err="1">
                <a:latin typeface="Arial"/>
                <a:cs typeface="Arial"/>
              </a:rPr>
              <a:t>system</a:t>
            </a:r>
            <a:endParaRPr lang="de-DE" err="1"/>
          </a:p>
          <a:p>
            <a:pPr marL="271145" indent="-271145">
              <a:buChar char="•"/>
            </a:pPr>
            <a:endParaRPr lang="de-DE">
              <a:latin typeface="Arial"/>
              <a:cs typeface="Arial"/>
            </a:endParaRPr>
          </a:p>
          <a:p>
            <a:pPr marL="0" indent="0">
              <a:buNone/>
            </a:pPr>
            <a:endParaRPr lang="de-DE"/>
          </a:p>
          <a:p>
            <a:pPr marL="271145" indent="-271145">
              <a:buFontTx/>
              <a:buChar char="•"/>
            </a:pPr>
            <a:endParaRPr lang="de-DE"/>
          </a:p>
        </p:txBody>
      </p:sp>
    </p:spTree>
    <p:extLst>
      <p:ext uri="{BB962C8B-B14F-4D97-AF65-F5344CB8AC3E}">
        <p14:creationId xmlns:p14="http://schemas.microsoft.com/office/powerpoint/2010/main" val="30841371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Foliennummernplatzhalter 5"/>
          <p:cNvSpPr>
            <a:spLocks noGrp="1"/>
          </p:cNvSpPr>
          <p:nvPr>
            <p:ph type="sldNum" sz="quarter" idx="12"/>
          </p:nvPr>
        </p:nvSpPr>
        <p:spPr>
          <a:noFill/>
        </p:spPr>
        <p:txBody>
          <a:bodyPr/>
          <a:lstStyle/>
          <a:p>
            <a:fld id="{CE407F05-4C6B-4779-B2B0-04EEFBB34390}" type="slidenum">
              <a:rPr lang="de-DE" smtClean="0"/>
              <a:pPr/>
              <a:t>31</a:t>
            </a:fld>
            <a:endParaRPr lang="de-DE"/>
          </a:p>
        </p:txBody>
      </p:sp>
      <p:sp>
        <p:nvSpPr>
          <p:cNvPr id="68614" name="Rectangle 6"/>
          <p:cNvSpPr>
            <a:spLocks noGrp="1"/>
          </p:cNvSpPr>
          <p:nvPr>
            <p:ph type="body" idx="1"/>
          </p:nvPr>
        </p:nvSpPr>
        <p:spPr>
          <a:xfrm>
            <a:off x="1847528" y="2924944"/>
            <a:ext cx="7991475" cy="2016125"/>
          </a:xfrm>
          <a:noFill/>
        </p:spPr>
        <p:txBody>
          <a:bodyPr/>
          <a:lstStyle/>
          <a:p>
            <a:pPr algn="ctr" eaLnBrk="1" hangingPunct="1">
              <a:buFontTx/>
              <a:buNone/>
            </a:pPr>
            <a:r>
              <a:rPr lang="de-DE" sz="3400" err="1">
                <a:latin typeface="Arial" charset="0"/>
                <a:cs typeface="Arial" charset="0"/>
              </a:rPr>
              <a:t>Thank</a:t>
            </a:r>
            <a:r>
              <a:rPr lang="de-DE" sz="3400">
                <a:latin typeface="Arial" charset="0"/>
                <a:cs typeface="Arial" charset="0"/>
              </a:rPr>
              <a:t> </a:t>
            </a:r>
            <a:r>
              <a:rPr lang="de-DE" sz="3400" err="1">
                <a:latin typeface="Arial" charset="0"/>
                <a:cs typeface="Arial" charset="0"/>
              </a:rPr>
              <a:t>you</a:t>
            </a:r>
            <a:r>
              <a:rPr lang="de-DE" sz="3400">
                <a:latin typeface="Arial" charset="0"/>
                <a:cs typeface="Arial" charset="0"/>
              </a:rPr>
              <a:t>!</a:t>
            </a:r>
          </a:p>
          <a:p>
            <a:pPr algn="ctr" eaLnBrk="1" hangingPunct="1">
              <a:buFontTx/>
              <a:buNone/>
            </a:pPr>
            <a:endParaRPr lang="de-DE" sz="3400">
              <a:latin typeface="Arial" charset="0"/>
              <a:cs typeface="Arial" charset="0"/>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68614">
                                            <p:txEl>
                                              <p:pRg st="0" end="0"/>
                                            </p:txEl>
                                          </p:spTgt>
                                        </p:tgtEl>
                                        <p:attrNameLst>
                                          <p:attrName>style.visibility</p:attrName>
                                        </p:attrNameLst>
                                      </p:cBhvr>
                                      <p:to>
                                        <p:strVal val="visible"/>
                                      </p:to>
                                    </p:set>
                                    <p:animEffect transition="in" filter="dissolve">
                                      <p:cBhvr>
                                        <p:cTn id="7" dur="500"/>
                                        <p:tgtEl>
                                          <p:spTgt spid="686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4"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9" name="Foliennummernplatzhalter 5"/>
          <p:cNvSpPr>
            <a:spLocks noGrp="1"/>
          </p:cNvSpPr>
          <p:nvPr>
            <p:ph type="sldNum" sz="quarter" idx="12"/>
          </p:nvPr>
        </p:nvSpPr>
        <p:spPr>
          <a:noFill/>
        </p:spPr>
        <p:txBody>
          <a:bodyPr/>
          <a:lstStyle/>
          <a:p>
            <a:fld id="{4ACCD8DA-ADF9-4473-9BD1-76EC6243D444}" type="slidenum">
              <a:rPr lang="de-DE" smtClean="0"/>
              <a:pPr/>
              <a:t>32</a:t>
            </a:fld>
            <a:endParaRPr lang="de-DE"/>
          </a:p>
        </p:txBody>
      </p:sp>
      <p:sp>
        <p:nvSpPr>
          <p:cNvPr id="4100" name="!!thesis title"/>
          <p:cNvSpPr>
            <a:spLocks noGrp="1"/>
          </p:cNvSpPr>
          <p:nvPr>
            <p:ph type="title"/>
          </p:nvPr>
        </p:nvSpPr>
        <p:spPr/>
        <p:txBody>
          <a:bodyPr/>
          <a:lstStyle/>
          <a:p>
            <a:pPr eaLnBrk="1" hangingPunct="1"/>
            <a:r>
              <a:rPr lang="de-DE">
                <a:latin typeface="Arial" charset="0"/>
                <a:cs typeface="Arial" charset="0"/>
              </a:rPr>
              <a:t>Agenda</a:t>
            </a:r>
          </a:p>
        </p:txBody>
      </p:sp>
      <p:sp>
        <p:nvSpPr>
          <p:cNvPr id="4101" name="!!Introduction"/>
          <p:cNvSpPr>
            <a:spLocks noGrp="1"/>
          </p:cNvSpPr>
          <p:nvPr>
            <p:ph type="body" idx="1"/>
          </p:nvPr>
        </p:nvSpPr>
        <p:spPr>
          <a:xfrm>
            <a:off x="909896" y="1719754"/>
            <a:ext cx="10574399" cy="574655"/>
          </a:xfrm>
        </p:spPr>
        <p:txBody>
          <a:bodyPr/>
          <a:lstStyle/>
          <a:p>
            <a:pPr marL="271145" indent="-271145" eaLnBrk="1" hangingPunct="1">
              <a:lnSpc>
                <a:spcPct val="200000"/>
              </a:lnSpc>
            </a:pPr>
            <a:r>
              <a:rPr lang="de-DE" b="1" err="1">
                <a:latin typeface="Arial"/>
                <a:cs typeface="Arial"/>
              </a:rPr>
              <a:t>Introduction</a:t>
            </a:r>
            <a:endParaRPr lang="de-DE" b="1" err="1">
              <a:latin typeface="Arial" charset="0"/>
              <a:cs typeface="Arial" charset="0"/>
            </a:endParaRPr>
          </a:p>
        </p:txBody>
      </p:sp>
      <p:sp>
        <p:nvSpPr>
          <p:cNvPr id="4" name="!!Dataset Collection">
            <a:extLst>
              <a:ext uri="{FF2B5EF4-FFF2-40B4-BE49-F238E27FC236}">
                <a16:creationId xmlns:a16="http://schemas.microsoft.com/office/drawing/2014/main" id="{B8F86B42-C014-8372-E127-0788B6B341D0}"/>
              </a:ext>
            </a:extLst>
          </p:cNvPr>
          <p:cNvSpPr txBox="1">
            <a:spLocks/>
          </p:cNvSpPr>
          <p:nvPr/>
        </p:nvSpPr>
        <p:spPr bwMode="auto">
          <a:xfrm>
            <a:off x="903958" y="229768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a:latin typeface="Arial"/>
                <a:cs typeface="Arial"/>
              </a:rPr>
              <a:t>Data Collection</a:t>
            </a:r>
          </a:p>
          <a:p>
            <a:pPr marL="271145" indent="-271145">
              <a:lnSpc>
                <a:spcPct val="200000"/>
              </a:lnSpc>
            </a:pPr>
            <a:endParaRPr lang="de-DE">
              <a:latin typeface="Arial" charset="0"/>
              <a:cs typeface="Arial" charset="0"/>
            </a:endParaRPr>
          </a:p>
        </p:txBody>
      </p:sp>
      <p:sp>
        <p:nvSpPr>
          <p:cNvPr id="6" name="!!Model Training">
            <a:extLst>
              <a:ext uri="{FF2B5EF4-FFF2-40B4-BE49-F238E27FC236}">
                <a16:creationId xmlns:a16="http://schemas.microsoft.com/office/drawing/2014/main" id="{5D2C1CED-C8C2-C11A-02BF-830224113D14}"/>
              </a:ext>
            </a:extLst>
          </p:cNvPr>
          <p:cNvSpPr txBox="1">
            <a:spLocks/>
          </p:cNvSpPr>
          <p:nvPr/>
        </p:nvSpPr>
        <p:spPr bwMode="auto">
          <a:xfrm>
            <a:off x="898021" y="285582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a:latin typeface="Arial"/>
                <a:cs typeface="Arial"/>
              </a:rPr>
              <a:t>Model Training</a:t>
            </a:r>
          </a:p>
          <a:p>
            <a:pPr marL="271145" indent="-271145">
              <a:lnSpc>
                <a:spcPct val="200000"/>
              </a:lnSpc>
            </a:pPr>
            <a:endParaRPr lang="de-DE">
              <a:latin typeface="Arial" charset="0"/>
              <a:cs typeface="Arial" charset="0"/>
            </a:endParaRPr>
          </a:p>
        </p:txBody>
      </p:sp>
      <p:sp>
        <p:nvSpPr>
          <p:cNvPr id="8" name="!!Performance Evaluation">
            <a:extLst>
              <a:ext uri="{FF2B5EF4-FFF2-40B4-BE49-F238E27FC236}">
                <a16:creationId xmlns:a16="http://schemas.microsoft.com/office/drawing/2014/main" id="{B14C5E6F-6622-39FF-243A-A0581C1C9E5C}"/>
              </a:ext>
            </a:extLst>
          </p:cNvPr>
          <p:cNvSpPr txBox="1">
            <a:spLocks/>
          </p:cNvSpPr>
          <p:nvPr/>
        </p:nvSpPr>
        <p:spPr bwMode="auto">
          <a:xfrm>
            <a:off x="901979" y="3433759"/>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a:latin typeface="Arial"/>
                <a:cs typeface="Arial"/>
              </a:rPr>
              <a:t>Performance Evaluation</a:t>
            </a:r>
          </a:p>
          <a:p>
            <a:pPr marL="271145" indent="-271145">
              <a:lnSpc>
                <a:spcPct val="200000"/>
              </a:lnSpc>
            </a:pPr>
            <a:endParaRPr lang="de-DE">
              <a:latin typeface="Arial" charset="0"/>
              <a:cs typeface="Arial" charset="0"/>
            </a:endParaRPr>
          </a:p>
        </p:txBody>
      </p:sp>
      <p:sp>
        <p:nvSpPr>
          <p:cNvPr id="10" name="!!Conclusion">
            <a:extLst>
              <a:ext uri="{FF2B5EF4-FFF2-40B4-BE49-F238E27FC236}">
                <a16:creationId xmlns:a16="http://schemas.microsoft.com/office/drawing/2014/main" id="{9ABC9B59-1D6B-BFA5-120E-7C52FD0A4394}"/>
              </a:ext>
            </a:extLst>
          </p:cNvPr>
          <p:cNvSpPr txBox="1">
            <a:spLocks/>
          </p:cNvSpPr>
          <p:nvPr/>
        </p:nvSpPr>
        <p:spPr bwMode="auto">
          <a:xfrm>
            <a:off x="896042" y="4011692"/>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err="1">
                <a:latin typeface="Arial"/>
                <a:cs typeface="Arial"/>
              </a:rPr>
              <a:t>Conclusion</a:t>
            </a:r>
            <a:r>
              <a:rPr lang="de-DE">
                <a:latin typeface="Arial"/>
                <a:cs typeface="Arial"/>
              </a:rPr>
              <a:t> and Future Work</a:t>
            </a:r>
          </a:p>
          <a:p>
            <a:pPr marL="271145" indent="-271145">
              <a:lnSpc>
                <a:spcPct val="200000"/>
              </a:lnSpc>
            </a:pPr>
            <a:endParaRPr lang="de-DE">
              <a:latin typeface="Arial" charset="0"/>
              <a:cs typeface="Arial" charset="0"/>
            </a:endParaRPr>
          </a:p>
        </p:txBody>
      </p:sp>
      <p:pic>
        <p:nvPicPr>
          <p:cNvPr id="5" name="Grafik 4" descr="Ein Bild, das Text, Screenshot, Grafikdesign, Grafiken enthält.&#10;&#10;Beschreibung automatisch generiert.">
            <a:extLst>
              <a:ext uri="{FF2B5EF4-FFF2-40B4-BE49-F238E27FC236}">
                <a16:creationId xmlns:a16="http://schemas.microsoft.com/office/drawing/2014/main" id="{C1E87D55-8F82-7785-C532-3347F040AE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05744" y="2010433"/>
            <a:ext cx="6372225" cy="2876550"/>
          </a:xfrm>
          <a:prstGeom prst="rect">
            <a:avLst/>
          </a:prstGeom>
        </p:spPr>
      </p:pic>
    </p:spTree>
    <p:extLst>
      <p:ext uri="{BB962C8B-B14F-4D97-AF65-F5344CB8AC3E}">
        <p14:creationId xmlns:p14="http://schemas.microsoft.com/office/powerpoint/2010/main" val="15353295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9" name="Foliennummernplatzhalter 5"/>
          <p:cNvSpPr>
            <a:spLocks noGrp="1"/>
          </p:cNvSpPr>
          <p:nvPr>
            <p:ph type="sldNum" sz="quarter" idx="12"/>
          </p:nvPr>
        </p:nvSpPr>
        <p:spPr>
          <a:noFill/>
        </p:spPr>
        <p:txBody>
          <a:bodyPr/>
          <a:lstStyle/>
          <a:p>
            <a:fld id="{4ACCD8DA-ADF9-4473-9BD1-76EC6243D444}" type="slidenum">
              <a:rPr lang="de-DE" smtClean="0"/>
              <a:pPr/>
              <a:t>33</a:t>
            </a:fld>
            <a:endParaRPr lang="de-DE"/>
          </a:p>
        </p:txBody>
      </p:sp>
      <p:sp>
        <p:nvSpPr>
          <p:cNvPr id="4100" name="!!thesis title"/>
          <p:cNvSpPr>
            <a:spLocks noGrp="1"/>
          </p:cNvSpPr>
          <p:nvPr>
            <p:ph type="title"/>
          </p:nvPr>
        </p:nvSpPr>
        <p:spPr/>
        <p:txBody>
          <a:bodyPr/>
          <a:lstStyle/>
          <a:p>
            <a:pPr eaLnBrk="1" hangingPunct="1"/>
            <a:r>
              <a:rPr lang="de-DE">
                <a:latin typeface="Arial" charset="0"/>
                <a:cs typeface="Arial" charset="0"/>
              </a:rPr>
              <a:t>Agenda</a:t>
            </a:r>
          </a:p>
        </p:txBody>
      </p:sp>
      <p:sp>
        <p:nvSpPr>
          <p:cNvPr id="4101" name="!!Introduction"/>
          <p:cNvSpPr>
            <a:spLocks noGrp="1"/>
          </p:cNvSpPr>
          <p:nvPr>
            <p:ph type="body" idx="1"/>
          </p:nvPr>
        </p:nvSpPr>
        <p:spPr>
          <a:xfrm>
            <a:off x="909896" y="1719754"/>
            <a:ext cx="10574399" cy="574655"/>
          </a:xfrm>
        </p:spPr>
        <p:txBody>
          <a:bodyPr/>
          <a:lstStyle/>
          <a:p>
            <a:pPr marL="271145" indent="-271145" eaLnBrk="1" hangingPunct="1">
              <a:lnSpc>
                <a:spcPct val="200000"/>
              </a:lnSpc>
            </a:pPr>
            <a:r>
              <a:rPr lang="de-DE" err="1">
                <a:latin typeface="Arial"/>
                <a:cs typeface="Arial"/>
              </a:rPr>
              <a:t>Introduction</a:t>
            </a:r>
            <a:endParaRPr lang="de-DE" err="1">
              <a:latin typeface="Arial" charset="0"/>
              <a:cs typeface="Arial" charset="0"/>
            </a:endParaRPr>
          </a:p>
        </p:txBody>
      </p:sp>
      <p:sp>
        <p:nvSpPr>
          <p:cNvPr id="4" name="!!System Design">
            <a:extLst>
              <a:ext uri="{FF2B5EF4-FFF2-40B4-BE49-F238E27FC236}">
                <a16:creationId xmlns:a16="http://schemas.microsoft.com/office/drawing/2014/main" id="{B8F86B42-C014-8372-E127-0788B6B341D0}"/>
              </a:ext>
            </a:extLst>
          </p:cNvPr>
          <p:cNvSpPr txBox="1">
            <a:spLocks/>
          </p:cNvSpPr>
          <p:nvPr/>
        </p:nvSpPr>
        <p:spPr bwMode="auto">
          <a:xfrm>
            <a:off x="903958" y="229768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a:latin typeface="Arial"/>
                <a:cs typeface="Arial"/>
              </a:rPr>
              <a:t>System Design and Architecture</a:t>
            </a:r>
            <a:endParaRPr lang="de-DE">
              <a:latin typeface="Arial" charset="0"/>
              <a:cs typeface="Arial" charset="0"/>
            </a:endParaRPr>
          </a:p>
        </p:txBody>
      </p:sp>
      <p:sp>
        <p:nvSpPr>
          <p:cNvPr id="6" name="!!Dataset Collection">
            <a:extLst>
              <a:ext uri="{FF2B5EF4-FFF2-40B4-BE49-F238E27FC236}">
                <a16:creationId xmlns:a16="http://schemas.microsoft.com/office/drawing/2014/main" id="{5D2C1CED-C8C2-C11A-02BF-830224113D14}"/>
              </a:ext>
            </a:extLst>
          </p:cNvPr>
          <p:cNvSpPr txBox="1">
            <a:spLocks/>
          </p:cNvSpPr>
          <p:nvPr/>
        </p:nvSpPr>
        <p:spPr bwMode="auto">
          <a:xfrm>
            <a:off x="898021" y="285582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a:latin typeface="Arial"/>
                <a:cs typeface="Arial"/>
              </a:rPr>
              <a:t>Dataset Collection</a:t>
            </a:r>
            <a:endParaRPr lang="de-DE">
              <a:latin typeface="Arial" charset="0"/>
              <a:cs typeface="Arial" charset="0"/>
            </a:endParaRPr>
          </a:p>
        </p:txBody>
      </p:sp>
      <p:sp>
        <p:nvSpPr>
          <p:cNvPr id="8" name="!!Model Training">
            <a:extLst>
              <a:ext uri="{FF2B5EF4-FFF2-40B4-BE49-F238E27FC236}">
                <a16:creationId xmlns:a16="http://schemas.microsoft.com/office/drawing/2014/main" id="{B14C5E6F-6622-39FF-243A-A0581C1C9E5C}"/>
              </a:ext>
            </a:extLst>
          </p:cNvPr>
          <p:cNvSpPr txBox="1">
            <a:spLocks/>
          </p:cNvSpPr>
          <p:nvPr/>
        </p:nvSpPr>
        <p:spPr bwMode="auto">
          <a:xfrm>
            <a:off x="901979" y="3433759"/>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a:latin typeface="Arial"/>
                <a:cs typeface="Arial"/>
              </a:rPr>
              <a:t>Model Training</a:t>
            </a:r>
            <a:endParaRPr lang="de-DE" err="1">
              <a:latin typeface="Arial" charset="0"/>
              <a:cs typeface="Arial" charset="0"/>
            </a:endParaRPr>
          </a:p>
        </p:txBody>
      </p:sp>
      <p:sp>
        <p:nvSpPr>
          <p:cNvPr id="10" name="!!Performance Evaluation">
            <a:extLst>
              <a:ext uri="{FF2B5EF4-FFF2-40B4-BE49-F238E27FC236}">
                <a16:creationId xmlns:a16="http://schemas.microsoft.com/office/drawing/2014/main" id="{9ABC9B59-1D6B-BFA5-120E-7C52FD0A4394}"/>
              </a:ext>
            </a:extLst>
          </p:cNvPr>
          <p:cNvSpPr txBox="1">
            <a:spLocks/>
          </p:cNvSpPr>
          <p:nvPr/>
        </p:nvSpPr>
        <p:spPr bwMode="auto">
          <a:xfrm>
            <a:off x="896042" y="4011692"/>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a:latin typeface="Arial"/>
                <a:cs typeface="Arial"/>
              </a:rPr>
              <a:t>Performance Evaluation</a:t>
            </a:r>
            <a:endParaRPr lang="de-DE" err="1">
              <a:latin typeface="Arial" charset="0"/>
              <a:cs typeface="Arial" charset="0"/>
            </a:endParaRPr>
          </a:p>
        </p:txBody>
      </p:sp>
      <p:sp>
        <p:nvSpPr>
          <p:cNvPr id="12" name="!!Conclusion">
            <a:extLst>
              <a:ext uri="{FF2B5EF4-FFF2-40B4-BE49-F238E27FC236}">
                <a16:creationId xmlns:a16="http://schemas.microsoft.com/office/drawing/2014/main" id="{C8D04170-2B01-10A4-F418-3720BD4137C5}"/>
              </a:ext>
            </a:extLst>
          </p:cNvPr>
          <p:cNvSpPr txBox="1">
            <a:spLocks/>
          </p:cNvSpPr>
          <p:nvPr/>
        </p:nvSpPr>
        <p:spPr bwMode="auto">
          <a:xfrm>
            <a:off x="909896" y="4589624"/>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err="1">
                <a:latin typeface="Arial"/>
                <a:cs typeface="Arial"/>
              </a:rPr>
              <a:t>Conclusion</a:t>
            </a:r>
            <a:r>
              <a:rPr lang="de-DE">
                <a:latin typeface="Arial"/>
                <a:cs typeface="Arial"/>
              </a:rPr>
              <a:t> and Future Work</a:t>
            </a:r>
            <a:endParaRPr lang="de-DE">
              <a:latin typeface="Arial" charset="0"/>
              <a:cs typeface="Arial" charset="0"/>
            </a:endParaRPr>
          </a:p>
        </p:txBody>
      </p:sp>
      <p:pic>
        <p:nvPicPr>
          <p:cNvPr id="5" name="Grafik 4" descr="Ein Bild, das Text, Screenshot, Grafikdesign, Grafiken enthält.&#10;&#10;Beschreibung automatisch generiert.">
            <a:extLst>
              <a:ext uri="{FF2B5EF4-FFF2-40B4-BE49-F238E27FC236}">
                <a16:creationId xmlns:a16="http://schemas.microsoft.com/office/drawing/2014/main" id="{C1E87D55-8F82-7785-C532-3347F040AE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05744" y="2010433"/>
            <a:ext cx="6372225" cy="2876550"/>
          </a:xfrm>
          <a:prstGeom prst="rect">
            <a:avLst/>
          </a:prstGeom>
        </p:spPr>
      </p:pic>
    </p:spTree>
    <p:extLst>
      <p:ext uri="{BB962C8B-B14F-4D97-AF65-F5344CB8AC3E}">
        <p14:creationId xmlns:p14="http://schemas.microsoft.com/office/powerpoint/2010/main" val="28274594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9" name="Foliennummernplatzhalter 5"/>
          <p:cNvSpPr>
            <a:spLocks noGrp="1"/>
          </p:cNvSpPr>
          <p:nvPr>
            <p:ph type="sldNum" sz="quarter" idx="12"/>
          </p:nvPr>
        </p:nvSpPr>
        <p:spPr>
          <a:noFill/>
        </p:spPr>
        <p:txBody>
          <a:bodyPr/>
          <a:lstStyle/>
          <a:p>
            <a:fld id="{4ACCD8DA-ADF9-4473-9BD1-76EC6243D444}" type="slidenum">
              <a:rPr lang="de-DE" smtClean="0"/>
              <a:pPr/>
              <a:t>34</a:t>
            </a:fld>
            <a:endParaRPr lang="de-DE"/>
          </a:p>
        </p:txBody>
      </p:sp>
      <p:sp>
        <p:nvSpPr>
          <p:cNvPr id="4100" name="!!thesis title"/>
          <p:cNvSpPr>
            <a:spLocks noGrp="1"/>
          </p:cNvSpPr>
          <p:nvPr>
            <p:ph type="title"/>
          </p:nvPr>
        </p:nvSpPr>
        <p:spPr/>
        <p:txBody>
          <a:bodyPr/>
          <a:lstStyle/>
          <a:p>
            <a:pPr eaLnBrk="1" hangingPunct="1"/>
            <a:r>
              <a:rPr lang="de-DE">
                <a:latin typeface="Arial" charset="0"/>
                <a:cs typeface="Arial" charset="0"/>
              </a:rPr>
              <a:t>Agenda</a:t>
            </a:r>
          </a:p>
        </p:txBody>
      </p:sp>
      <p:sp>
        <p:nvSpPr>
          <p:cNvPr id="4101" name="!!Introduction"/>
          <p:cNvSpPr>
            <a:spLocks noGrp="1"/>
          </p:cNvSpPr>
          <p:nvPr>
            <p:ph type="body" idx="1"/>
          </p:nvPr>
        </p:nvSpPr>
        <p:spPr>
          <a:xfrm>
            <a:off x="909896" y="1719754"/>
            <a:ext cx="10574399" cy="574655"/>
          </a:xfrm>
        </p:spPr>
        <p:txBody>
          <a:bodyPr/>
          <a:lstStyle/>
          <a:p>
            <a:pPr marL="271145" indent="-271145" eaLnBrk="1" hangingPunct="1">
              <a:lnSpc>
                <a:spcPct val="200000"/>
              </a:lnSpc>
            </a:pPr>
            <a:r>
              <a:rPr lang="de-DE" b="1" err="1">
                <a:latin typeface="Arial"/>
                <a:cs typeface="Arial"/>
              </a:rPr>
              <a:t>Introduction</a:t>
            </a:r>
            <a:endParaRPr lang="de-DE" b="1" err="1">
              <a:latin typeface="Arial" charset="0"/>
              <a:cs typeface="Arial" charset="0"/>
            </a:endParaRPr>
          </a:p>
        </p:txBody>
      </p:sp>
      <p:sp>
        <p:nvSpPr>
          <p:cNvPr id="4" name="!!System Design">
            <a:extLst>
              <a:ext uri="{FF2B5EF4-FFF2-40B4-BE49-F238E27FC236}">
                <a16:creationId xmlns:a16="http://schemas.microsoft.com/office/drawing/2014/main" id="{B8F86B42-C014-8372-E127-0788B6B341D0}"/>
              </a:ext>
            </a:extLst>
          </p:cNvPr>
          <p:cNvSpPr txBox="1">
            <a:spLocks/>
          </p:cNvSpPr>
          <p:nvPr/>
        </p:nvSpPr>
        <p:spPr bwMode="auto">
          <a:xfrm>
            <a:off x="903958" y="229768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a:latin typeface="Arial"/>
                <a:cs typeface="Arial"/>
              </a:rPr>
              <a:t>System Design and Architecture</a:t>
            </a:r>
            <a:endParaRPr lang="de-DE">
              <a:latin typeface="Arial" charset="0"/>
              <a:cs typeface="Arial" charset="0"/>
            </a:endParaRPr>
          </a:p>
        </p:txBody>
      </p:sp>
      <p:sp>
        <p:nvSpPr>
          <p:cNvPr id="6" name="!!Dataset Collection">
            <a:extLst>
              <a:ext uri="{FF2B5EF4-FFF2-40B4-BE49-F238E27FC236}">
                <a16:creationId xmlns:a16="http://schemas.microsoft.com/office/drawing/2014/main" id="{5D2C1CED-C8C2-C11A-02BF-830224113D14}"/>
              </a:ext>
            </a:extLst>
          </p:cNvPr>
          <p:cNvSpPr txBox="1">
            <a:spLocks/>
          </p:cNvSpPr>
          <p:nvPr/>
        </p:nvSpPr>
        <p:spPr bwMode="auto">
          <a:xfrm>
            <a:off x="898021" y="285582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a:latin typeface="Arial"/>
                <a:cs typeface="Arial"/>
              </a:rPr>
              <a:t>Dataset Collection</a:t>
            </a:r>
            <a:endParaRPr lang="de-DE">
              <a:latin typeface="Arial" charset="0"/>
              <a:cs typeface="Arial" charset="0"/>
            </a:endParaRPr>
          </a:p>
        </p:txBody>
      </p:sp>
      <p:sp>
        <p:nvSpPr>
          <p:cNvPr id="8" name="!!Model Training">
            <a:extLst>
              <a:ext uri="{FF2B5EF4-FFF2-40B4-BE49-F238E27FC236}">
                <a16:creationId xmlns:a16="http://schemas.microsoft.com/office/drawing/2014/main" id="{B14C5E6F-6622-39FF-243A-A0581C1C9E5C}"/>
              </a:ext>
            </a:extLst>
          </p:cNvPr>
          <p:cNvSpPr txBox="1">
            <a:spLocks/>
          </p:cNvSpPr>
          <p:nvPr/>
        </p:nvSpPr>
        <p:spPr bwMode="auto">
          <a:xfrm>
            <a:off x="901979" y="3433759"/>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a:latin typeface="Arial"/>
                <a:cs typeface="Arial"/>
              </a:rPr>
              <a:t>Model Training</a:t>
            </a:r>
            <a:endParaRPr lang="de-DE" err="1">
              <a:latin typeface="Arial" charset="0"/>
              <a:cs typeface="Arial" charset="0"/>
            </a:endParaRPr>
          </a:p>
        </p:txBody>
      </p:sp>
      <p:sp>
        <p:nvSpPr>
          <p:cNvPr id="10" name="!!Performance Evaluation">
            <a:extLst>
              <a:ext uri="{FF2B5EF4-FFF2-40B4-BE49-F238E27FC236}">
                <a16:creationId xmlns:a16="http://schemas.microsoft.com/office/drawing/2014/main" id="{9ABC9B59-1D6B-BFA5-120E-7C52FD0A4394}"/>
              </a:ext>
            </a:extLst>
          </p:cNvPr>
          <p:cNvSpPr txBox="1">
            <a:spLocks/>
          </p:cNvSpPr>
          <p:nvPr/>
        </p:nvSpPr>
        <p:spPr bwMode="auto">
          <a:xfrm>
            <a:off x="896042" y="4011692"/>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a:latin typeface="Arial"/>
                <a:cs typeface="Arial"/>
              </a:rPr>
              <a:t>Performance Evaluation</a:t>
            </a:r>
            <a:endParaRPr lang="de-DE" err="1">
              <a:latin typeface="Arial" charset="0"/>
              <a:cs typeface="Arial" charset="0"/>
            </a:endParaRPr>
          </a:p>
        </p:txBody>
      </p:sp>
      <p:sp>
        <p:nvSpPr>
          <p:cNvPr id="12" name="!!Conclusion">
            <a:extLst>
              <a:ext uri="{FF2B5EF4-FFF2-40B4-BE49-F238E27FC236}">
                <a16:creationId xmlns:a16="http://schemas.microsoft.com/office/drawing/2014/main" id="{C8D04170-2B01-10A4-F418-3720BD4137C5}"/>
              </a:ext>
            </a:extLst>
          </p:cNvPr>
          <p:cNvSpPr txBox="1">
            <a:spLocks/>
          </p:cNvSpPr>
          <p:nvPr/>
        </p:nvSpPr>
        <p:spPr bwMode="auto">
          <a:xfrm>
            <a:off x="909896" y="4589624"/>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err="1">
                <a:latin typeface="Arial"/>
                <a:cs typeface="Arial"/>
              </a:rPr>
              <a:t>Conclusion</a:t>
            </a:r>
            <a:r>
              <a:rPr lang="de-DE">
                <a:latin typeface="Arial"/>
                <a:cs typeface="Arial"/>
              </a:rPr>
              <a:t> and Future Work</a:t>
            </a:r>
            <a:endParaRPr lang="de-DE">
              <a:latin typeface="Arial" charset="0"/>
              <a:cs typeface="Arial" charset="0"/>
            </a:endParaRPr>
          </a:p>
        </p:txBody>
      </p:sp>
      <p:pic>
        <p:nvPicPr>
          <p:cNvPr id="5" name="Grafik 4" descr="Ein Bild, das Text, Screenshot, Grafikdesign, Grafiken enthält.&#10;&#10;Beschreibung automatisch generiert.">
            <a:extLst>
              <a:ext uri="{FF2B5EF4-FFF2-40B4-BE49-F238E27FC236}">
                <a16:creationId xmlns:a16="http://schemas.microsoft.com/office/drawing/2014/main" id="{C1E87D55-8F82-7785-C532-3347F040AE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05744" y="2010433"/>
            <a:ext cx="6372225" cy="2876550"/>
          </a:xfrm>
          <a:prstGeom prst="rect">
            <a:avLst/>
          </a:prstGeom>
        </p:spPr>
      </p:pic>
    </p:spTree>
    <p:extLst>
      <p:ext uri="{BB962C8B-B14F-4D97-AF65-F5344CB8AC3E}">
        <p14:creationId xmlns:p14="http://schemas.microsoft.com/office/powerpoint/2010/main" val="191337628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Introduction">
            <a:extLst>
              <a:ext uri="{FF2B5EF4-FFF2-40B4-BE49-F238E27FC236}">
                <a16:creationId xmlns:a16="http://schemas.microsoft.com/office/drawing/2014/main" id="{AF1986D5-5B89-1092-A8F9-731C47DE7DCA}"/>
              </a:ext>
            </a:extLst>
          </p:cNvPr>
          <p:cNvSpPr>
            <a:spLocks noGrp="1"/>
          </p:cNvSpPr>
          <p:nvPr>
            <p:ph type="title"/>
          </p:nvPr>
        </p:nvSpPr>
        <p:spPr/>
        <p:txBody>
          <a:bodyPr/>
          <a:lstStyle/>
          <a:p>
            <a:r>
              <a:rPr lang="de-DE" err="1">
                <a:latin typeface="Arial"/>
                <a:cs typeface="Arial"/>
              </a:rPr>
              <a:t>Introduction</a:t>
            </a:r>
            <a:endParaRPr lang="de-DE" err="1"/>
          </a:p>
        </p:txBody>
      </p:sp>
      <p:sp>
        <p:nvSpPr>
          <p:cNvPr id="3" name="Inhaltsplatzhalter 2">
            <a:extLst>
              <a:ext uri="{FF2B5EF4-FFF2-40B4-BE49-F238E27FC236}">
                <a16:creationId xmlns:a16="http://schemas.microsoft.com/office/drawing/2014/main" id="{2862E554-4541-0159-D115-B0E0DA5FA7A5}"/>
              </a:ext>
            </a:extLst>
          </p:cNvPr>
          <p:cNvSpPr>
            <a:spLocks noGrp="1"/>
          </p:cNvSpPr>
          <p:nvPr>
            <p:ph idx="1"/>
          </p:nvPr>
        </p:nvSpPr>
        <p:spPr>
          <a:xfrm>
            <a:off x="814322" y="2132396"/>
            <a:ext cx="10647877" cy="3993771"/>
          </a:xfrm>
        </p:spPr>
        <p:txBody>
          <a:bodyPr/>
          <a:lstStyle/>
          <a:p>
            <a:pPr marL="271145" indent="-271145"/>
            <a:endParaRPr lang="de-DE">
              <a:latin typeface="Arial"/>
              <a:cs typeface="Arial"/>
            </a:endParaRPr>
          </a:p>
          <a:p>
            <a:pPr marL="271145" indent="-271145"/>
            <a:endParaRPr lang="de-DE">
              <a:latin typeface="Arial"/>
              <a:cs typeface="Arial"/>
            </a:endParaRPr>
          </a:p>
        </p:txBody>
      </p:sp>
      <p:sp>
        <p:nvSpPr>
          <p:cNvPr id="4" name="Foliennummernplatzhalter 3">
            <a:extLst>
              <a:ext uri="{FF2B5EF4-FFF2-40B4-BE49-F238E27FC236}">
                <a16:creationId xmlns:a16="http://schemas.microsoft.com/office/drawing/2014/main" id="{A5E02E68-6266-B9B4-1914-1AD1E27E0CF8}"/>
              </a:ext>
            </a:extLst>
          </p:cNvPr>
          <p:cNvSpPr>
            <a:spLocks noGrp="1"/>
          </p:cNvSpPr>
          <p:nvPr>
            <p:ph type="sldNum" sz="quarter" idx="12"/>
          </p:nvPr>
        </p:nvSpPr>
        <p:spPr/>
        <p:txBody>
          <a:bodyPr/>
          <a:lstStyle/>
          <a:p>
            <a:pPr>
              <a:defRPr/>
            </a:pPr>
            <a:fld id="{C929A957-B8AC-4276-BB5E-21B31F81D38B}" type="slidenum">
              <a:rPr lang="de-DE" smtClean="0"/>
              <a:pPr>
                <a:defRPr/>
              </a:pPr>
              <a:t>35</a:t>
            </a:fld>
            <a:endParaRPr lang="de-DE"/>
          </a:p>
        </p:txBody>
      </p:sp>
      <p:sp>
        <p:nvSpPr>
          <p:cNvPr id="6" name="Rectangle 4">
            <a:extLst>
              <a:ext uri="{FF2B5EF4-FFF2-40B4-BE49-F238E27FC236}">
                <a16:creationId xmlns:a16="http://schemas.microsoft.com/office/drawing/2014/main" id="{3595AF4B-9F79-45DB-EB87-612A30A9F64C}"/>
              </a:ext>
            </a:extLst>
          </p:cNvPr>
          <p:cNvSpPr>
            <a:spLocks/>
          </p:cNvSpPr>
          <p:nvPr/>
        </p:nvSpPr>
        <p:spPr bwMode="auto">
          <a:xfrm>
            <a:off x="808193"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err="1">
                <a:latin typeface="Arial"/>
                <a:cs typeface="Arial"/>
              </a:rPr>
              <a:t>Machine</a:t>
            </a:r>
            <a:r>
              <a:rPr lang="de-DE" b="1">
                <a:latin typeface="Arial"/>
                <a:cs typeface="Arial"/>
              </a:rPr>
              <a:t> Learning Workflow</a:t>
            </a:r>
            <a:endParaRPr lang="de-DE"/>
          </a:p>
        </p:txBody>
      </p:sp>
      <p:pic>
        <p:nvPicPr>
          <p:cNvPr id="7" name="Grafik 6" descr="Ein Bild, das Text, Screenshot, Diagramm, Schrift enthält.&#10;&#10;Beschreibung automatisch generiert.">
            <a:extLst>
              <a:ext uri="{FF2B5EF4-FFF2-40B4-BE49-F238E27FC236}">
                <a16:creationId xmlns:a16="http://schemas.microsoft.com/office/drawing/2014/main" id="{F00D84B4-8A5A-F9F9-110F-F2CC52A71B76}"/>
              </a:ext>
            </a:extLst>
          </p:cNvPr>
          <p:cNvPicPr>
            <a:picLocks noChangeAspect="1"/>
          </p:cNvPicPr>
          <p:nvPr/>
        </p:nvPicPr>
        <p:blipFill>
          <a:blip r:embed="rId2"/>
          <a:stretch>
            <a:fillRect/>
          </a:stretch>
        </p:blipFill>
        <p:spPr>
          <a:xfrm>
            <a:off x="1393902" y="2128520"/>
            <a:ext cx="9487830" cy="3994864"/>
          </a:xfrm>
          <a:prstGeom prst="rect">
            <a:avLst/>
          </a:prstGeom>
          <a:effectLst>
            <a:outerShdw blurRad="50800" dist="38100" dir="2700000">
              <a:srgbClr val="000000">
                <a:alpha val="40000"/>
              </a:srgbClr>
            </a:outerShdw>
          </a:effectLst>
        </p:spPr>
      </p:pic>
    </p:spTree>
    <p:extLst>
      <p:ext uri="{BB962C8B-B14F-4D97-AF65-F5344CB8AC3E}">
        <p14:creationId xmlns:p14="http://schemas.microsoft.com/office/powerpoint/2010/main" val="31466910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9" name="Foliennummernplatzhalter 5"/>
          <p:cNvSpPr>
            <a:spLocks noGrp="1"/>
          </p:cNvSpPr>
          <p:nvPr>
            <p:ph type="sldNum" sz="quarter" idx="12"/>
          </p:nvPr>
        </p:nvSpPr>
        <p:spPr>
          <a:noFill/>
        </p:spPr>
        <p:txBody>
          <a:bodyPr/>
          <a:lstStyle/>
          <a:p>
            <a:fld id="{4ACCD8DA-ADF9-4473-9BD1-76EC6243D444}" type="slidenum">
              <a:rPr lang="de-DE" smtClean="0"/>
              <a:pPr/>
              <a:t>36</a:t>
            </a:fld>
            <a:endParaRPr lang="de-DE"/>
          </a:p>
        </p:txBody>
      </p:sp>
      <p:sp>
        <p:nvSpPr>
          <p:cNvPr id="4100" name="!!thesis title"/>
          <p:cNvSpPr>
            <a:spLocks noGrp="1"/>
          </p:cNvSpPr>
          <p:nvPr>
            <p:ph type="title"/>
          </p:nvPr>
        </p:nvSpPr>
        <p:spPr/>
        <p:txBody>
          <a:bodyPr/>
          <a:lstStyle/>
          <a:p>
            <a:pPr eaLnBrk="1" hangingPunct="1"/>
            <a:r>
              <a:rPr lang="de-DE">
                <a:latin typeface="Arial" charset="0"/>
                <a:cs typeface="Arial" charset="0"/>
              </a:rPr>
              <a:t>Agenda</a:t>
            </a:r>
          </a:p>
        </p:txBody>
      </p:sp>
      <p:sp>
        <p:nvSpPr>
          <p:cNvPr id="4101" name="!!Introduction"/>
          <p:cNvSpPr>
            <a:spLocks noGrp="1"/>
          </p:cNvSpPr>
          <p:nvPr>
            <p:ph type="body" idx="1"/>
          </p:nvPr>
        </p:nvSpPr>
        <p:spPr>
          <a:xfrm>
            <a:off x="909896" y="1719754"/>
            <a:ext cx="10574399" cy="574655"/>
          </a:xfrm>
        </p:spPr>
        <p:txBody>
          <a:bodyPr/>
          <a:lstStyle/>
          <a:p>
            <a:pPr marL="271145" indent="-271145" eaLnBrk="1" hangingPunct="1">
              <a:lnSpc>
                <a:spcPct val="200000"/>
              </a:lnSpc>
            </a:pPr>
            <a:r>
              <a:rPr lang="de-DE" err="1">
                <a:latin typeface="Arial"/>
                <a:cs typeface="Arial"/>
              </a:rPr>
              <a:t>Introduction</a:t>
            </a:r>
            <a:endParaRPr lang="de-DE" err="1">
              <a:latin typeface="Arial" charset="0"/>
              <a:cs typeface="Arial" charset="0"/>
            </a:endParaRPr>
          </a:p>
        </p:txBody>
      </p:sp>
      <p:sp>
        <p:nvSpPr>
          <p:cNvPr id="4" name="!!System Design">
            <a:extLst>
              <a:ext uri="{FF2B5EF4-FFF2-40B4-BE49-F238E27FC236}">
                <a16:creationId xmlns:a16="http://schemas.microsoft.com/office/drawing/2014/main" id="{B8F86B42-C014-8372-E127-0788B6B341D0}"/>
              </a:ext>
            </a:extLst>
          </p:cNvPr>
          <p:cNvSpPr txBox="1">
            <a:spLocks/>
          </p:cNvSpPr>
          <p:nvPr/>
        </p:nvSpPr>
        <p:spPr bwMode="auto">
          <a:xfrm>
            <a:off x="903958" y="229768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b="1">
                <a:latin typeface="Arial"/>
                <a:cs typeface="Arial"/>
              </a:rPr>
              <a:t>System Design and Architecture</a:t>
            </a:r>
            <a:endParaRPr lang="de-DE" b="1">
              <a:latin typeface="Arial" charset="0"/>
              <a:cs typeface="Arial" charset="0"/>
            </a:endParaRPr>
          </a:p>
        </p:txBody>
      </p:sp>
      <p:sp>
        <p:nvSpPr>
          <p:cNvPr id="6" name="!!Dataset Collection">
            <a:extLst>
              <a:ext uri="{FF2B5EF4-FFF2-40B4-BE49-F238E27FC236}">
                <a16:creationId xmlns:a16="http://schemas.microsoft.com/office/drawing/2014/main" id="{5D2C1CED-C8C2-C11A-02BF-830224113D14}"/>
              </a:ext>
            </a:extLst>
          </p:cNvPr>
          <p:cNvSpPr txBox="1">
            <a:spLocks/>
          </p:cNvSpPr>
          <p:nvPr/>
        </p:nvSpPr>
        <p:spPr bwMode="auto">
          <a:xfrm>
            <a:off x="898021" y="285582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a:latin typeface="Arial"/>
                <a:cs typeface="Arial"/>
              </a:rPr>
              <a:t>Dataset Collection</a:t>
            </a:r>
            <a:endParaRPr lang="de-DE">
              <a:latin typeface="Arial" charset="0"/>
              <a:cs typeface="Arial" charset="0"/>
            </a:endParaRPr>
          </a:p>
        </p:txBody>
      </p:sp>
      <p:sp>
        <p:nvSpPr>
          <p:cNvPr id="8" name="!!Model Training">
            <a:extLst>
              <a:ext uri="{FF2B5EF4-FFF2-40B4-BE49-F238E27FC236}">
                <a16:creationId xmlns:a16="http://schemas.microsoft.com/office/drawing/2014/main" id="{B14C5E6F-6622-39FF-243A-A0581C1C9E5C}"/>
              </a:ext>
            </a:extLst>
          </p:cNvPr>
          <p:cNvSpPr txBox="1">
            <a:spLocks/>
          </p:cNvSpPr>
          <p:nvPr/>
        </p:nvSpPr>
        <p:spPr bwMode="auto">
          <a:xfrm>
            <a:off x="901979" y="3433759"/>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a:latin typeface="Arial"/>
                <a:cs typeface="Arial"/>
              </a:rPr>
              <a:t>Model Training</a:t>
            </a:r>
            <a:endParaRPr lang="de-DE" err="1">
              <a:latin typeface="Arial" charset="0"/>
              <a:cs typeface="Arial" charset="0"/>
            </a:endParaRPr>
          </a:p>
        </p:txBody>
      </p:sp>
      <p:sp>
        <p:nvSpPr>
          <p:cNvPr id="10" name="!!Performance Evaluation">
            <a:extLst>
              <a:ext uri="{FF2B5EF4-FFF2-40B4-BE49-F238E27FC236}">
                <a16:creationId xmlns:a16="http://schemas.microsoft.com/office/drawing/2014/main" id="{9ABC9B59-1D6B-BFA5-120E-7C52FD0A4394}"/>
              </a:ext>
            </a:extLst>
          </p:cNvPr>
          <p:cNvSpPr txBox="1">
            <a:spLocks/>
          </p:cNvSpPr>
          <p:nvPr/>
        </p:nvSpPr>
        <p:spPr bwMode="auto">
          <a:xfrm>
            <a:off x="896042" y="4011692"/>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a:latin typeface="Arial"/>
                <a:cs typeface="Arial"/>
              </a:rPr>
              <a:t>Performance Evaluation</a:t>
            </a:r>
            <a:endParaRPr lang="de-DE" err="1">
              <a:latin typeface="Arial" charset="0"/>
              <a:cs typeface="Arial" charset="0"/>
            </a:endParaRPr>
          </a:p>
        </p:txBody>
      </p:sp>
      <p:sp>
        <p:nvSpPr>
          <p:cNvPr id="12" name="!!Conclusion">
            <a:extLst>
              <a:ext uri="{FF2B5EF4-FFF2-40B4-BE49-F238E27FC236}">
                <a16:creationId xmlns:a16="http://schemas.microsoft.com/office/drawing/2014/main" id="{C8D04170-2B01-10A4-F418-3720BD4137C5}"/>
              </a:ext>
            </a:extLst>
          </p:cNvPr>
          <p:cNvSpPr txBox="1">
            <a:spLocks/>
          </p:cNvSpPr>
          <p:nvPr/>
        </p:nvSpPr>
        <p:spPr bwMode="auto">
          <a:xfrm>
            <a:off x="909896" y="4589624"/>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err="1">
                <a:latin typeface="Arial"/>
                <a:cs typeface="Arial"/>
              </a:rPr>
              <a:t>Conclusion</a:t>
            </a:r>
            <a:r>
              <a:rPr lang="de-DE">
                <a:latin typeface="Arial"/>
                <a:cs typeface="Arial"/>
              </a:rPr>
              <a:t> and Future Work</a:t>
            </a:r>
            <a:endParaRPr lang="de-DE">
              <a:latin typeface="Arial" charset="0"/>
              <a:cs typeface="Arial" charset="0"/>
            </a:endParaRPr>
          </a:p>
        </p:txBody>
      </p:sp>
      <p:pic>
        <p:nvPicPr>
          <p:cNvPr id="5" name="Grafik 4" descr="Ein Bild, das Text, Screenshot, Grafikdesign, Grafiken enthält.&#10;&#10;Beschreibung automatisch generiert.">
            <a:extLst>
              <a:ext uri="{FF2B5EF4-FFF2-40B4-BE49-F238E27FC236}">
                <a16:creationId xmlns:a16="http://schemas.microsoft.com/office/drawing/2014/main" id="{C1E87D55-8F82-7785-C532-3347F040AE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05744" y="2010433"/>
            <a:ext cx="6372225" cy="2876550"/>
          </a:xfrm>
          <a:prstGeom prst="rect">
            <a:avLst/>
          </a:prstGeom>
        </p:spPr>
      </p:pic>
    </p:spTree>
    <p:extLst>
      <p:ext uri="{BB962C8B-B14F-4D97-AF65-F5344CB8AC3E}">
        <p14:creationId xmlns:p14="http://schemas.microsoft.com/office/powerpoint/2010/main" val="2136601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ystem Desig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a:latin typeface="Arial"/>
                <a:cs typeface="Arial"/>
              </a:rPr>
              <a:t>System Design and Architecture</a:t>
            </a:r>
            <a:endParaRPr lang="de-DE"/>
          </a:p>
        </p:txBody>
      </p:sp>
      <p:sp>
        <p:nvSpPr>
          <p:cNvPr id="3" name="Inhaltsplatzhalter 2">
            <a:extLst>
              <a:ext uri="{FF2B5EF4-FFF2-40B4-BE49-F238E27FC236}">
                <a16:creationId xmlns:a16="http://schemas.microsoft.com/office/drawing/2014/main" id="{EC603C8C-59B1-674B-5614-32BD467CAF07}"/>
              </a:ext>
            </a:extLst>
          </p:cNvPr>
          <p:cNvSpPr>
            <a:spLocks noGrp="1"/>
          </p:cNvSpPr>
          <p:nvPr>
            <p:ph idx="1"/>
          </p:nvPr>
        </p:nvSpPr>
        <p:spPr/>
        <p:txBody>
          <a:bodyPr/>
          <a:lstStyle/>
          <a:p>
            <a:pPr marL="271145" indent="-271145"/>
            <a:r>
              <a:rPr lang="de-DE">
                <a:latin typeface="Arial"/>
                <a:cs typeface="Arial"/>
              </a:rPr>
              <a:t>Set </a:t>
            </a:r>
            <a:r>
              <a:rPr lang="de-DE" err="1">
                <a:latin typeface="Arial"/>
                <a:cs typeface="Arial"/>
              </a:rPr>
              <a:t>up</a:t>
            </a:r>
            <a:r>
              <a:rPr lang="de-DE">
                <a:latin typeface="Arial"/>
                <a:cs typeface="Arial"/>
              </a:rPr>
              <a:t> </a:t>
            </a:r>
            <a:r>
              <a:rPr lang="de-DE" err="1">
                <a:latin typeface="Arial"/>
                <a:cs typeface="Arial"/>
              </a:rPr>
              <a:t>system</a:t>
            </a:r>
            <a:r>
              <a:rPr lang="de-DE">
                <a:latin typeface="Arial"/>
                <a:cs typeface="Arial"/>
              </a:rPr>
              <a:t> </a:t>
            </a:r>
            <a:r>
              <a:rPr lang="de-DE" err="1">
                <a:latin typeface="Arial"/>
                <a:cs typeface="Arial"/>
              </a:rPr>
              <a:t>requirements</a:t>
            </a:r>
            <a:r>
              <a:rPr lang="de-DE">
                <a:latin typeface="Arial"/>
                <a:cs typeface="Arial"/>
              </a:rPr>
              <a:t> </a:t>
            </a:r>
            <a:r>
              <a:rPr lang="de-DE" err="1">
                <a:latin typeface="Arial"/>
                <a:cs typeface="Arial"/>
              </a:rPr>
              <a:t>based</a:t>
            </a:r>
            <a:r>
              <a:rPr lang="de-DE">
                <a:latin typeface="Arial"/>
                <a:cs typeface="Arial"/>
              </a:rPr>
              <a:t> on </a:t>
            </a:r>
            <a:r>
              <a:rPr lang="de-DE" err="1">
                <a:latin typeface="Arial"/>
                <a:cs typeface="Arial"/>
              </a:rPr>
              <a:t>Stakeholder's</a:t>
            </a:r>
            <a:r>
              <a:rPr lang="de-DE">
                <a:latin typeface="Arial"/>
                <a:cs typeface="Arial"/>
              </a:rPr>
              <a:t> </a:t>
            </a:r>
            <a:r>
              <a:rPr lang="de-DE" err="1">
                <a:latin typeface="Arial"/>
                <a:cs typeface="Arial"/>
              </a:rPr>
              <a:t>opinions</a:t>
            </a:r>
          </a:p>
          <a:p>
            <a:pPr marL="271145" indent="-271145"/>
            <a:r>
              <a:rPr lang="de-DE" err="1">
                <a:latin typeface="Arial"/>
                <a:cs typeface="Arial"/>
              </a:rPr>
              <a:t>Prioritize</a:t>
            </a:r>
            <a:r>
              <a:rPr lang="de-DE">
                <a:latin typeface="Arial"/>
                <a:cs typeface="Arial"/>
              </a:rPr>
              <a:t> </a:t>
            </a:r>
            <a:r>
              <a:rPr lang="de-DE" err="1">
                <a:latin typeface="Arial"/>
                <a:cs typeface="Arial"/>
              </a:rPr>
              <a:t>requirements</a:t>
            </a:r>
            <a:r>
              <a:rPr lang="de-DE">
                <a:latin typeface="Arial"/>
                <a:cs typeface="Arial"/>
              </a:rPr>
              <a:t> </a:t>
            </a:r>
            <a:r>
              <a:rPr lang="de-DE" err="1">
                <a:latin typeface="Arial"/>
                <a:cs typeface="Arial"/>
              </a:rPr>
              <a:t>to</a:t>
            </a:r>
            <a:r>
              <a:rPr lang="de-DE">
                <a:latin typeface="Arial"/>
                <a:cs typeface="Arial"/>
              </a:rPr>
              <a:t> "Must-have" and "</a:t>
            </a:r>
            <a:r>
              <a:rPr lang="de-DE" err="1">
                <a:latin typeface="Arial"/>
                <a:cs typeface="Arial"/>
              </a:rPr>
              <a:t>Good-to-have</a:t>
            </a:r>
            <a:r>
              <a:rPr lang="de-DE">
                <a:latin typeface="Arial"/>
                <a:cs typeface="Arial"/>
              </a:rPr>
              <a:t>" </a:t>
            </a:r>
            <a:r>
              <a:rPr lang="de-DE" err="1">
                <a:latin typeface="Arial"/>
                <a:cs typeface="Arial"/>
              </a:rPr>
              <a:t>requirements</a:t>
            </a:r>
            <a:endParaRPr lang="de-DE" err="1"/>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37</a:t>
            </a:fld>
            <a:endParaRPr lang="de-DE"/>
          </a:p>
        </p:txBody>
      </p:sp>
      <p:sp>
        <p:nvSpPr>
          <p:cNvPr id="7" name="Rectangle 4">
            <a:extLst>
              <a:ext uri="{FF2B5EF4-FFF2-40B4-BE49-F238E27FC236}">
                <a16:creationId xmlns:a16="http://schemas.microsoft.com/office/drawing/2014/main" id="{ADF64326-0CAA-455B-C7F7-460725BF5174}"/>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a:latin typeface="Arial"/>
                <a:cs typeface="Arial"/>
              </a:rPr>
              <a:t>KANO </a:t>
            </a:r>
            <a:r>
              <a:rPr lang="de-DE" b="1" err="1">
                <a:latin typeface="Arial"/>
                <a:cs typeface="Arial"/>
              </a:rPr>
              <a:t>model</a:t>
            </a:r>
            <a:r>
              <a:rPr lang="de-DE" b="1">
                <a:latin typeface="Arial"/>
                <a:cs typeface="Arial"/>
              </a:rPr>
              <a:t> </a:t>
            </a:r>
            <a:r>
              <a:rPr lang="de-DE" b="1" err="1">
                <a:latin typeface="Arial"/>
                <a:cs typeface="Arial"/>
              </a:rPr>
              <a:t>survey</a:t>
            </a:r>
            <a:endParaRPr lang="de-DE" err="1"/>
          </a:p>
        </p:txBody>
      </p:sp>
    </p:spTree>
    <p:extLst>
      <p:ext uri="{BB962C8B-B14F-4D97-AF65-F5344CB8AC3E}">
        <p14:creationId xmlns:p14="http://schemas.microsoft.com/office/powerpoint/2010/main" val="139339738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ystem Desig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a:latin typeface="Arial"/>
                <a:cs typeface="Arial"/>
              </a:rPr>
              <a:t>System Design and Architecture</a:t>
            </a:r>
            <a:endParaRPr lang="de-DE"/>
          </a:p>
        </p:txBody>
      </p:sp>
      <p:pic>
        <p:nvPicPr>
          <p:cNvPr id="5" name="Inhaltsplatzhalter 4" descr="Ein Bild, das Text, Diagramm, Screenshot, Plan enthält.&#10;&#10;Beschreibung automatisch generiert.">
            <a:extLst>
              <a:ext uri="{FF2B5EF4-FFF2-40B4-BE49-F238E27FC236}">
                <a16:creationId xmlns:a16="http://schemas.microsoft.com/office/drawing/2014/main" id="{D4248606-8B11-EF51-E29C-9759812C4E38}"/>
              </a:ext>
            </a:extLst>
          </p:cNvPr>
          <p:cNvPicPr>
            <a:picLocks noGrp="1" noChangeAspect="1"/>
          </p:cNvPicPr>
          <p:nvPr>
            <p:ph idx="1"/>
          </p:nvPr>
        </p:nvPicPr>
        <p:blipFill>
          <a:blip r:embed="rId2"/>
          <a:stretch>
            <a:fillRect/>
          </a:stretch>
        </p:blipFill>
        <p:spPr>
          <a:xfrm>
            <a:off x="2642694" y="2286003"/>
            <a:ext cx="7039965" cy="3983039"/>
          </a:xfrm>
          <a:effectLst>
            <a:outerShdw blurRad="50800" dist="38100" dir="2700000">
              <a:srgbClr val="000000">
                <a:alpha val="40000"/>
              </a:srgbClr>
            </a:outerShdw>
          </a:effectLst>
        </p:spPr>
      </p:pic>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38</a:t>
            </a:fld>
            <a:endParaRPr lang="de-DE"/>
          </a:p>
        </p:txBody>
      </p:sp>
      <p:sp>
        <p:nvSpPr>
          <p:cNvPr id="7" name="Rectangle 4">
            <a:extLst>
              <a:ext uri="{FF2B5EF4-FFF2-40B4-BE49-F238E27FC236}">
                <a16:creationId xmlns:a16="http://schemas.microsoft.com/office/drawing/2014/main" id="{ADF64326-0CAA-455B-C7F7-460725BF5174}"/>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err="1">
                <a:latin typeface="Arial"/>
                <a:cs typeface="Arial"/>
              </a:rPr>
              <a:t>Graphical</a:t>
            </a:r>
            <a:r>
              <a:rPr lang="de-DE" b="1">
                <a:latin typeface="Arial"/>
                <a:cs typeface="Arial"/>
              </a:rPr>
              <a:t> User Interface Design</a:t>
            </a:r>
            <a:endParaRPr lang="de-DE" b="1">
              <a:cs typeface="Arial"/>
            </a:endParaRPr>
          </a:p>
        </p:txBody>
      </p:sp>
    </p:spTree>
    <p:extLst>
      <p:ext uri="{BB962C8B-B14F-4D97-AF65-F5344CB8AC3E}">
        <p14:creationId xmlns:p14="http://schemas.microsoft.com/office/powerpoint/2010/main" val="207210940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Inhaltsplatzhalter 2">
            <a:extLst>
              <a:ext uri="{FF2B5EF4-FFF2-40B4-BE49-F238E27FC236}">
                <a16:creationId xmlns:a16="http://schemas.microsoft.com/office/drawing/2014/main" id="{DCEB0995-BBD6-1B4C-1058-175EF322BF00}"/>
              </a:ext>
            </a:extLst>
          </p:cNvPr>
          <p:cNvSpPr txBox="1">
            <a:spLocks/>
          </p:cNvSpPr>
          <p:nvPr/>
        </p:nvSpPr>
        <p:spPr bwMode="auto">
          <a:xfrm>
            <a:off x="857252" y="2143128"/>
            <a:ext cx="10572749" cy="39830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r>
              <a:rPr lang="de-DE" err="1">
                <a:latin typeface="Arial"/>
                <a:cs typeface="Arial"/>
              </a:rPr>
              <a:t>Managed</a:t>
            </a:r>
            <a:r>
              <a:rPr lang="de-DE">
                <a:latin typeface="Arial"/>
                <a:cs typeface="Arial"/>
              </a:rPr>
              <a:t> </a:t>
            </a:r>
            <a:r>
              <a:rPr lang="de-DE" err="1">
                <a:latin typeface="Arial"/>
                <a:cs typeface="Arial"/>
              </a:rPr>
              <a:t>through</a:t>
            </a:r>
            <a:r>
              <a:rPr lang="de-DE">
                <a:latin typeface="Arial"/>
                <a:cs typeface="Arial"/>
              </a:rPr>
              <a:t> Data Version Control (DVC)</a:t>
            </a:r>
            <a:endParaRPr lang="de-DE"/>
          </a:p>
        </p:txBody>
      </p:sp>
      <p:sp>
        <p:nvSpPr>
          <p:cNvPr id="2" name="!!System Desig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a:latin typeface="Arial"/>
                <a:cs typeface="Arial"/>
              </a:rPr>
              <a:t>System Design and Architecture</a:t>
            </a:r>
            <a:endParaRPr lang="de-DE"/>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39</a:t>
            </a:fld>
            <a:endParaRPr lang="de-DE"/>
          </a:p>
        </p:txBody>
      </p:sp>
      <p:sp>
        <p:nvSpPr>
          <p:cNvPr id="7" name="Rectangle 4">
            <a:extLst>
              <a:ext uri="{FF2B5EF4-FFF2-40B4-BE49-F238E27FC236}">
                <a16:creationId xmlns:a16="http://schemas.microsoft.com/office/drawing/2014/main" id="{ADF64326-0CAA-455B-C7F7-460725BF5174}"/>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a:latin typeface="Arial"/>
                <a:cs typeface="Arial"/>
              </a:rPr>
              <a:t>System Pipeline</a:t>
            </a:r>
            <a:endParaRPr lang="de-DE"/>
          </a:p>
        </p:txBody>
      </p:sp>
      <p:pic>
        <p:nvPicPr>
          <p:cNvPr id="8" name="Inhaltsplatzhalter 7" descr="Ein Bild, das Text, Schrift, Screenshot, Reihe enthält.&#10;&#10;Beschreibung automatisch generiert.">
            <a:extLst>
              <a:ext uri="{FF2B5EF4-FFF2-40B4-BE49-F238E27FC236}">
                <a16:creationId xmlns:a16="http://schemas.microsoft.com/office/drawing/2014/main" id="{B7A8CE79-92A6-9433-D11E-D3A777E25AC3}"/>
              </a:ext>
            </a:extLst>
          </p:cNvPr>
          <p:cNvPicPr>
            <a:picLocks noGrp="1" noChangeAspect="1"/>
          </p:cNvPicPr>
          <p:nvPr>
            <p:ph idx="1"/>
          </p:nvPr>
        </p:nvPicPr>
        <p:blipFill>
          <a:blip r:embed="rId4"/>
          <a:stretch>
            <a:fillRect/>
          </a:stretch>
        </p:blipFill>
        <p:spPr>
          <a:xfrm>
            <a:off x="1314103" y="3426893"/>
            <a:ext cx="9556827" cy="1935898"/>
          </a:xfrm>
          <a:effectLst>
            <a:outerShdw blurRad="50800" dist="38100" dir="2700000">
              <a:srgbClr val="000000">
                <a:alpha val="40000"/>
              </a:srgbClr>
            </a:outerShdw>
          </a:effectLst>
        </p:spPr>
      </p:pic>
    </p:spTree>
    <p:extLst>
      <p:ext uri="{BB962C8B-B14F-4D97-AF65-F5344CB8AC3E}">
        <p14:creationId xmlns:p14="http://schemas.microsoft.com/office/powerpoint/2010/main" val="38341410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9" name="Foliennummernplatzhalter 5"/>
          <p:cNvSpPr>
            <a:spLocks noGrp="1"/>
          </p:cNvSpPr>
          <p:nvPr>
            <p:ph type="sldNum" sz="quarter" idx="12"/>
          </p:nvPr>
        </p:nvSpPr>
        <p:spPr>
          <a:noFill/>
        </p:spPr>
        <p:txBody>
          <a:bodyPr/>
          <a:lstStyle/>
          <a:p>
            <a:fld id="{4ACCD8DA-ADF9-4473-9BD1-76EC6243D444}" type="slidenum">
              <a:rPr lang="de-DE" smtClean="0"/>
              <a:pPr/>
              <a:t>40</a:t>
            </a:fld>
            <a:endParaRPr lang="de-DE"/>
          </a:p>
        </p:txBody>
      </p:sp>
      <p:sp>
        <p:nvSpPr>
          <p:cNvPr id="4100" name="!!thesis title"/>
          <p:cNvSpPr>
            <a:spLocks noGrp="1"/>
          </p:cNvSpPr>
          <p:nvPr>
            <p:ph type="title"/>
          </p:nvPr>
        </p:nvSpPr>
        <p:spPr/>
        <p:txBody>
          <a:bodyPr/>
          <a:lstStyle/>
          <a:p>
            <a:pPr eaLnBrk="1" hangingPunct="1"/>
            <a:r>
              <a:rPr lang="de-DE">
                <a:latin typeface="Arial" charset="0"/>
                <a:cs typeface="Arial" charset="0"/>
              </a:rPr>
              <a:t>Agenda</a:t>
            </a:r>
          </a:p>
        </p:txBody>
      </p:sp>
      <p:sp>
        <p:nvSpPr>
          <p:cNvPr id="4101" name="!!Introduction"/>
          <p:cNvSpPr>
            <a:spLocks noGrp="1"/>
          </p:cNvSpPr>
          <p:nvPr>
            <p:ph type="body" idx="1"/>
          </p:nvPr>
        </p:nvSpPr>
        <p:spPr>
          <a:xfrm>
            <a:off x="909896" y="1719754"/>
            <a:ext cx="10574399" cy="574655"/>
          </a:xfrm>
        </p:spPr>
        <p:txBody>
          <a:bodyPr/>
          <a:lstStyle/>
          <a:p>
            <a:pPr marL="271145" indent="-271145" eaLnBrk="1" hangingPunct="1">
              <a:lnSpc>
                <a:spcPct val="200000"/>
              </a:lnSpc>
            </a:pPr>
            <a:r>
              <a:rPr lang="de-DE" err="1">
                <a:latin typeface="Arial"/>
                <a:cs typeface="Arial"/>
              </a:rPr>
              <a:t>Introduction</a:t>
            </a:r>
            <a:endParaRPr lang="de-DE" err="1">
              <a:latin typeface="Arial" charset="0"/>
              <a:cs typeface="Arial" charset="0"/>
            </a:endParaRPr>
          </a:p>
        </p:txBody>
      </p:sp>
      <p:sp>
        <p:nvSpPr>
          <p:cNvPr id="4" name="!!System Design">
            <a:extLst>
              <a:ext uri="{FF2B5EF4-FFF2-40B4-BE49-F238E27FC236}">
                <a16:creationId xmlns:a16="http://schemas.microsoft.com/office/drawing/2014/main" id="{B8F86B42-C014-8372-E127-0788B6B341D0}"/>
              </a:ext>
            </a:extLst>
          </p:cNvPr>
          <p:cNvSpPr txBox="1">
            <a:spLocks/>
          </p:cNvSpPr>
          <p:nvPr/>
        </p:nvSpPr>
        <p:spPr bwMode="auto">
          <a:xfrm>
            <a:off x="903958" y="229768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a:latin typeface="Arial"/>
                <a:cs typeface="Arial"/>
              </a:rPr>
              <a:t>System Design and Architecture</a:t>
            </a:r>
            <a:endParaRPr lang="de-DE">
              <a:latin typeface="Arial" charset="0"/>
              <a:cs typeface="Arial" charset="0"/>
            </a:endParaRPr>
          </a:p>
        </p:txBody>
      </p:sp>
      <p:sp>
        <p:nvSpPr>
          <p:cNvPr id="6" name="!!Dataset Collection">
            <a:extLst>
              <a:ext uri="{FF2B5EF4-FFF2-40B4-BE49-F238E27FC236}">
                <a16:creationId xmlns:a16="http://schemas.microsoft.com/office/drawing/2014/main" id="{5D2C1CED-C8C2-C11A-02BF-830224113D14}"/>
              </a:ext>
            </a:extLst>
          </p:cNvPr>
          <p:cNvSpPr txBox="1">
            <a:spLocks/>
          </p:cNvSpPr>
          <p:nvPr/>
        </p:nvSpPr>
        <p:spPr bwMode="auto">
          <a:xfrm>
            <a:off x="898021" y="285582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b="1">
                <a:latin typeface="Arial"/>
                <a:cs typeface="Arial"/>
              </a:rPr>
              <a:t>Dataset Collection</a:t>
            </a:r>
            <a:endParaRPr lang="de-DE" b="1">
              <a:latin typeface="Arial" charset="0"/>
              <a:cs typeface="Arial" charset="0"/>
            </a:endParaRPr>
          </a:p>
        </p:txBody>
      </p:sp>
      <p:sp>
        <p:nvSpPr>
          <p:cNvPr id="8" name="!!Model Training">
            <a:extLst>
              <a:ext uri="{FF2B5EF4-FFF2-40B4-BE49-F238E27FC236}">
                <a16:creationId xmlns:a16="http://schemas.microsoft.com/office/drawing/2014/main" id="{B14C5E6F-6622-39FF-243A-A0581C1C9E5C}"/>
              </a:ext>
            </a:extLst>
          </p:cNvPr>
          <p:cNvSpPr txBox="1">
            <a:spLocks/>
          </p:cNvSpPr>
          <p:nvPr/>
        </p:nvSpPr>
        <p:spPr bwMode="auto">
          <a:xfrm>
            <a:off x="901979" y="3433759"/>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a:latin typeface="Arial"/>
                <a:cs typeface="Arial"/>
              </a:rPr>
              <a:t>Model Training</a:t>
            </a:r>
            <a:endParaRPr lang="de-DE" err="1">
              <a:latin typeface="Arial" charset="0"/>
              <a:cs typeface="Arial" charset="0"/>
            </a:endParaRPr>
          </a:p>
        </p:txBody>
      </p:sp>
      <p:sp>
        <p:nvSpPr>
          <p:cNvPr id="10" name="!!Performance Evaluation">
            <a:extLst>
              <a:ext uri="{FF2B5EF4-FFF2-40B4-BE49-F238E27FC236}">
                <a16:creationId xmlns:a16="http://schemas.microsoft.com/office/drawing/2014/main" id="{9ABC9B59-1D6B-BFA5-120E-7C52FD0A4394}"/>
              </a:ext>
            </a:extLst>
          </p:cNvPr>
          <p:cNvSpPr txBox="1">
            <a:spLocks/>
          </p:cNvSpPr>
          <p:nvPr/>
        </p:nvSpPr>
        <p:spPr bwMode="auto">
          <a:xfrm>
            <a:off x="896042" y="4011692"/>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a:latin typeface="Arial"/>
                <a:cs typeface="Arial"/>
              </a:rPr>
              <a:t>Performance Evaluation</a:t>
            </a:r>
            <a:endParaRPr lang="de-DE" err="1">
              <a:latin typeface="Arial" charset="0"/>
              <a:cs typeface="Arial" charset="0"/>
            </a:endParaRPr>
          </a:p>
        </p:txBody>
      </p:sp>
      <p:sp>
        <p:nvSpPr>
          <p:cNvPr id="12" name="!!Conclusion">
            <a:extLst>
              <a:ext uri="{FF2B5EF4-FFF2-40B4-BE49-F238E27FC236}">
                <a16:creationId xmlns:a16="http://schemas.microsoft.com/office/drawing/2014/main" id="{C8D04170-2B01-10A4-F418-3720BD4137C5}"/>
              </a:ext>
            </a:extLst>
          </p:cNvPr>
          <p:cNvSpPr txBox="1">
            <a:spLocks/>
          </p:cNvSpPr>
          <p:nvPr/>
        </p:nvSpPr>
        <p:spPr bwMode="auto">
          <a:xfrm>
            <a:off x="909896" y="4589624"/>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err="1">
                <a:latin typeface="Arial"/>
                <a:cs typeface="Arial"/>
              </a:rPr>
              <a:t>Conclusion</a:t>
            </a:r>
            <a:r>
              <a:rPr lang="de-DE">
                <a:latin typeface="Arial"/>
                <a:cs typeface="Arial"/>
              </a:rPr>
              <a:t> and Future Work</a:t>
            </a:r>
            <a:endParaRPr lang="de-DE">
              <a:latin typeface="Arial" charset="0"/>
              <a:cs typeface="Arial" charset="0"/>
            </a:endParaRPr>
          </a:p>
        </p:txBody>
      </p:sp>
      <p:pic>
        <p:nvPicPr>
          <p:cNvPr id="5" name="Grafik 4" descr="Ein Bild, das Text, Screenshot, Grafikdesign, Grafiken enthält.&#10;&#10;Beschreibung automatisch generiert.">
            <a:extLst>
              <a:ext uri="{FF2B5EF4-FFF2-40B4-BE49-F238E27FC236}">
                <a16:creationId xmlns:a16="http://schemas.microsoft.com/office/drawing/2014/main" id="{C1E87D55-8F82-7785-C532-3347F040AE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05744" y="2010433"/>
            <a:ext cx="6372225" cy="2876550"/>
          </a:xfrm>
          <a:prstGeom prst="rect">
            <a:avLst/>
          </a:prstGeom>
        </p:spPr>
      </p:pic>
    </p:spTree>
    <p:extLst>
      <p:ext uri="{BB962C8B-B14F-4D97-AF65-F5344CB8AC3E}">
        <p14:creationId xmlns:p14="http://schemas.microsoft.com/office/powerpoint/2010/main" val="42392292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aset Collection">
            <a:extLst>
              <a:ext uri="{FF2B5EF4-FFF2-40B4-BE49-F238E27FC236}">
                <a16:creationId xmlns:a16="http://schemas.microsoft.com/office/drawing/2014/main" id="{14C84ECF-FACA-A517-D283-82AEBA15D569}"/>
              </a:ext>
            </a:extLst>
          </p:cNvPr>
          <p:cNvSpPr>
            <a:spLocks noGrp="1"/>
          </p:cNvSpPr>
          <p:nvPr>
            <p:ph type="title"/>
          </p:nvPr>
        </p:nvSpPr>
        <p:spPr/>
        <p:txBody>
          <a:bodyPr/>
          <a:lstStyle/>
          <a:p>
            <a:r>
              <a:rPr lang="de-DE">
                <a:latin typeface="Arial"/>
                <a:cs typeface="Arial"/>
              </a:rPr>
              <a:t>Dataset Collection</a:t>
            </a:r>
            <a:endParaRPr lang="de-DE"/>
          </a:p>
        </p:txBody>
      </p:sp>
      <p:sp>
        <p:nvSpPr>
          <p:cNvPr id="3" name="Inhaltsplatzhalter 2">
            <a:extLst>
              <a:ext uri="{FF2B5EF4-FFF2-40B4-BE49-F238E27FC236}">
                <a16:creationId xmlns:a16="http://schemas.microsoft.com/office/drawing/2014/main" id="{EC603C8C-59B1-674B-5614-32BD467CAF07}"/>
              </a:ext>
            </a:extLst>
          </p:cNvPr>
          <p:cNvSpPr>
            <a:spLocks noGrp="1"/>
          </p:cNvSpPr>
          <p:nvPr>
            <p:ph idx="1"/>
          </p:nvPr>
        </p:nvSpPr>
        <p:spPr/>
        <p:txBody>
          <a:bodyPr/>
          <a:lstStyle/>
          <a:p>
            <a:pPr marL="271145" indent="-271145"/>
            <a:r>
              <a:rPr lang="de-DE" err="1">
                <a:latin typeface="Arial"/>
                <a:cs typeface="Arial"/>
              </a:rPr>
              <a:t>Convert</a:t>
            </a:r>
            <a:r>
              <a:rPr lang="de-DE">
                <a:latin typeface="Arial"/>
                <a:cs typeface="Arial"/>
              </a:rPr>
              <a:t> .</a:t>
            </a:r>
            <a:r>
              <a:rPr lang="de-DE" err="1">
                <a:latin typeface="Arial"/>
                <a:cs typeface="Arial"/>
              </a:rPr>
              <a:t>pgm</a:t>
            </a:r>
            <a:r>
              <a:rPr lang="de-DE">
                <a:latin typeface="Arial"/>
                <a:cs typeface="Arial"/>
              </a:rPr>
              <a:t> </a:t>
            </a:r>
            <a:r>
              <a:rPr lang="de-DE" err="1">
                <a:latin typeface="Arial"/>
                <a:cs typeface="Arial"/>
              </a:rPr>
              <a:t>to</a:t>
            </a:r>
            <a:r>
              <a:rPr lang="de-DE">
                <a:latin typeface="Arial"/>
                <a:cs typeface="Arial"/>
              </a:rPr>
              <a:t> .</a:t>
            </a:r>
            <a:r>
              <a:rPr lang="de-DE" err="1">
                <a:latin typeface="Arial"/>
                <a:cs typeface="Arial"/>
              </a:rPr>
              <a:t>jpg</a:t>
            </a:r>
            <a:endParaRPr lang="de-DE">
              <a:latin typeface="Arial"/>
              <a:cs typeface="Arial"/>
            </a:endParaRPr>
          </a:p>
          <a:p>
            <a:pPr marL="271145" indent="-271145"/>
            <a:r>
              <a:rPr lang="de-DE" err="1">
                <a:latin typeface="Arial"/>
                <a:cs typeface="Arial"/>
              </a:rPr>
              <a:t>Annotate</a:t>
            </a:r>
            <a:r>
              <a:rPr lang="de-DE">
                <a:latin typeface="Arial"/>
                <a:cs typeface="Arial"/>
              </a:rPr>
              <a:t> on </a:t>
            </a:r>
            <a:r>
              <a:rPr lang="de-DE" err="1">
                <a:latin typeface="Arial"/>
                <a:cs typeface="Arial"/>
              </a:rPr>
              <a:t>roboflow</a:t>
            </a:r>
            <a:endParaRPr lang="de-DE">
              <a:latin typeface="Arial"/>
              <a:cs typeface="Arial"/>
            </a:endParaRPr>
          </a:p>
          <a:p>
            <a:pPr marL="271145" indent="-271145"/>
            <a:r>
              <a:rPr lang="de-DE" err="1">
                <a:latin typeface="Arial"/>
                <a:cs typeface="Arial"/>
              </a:rPr>
              <a:t>Apply</a:t>
            </a:r>
            <a:r>
              <a:rPr lang="de-DE">
                <a:latin typeface="Arial"/>
                <a:cs typeface="Arial"/>
              </a:rPr>
              <a:t> </a:t>
            </a:r>
            <a:r>
              <a:rPr lang="de-DE" err="1">
                <a:latin typeface="Arial"/>
                <a:cs typeface="Arial"/>
              </a:rPr>
              <a:t>data</a:t>
            </a:r>
            <a:r>
              <a:rPr lang="de-DE">
                <a:latin typeface="Arial"/>
                <a:cs typeface="Arial"/>
              </a:rPr>
              <a:t> </a:t>
            </a:r>
            <a:r>
              <a:rPr lang="de-DE" err="1">
                <a:latin typeface="Arial"/>
                <a:cs typeface="Arial"/>
              </a:rPr>
              <a:t>augmentation</a:t>
            </a:r>
            <a:r>
              <a:rPr lang="de-DE">
                <a:latin typeface="Arial"/>
                <a:cs typeface="Arial"/>
              </a:rPr>
              <a:t> </a:t>
            </a:r>
            <a:r>
              <a:rPr lang="de-DE" err="1">
                <a:latin typeface="Arial"/>
                <a:cs typeface="Arial"/>
              </a:rPr>
              <a:t>to</a:t>
            </a:r>
            <a:r>
              <a:rPr lang="de-DE">
                <a:latin typeface="Arial"/>
                <a:cs typeface="Arial"/>
              </a:rPr>
              <a:t> </a:t>
            </a:r>
            <a:r>
              <a:rPr lang="de-DE" err="1">
                <a:latin typeface="Arial"/>
                <a:cs typeface="Arial"/>
              </a:rPr>
              <a:t>increase</a:t>
            </a:r>
            <a:r>
              <a:rPr lang="de-DE">
                <a:latin typeface="Arial"/>
                <a:cs typeface="Arial"/>
              </a:rPr>
              <a:t> </a:t>
            </a:r>
            <a:r>
              <a:rPr lang="de-DE" err="1">
                <a:latin typeface="Arial"/>
                <a:cs typeface="Arial"/>
              </a:rPr>
              <a:t>dataset</a:t>
            </a:r>
            <a:r>
              <a:rPr lang="de-DE">
                <a:latin typeface="Arial"/>
                <a:cs typeface="Arial"/>
              </a:rPr>
              <a:t> </a:t>
            </a:r>
            <a:r>
              <a:rPr lang="de-DE" err="1">
                <a:latin typeface="Arial"/>
                <a:cs typeface="Arial"/>
              </a:rPr>
              <a:t>size</a:t>
            </a:r>
            <a:endParaRPr lang="de-DE">
              <a:latin typeface="Arial"/>
              <a:cs typeface="Arial"/>
            </a:endParaRPr>
          </a:p>
        </p:txBody>
      </p:sp>
      <p:sp>
        <p:nvSpPr>
          <p:cNvPr id="4" name="Foliennummernplatzhalter 3">
            <a:extLst>
              <a:ext uri="{FF2B5EF4-FFF2-40B4-BE49-F238E27FC236}">
                <a16:creationId xmlns:a16="http://schemas.microsoft.com/office/drawing/2014/main" id="{2D34C1D4-960A-D53D-C74A-77C1E939CA72}"/>
              </a:ext>
            </a:extLst>
          </p:cNvPr>
          <p:cNvSpPr>
            <a:spLocks noGrp="1"/>
          </p:cNvSpPr>
          <p:nvPr>
            <p:ph type="sldNum" sz="quarter" idx="12"/>
          </p:nvPr>
        </p:nvSpPr>
        <p:spPr/>
        <p:txBody>
          <a:bodyPr/>
          <a:lstStyle/>
          <a:p>
            <a:pPr>
              <a:defRPr/>
            </a:pPr>
            <a:fld id="{C929A957-B8AC-4276-BB5E-21B31F81D38B}" type="slidenum">
              <a:rPr lang="de-DE" smtClean="0"/>
              <a:pPr>
                <a:defRPr/>
              </a:pPr>
              <a:t>41</a:t>
            </a:fld>
            <a:endParaRPr lang="de-DE"/>
          </a:p>
        </p:txBody>
      </p:sp>
      <p:sp>
        <p:nvSpPr>
          <p:cNvPr id="6" name="Rectangle 4">
            <a:extLst>
              <a:ext uri="{FF2B5EF4-FFF2-40B4-BE49-F238E27FC236}">
                <a16:creationId xmlns:a16="http://schemas.microsoft.com/office/drawing/2014/main" id="{969684BB-7A2F-9F4A-D7CB-1BBC84287026}"/>
              </a:ext>
            </a:extLst>
          </p:cNvPr>
          <p:cNvSpPr>
            <a:spLocks/>
          </p:cNvSpPr>
          <p:nvPr/>
        </p:nvSpPr>
        <p:spPr bwMode="auto">
          <a:xfrm>
            <a:off x="855818" y="1562747"/>
            <a:ext cx="7929563" cy="576263"/>
          </a:xfrm>
          <a:prstGeom prst="rect">
            <a:avLst/>
          </a:prstGeom>
          <a:noFill/>
          <a:ln w="9525">
            <a:noFill/>
            <a:miter lim="800000"/>
            <a:headEnd/>
            <a:tailEnd/>
          </a:ln>
        </p:spPr>
        <p:txBody>
          <a:bodyPr lIns="91440" tIns="45720" rIns="91440" bIns="45720" anchor="t"/>
          <a:lstStyle/>
          <a:p>
            <a:pPr marL="271145" indent="-271145">
              <a:spcBef>
                <a:spcPct val="20000"/>
              </a:spcBef>
            </a:pPr>
            <a:r>
              <a:rPr lang="de-DE" b="1">
                <a:latin typeface="Arial"/>
                <a:cs typeface="Arial"/>
              </a:rPr>
              <a:t>Image </a:t>
            </a:r>
            <a:r>
              <a:rPr lang="de-DE" b="1" err="1">
                <a:latin typeface="Arial"/>
                <a:cs typeface="Arial"/>
              </a:rPr>
              <a:t>Preprocessing</a:t>
            </a:r>
            <a:endParaRPr lang="de-DE" b="1" err="1">
              <a:cs typeface="Arial"/>
            </a:endParaRPr>
          </a:p>
        </p:txBody>
      </p:sp>
      <p:pic>
        <p:nvPicPr>
          <p:cNvPr id="12" name="Grafik 11" descr="Ein Bild, das Screenshot, Text, Rechteck, Buch enthält.&#10;&#10;Beschreibung automatisch generiert.">
            <a:extLst>
              <a:ext uri="{FF2B5EF4-FFF2-40B4-BE49-F238E27FC236}">
                <a16:creationId xmlns:a16="http://schemas.microsoft.com/office/drawing/2014/main" id="{2439BB52-B19E-66E1-31D5-A8CA261DD3B3}"/>
              </a:ext>
            </a:extLst>
          </p:cNvPr>
          <p:cNvPicPr>
            <a:picLocks noChangeAspect="1"/>
          </p:cNvPicPr>
          <p:nvPr/>
        </p:nvPicPr>
        <p:blipFill>
          <a:blip r:embed="rId2"/>
          <a:stretch>
            <a:fillRect/>
          </a:stretch>
        </p:blipFill>
        <p:spPr>
          <a:xfrm>
            <a:off x="859921" y="3139068"/>
            <a:ext cx="5035938" cy="3256157"/>
          </a:xfrm>
          <a:prstGeom prst="rect">
            <a:avLst/>
          </a:prstGeom>
          <a:effectLst>
            <a:outerShdw blurRad="50800" dist="38100" dir="2700000">
              <a:srgbClr val="000000">
                <a:alpha val="40000"/>
              </a:srgbClr>
            </a:outerShdw>
          </a:effectLst>
        </p:spPr>
      </p:pic>
      <p:pic>
        <p:nvPicPr>
          <p:cNvPr id="13" name="Grafik 12" descr="Ein Bild, das Screenshot, Farbigkeit, Reihe, Rechteck enthält.&#10;&#10;Beschreibung automatisch generiert.">
            <a:extLst>
              <a:ext uri="{FF2B5EF4-FFF2-40B4-BE49-F238E27FC236}">
                <a16:creationId xmlns:a16="http://schemas.microsoft.com/office/drawing/2014/main" id="{8796CE90-FDE5-8760-9DD8-F155E4F16C4D}"/>
              </a:ext>
            </a:extLst>
          </p:cNvPr>
          <p:cNvPicPr>
            <a:picLocks noChangeAspect="1"/>
          </p:cNvPicPr>
          <p:nvPr/>
        </p:nvPicPr>
        <p:blipFill>
          <a:blip r:embed="rId3"/>
          <a:stretch>
            <a:fillRect/>
          </a:stretch>
        </p:blipFill>
        <p:spPr>
          <a:xfrm>
            <a:off x="7594678" y="1232094"/>
            <a:ext cx="3368133" cy="5295203"/>
          </a:xfrm>
          <a:prstGeom prst="rect">
            <a:avLst/>
          </a:prstGeom>
          <a:effectLst>
            <a:outerShdw blurRad="50800" dist="38100" dir="2700000">
              <a:srgbClr val="000000">
                <a:alpha val="40000"/>
              </a:srgbClr>
            </a:outerShdw>
          </a:effectLst>
        </p:spPr>
      </p:pic>
    </p:spTree>
    <p:extLst>
      <p:ext uri="{BB962C8B-B14F-4D97-AF65-F5344CB8AC3E}">
        <p14:creationId xmlns:p14="http://schemas.microsoft.com/office/powerpoint/2010/main" val="7784819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9" name="Foliennummernplatzhalter 5"/>
          <p:cNvSpPr>
            <a:spLocks noGrp="1"/>
          </p:cNvSpPr>
          <p:nvPr>
            <p:ph type="sldNum" sz="quarter" idx="12"/>
          </p:nvPr>
        </p:nvSpPr>
        <p:spPr>
          <a:noFill/>
        </p:spPr>
        <p:txBody>
          <a:bodyPr/>
          <a:lstStyle/>
          <a:p>
            <a:fld id="{4ACCD8DA-ADF9-4473-9BD1-76EC6243D444}" type="slidenum">
              <a:rPr lang="de-DE" smtClean="0"/>
              <a:pPr/>
              <a:t>42</a:t>
            </a:fld>
            <a:endParaRPr lang="de-DE"/>
          </a:p>
        </p:txBody>
      </p:sp>
      <p:sp>
        <p:nvSpPr>
          <p:cNvPr id="4100" name="!!thesis title"/>
          <p:cNvSpPr>
            <a:spLocks noGrp="1"/>
          </p:cNvSpPr>
          <p:nvPr>
            <p:ph type="title"/>
          </p:nvPr>
        </p:nvSpPr>
        <p:spPr/>
        <p:txBody>
          <a:bodyPr/>
          <a:lstStyle/>
          <a:p>
            <a:pPr eaLnBrk="1" hangingPunct="1"/>
            <a:r>
              <a:rPr lang="de-DE">
                <a:latin typeface="Arial" charset="0"/>
                <a:cs typeface="Arial" charset="0"/>
              </a:rPr>
              <a:t>Agenda</a:t>
            </a:r>
          </a:p>
        </p:txBody>
      </p:sp>
      <p:sp>
        <p:nvSpPr>
          <p:cNvPr id="4101" name="!!Introduction"/>
          <p:cNvSpPr>
            <a:spLocks noGrp="1"/>
          </p:cNvSpPr>
          <p:nvPr>
            <p:ph type="body" idx="1"/>
          </p:nvPr>
        </p:nvSpPr>
        <p:spPr>
          <a:xfrm>
            <a:off x="909896" y="1719754"/>
            <a:ext cx="10574399" cy="574655"/>
          </a:xfrm>
        </p:spPr>
        <p:txBody>
          <a:bodyPr/>
          <a:lstStyle/>
          <a:p>
            <a:pPr marL="271145" indent="-271145" eaLnBrk="1" hangingPunct="1">
              <a:lnSpc>
                <a:spcPct val="200000"/>
              </a:lnSpc>
            </a:pPr>
            <a:r>
              <a:rPr lang="de-DE" err="1">
                <a:latin typeface="Arial"/>
                <a:cs typeface="Arial"/>
              </a:rPr>
              <a:t>Introduction</a:t>
            </a:r>
            <a:endParaRPr lang="de-DE" err="1">
              <a:latin typeface="Arial" charset="0"/>
              <a:cs typeface="Arial" charset="0"/>
            </a:endParaRPr>
          </a:p>
        </p:txBody>
      </p:sp>
      <p:sp>
        <p:nvSpPr>
          <p:cNvPr id="4" name="!!System Design">
            <a:extLst>
              <a:ext uri="{FF2B5EF4-FFF2-40B4-BE49-F238E27FC236}">
                <a16:creationId xmlns:a16="http://schemas.microsoft.com/office/drawing/2014/main" id="{B8F86B42-C014-8372-E127-0788B6B341D0}"/>
              </a:ext>
            </a:extLst>
          </p:cNvPr>
          <p:cNvSpPr txBox="1">
            <a:spLocks/>
          </p:cNvSpPr>
          <p:nvPr/>
        </p:nvSpPr>
        <p:spPr bwMode="auto">
          <a:xfrm>
            <a:off x="903958" y="229768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a:latin typeface="Arial"/>
                <a:cs typeface="Arial"/>
              </a:rPr>
              <a:t>System Design and Architecture</a:t>
            </a:r>
            <a:endParaRPr lang="de-DE">
              <a:latin typeface="Arial" charset="0"/>
              <a:cs typeface="Arial" charset="0"/>
            </a:endParaRPr>
          </a:p>
        </p:txBody>
      </p:sp>
      <p:sp>
        <p:nvSpPr>
          <p:cNvPr id="6" name="!!Dataset Collection">
            <a:extLst>
              <a:ext uri="{FF2B5EF4-FFF2-40B4-BE49-F238E27FC236}">
                <a16:creationId xmlns:a16="http://schemas.microsoft.com/office/drawing/2014/main" id="{5D2C1CED-C8C2-C11A-02BF-830224113D14}"/>
              </a:ext>
            </a:extLst>
          </p:cNvPr>
          <p:cNvSpPr txBox="1">
            <a:spLocks/>
          </p:cNvSpPr>
          <p:nvPr/>
        </p:nvSpPr>
        <p:spPr bwMode="auto">
          <a:xfrm>
            <a:off x="898021" y="285582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a:latin typeface="Arial"/>
                <a:cs typeface="Arial"/>
              </a:rPr>
              <a:t>Dataset Collection</a:t>
            </a:r>
            <a:endParaRPr lang="de-DE">
              <a:latin typeface="Arial" charset="0"/>
              <a:cs typeface="Arial" charset="0"/>
            </a:endParaRPr>
          </a:p>
        </p:txBody>
      </p:sp>
      <p:sp>
        <p:nvSpPr>
          <p:cNvPr id="8" name="!!Model Training">
            <a:extLst>
              <a:ext uri="{FF2B5EF4-FFF2-40B4-BE49-F238E27FC236}">
                <a16:creationId xmlns:a16="http://schemas.microsoft.com/office/drawing/2014/main" id="{B14C5E6F-6622-39FF-243A-A0581C1C9E5C}"/>
              </a:ext>
            </a:extLst>
          </p:cNvPr>
          <p:cNvSpPr txBox="1">
            <a:spLocks/>
          </p:cNvSpPr>
          <p:nvPr/>
        </p:nvSpPr>
        <p:spPr bwMode="auto">
          <a:xfrm>
            <a:off x="901979" y="3433759"/>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b="1">
                <a:latin typeface="Arial"/>
                <a:cs typeface="Arial"/>
              </a:rPr>
              <a:t>Model Training</a:t>
            </a:r>
            <a:endParaRPr lang="de-DE" b="1" err="1">
              <a:latin typeface="Arial" charset="0"/>
              <a:cs typeface="Arial" charset="0"/>
            </a:endParaRPr>
          </a:p>
        </p:txBody>
      </p:sp>
      <p:sp>
        <p:nvSpPr>
          <p:cNvPr id="10" name="!!Performance Evaluation">
            <a:extLst>
              <a:ext uri="{FF2B5EF4-FFF2-40B4-BE49-F238E27FC236}">
                <a16:creationId xmlns:a16="http://schemas.microsoft.com/office/drawing/2014/main" id="{9ABC9B59-1D6B-BFA5-120E-7C52FD0A4394}"/>
              </a:ext>
            </a:extLst>
          </p:cNvPr>
          <p:cNvSpPr txBox="1">
            <a:spLocks/>
          </p:cNvSpPr>
          <p:nvPr/>
        </p:nvSpPr>
        <p:spPr bwMode="auto">
          <a:xfrm>
            <a:off x="896042" y="4011692"/>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a:latin typeface="Arial"/>
                <a:cs typeface="Arial"/>
              </a:rPr>
              <a:t>Performance Evaluation</a:t>
            </a:r>
            <a:endParaRPr lang="de-DE" err="1">
              <a:latin typeface="Arial" charset="0"/>
              <a:cs typeface="Arial" charset="0"/>
            </a:endParaRPr>
          </a:p>
        </p:txBody>
      </p:sp>
      <p:sp>
        <p:nvSpPr>
          <p:cNvPr id="12" name="!!Conclusion">
            <a:extLst>
              <a:ext uri="{FF2B5EF4-FFF2-40B4-BE49-F238E27FC236}">
                <a16:creationId xmlns:a16="http://schemas.microsoft.com/office/drawing/2014/main" id="{C8D04170-2B01-10A4-F418-3720BD4137C5}"/>
              </a:ext>
            </a:extLst>
          </p:cNvPr>
          <p:cNvSpPr txBox="1">
            <a:spLocks/>
          </p:cNvSpPr>
          <p:nvPr/>
        </p:nvSpPr>
        <p:spPr bwMode="auto">
          <a:xfrm>
            <a:off x="909896" y="4589624"/>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err="1">
                <a:latin typeface="Arial"/>
                <a:cs typeface="Arial"/>
              </a:rPr>
              <a:t>Conclusion</a:t>
            </a:r>
            <a:r>
              <a:rPr lang="de-DE">
                <a:latin typeface="Arial"/>
                <a:cs typeface="Arial"/>
              </a:rPr>
              <a:t> and Future Work</a:t>
            </a:r>
            <a:endParaRPr lang="de-DE">
              <a:latin typeface="Arial" charset="0"/>
              <a:cs typeface="Arial" charset="0"/>
            </a:endParaRPr>
          </a:p>
        </p:txBody>
      </p:sp>
      <p:pic>
        <p:nvPicPr>
          <p:cNvPr id="5" name="Grafik 4" descr="Ein Bild, das Text, Screenshot, Grafikdesign, Grafiken enthält.&#10;&#10;Beschreibung automatisch generiert.">
            <a:extLst>
              <a:ext uri="{FF2B5EF4-FFF2-40B4-BE49-F238E27FC236}">
                <a16:creationId xmlns:a16="http://schemas.microsoft.com/office/drawing/2014/main" id="{C1E87D55-8F82-7785-C532-3347F040AE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05744" y="2010433"/>
            <a:ext cx="6372225" cy="2876550"/>
          </a:xfrm>
          <a:prstGeom prst="rect">
            <a:avLst/>
          </a:prstGeom>
        </p:spPr>
      </p:pic>
    </p:spTree>
    <p:extLst>
      <p:ext uri="{BB962C8B-B14F-4D97-AF65-F5344CB8AC3E}">
        <p14:creationId xmlns:p14="http://schemas.microsoft.com/office/powerpoint/2010/main" val="24516457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9" name="Foliennummernplatzhalter 5"/>
          <p:cNvSpPr>
            <a:spLocks noGrp="1"/>
          </p:cNvSpPr>
          <p:nvPr>
            <p:ph type="sldNum" sz="quarter" idx="12"/>
          </p:nvPr>
        </p:nvSpPr>
        <p:spPr>
          <a:noFill/>
        </p:spPr>
        <p:txBody>
          <a:bodyPr/>
          <a:lstStyle/>
          <a:p>
            <a:fld id="{4ACCD8DA-ADF9-4473-9BD1-76EC6243D444}" type="slidenum">
              <a:rPr lang="de-DE" smtClean="0"/>
              <a:pPr/>
              <a:t>43</a:t>
            </a:fld>
            <a:endParaRPr lang="de-DE"/>
          </a:p>
        </p:txBody>
      </p:sp>
      <p:sp>
        <p:nvSpPr>
          <p:cNvPr id="4100" name="!!thesis title"/>
          <p:cNvSpPr>
            <a:spLocks noGrp="1"/>
          </p:cNvSpPr>
          <p:nvPr>
            <p:ph type="title"/>
          </p:nvPr>
        </p:nvSpPr>
        <p:spPr/>
        <p:txBody>
          <a:bodyPr/>
          <a:lstStyle/>
          <a:p>
            <a:pPr eaLnBrk="1" hangingPunct="1"/>
            <a:r>
              <a:rPr lang="de-DE">
                <a:latin typeface="Arial" charset="0"/>
                <a:cs typeface="Arial" charset="0"/>
              </a:rPr>
              <a:t>Agenda</a:t>
            </a:r>
          </a:p>
        </p:txBody>
      </p:sp>
      <p:sp>
        <p:nvSpPr>
          <p:cNvPr id="4101" name="!!Introduction"/>
          <p:cNvSpPr>
            <a:spLocks noGrp="1"/>
          </p:cNvSpPr>
          <p:nvPr>
            <p:ph type="body" idx="1"/>
          </p:nvPr>
        </p:nvSpPr>
        <p:spPr>
          <a:xfrm>
            <a:off x="909896" y="1719754"/>
            <a:ext cx="10574399" cy="574655"/>
          </a:xfrm>
        </p:spPr>
        <p:txBody>
          <a:bodyPr/>
          <a:lstStyle/>
          <a:p>
            <a:pPr marL="271145" indent="-271145" eaLnBrk="1" hangingPunct="1">
              <a:lnSpc>
                <a:spcPct val="200000"/>
              </a:lnSpc>
            </a:pPr>
            <a:r>
              <a:rPr lang="de-DE" err="1">
                <a:latin typeface="Arial"/>
                <a:cs typeface="Arial"/>
              </a:rPr>
              <a:t>Introduction</a:t>
            </a:r>
            <a:endParaRPr lang="de-DE" err="1">
              <a:latin typeface="Arial" charset="0"/>
              <a:cs typeface="Arial" charset="0"/>
            </a:endParaRPr>
          </a:p>
        </p:txBody>
      </p:sp>
      <p:sp>
        <p:nvSpPr>
          <p:cNvPr id="4" name="!!System Design">
            <a:extLst>
              <a:ext uri="{FF2B5EF4-FFF2-40B4-BE49-F238E27FC236}">
                <a16:creationId xmlns:a16="http://schemas.microsoft.com/office/drawing/2014/main" id="{B8F86B42-C014-8372-E127-0788B6B341D0}"/>
              </a:ext>
            </a:extLst>
          </p:cNvPr>
          <p:cNvSpPr txBox="1">
            <a:spLocks/>
          </p:cNvSpPr>
          <p:nvPr/>
        </p:nvSpPr>
        <p:spPr bwMode="auto">
          <a:xfrm>
            <a:off x="903958" y="229768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a:latin typeface="Arial"/>
                <a:cs typeface="Arial"/>
              </a:rPr>
              <a:t>System Design and Architecture</a:t>
            </a:r>
            <a:endParaRPr lang="de-DE">
              <a:latin typeface="Arial" charset="0"/>
              <a:cs typeface="Arial" charset="0"/>
            </a:endParaRPr>
          </a:p>
        </p:txBody>
      </p:sp>
      <p:sp>
        <p:nvSpPr>
          <p:cNvPr id="6" name="!!Dataset Collection">
            <a:extLst>
              <a:ext uri="{FF2B5EF4-FFF2-40B4-BE49-F238E27FC236}">
                <a16:creationId xmlns:a16="http://schemas.microsoft.com/office/drawing/2014/main" id="{5D2C1CED-C8C2-C11A-02BF-830224113D14}"/>
              </a:ext>
            </a:extLst>
          </p:cNvPr>
          <p:cNvSpPr txBox="1">
            <a:spLocks/>
          </p:cNvSpPr>
          <p:nvPr/>
        </p:nvSpPr>
        <p:spPr bwMode="auto">
          <a:xfrm>
            <a:off x="898021" y="285582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a:latin typeface="Arial"/>
                <a:cs typeface="Arial"/>
              </a:rPr>
              <a:t>Dataset Collection</a:t>
            </a:r>
            <a:endParaRPr lang="de-DE">
              <a:latin typeface="Arial" charset="0"/>
              <a:cs typeface="Arial" charset="0"/>
            </a:endParaRPr>
          </a:p>
        </p:txBody>
      </p:sp>
      <p:sp>
        <p:nvSpPr>
          <p:cNvPr id="8" name="!!Model Training">
            <a:extLst>
              <a:ext uri="{FF2B5EF4-FFF2-40B4-BE49-F238E27FC236}">
                <a16:creationId xmlns:a16="http://schemas.microsoft.com/office/drawing/2014/main" id="{B14C5E6F-6622-39FF-243A-A0581C1C9E5C}"/>
              </a:ext>
            </a:extLst>
          </p:cNvPr>
          <p:cNvSpPr txBox="1">
            <a:spLocks/>
          </p:cNvSpPr>
          <p:nvPr/>
        </p:nvSpPr>
        <p:spPr bwMode="auto">
          <a:xfrm>
            <a:off x="901979" y="3433759"/>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a:latin typeface="Arial"/>
                <a:cs typeface="Arial"/>
              </a:rPr>
              <a:t>Model Training</a:t>
            </a:r>
            <a:endParaRPr lang="de-DE" err="1">
              <a:latin typeface="Arial" charset="0"/>
              <a:cs typeface="Arial" charset="0"/>
            </a:endParaRPr>
          </a:p>
        </p:txBody>
      </p:sp>
      <p:sp>
        <p:nvSpPr>
          <p:cNvPr id="10" name="!!Performance Evaluation">
            <a:extLst>
              <a:ext uri="{FF2B5EF4-FFF2-40B4-BE49-F238E27FC236}">
                <a16:creationId xmlns:a16="http://schemas.microsoft.com/office/drawing/2014/main" id="{9ABC9B59-1D6B-BFA5-120E-7C52FD0A4394}"/>
              </a:ext>
            </a:extLst>
          </p:cNvPr>
          <p:cNvSpPr txBox="1">
            <a:spLocks/>
          </p:cNvSpPr>
          <p:nvPr/>
        </p:nvSpPr>
        <p:spPr bwMode="auto">
          <a:xfrm>
            <a:off x="896042" y="4011692"/>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b="1">
                <a:latin typeface="Arial"/>
                <a:cs typeface="Arial"/>
              </a:rPr>
              <a:t>Performance Evaluation</a:t>
            </a:r>
            <a:endParaRPr lang="de-DE" b="1" err="1">
              <a:latin typeface="Arial" charset="0"/>
              <a:cs typeface="Arial" charset="0"/>
            </a:endParaRPr>
          </a:p>
        </p:txBody>
      </p:sp>
      <p:sp>
        <p:nvSpPr>
          <p:cNvPr id="12" name="!!Conclusion">
            <a:extLst>
              <a:ext uri="{FF2B5EF4-FFF2-40B4-BE49-F238E27FC236}">
                <a16:creationId xmlns:a16="http://schemas.microsoft.com/office/drawing/2014/main" id="{C8D04170-2B01-10A4-F418-3720BD4137C5}"/>
              </a:ext>
            </a:extLst>
          </p:cNvPr>
          <p:cNvSpPr txBox="1">
            <a:spLocks/>
          </p:cNvSpPr>
          <p:nvPr/>
        </p:nvSpPr>
        <p:spPr bwMode="auto">
          <a:xfrm>
            <a:off x="909896" y="4589624"/>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err="1">
                <a:latin typeface="Arial"/>
                <a:cs typeface="Arial"/>
              </a:rPr>
              <a:t>Conclusion</a:t>
            </a:r>
            <a:r>
              <a:rPr lang="de-DE">
                <a:latin typeface="Arial"/>
                <a:cs typeface="Arial"/>
              </a:rPr>
              <a:t> and Future Work</a:t>
            </a:r>
            <a:endParaRPr lang="de-DE">
              <a:latin typeface="Arial" charset="0"/>
              <a:cs typeface="Arial" charset="0"/>
            </a:endParaRPr>
          </a:p>
        </p:txBody>
      </p:sp>
      <p:pic>
        <p:nvPicPr>
          <p:cNvPr id="5" name="Grafik 4" descr="Ein Bild, das Text, Screenshot, Grafikdesign, Grafiken enthält.&#10;&#10;Beschreibung automatisch generiert.">
            <a:extLst>
              <a:ext uri="{FF2B5EF4-FFF2-40B4-BE49-F238E27FC236}">
                <a16:creationId xmlns:a16="http://schemas.microsoft.com/office/drawing/2014/main" id="{C1E87D55-8F82-7785-C532-3347F040AE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05744" y="2010433"/>
            <a:ext cx="6372225" cy="2876550"/>
          </a:xfrm>
          <a:prstGeom prst="rect">
            <a:avLst/>
          </a:prstGeom>
        </p:spPr>
      </p:pic>
    </p:spTree>
    <p:extLst>
      <p:ext uri="{BB962C8B-B14F-4D97-AF65-F5344CB8AC3E}">
        <p14:creationId xmlns:p14="http://schemas.microsoft.com/office/powerpoint/2010/main" val="203863720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9" name="Foliennummernplatzhalter 5"/>
          <p:cNvSpPr>
            <a:spLocks noGrp="1"/>
          </p:cNvSpPr>
          <p:nvPr>
            <p:ph type="sldNum" sz="quarter" idx="12"/>
          </p:nvPr>
        </p:nvSpPr>
        <p:spPr>
          <a:noFill/>
        </p:spPr>
        <p:txBody>
          <a:bodyPr/>
          <a:lstStyle/>
          <a:p>
            <a:fld id="{4ACCD8DA-ADF9-4473-9BD1-76EC6243D444}" type="slidenum">
              <a:rPr lang="de-DE" smtClean="0"/>
              <a:pPr/>
              <a:t>44</a:t>
            </a:fld>
            <a:endParaRPr lang="de-DE"/>
          </a:p>
        </p:txBody>
      </p:sp>
      <p:sp>
        <p:nvSpPr>
          <p:cNvPr id="4100" name="!!thesis title"/>
          <p:cNvSpPr>
            <a:spLocks noGrp="1"/>
          </p:cNvSpPr>
          <p:nvPr>
            <p:ph type="title"/>
          </p:nvPr>
        </p:nvSpPr>
        <p:spPr/>
        <p:txBody>
          <a:bodyPr/>
          <a:lstStyle/>
          <a:p>
            <a:pPr eaLnBrk="1" hangingPunct="1"/>
            <a:r>
              <a:rPr lang="de-DE">
                <a:latin typeface="Arial" charset="0"/>
                <a:cs typeface="Arial" charset="0"/>
              </a:rPr>
              <a:t>Agenda</a:t>
            </a:r>
          </a:p>
        </p:txBody>
      </p:sp>
      <p:sp>
        <p:nvSpPr>
          <p:cNvPr id="4101" name="!!Introduction"/>
          <p:cNvSpPr>
            <a:spLocks noGrp="1"/>
          </p:cNvSpPr>
          <p:nvPr>
            <p:ph type="body" idx="1"/>
          </p:nvPr>
        </p:nvSpPr>
        <p:spPr>
          <a:xfrm>
            <a:off x="909896" y="1719754"/>
            <a:ext cx="10574399" cy="574655"/>
          </a:xfrm>
        </p:spPr>
        <p:txBody>
          <a:bodyPr/>
          <a:lstStyle/>
          <a:p>
            <a:pPr marL="271145" indent="-271145" eaLnBrk="1" hangingPunct="1">
              <a:lnSpc>
                <a:spcPct val="200000"/>
              </a:lnSpc>
            </a:pPr>
            <a:r>
              <a:rPr lang="de-DE" err="1">
                <a:latin typeface="Arial"/>
                <a:cs typeface="Arial"/>
              </a:rPr>
              <a:t>Introduction</a:t>
            </a:r>
            <a:endParaRPr lang="de-DE" err="1">
              <a:latin typeface="Arial" charset="0"/>
              <a:cs typeface="Arial" charset="0"/>
            </a:endParaRPr>
          </a:p>
        </p:txBody>
      </p:sp>
      <p:sp>
        <p:nvSpPr>
          <p:cNvPr id="4" name="!!System Design">
            <a:extLst>
              <a:ext uri="{FF2B5EF4-FFF2-40B4-BE49-F238E27FC236}">
                <a16:creationId xmlns:a16="http://schemas.microsoft.com/office/drawing/2014/main" id="{B8F86B42-C014-8372-E127-0788B6B341D0}"/>
              </a:ext>
            </a:extLst>
          </p:cNvPr>
          <p:cNvSpPr txBox="1">
            <a:spLocks/>
          </p:cNvSpPr>
          <p:nvPr/>
        </p:nvSpPr>
        <p:spPr bwMode="auto">
          <a:xfrm>
            <a:off x="903958" y="229768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a:latin typeface="Arial"/>
                <a:cs typeface="Arial"/>
              </a:rPr>
              <a:t>System Design and Architecture</a:t>
            </a:r>
            <a:endParaRPr lang="de-DE">
              <a:latin typeface="Arial" charset="0"/>
              <a:cs typeface="Arial" charset="0"/>
            </a:endParaRPr>
          </a:p>
        </p:txBody>
      </p:sp>
      <p:sp>
        <p:nvSpPr>
          <p:cNvPr id="6" name="!!Dataset Collection">
            <a:extLst>
              <a:ext uri="{FF2B5EF4-FFF2-40B4-BE49-F238E27FC236}">
                <a16:creationId xmlns:a16="http://schemas.microsoft.com/office/drawing/2014/main" id="{5D2C1CED-C8C2-C11A-02BF-830224113D14}"/>
              </a:ext>
            </a:extLst>
          </p:cNvPr>
          <p:cNvSpPr txBox="1">
            <a:spLocks/>
          </p:cNvSpPr>
          <p:nvPr/>
        </p:nvSpPr>
        <p:spPr bwMode="auto">
          <a:xfrm>
            <a:off x="898021" y="2855827"/>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a:lnSpc>
                <a:spcPct val="200000"/>
              </a:lnSpc>
            </a:pPr>
            <a:r>
              <a:rPr lang="de-DE">
                <a:latin typeface="Arial"/>
                <a:cs typeface="Arial"/>
              </a:rPr>
              <a:t>Dataset Collection</a:t>
            </a:r>
            <a:endParaRPr lang="de-DE">
              <a:latin typeface="Arial" charset="0"/>
              <a:cs typeface="Arial" charset="0"/>
            </a:endParaRPr>
          </a:p>
        </p:txBody>
      </p:sp>
      <p:sp>
        <p:nvSpPr>
          <p:cNvPr id="8" name="!!Model Training">
            <a:extLst>
              <a:ext uri="{FF2B5EF4-FFF2-40B4-BE49-F238E27FC236}">
                <a16:creationId xmlns:a16="http://schemas.microsoft.com/office/drawing/2014/main" id="{B14C5E6F-6622-39FF-243A-A0581C1C9E5C}"/>
              </a:ext>
            </a:extLst>
          </p:cNvPr>
          <p:cNvSpPr txBox="1">
            <a:spLocks/>
          </p:cNvSpPr>
          <p:nvPr/>
        </p:nvSpPr>
        <p:spPr bwMode="auto">
          <a:xfrm>
            <a:off x="901979" y="3433759"/>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a:latin typeface="Arial"/>
                <a:cs typeface="Arial"/>
              </a:rPr>
              <a:t>Model Training</a:t>
            </a:r>
            <a:endParaRPr lang="de-DE" err="1">
              <a:latin typeface="Arial" charset="0"/>
              <a:cs typeface="Arial" charset="0"/>
            </a:endParaRPr>
          </a:p>
        </p:txBody>
      </p:sp>
      <p:sp>
        <p:nvSpPr>
          <p:cNvPr id="10" name="!!Performance Evaluation">
            <a:extLst>
              <a:ext uri="{FF2B5EF4-FFF2-40B4-BE49-F238E27FC236}">
                <a16:creationId xmlns:a16="http://schemas.microsoft.com/office/drawing/2014/main" id="{9ABC9B59-1D6B-BFA5-120E-7C52FD0A4394}"/>
              </a:ext>
            </a:extLst>
          </p:cNvPr>
          <p:cNvSpPr txBox="1">
            <a:spLocks/>
          </p:cNvSpPr>
          <p:nvPr/>
        </p:nvSpPr>
        <p:spPr bwMode="auto">
          <a:xfrm>
            <a:off x="896042" y="4011692"/>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a:latin typeface="Arial"/>
                <a:cs typeface="Arial"/>
              </a:rPr>
              <a:t>Performance Evaluation</a:t>
            </a:r>
            <a:endParaRPr lang="de-DE" err="1">
              <a:latin typeface="Arial" charset="0"/>
              <a:cs typeface="Arial" charset="0"/>
            </a:endParaRPr>
          </a:p>
        </p:txBody>
      </p:sp>
      <p:sp>
        <p:nvSpPr>
          <p:cNvPr id="12" name="!!Conclusion">
            <a:extLst>
              <a:ext uri="{FF2B5EF4-FFF2-40B4-BE49-F238E27FC236}">
                <a16:creationId xmlns:a16="http://schemas.microsoft.com/office/drawing/2014/main" id="{C8D04170-2B01-10A4-F418-3720BD4137C5}"/>
              </a:ext>
            </a:extLst>
          </p:cNvPr>
          <p:cNvSpPr txBox="1">
            <a:spLocks/>
          </p:cNvSpPr>
          <p:nvPr/>
        </p:nvSpPr>
        <p:spPr bwMode="auto">
          <a:xfrm>
            <a:off x="909896" y="4589624"/>
            <a:ext cx="10574399" cy="574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56" indent="-271456" algn="l" rtl="0" eaLnBrk="0" fontAlgn="base" hangingPunct="0">
              <a:spcBef>
                <a:spcPct val="20000"/>
              </a:spcBef>
              <a:spcAft>
                <a:spcPct val="0"/>
              </a:spcAft>
              <a:buSzPct val="140000"/>
              <a:buBlip>
                <a:blip r:embed="rId2"/>
              </a:buBlip>
              <a:defRPr sz="1600" kern="1200">
                <a:solidFill>
                  <a:schemeClr val="tx1"/>
                </a:solidFill>
                <a:latin typeface="Arial" pitchFamily="34" charset="0"/>
                <a:ea typeface="+mn-ea"/>
                <a:cs typeface="Arial" pitchFamily="34" charset="0"/>
              </a:defRPr>
            </a:lvl1pPr>
            <a:lvl2pPr marL="742932" indent="-285744" algn="l" rtl="0" eaLnBrk="0" fontAlgn="base" hangingPunct="0">
              <a:spcBef>
                <a:spcPct val="20000"/>
              </a:spcBef>
              <a:spcAft>
                <a:spcPct val="0"/>
              </a:spcAft>
              <a:buSzPct val="140000"/>
              <a:buFont typeface="Arial" charset="0"/>
              <a:buBlip>
                <a:blip r:embed="rId3"/>
              </a:buBlip>
              <a:defRPr sz="1600" kern="1200">
                <a:solidFill>
                  <a:schemeClr val="tx1"/>
                </a:solidFill>
                <a:latin typeface="Arial" pitchFamily="34" charset="0"/>
                <a:ea typeface="+mn-ea"/>
                <a:cs typeface="Arial" pitchFamily="34" charset="0"/>
              </a:defRPr>
            </a:lvl2pPr>
            <a:lvl3pPr marL="1142971"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145" indent="-271145" eaLnBrk="1" hangingPunct="1">
              <a:lnSpc>
                <a:spcPct val="200000"/>
              </a:lnSpc>
            </a:pPr>
            <a:r>
              <a:rPr lang="de-DE" b="1" err="1">
                <a:latin typeface="Arial"/>
                <a:cs typeface="Arial"/>
              </a:rPr>
              <a:t>Conclusion</a:t>
            </a:r>
            <a:r>
              <a:rPr lang="de-DE" b="1">
                <a:latin typeface="Arial"/>
                <a:cs typeface="Arial"/>
              </a:rPr>
              <a:t> and Future Work</a:t>
            </a:r>
            <a:endParaRPr lang="de-DE" b="1">
              <a:latin typeface="Arial" charset="0"/>
              <a:cs typeface="Arial" charset="0"/>
            </a:endParaRPr>
          </a:p>
        </p:txBody>
      </p:sp>
      <p:pic>
        <p:nvPicPr>
          <p:cNvPr id="5" name="Grafik 4" descr="Ein Bild, das Text, Screenshot, Grafikdesign, Grafiken enthält.&#10;&#10;Beschreibung automatisch generiert.">
            <a:extLst>
              <a:ext uri="{FF2B5EF4-FFF2-40B4-BE49-F238E27FC236}">
                <a16:creationId xmlns:a16="http://schemas.microsoft.com/office/drawing/2014/main" id="{C1E87D55-8F82-7785-C532-3347F040AE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05744" y="2010433"/>
            <a:ext cx="6372225" cy="2876550"/>
          </a:xfrm>
          <a:prstGeom prst="rect">
            <a:avLst/>
          </a:prstGeom>
        </p:spPr>
      </p:pic>
    </p:spTree>
    <p:extLst>
      <p:ext uri="{BB962C8B-B14F-4D97-AF65-F5344CB8AC3E}">
        <p14:creationId xmlns:p14="http://schemas.microsoft.com/office/powerpoint/2010/main" val="23521267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3" name="Foliennummernplatzhalter 5"/>
          <p:cNvSpPr>
            <a:spLocks noGrp="1"/>
          </p:cNvSpPr>
          <p:nvPr>
            <p:ph type="sldNum" sz="quarter" idx="12"/>
          </p:nvPr>
        </p:nvSpPr>
        <p:spPr>
          <a:noFill/>
        </p:spPr>
        <p:txBody>
          <a:bodyPr/>
          <a:lstStyle/>
          <a:p>
            <a:fld id="{975052B2-A51A-4D94-B3B8-8109B0A32CD8}" type="slidenum">
              <a:rPr lang="de-DE" smtClean="0"/>
              <a:pPr/>
              <a:t>45</a:t>
            </a:fld>
            <a:endParaRPr lang="de-DE"/>
          </a:p>
        </p:txBody>
      </p:sp>
      <p:sp>
        <p:nvSpPr>
          <p:cNvPr id="5124" name="!!Introduction"/>
          <p:cNvSpPr>
            <a:spLocks noGrp="1"/>
          </p:cNvSpPr>
          <p:nvPr>
            <p:ph type="title"/>
          </p:nvPr>
        </p:nvSpPr>
        <p:spPr/>
        <p:txBody>
          <a:bodyPr/>
          <a:lstStyle/>
          <a:p>
            <a:pPr eaLnBrk="1" hangingPunct="1"/>
            <a:r>
              <a:rPr lang="de-DE" err="1">
                <a:latin typeface="Arial"/>
                <a:cs typeface="Arial"/>
              </a:rPr>
              <a:t>Introduction</a:t>
            </a:r>
            <a:endParaRPr lang="de-DE" err="1">
              <a:latin typeface="Arial" charset="0"/>
              <a:cs typeface="Arial" charset="0"/>
            </a:endParaRPr>
          </a:p>
        </p:txBody>
      </p:sp>
      <p:sp>
        <p:nvSpPr>
          <p:cNvPr id="81923" name="Rectangle 3"/>
          <p:cNvSpPr>
            <a:spLocks noGrp="1"/>
          </p:cNvSpPr>
          <p:nvPr>
            <p:ph type="body" idx="1"/>
          </p:nvPr>
        </p:nvSpPr>
        <p:spPr>
          <a:xfrm>
            <a:off x="900000" y="2448000"/>
            <a:ext cx="7991475" cy="3213248"/>
          </a:xfrm>
        </p:spPr>
        <p:txBody>
          <a:bodyPr/>
          <a:lstStyle/>
          <a:p>
            <a:pPr eaLnBrk="1" hangingPunct="1"/>
            <a:r>
              <a:rPr lang="de-DE" err="1">
                <a:solidFill>
                  <a:schemeClr val="tx1"/>
                </a:solidFill>
                <a:latin typeface="Arial" charset="0"/>
                <a:cs typeface="Arial" charset="0"/>
              </a:rPr>
              <a:t>enumeration</a:t>
            </a:r>
            <a:endParaRPr lang="de-DE">
              <a:solidFill>
                <a:schemeClr val="tx1"/>
              </a:solidFill>
              <a:latin typeface="Arial" charset="0"/>
              <a:cs typeface="Arial" charset="0"/>
            </a:endParaRPr>
          </a:p>
          <a:p>
            <a:pPr eaLnBrk="1" hangingPunct="1"/>
            <a:r>
              <a:rPr lang="de-DE">
                <a:solidFill>
                  <a:schemeClr val="tx1"/>
                </a:solidFill>
                <a:latin typeface="Arial" charset="0"/>
                <a:cs typeface="Arial" charset="0"/>
              </a:rPr>
              <a:t>…</a:t>
            </a:r>
          </a:p>
          <a:p>
            <a:pPr eaLnBrk="1" hangingPunct="1"/>
            <a:r>
              <a:rPr lang="de-DE">
                <a:solidFill>
                  <a:schemeClr val="tx1"/>
                </a:solidFill>
                <a:latin typeface="Arial" charset="0"/>
                <a:cs typeface="Arial" charset="0"/>
              </a:rPr>
              <a:t>….</a:t>
            </a:r>
          </a:p>
          <a:p>
            <a:pPr eaLnBrk="1" hangingPunct="1"/>
            <a:r>
              <a:rPr lang="de-DE">
                <a:solidFill>
                  <a:schemeClr val="tx1"/>
                </a:solidFill>
                <a:latin typeface="Arial" charset="0"/>
                <a:cs typeface="Arial" charset="0"/>
              </a:rPr>
              <a:t>…..</a:t>
            </a:r>
          </a:p>
          <a:p>
            <a:pPr eaLnBrk="1" hangingPunct="1"/>
            <a:r>
              <a:rPr lang="de-DE">
                <a:solidFill>
                  <a:schemeClr val="tx1"/>
                </a:solidFill>
                <a:latin typeface="Arial" charset="0"/>
                <a:cs typeface="Arial" charset="0"/>
              </a:rPr>
              <a:t>…….</a:t>
            </a:r>
          </a:p>
          <a:p>
            <a:pPr eaLnBrk="1" hangingPunct="1">
              <a:buFontTx/>
              <a:buNone/>
            </a:pPr>
            <a:endParaRPr lang="de-DE">
              <a:solidFill>
                <a:schemeClr val="tx1"/>
              </a:solidFill>
              <a:latin typeface="Arial" charset="0"/>
              <a:cs typeface="Arial" charset="0"/>
            </a:endParaRPr>
          </a:p>
          <a:p>
            <a:pPr eaLnBrk="1" hangingPunct="1">
              <a:buFontTx/>
              <a:buNone/>
            </a:pPr>
            <a:r>
              <a:rPr lang="de-DE" err="1">
                <a:latin typeface="Arial" charset="0"/>
                <a:cs typeface="Arial" charset="0"/>
              </a:rPr>
              <a:t>t</a:t>
            </a:r>
            <a:r>
              <a:rPr lang="de-DE" err="1">
                <a:solidFill>
                  <a:schemeClr val="tx1"/>
                </a:solidFill>
                <a:latin typeface="Arial" charset="0"/>
                <a:cs typeface="Arial" charset="0"/>
              </a:rPr>
              <a:t>ext</a:t>
            </a:r>
            <a:endParaRPr lang="de-DE">
              <a:solidFill>
                <a:schemeClr val="tx1"/>
              </a:solidFill>
              <a:latin typeface="Arial" charset="0"/>
              <a:cs typeface="Arial" charset="0"/>
            </a:endParaRPr>
          </a:p>
        </p:txBody>
      </p:sp>
      <p:sp>
        <p:nvSpPr>
          <p:cNvPr id="5126" name="Rectangle 4"/>
          <p:cNvSpPr>
            <a:spLocks/>
          </p:cNvSpPr>
          <p:nvPr/>
        </p:nvSpPr>
        <p:spPr bwMode="auto">
          <a:xfrm>
            <a:off x="900000" y="1728000"/>
            <a:ext cx="7929563" cy="576263"/>
          </a:xfrm>
          <a:prstGeom prst="rect">
            <a:avLst/>
          </a:prstGeom>
          <a:noFill/>
          <a:ln w="9525">
            <a:noFill/>
            <a:miter lim="800000"/>
            <a:headEnd/>
            <a:tailEnd/>
          </a:ln>
        </p:spPr>
        <p:txBody>
          <a:bodyPr/>
          <a:lstStyle/>
          <a:p>
            <a:pPr marL="271456" indent="-271456">
              <a:spcBef>
                <a:spcPct val="20000"/>
              </a:spcBef>
              <a:buSzPct val="140000"/>
            </a:pPr>
            <a:r>
              <a:rPr lang="de-DE" b="1">
                <a:cs typeface="Arial" charset="0"/>
              </a:rPr>
              <a:t>Headline</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iterate type="wd">
                                    <p:tmPct val="10000"/>
                                  </p:iterate>
                                  <p:childTnLst>
                                    <p:set>
                                      <p:cBhvr>
                                        <p:cTn id="11" dur="1" fill="hold">
                                          <p:stCondLst>
                                            <p:cond delay="0"/>
                                          </p:stCondLst>
                                        </p:cTn>
                                        <p:tgtEl>
                                          <p:spTgt spid="81923">
                                            <p:txEl>
                                              <p:pRg st="1" end="1"/>
                                            </p:txEl>
                                          </p:spTgt>
                                        </p:tgtEl>
                                        <p:attrNameLst>
                                          <p:attrName>style.visibility</p:attrName>
                                        </p:attrNameLst>
                                      </p:cBhvr>
                                      <p:to>
                                        <p:strVal val="visible"/>
                                      </p:to>
                                    </p:set>
                                    <p:animEffect transition="in" filter="dissolve">
                                      <p:cBhvr>
                                        <p:cTn id="12" dur="500"/>
                                        <p:tgtEl>
                                          <p:spTgt spid="819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iterate type="wd">
                                    <p:tmPct val="10000"/>
                                  </p:iterate>
                                  <p:childTnLst>
                                    <p:set>
                                      <p:cBhvr>
                                        <p:cTn id="16" dur="1" fill="hold">
                                          <p:stCondLst>
                                            <p:cond delay="0"/>
                                          </p:stCondLst>
                                        </p:cTn>
                                        <p:tgtEl>
                                          <p:spTgt spid="81923">
                                            <p:txEl>
                                              <p:pRg st="2" end="2"/>
                                            </p:txEl>
                                          </p:spTgt>
                                        </p:tgtEl>
                                        <p:attrNameLst>
                                          <p:attrName>style.visibility</p:attrName>
                                        </p:attrNameLst>
                                      </p:cBhvr>
                                      <p:to>
                                        <p:strVal val="visible"/>
                                      </p:to>
                                    </p:set>
                                    <p:animEffect transition="in" filter="dissolve">
                                      <p:cBhvr>
                                        <p:cTn id="17" dur="500"/>
                                        <p:tgtEl>
                                          <p:spTgt spid="819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iterate type="wd">
                                    <p:tmPct val="10000"/>
                                  </p:iterate>
                                  <p:childTnLst>
                                    <p:set>
                                      <p:cBhvr>
                                        <p:cTn id="21" dur="1" fill="hold">
                                          <p:stCondLst>
                                            <p:cond delay="0"/>
                                          </p:stCondLst>
                                        </p:cTn>
                                        <p:tgtEl>
                                          <p:spTgt spid="81923">
                                            <p:txEl>
                                              <p:pRg st="3" end="3"/>
                                            </p:txEl>
                                          </p:spTgt>
                                        </p:tgtEl>
                                        <p:attrNameLst>
                                          <p:attrName>style.visibility</p:attrName>
                                        </p:attrNameLst>
                                      </p:cBhvr>
                                      <p:to>
                                        <p:strVal val="visible"/>
                                      </p:to>
                                    </p:set>
                                    <p:animEffect transition="in" filter="dissolve">
                                      <p:cBhvr>
                                        <p:cTn id="22" dur="500"/>
                                        <p:tgtEl>
                                          <p:spTgt spid="819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iterate type="wd">
                                    <p:tmPct val="10000"/>
                                  </p:iterate>
                                  <p:childTnLst>
                                    <p:set>
                                      <p:cBhvr>
                                        <p:cTn id="26" dur="1" fill="hold">
                                          <p:stCondLst>
                                            <p:cond delay="0"/>
                                          </p:stCondLst>
                                        </p:cTn>
                                        <p:tgtEl>
                                          <p:spTgt spid="81923">
                                            <p:txEl>
                                              <p:pRg st="4" end="4"/>
                                            </p:txEl>
                                          </p:spTgt>
                                        </p:tgtEl>
                                        <p:attrNameLst>
                                          <p:attrName>style.visibility</p:attrName>
                                        </p:attrNameLst>
                                      </p:cBhvr>
                                      <p:to>
                                        <p:strVal val="visible"/>
                                      </p:to>
                                    </p:set>
                                    <p:animEffect transition="in" filter="dissolve">
                                      <p:cBhvr>
                                        <p:cTn id="27" dur="500"/>
                                        <p:tgtEl>
                                          <p:spTgt spid="8192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iterate type="wd">
                                    <p:tmPct val="10000"/>
                                  </p:iterate>
                                  <p:childTnLst>
                                    <p:set>
                                      <p:cBhvr>
                                        <p:cTn id="31" dur="1" fill="hold">
                                          <p:stCondLst>
                                            <p:cond delay="0"/>
                                          </p:stCondLst>
                                        </p:cTn>
                                        <p:tgtEl>
                                          <p:spTgt spid="81923">
                                            <p:txEl>
                                              <p:pRg st="6" end="6"/>
                                            </p:txEl>
                                          </p:spTgt>
                                        </p:tgtEl>
                                        <p:attrNameLst>
                                          <p:attrName>style.visibility</p:attrName>
                                        </p:attrNameLst>
                                      </p:cBhvr>
                                      <p:to>
                                        <p:strVal val="visible"/>
                                      </p:to>
                                    </p:set>
                                    <p:animEffect transition="in" filter="dissolve">
                                      <p:cBhvr>
                                        <p:cTn id="32" dur="500"/>
                                        <p:tgtEl>
                                          <p:spTgt spid="8192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9" name="Foliennummernplatzhalter 5"/>
          <p:cNvSpPr>
            <a:spLocks noGrp="1"/>
          </p:cNvSpPr>
          <p:nvPr>
            <p:ph type="sldNum" sz="quarter" idx="12"/>
          </p:nvPr>
        </p:nvSpPr>
        <p:spPr>
          <a:noFill/>
        </p:spPr>
        <p:txBody>
          <a:bodyPr/>
          <a:lstStyle/>
          <a:p>
            <a:fld id="{4ACCD8DA-ADF9-4473-9BD1-76EC6243D444}" type="slidenum">
              <a:rPr lang="de-DE" smtClean="0"/>
              <a:pPr/>
              <a:t>46</a:t>
            </a:fld>
            <a:endParaRPr lang="de-DE"/>
          </a:p>
        </p:txBody>
      </p:sp>
      <p:sp>
        <p:nvSpPr>
          <p:cNvPr id="4100" name="Rectangle 2"/>
          <p:cNvSpPr>
            <a:spLocks noGrp="1"/>
          </p:cNvSpPr>
          <p:nvPr>
            <p:ph type="title"/>
          </p:nvPr>
        </p:nvSpPr>
        <p:spPr/>
        <p:txBody>
          <a:bodyPr/>
          <a:lstStyle/>
          <a:p>
            <a:pPr eaLnBrk="1" hangingPunct="1"/>
            <a:r>
              <a:rPr lang="de-DE">
                <a:latin typeface="Arial" charset="0"/>
                <a:cs typeface="Arial" charset="0"/>
              </a:rPr>
              <a:t>Agenda</a:t>
            </a:r>
          </a:p>
        </p:txBody>
      </p:sp>
      <p:sp>
        <p:nvSpPr>
          <p:cNvPr id="4101" name="Rectangle 3"/>
          <p:cNvSpPr>
            <a:spLocks noGrp="1"/>
          </p:cNvSpPr>
          <p:nvPr>
            <p:ph type="body" idx="1"/>
          </p:nvPr>
        </p:nvSpPr>
        <p:spPr>
          <a:xfrm>
            <a:off x="900000" y="1728000"/>
            <a:ext cx="10572749" cy="3983039"/>
          </a:xfrm>
        </p:spPr>
        <p:txBody>
          <a:bodyPr/>
          <a:lstStyle/>
          <a:p>
            <a:pPr marL="271145" indent="-271145" eaLnBrk="1" hangingPunct="1">
              <a:lnSpc>
                <a:spcPct val="200000"/>
              </a:lnSpc>
            </a:pPr>
            <a:r>
              <a:rPr lang="de-DE" err="1">
                <a:latin typeface="Arial"/>
                <a:cs typeface="Arial"/>
              </a:rPr>
              <a:t>Introduction</a:t>
            </a:r>
            <a:endParaRPr lang="de-DE" err="1">
              <a:latin typeface="Arial" charset="0"/>
              <a:cs typeface="Arial" charset="0"/>
            </a:endParaRPr>
          </a:p>
          <a:p>
            <a:pPr marL="271145" indent="-271145" eaLnBrk="1" hangingPunct="1">
              <a:lnSpc>
                <a:spcPct val="200000"/>
              </a:lnSpc>
            </a:pPr>
            <a:r>
              <a:rPr lang="de-DE">
                <a:latin typeface="Arial"/>
                <a:cs typeface="Arial"/>
              </a:rPr>
              <a:t>System Design and Architecture</a:t>
            </a:r>
            <a:endParaRPr lang="de-DE">
              <a:latin typeface="Arial" charset="0"/>
              <a:cs typeface="Arial" charset="0"/>
            </a:endParaRPr>
          </a:p>
          <a:p>
            <a:pPr marL="271145" indent="-271145" eaLnBrk="1" hangingPunct="1">
              <a:lnSpc>
                <a:spcPct val="200000"/>
              </a:lnSpc>
            </a:pPr>
            <a:r>
              <a:rPr lang="de-DE">
                <a:latin typeface="Arial"/>
                <a:cs typeface="Arial"/>
              </a:rPr>
              <a:t>Dataset Collection and </a:t>
            </a:r>
            <a:r>
              <a:rPr lang="de-DE" err="1">
                <a:latin typeface="Arial"/>
                <a:cs typeface="Arial"/>
              </a:rPr>
              <a:t>Preparation</a:t>
            </a:r>
            <a:endParaRPr lang="de-DE" err="1">
              <a:latin typeface="Arial" charset="0"/>
              <a:cs typeface="Arial" charset="0"/>
            </a:endParaRPr>
          </a:p>
          <a:p>
            <a:pPr marL="271145" indent="-271145" eaLnBrk="1" hangingPunct="1">
              <a:lnSpc>
                <a:spcPct val="200000"/>
              </a:lnSpc>
            </a:pPr>
            <a:r>
              <a:rPr lang="de-DE">
                <a:latin typeface="Arial"/>
                <a:cs typeface="Arial"/>
              </a:rPr>
              <a:t>Model Training and </a:t>
            </a:r>
            <a:r>
              <a:rPr lang="de-DE" err="1">
                <a:latin typeface="Arial"/>
                <a:cs typeface="Arial"/>
              </a:rPr>
              <a:t>Optimization</a:t>
            </a:r>
          </a:p>
          <a:p>
            <a:pPr marL="271145" indent="-271145">
              <a:lnSpc>
                <a:spcPct val="200000"/>
              </a:lnSpc>
            </a:pPr>
            <a:r>
              <a:rPr lang="de-DE">
                <a:latin typeface="Arial"/>
                <a:cs typeface="Arial"/>
              </a:rPr>
              <a:t>System Integration and User Interface</a:t>
            </a:r>
            <a:endParaRPr lang="de-DE">
              <a:latin typeface="Arial" charset="0"/>
              <a:cs typeface="Arial" charset="0"/>
            </a:endParaRPr>
          </a:p>
          <a:p>
            <a:pPr marL="271145" indent="-271145">
              <a:lnSpc>
                <a:spcPct val="200000"/>
              </a:lnSpc>
            </a:pPr>
            <a:r>
              <a:rPr lang="de-DE">
                <a:latin typeface="Arial"/>
                <a:cs typeface="Arial"/>
              </a:rPr>
              <a:t>Performance Evaluation</a:t>
            </a:r>
          </a:p>
          <a:p>
            <a:pPr marL="271145" indent="-271145">
              <a:lnSpc>
                <a:spcPct val="200000"/>
              </a:lnSpc>
            </a:pPr>
            <a:r>
              <a:rPr lang="de-DE" err="1">
                <a:latin typeface="Arial"/>
                <a:cs typeface="Arial"/>
              </a:rPr>
              <a:t>Conclusion</a:t>
            </a:r>
            <a:r>
              <a:rPr lang="de-DE">
                <a:latin typeface="Arial"/>
                <a:cs typeface="Arial"/>
              </a:rPr>
              <a:t> and Future Work</a:t>
            </a:r>
            <a:endParaRPr lang="de-DE">
              <a:latin typeface="Arial" charset="0"/>
              <a:cs typeface="Arial" charset="0"/>
            </a:endParaRPr>
          </a:p>
        </p:txBody>
      </p:sp>
      <p:pic>
        <p:nvPicPr>
          <p:cNvPr id="3" name="Grafik 2" descr="Ein Bild, das Text, Screenshot, Grafikdesign, Grafiken enthält.&#10;&#10;Beschreibung automatisch generiert.">
            <a:extLst>
              <a:ext uri="{FF2B5EF4-FFF2-40B4-BE49-F238E27FC236}">
                <a16:creationId xmlns:a16="http://schemas.microsoft.com/office/drawing/2014/main" id="{5F2B98F7-B47F-6D00-AD3B-E2C03094A1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31265" y="-1314962"/>
            <a:ext cx="2710667" cy="122390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Wallstabe &amp; Schneider">
  <a:themeElements>
    <a:clrScheme name="Benutzerdefiniert 1">
      <a:dk1>
        <a:sysClr val="windowText" lastClr="000000"/>
      </a:dk1>
      <a:lt1>
        <a:sysClr val="window" lastClr="FFFFFF"/>
      </a:lt1>
      <a:dk2>
        <a:srgbClr val="000000"/>
      </a:dk2>
      <a:lt2>
        <a:srgbClr val="F8F8F8"/>
      </a:lt2>
      <a:accent1>
        <a:srgbClr val="2369AF"/>
      </a:accent1>
      <a:accent2>
        <a:srgbClr val="3C8AD8"/>
      </a:accent2>
      <a:accent3>
        <a:srgbClr val="77ADE3"/>
      </a:accent3>
      <a:accent4>
        <a:srgbClr val="CBE0F5"/>
      </a:accent4>
      <a:accent5>
        <a:srgbClr val="5F5F5F"/>
      </a:accent5>
      <a:accent6>
        <a:srgbClr val="4D4D4D"/>
      </a:accent6>
      <a:hlink>
        <a:srgbClr val="5F5F5F"/>
      </a:hlink>
      <a:folHlink>
        <a:srgbClr val="919191"/>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hoebe">
      <a:fillStyleLst>
        <a:solidFill>
          <a:schemeClr val="phClr"/>
        </a:solidFill>
        <a:gradFill rotWithShape="1">
          <a:gsLst>
            <a:gs pos="0">
              <a:schemeClr val="phClr">
                <a:tint val="70000"/>
                <a:satMod val="180000"/>
              </a:schemeClr>
            </a:gs>
            <a:gs pos="62000">
              <a:schemeClr val="phClr">
                <a:tint val="30000"/>
                <a:satMod val="180000"/>
              </a:schemeClr>
            </a:gs>
            <a:gs pos="100000">
              <a:schemeClr val="phClr">
                <a:tint val="22000"/>
                <a:satMod val="180000"/>
              </a:schemeClr>
            </a:gs>
          </a:gsLst>
          <a:lin ang="16200000" scaled="0"/>
        </a:gradFill>
        <a:gradFill rotWithShape="1">
          <a:gsLst>
            <a:gs pos="0">
              <a:schemeClr val="phClr">
                <a:shade val="58000"/>
                <a:satMod val="150000"/>
              </a:schemeClr>
            </a:gs>
            <a:gs pos="72000">
              <a:schemeClr val="phClr">
                <a:tint val="90000"/>
                <a:satMod val="135000"/>
              </a:schemeClr>
            </a:gs>
            <a:gs pos="100000">
              <a:schemeClr val="phClr">
                <a:tint val="80000"/>
                <a:satMod val="155000"/>
              </a:schemeClr>
            </a:gs>
          </a:gsLst>
          <a:lin ang="16200000" scaled="0"/>
        </a:gradFill>
      </a:fillStyleLst>
      <a:lnStyleLst>
        <a:ln w="9525" cap="flat" cmpd="sng" algn="ctr">
          <a:solidFill>
            <a:schemeClr val="phClr">
              <a:shade val="80000"/>
            </a:schemeClr>
          </a:solidFill>
          <a:prstDash val="solid"/>
        </a:ln>
        <a:ln w="381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600</TotalTime>
  <Words>2774</Words>
  <Application>Microsoft Office PowerPoint</Application>
  <PresentationFormat>寬螢幕</PresentationFormat>
  <Paragraphs>387</Paragraphs>
  <Slides>46</Slides>
  <Notes>28</Notes>
  <HiddenSlides>15</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46</vt:i4>
      </vt:variant>
    </vt:vector>
  </HeadingPairs>
  <TitlesOfParts>
    <vt:vector size="52" baseType="lpstr">
      <vt:lpstr>Courier New,monospace</vt:lpstr>
      <vt:lpstr>新細明體</vt:lpstr>
      <vt:lpstr>Arial</vt:lpstr>
      <vt:lpstr>Calibri</vt:lpstr>
      <vt:lpstr>Courier New</vt:lpstr>
      <vt:lpstr>Wallstabe &amp; Schneider</vt:lpstr>
      <vt:lpstr>PowerPoint 簡報</vt:lpstr>
      <vt:lpstr>PowerPoint 簡報</vt:lpstr>
      <vt:lpstr>Agenda</vt:lpstr>
      <vt:lpstr>Agenda</vt:lpstr>
      <vt:lpstr>Introduction</vt:lpstr>
      <vt:lpstr>Introduction</vt:lpstr>
      <vt:lpstr>Agenda</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Agenda</vt:lpstr>
      <vt:lpstr>Results</vt:lpstr>
      <vt:lpstr>Results</vt:lpstr>
      <vt:lpstr>Results</vt:lpstr>
      <vt:lpstr>Agenda</vt:lpstr>
      <vt:lpstr>Conclusion and Future Work</vt:lpstr>
      <vt:lpstr>Conclusion and Future Work</vt:lpstr>
      <vt:lpstr>PowerPoint 簡報</vt:lpstr>
      <vt:lpstr>Agenda</vt:lpstr>
      <vt:lpstr>Agenda</vt:lpstr>
      <vt:lpstr>Agenda</vt:lpstr>
      <vt:lpstr>Introduction</vt:lpstr>
      <vt:lpstr>Agenda</vt:lpstr>
      <vt:lpstr>System Design and Architecture</vt:lpstr>
      <vt:lpstr>System Design and Architecture</vt:lpstr>
      <vt:lpstr>System Design and Architecture</vt:lpstr>
      <vt:lpstr>Agenda</vt:lpstr>
      <vt:lpstr>Dataset Collection</vt:lpstr>
      <vt:lpstr>Agenda</vt:lpstr>
      <vt:lpstr>Agenda</vt:lpstr>
      <vt:lpstr>Agenda</vt:lpstr>
      <vt:lpstr>Introduction</vt:lpstr>
      <vt:lpstr>Agenda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Ruth Rabl</dc:creator>
  <cp:lastModifiedBy>文皓 吳</cp:lastModifiedBy>
  <cp:revision>100</cp:revision>
  <dcterms:created xsi:type="dcterms:W3CDTF">2009-10-13T09:19:07Z</dcterms:created>
  <dcterms:modified xsi:type="dcterms:W3CDTF">2024-09-12T06:27:52Z</dcterms:modified>
</cp:coreProperties>
</file>