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140" autoAdjust="0"/>
  </p:normalViewPr>
  <p:slideViewPr>
    <p:cSldViewPr snapToGrid="0">
      <p:cViewPr varScale="1">
        <p:scale>
          <a:sx n="84" d="100"/>
          <a:sy n="84" d="100"/>
        </p:scale>
        <p:origin x="159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FD4084-62B6-40D7-AA85-20DEB0E8EF3C}" type="datetimeFigureOut">
              <a:rPr lang="en-US" smtClean="0"/>
              <a:t>4/11/2023</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8B28DB-DBB4-432B-9CE2-FAFB9B466129}" type="slidenum">
              <a:rPr lang="en-US" smtClean="0"/>
              <a:t>‹Nr.›</a:t>
            </a:fld>
            <a:endParaRPr lang="en-US"/>
          </a:p>
        </p:txBody>
      </p:sp>
    </p:spTree>
    <p:extLst>
      <p:ext uri="{BB962C8B-B14F-4D97-AF65-F5344CB8AC3E}">
        <p14:creationId xmlns:p14="http://schemas.microsoft.com/office/powerpoint/2010/main" val="1071514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Hello,</a:t>
            </a:r>
            <a:r>
              <a:rPr lang="en-US" baseline="0" dirty="0" smtClean="0"/>
              <a:t> welcome to my presentation of Introduction to AI. In this presentation, I will introduce you what is AI and most importantly, how can our company benefit from AI.</a:t>
            </a:r>
            <a:endParaRPr lang="en-US" dirty="0"/>
          </a:p>
        </p:txBody>
      </p:sp>
      <p:sp>
        <p:nvSpPr>
          <p:cNvPr id="4" name="Foliennummernplatzhalter 3"/>
          <p:cNvSpPr>
            <a:spLocks noGrp="1"/>
          </p:cNvSpPr>
          <p:nvPr>
            <p:ph type="sldNum" sz="quarter" idx="10"/>
          </p:nvPr>
        </p:nvSpPr>
        <p:spPr/>
        <p:txBody>
          <a:bodyPr/>
          <a:lstStyle/>
          <a:p>
            <a:fld id="{3C8B28DB-DBB4-432B-9CE2-FAFB9B466129}" type="slidenum">
              <a:rPr lang="en-US" smtClean="0"/>
              <a:t>1</a:t>
            </a:fld>
            <a:endParaRPr lang="en-US"/>
          </a:p>
        </p:txBody>
      </p:sp>
    </p:spTree>
    <p:extLst>
      <p:ext uri="{BB962C8B-B14F-4D97-AF65-F5344CB8AC3E}">
        <p14:creationId xmlns:p14="http://schemas.microsoft.com/office/powerpoint/2010/main" val="2011669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So, first of all, what is Artificial</a:t>
            </a:r>
            <a:r>
              <a:rPr lang="en-US" baseline="0" dirty="0" smtClean="0"/>
              <a:t> Intelligence? Artificial Intelligence is a logic-based technique to perform tasks that normally require human intelligence. Such as predicting, decision making, recognizing, and so on.</a:t>
            </a:r>
          </a:p>
          <a:p>
            <a:endParaRPr lang="en-US" baseline="0" dirty="0" smtClean="0"/>
          </a:p>
          <a:p>
            <a:r>
              <a:rPr lang="en-US" baseline="0" dirty="0" smtClean="0"/>
              <a:t>And when we talk about AI, we cannot avoid talking about machine learning and deep learning, which I will address in the following slides</a:t>
            </a:r>
            <a:r>
              <a:rPr lang="en-US" baseline="0" dirty="0" smtClean="0"/>
              <a:t>.</a:t>
            </a:r>
          </a:p>
          <a:p>
            <a:endParaRPr lang="en-US" baseline="0" dirty="0" smtClean="0"/>
          </a:p>
          <a:p>
            <a:r>
              <a:rPr lang="en-US" sz="1200" b="0" i="0" kern="1200" dirty="0" smtClean="0">
                <a:solidFill>
                  <a:schemeClr val="tx1"/>
                </a:solidFill>
                <a:effectLst/>
                <a:latin typeface="+mn-lt"/>
                <a:ea typeface="+mn-ea"/>
                <a:cs typeface="+mn-cs"/>
              </a:rPr>
              <a:t>As I was searching for the perfect image for this slide, I stumbled upon this one and immediately knew it was the one. It perfectly illustrates the secrets behind a successful AI - complex networks and vast amounts of data, all working together to make a final decision. It's a reminder that behind every powerful AI application, there is a complex and intricate system at work.</a:t>
            </a:r>
            <a:endParaRPr lang="en-US" baseline="0" dirty="0" smtClean="0"/>
          </a:p>
        </p:txBody>
      </p:sp>
      <p:sp>
        <p:nvSpPr>
          <p:cNvPr id="4" name="Foliennummernplatzhalter 3"/>
          <p:cNvSpPr>
            <a:spLocks noGrp="1"/>
          </p:cNvSpPr>
          <p:nvPr>
            <p:ph type="sldNum" sz="quarter" idx="10"/>
          </p:nvPr>
        </p:nvSpPr>
        <p:spPr/>
        <p:txBody>
          <a:bodyPr/>
          <a:lstStyle/>
          <a:p>
            <a:fld id="{3C8B28DB-DBB4-432B-9CE2-FAFB9B466129}" type="slidenum">
              <a:rPr lang="en-US" smtClean="0"/>
              <a:t>3</a:t>
            </a:fld>
            <a:endParaRPr lang="en-US"/>
          </a:p>
        </p:txBody>
      </p:sp>
    </p:spTree>
    <p:extLst>
      <p:ext uri="{BB962C8B-B14F-4D97-AF65-F5344CB8AC3E}">
        <p14:creationId xmlns:p14="http://schemas.microsoft.com/office/powerpoint/2010/main" val="4259599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Example recommendation</a:t>
            </a:r>
            <a:r>
              <a:rPr lang="en-US" baseline="0" dirty="0" smtClean="0"/>
              <a:t> system</a:t>
            </a:r>
            <a:endParaRPr lang="en-US" dirty="0"/>
          </a:p>
        </p:txBody>
      </p:sp>
      <p:sp>
        <p:nvSpPr>
          <p:cNvPr id="4" name="Foliennummernplatzhalter 3"/>
          <p:cNvSpPr>
            <a:spLocks noGrp="1"/>
          </p:cNvSpPr>
          <p:nvPr>
            <p:ph type="sldNum" sz="quarter" idx="10"/>
          </p:nvPr>
        </p:nvSpPr>
        <p:spPr/>
        <p:txBody>
          <a:bodyPr/>
          <a:lstStyle/>
          <a:p>
            <a:fld id="{3C8B28DB-DBB4-432B-9CE2-FAFB9B466129}" type="slidenum">
              <a:rPr lang="en-US" smtClean="0"/>
              <a:t>6</a:t>
            </a:fld>
            <a:endParaRPr lang="en-US"/>
          </a:p>
        </p:txBody>
      </p:sp>
    </p:spTree>
    <p:extLst>
      <p:ext uri="{BB962C8B-B14F-4D97-AF65-F5344CB8AC3E}">
        <p14:creationId xmlns:p14="http://schemas.microsoft.com/office/powerpoint/2010/main" val="3405008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p:txBody>
          <a:bodyPr/>
          <a:lstStyle/>
          <a:p>
            <a:fld id="{3C8B28DB-DBB4-432B-9CE2-FAFB9B466129}" type="slidenum">
              <a:rPr lang="en-US" smtClean="0"/>
              <a:t>7</a:t>
            </a:fld>
            <a:endParaRPr lang="en-US"/>
          </a:p>
        </p:txBody>
      </p:sp>
    </p:spTree>
    <p:extLst>
      <p:ext uri="{BB962C8B-B14F-4D97-AF65-F5344CB8AC3E}">
        <p14:creationId xmlns:p14="http://schemas.microsoft.com/office/powerpoint/2010/main" val="2791354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Here we have a simplified neural network with just one hidden layer. However, achieving optimal training accuracy requires a much deeper network with multiple hidden layers. For example, the popular object detection model YOLO, which I have used in my past project, has around 53 hidden layers, while </a:t>
            </a:r>
            <a:r>
              <a:rPr lang="en-US" sz="1200" b="0" i="0" kern="1200" dirty="0" err="1" smtClean="0">
                <a:solidFill>
                  <a:schemeClr val="tx1"/>
                </a:solidFill>
                <a:effectLst/>
                <a:latin typeface="+mn-lt"/>
                <a:ea typeface="+mn-ea"/>
                <a:cs typeface="+mn-cs"/>
              </a:rPr>
              <a:t>ChatGPT</a:t>
            </a:r>
            <a:r>
              <a:rPr lang="en-US" sz="1200" b="0" i="0" kern="1200" dirty="0" smtClean="0">
                <a:solidFill>
                  <a:schemeClr val="tx1"/>
                </a:solidFill>
                <a:effectLst/>
                <a:latin typeface="+mn-lt"/>
                <a:ea typeface="+mn-ea"/>
                <a:cs typeface="+mn-cs"/>
              </a:rPr>
              <a:t>, which is based on the GPT-3.5 architecture, has 96 layers in total. Neural networks are designed to mimic the functioning of the human brain in learning and decision-making.</a:t>
            </a:r>
            <a:endParaRPr lang="en-US" dirty="0"/>
          </a:p>
        </p:txBody>
      </p:sp>
      <p:sp>
        <p:nvSpPr>
          <p:cNvPr id="4" name="Foliennummernplatzhalter 3"/>
          <p:cNvSpPr>
            <a:spLocks noGrp="1"/>
          </p:cNvSpPr>
          <p:nvPr>
            <p:ph type="sldNum" sz="quarter" idx="10"/>
          </p:nvPr>
        </p:nvSpPr>
        <p:spPr/>
        <p:txBody>
          <a:bodyPr/>
          <a:lstStyle/>
          <a:p>
            <a:fld id="{3C8B28DB-DBB4-432B-9CE2-FAFB9B466129}" type="slidenum">
              <a:rPr lang="en-US" smtClean="0"/>
              <a:t>8</a:t>
            </a:fld>
            <a:endParaRPr lang="en-US"/>
          </a:p>
        </p:txBody>
      </p:sp>
    </p:spTree>
    <p:extLst>
      <p:ext uri="{BB962C8B-B14F-4D97-AF65-F5344CB8AC3E}">
        <p14:creationId xmlns:p14="http://schemas.microsoft.com/office/powerpoint/2010/main" val="2255450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a neural network, forward propagation refers to the process of moving input data through the layers of the network to generate an output prediction. During this process, the model calculates the difference between the predicted outcome and the actual outcome, which is known as the error.</a:t>
            </a:r>
          </a:p>
          <a:p>
            <a:r>
              <a:rPr lang="en-US" sz="1200" b="0" i="0" kern="1200" dirty="0" smtClean="0">
                <a:solidFill>
                  <a:schemeClr val="tx1"/>
                </a:solidFill>
                <a:effectLst/>
                <a:latin typeface="+mn-lt"/>
                <a:ea typeface="+mn-ea"/>
                <a:cs typeface="+mn-cs"/>
              </a:rPr>
              <a:t>Once the error is calculated, backward propagation comes into play. This involves using gradient descent to adjust the weights of the neural network in order to minimize the error and improve the accuracy of the predictions. This process is repeated for each training example in a dataset, and when this process is performed once for the entire dataset, it is known as one epoch.</a:t>
            </a:r>
          </a:p>
          <a:p>
            <a:r>
              <a:rPr lang="en-US" sz="1200" b="0" i="0" kern="1200" dirty="0" smtClean="0">
                <a:solidFill>
                  <a:schemeClr val="tx1"/>
                </a:solidFill>
                <a:effectLst/>
                <a:latin typeface="+mn-lt"/>
                <a:ea typeface="+mn-ea"/>
                <a:cs typeface="+mn-cs"/>
              </a:rPr>
              <a:t>The goal is to perform as many epochs as necessary to optimize the neural network's performance and achieve the desired level of accuracy. With this understanding of forward and backward propagation, we can now move forward in exploring how these processes are applied in various machine learning models.</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Trash in trash out</a:t>
            </a:r>
            <a:endParaRPr lang="en-US" dirty="0"/>
          </a:p>
        </p:txBody>
      </p:sp>
      <p:sp>
        <p:nvSpPr>
          <p:cNvPr id="4" name="Foliennummernplatzhalter 3"/>
          <p:cNvSpPr>
            <a:spLocks noGrp="1"/>
          </p:cNvSpPr>
          <p:nvPr>
            <p:ph type="sldNum" sz="quarter" idx="10"/>
          </p:nvPr>
        </p:nvSpPr>
        <p:spPr/>
        <p:txBody>
          <a:bodyPr/>
          <a:lstStyle/>
          <a:p>
            <a:fld id="{3C8B28DB-DBB4-432B-9CE2-FAFB9B466129}" type="slidenum">
              <a:rPr lang="en-US" smtClean="0"/>
              <a:t>9</a:t>
            </a:fld>
            <a:endParaRPr lang="en-US"/>
          </a:p>
        </p:txBody>
      </p:sp>
    </p:spTree>
    <p:extLst>
      <p:ext uri="{BB962C8B-B14F-4D97-AF65-F5344CB8AC3E}">
        <p14:creationId xmlns:p14="http://schemas.microsoft.com/office/powerpoint/2010/main" val="3395832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en-US"/>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en-US"/>
          </a:p>
        </p:txBody>
      </p:sp>
      <p:sp>
        <p:nvSpPr>
          <p:cNvPr id="4" name="Datumsplatzhalter 3"/>
          <p:cNvSpPr>
            <a:spLocks noGrp="1"/>
          </p:cNvSpPr>
          <p:nvPr>
            <p:ph type="dt" sz="half" idx="10"/>
          </p:nvPr>
        </p:nvSpPr>
        <p:spPr/>
        <p:txBody>
          <a:bodyPr/>
          <a:lstStyle/>
          <a:p>
            <a:fld id="{527635A3-1A6D-4714-A85F-B5C0E6F3CE49}" type="datetime1">
              <a:rPr lang="en-US" smtClean="0"/>
              <a:t>4/11/2023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2212801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en-US"/>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umsplatzhalter 3"/>
          <p:cNvSpPr>
            <a:spLocks noGrp="1"/>
          </p:cNvSpPr>
          <p:nvPr>
            <p:ph type="dt" sz="half" idx="10"/>
          </p:nvPr>
        </p:nvSpPr>
        <p:spPr/>
        <p:txBody>
          <a:bodyPr/>
          <a:lstStyle/>
          <a:p>
            <a:fld id="{8C6994DA-61E2-4C31-92CC-4926ABDA610E}" type="datetime1">
              <a:rPr lang="en-US" smtClean="0"/>
              <a:t>4/11/2023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1035185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en-US"/>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3DE6E230-DF9B-4403-9ED2-DBE3787CB8F6}" type="datetime1">
              <a:rPr lang="en-US" smtClean="0"/>
              <a:t>4/11/2023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3427831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en-US"/>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5" name="Datumsplatzhalter 4"/>
          <p:cNvSpPr>
            <a:spLocks noGrp="1"/>
          </p:cNvSpPr>
          <p:nvPr>
            <p:ph type="dt" sz="half" idx="10"/>
          </p:nvPr>
        </p:nvSpPr>
        <p:spPr/>
        <p:txBody>
          <a:bodyPr/>
          <a:lstStyle/>
          <a:p>
            <a:fld id="{83358983-85F1-4203-9B62-9ABE50C35CFF}" type="datetime1">
              <a:rPr lang="en-US" smtClean="0"/>
              <a:t>4/11/2023</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167993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en-US"/>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7" name="Datumsplatzhalter 6"/>
          <p:cNvSpPr>
            <a:spLocks noGrp="1"/>
          </p:cNvSpPr>
          <p:nvPr>
            <p:ph type="dt" sz="half" idx="10"/>
          </p:nvPr>
        </p:nvSpPr>
        <p:spPr/>
        <p:txBody>
          <a:bodyPr/>
          <a:lstStyle/>
          <a:p>
            <a:fld id="{D91B4784-2F9F-4BA7-A935-B1052D1E38D2}" type="datetime1">
              <a:rPr lang="en-US" smtClean="0"/>
              <a:t>4/11/2023</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2115079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en-US"/>
          </a:p>
        </p:txBody>
      </p:sp>
      <p:sp>
        <p:nvSpPr>
          <p:cNvPr id="3" name="Datumsplatzhalter 2"/>
          <p:cNvSpPr>
            <a:spLocks noGrp="1"/>
          </p:cNvSpPr>
          <p:nvPr>
            <p:ph type="dt" sz="half" idx="10"/>
          </p:nvPr>
        </p:nvSpPr>
        <p:spPr/>
        <p:txBody>
          <a:bodyPr/>
          <a:lstStyle/>
          <a:p>
            <a:fld id="{F03968EB-5E02-435D-82C8-4E0A9A10A883}" type="datetime1">
              <a:rPr lang="en-US" smtClean="0"/>
              <a:t>4/11/2023</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1711109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34D75B9-40DA-4839-97C0-631CBE5AACFC}" type="datetime1">
              <a:rPr lang="en-US" smtClean="0"/>
              <a:t>4/11/2023</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1301198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en-US"/>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10E778E1-7A04-45D8-A8DF-2ACB3CF7E991}" type="datetime1">
              <a:rPr lang="en-US" smtClean="0"/>
              <a:t>4/11/2023</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3647888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en-US"/>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EC2BB8A7-EC79-4D1D-B706-3A4FE3E19749}" type="datetime1">
              <a:rPr lang="en-US" smtClean="0"/>
              <a:t>4/11/2023</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3262579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en-US"/>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umsplatzhalter 3"/>
          <p:cNvSpPr>
            <a:spLocks noGrp="1"/>
          </p:cNvSpPr>
          <p:nvPr>
            <p:ph type="dt" sz="half" idx="10"/>
          </p:nvPr>
        </p:nvSpPr>
        <p:spPr/>
        <p:txBody>
          <a:bodyPr/>
          <a:lstStyle/>
          <a:p>
            <a:fld id="{85ABCFC7-F272-42A6-A340-E9FDC575D640}" type="datetime1">
              <a:rPr lang="en-US" smtClean="0"/>
              <a:t>4/11/2023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671436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en-US"/>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umsplatzhalter 3"/>
          <p:cNvSpPr>
            <a:spLocks noGrp="1"/>
          </p:cNvSpPr>
          <p:nvPr>
            <p:ph type="dt" sz="half" idx="10"/>
          </p:nvPr>
        </p:nvSpPr>
        <p:spPr/>
        <p:txBody>
          <a:bodyPr/>
          <a:lstStyle/>
          <a:p>
            <a:fld id="{73ACEA86-4A59-4569-9C36-F57E3DD7D4F1}" type="datetime1">
              <a:rPr lang="en-US" smtClean="0"/>
              <a:t>4/11/2023</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C8F13490-DDE7-4F23-B43C-007738A86F51}" type="slidenum">
              <a:rPr lang="en-US" smtClean="0"/>
              <a:t>‹Nr.›</a:t>
            </a:fld>
            <a:endParaRPr lang="en-US"/>
          </a:p>
        </p:txBody>
      </p:sp>
    </p:spTree>
    <p:extLst>
      <p:ext uri="{BB962C8B-B14F-4D97-AF65-F5344CB8AC3E}">
        <p14:creationId xmlns:p14="http://schemas.microsoft.com/office/powerpoint/2010/main" val="68838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en-US"/>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2971EE-F35B-4F66-B205-4BEF5871316F}" type="datetime1">
              <a:rPr lang="en-US" smtClean="0"/>
              <a:t>4/11/2023</a:t>
            </a:fld>
            <a:endParaRPr lang="en-US"/>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F13490-DDE7-4F23-B43C-007738A86F51}" type="slidenum">
              <a:rPr lang="en-US" smtClean="0"/>
              <a:t>‹Nr.›</a:t>
            </a:fld>
            <a:endParaRPr lang="en-US"/>
          </a:p>
        </p:txBody>
      </p:sp>
    </p:spTree>
    <p:extLst>
      <p:ext uri="{BB962C8B-B14F-4D97-AF65-F5344CB8AC3E}">
        <p14:creationId xmlns:p14="http://schemas.microsoft.com/office/powerpoint/2010/main" val="17030387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smtClean="0"/>
              <a:t>Introduction to AI</a:t>
            </a:r>
            <a:endParaRPr lang="en-US" dirty="0"/>
          </a:p>
        </p:txBody>
      </p:sp>
      <p:sp>
        <p:nvSpPr>
          <p:cNvPr id="3" name="Untertitel 2"/>
          <p:cNvSpPr>
            <a:spLocks noGrp="1"/>
          </p:cNvSpPr>
          <p:nvPr>
            <p:ph type="subTitle" idx="1"/>
          </p:nvPr>
        </p:nvSpPr>
        <p:spPr/>
        <p:txBody>
          <a:bodyPr/>
          <a:lstStyle/>
          <a:p>
            <a:r>
              <a:rPr lang="en-US" dirty="0"/>
              <a:t>a</a:t>
            </a:r>
            <a:r>
              <a:rPr lang="en-US" dirty="0" smtClean="0"/>
              <a:t>nd how can it benefit our company</a:t>
            </a:r>
            <a:endParaRPr lang="en-US" dirty="0"/>
          </a:p>
        </p:txBody>
      </p:sp>
      <p:sp>
        <p:nvSpPr>
          <p:cNvPr id="4" name="Foliennummernplatzhalter 3"/>
          <p:cNvSpPr>
            <a:spLocks noGrp="1"/>
          </p:cNvSpPr>
          <p:nvPr>
            <p:ph type="sldNum" sz="quarter" idx="12"/>
          </p:nvPr>
        </p:nvSpPr>
        <p:spPr/>
        <p:txBody>
          <a:bodyPr/>
          <a:lstStyle/>
          <a:p>
            <a:fld id="{C8F13490-DDE7-4F23-B43C-007738A86F51}" type="slidenum">
              <a:rPr lang="en-US" smtClean="0"/>
              <a:t>1</a:t>
            </a:fld>
            <a:endParaRPr lang="en-US"/>
          </a:p>
        </p:txBody>
      </p:sp>
    </p:spTree>
    <p:extLst>
      <p:ext uri="{BB962C8B-B14F-4D97-AF65-F5344CB8AC3E}">
        <p14:creationId xmlns:p14="http://schemas.microsoft.com/office/powerpoint/2010/main" val="13284457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Agenda</a:t>
            </a:r>
            <a:endParaRPr lang="en-US" dirty="0"/>
          </a:p>
        </p:txBody>
      </p:sp>
      <p:sp>
        <p:nvSpPr>
          <p:cNvPr id="3" name="Inhaltsplatzhalter 2"/>
          <p:cNvSpPr>
            <a:spLocks noGrp="1"/>
          </p:cNvSpPr>
          <p:nvPr>
            <p:ph idx="1"/>
          </p:nvPr>
        </p:nvSpPr>
        <p:spPr/>
        <p:txBody>
          <a:bodyPr/>
          <a:lstStyle/>
          <a:p>
            <a:endParaRPr lang="en-US" dirty="0"/>
          </a:p>
        </p:txBody>
      </p:sp>
      <p:sp>
        <p:nvSpPr>
          <p:cNvPr id="4" name="Foliennummernplatzhalter 3"/>
          <p:cNvSpPr>
            <a:spLocks noGrp="1"/>
          </p:cNvSpPr>
          <p:nvPr>
            <p:ph type="sldNum" sz="quarter" idx="12"/>
          </p:nvPr>
        </p:nvSpPr>
        <p:spPr/>
        <p:txBody>
          <a:bodyPr/>
          <a:lstStyle/>
          <a:p>
            <a:fld id="{C8F13490-DDE7-4F23-B43C-007738A86F51}" type="slidenum">
              <a:rPr lang="en-US" smtClean="0"/>
              <a:t>2</a:t>
            </a:fld>
            <a:endParaRPr lang="en-US"/>
          </a:p>
        </p:txBody>
      </p:sp>
    </p:spTree>
    <p:extLst>
      <p:ext uri="{BB962C8B-B14F-4D97-AF65-F5344CB8AC3E}">
        <p14:creationId xmlns:p14="http://schemas.microsoft.com/office/powerpoint/2010/main" val="25222688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Artificial Intelligence</a:t>
            </a:r>
            <a:endParaRPr lang="en-US" dirty="0"/>
          </a:p>
        </p:txBody>
      </p:sp>
      <p:sp>
        <p:nvSpPr>
          <p:cNvPr id="3" name="Inhaltsplatzhalter 2"/>
          <p:cNvSpPr>
            <a:spLocks noGrp="1"/>
          </p:cNvSpPr>
          <p:nvPr>
            <p:ph sz="half" idx="1"/>
          </p:nvPr>
        </p:nvSpPr>
        <p:spPr/>
        <p:txBody>
          <a:bodyPr/>
          <a:lstStyle/>
          <a:p>
            <a:r>
              <a:rPr lang="en-US" dirty="0" smtClean="0"/>
              <a:t>Definition: A logic-based technique to perform tasks that normally require human intelligence</a:t>
            </a:r>
          </a:p>
          <a:p>
            <a:r>
              <a:rPr lang="en-US" dirty="0" smtClean="0"/>
              <a:t>Biggest fields are Traditional Machine Learning and Deep Learning</a:t>
            </a:r>
            <a:endParaRPr lang="en-US" dirty="0"/>
          </a:p>
        </p:txBody>
      </p:sp>
      <p:pic>
        <p:nvPicPr>
          <p:cNvPr id="8" name="Inhaltsplatzhalt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690688"/>
            <a:ext cx="5181600" cy="3946192"/>
          </a:xfrm>
        </p:spPr>
      </p:pic>
      <p:sp>
        <p:nvSpPr>
          <p:cNvPr id="9" name="Textfeld 8"/>
          <p:cNvSpPr txBox="1"/>
          <p:nvPr/>
        </p:nvSpPr>
        <p:spPr>
          <a:xfrm>
            <a:off x="6172200" y="5923047"/>
            <a:ext cx="5181600" cy="253916"/>
          </a:xfrm>
          <a:prstGeom prst="rect">
            <a:avLst/>
          </a:prstGeom>
          <a:noFill/>
        </p:spPr>
        <p:txBody>
          <a:bodyPr wrap="square" rtlCol="0">
            <a:spAutoFit/>
          </a:bodyPr>
          <a:lstStyle/>
          <a:p>
            <a:r>
              <a:rPr lang="en-US" sz="1050" dirty="0" smtClean="0">
                <a:solidFill>
                  <a:schemeClr val="bg1">
                    <a:lumMod val="50000"/>
                  </a:schemeClr>
                </a:solidFill>
              </a:rPr>
              <a:t>Source: https://seekingalpha.com/article/4593012-the-softer-side-of-artificial-intelligence</a:t>
            </a:r>
            <a:endParaRPr lang="en-US" sz="1050" dirty="0">
              <a:solidFill>
                <a:schemeClr val="bg1">
                  <a:lumMod val="50000"/>
                </a:schemeClr>
              </a:solidFill>
            </a:endParaRPr>
          </a:p>
        </p:txBody>
      </p:sp>
      <p:sp>
        <p:nvSpPr>
          <p:cNvPr id="10" name="Foliennummernplatzhalter 9"/>
          <p:cNvSpPr>
            <a:spLocks noGrp="1"/>
          </p:cNvSpPr>
          <p:nvPr>
            <p:ph type="sldNum" sz="quarter" idx="12"/>
          </p:nvPr>
        </p:nvSpPr>
        <p:spPr/>
        <p:txBody>
          <a:bodyPr/>
          <a:lstStyle/>
          <a:p>
            <a:fld id="{C8F13490-DDE7-4F23-B43C-007738A86F51}" type="slidenum">
              <a:rPr lang="en-US" smtClean="0"/>
              <a:t>3</a:t>
            </a:fld>
            <a:endParaRPr lang="en-US"/>
          </a:p>
        </p:txBody>
      </p:sp>
    </p:spTree>
    <p:extLst>
      <p:ext uri="{BB962C8B-B14F-4D97-AF65-F5344CB8AC3E}">
        <p14:creationId xmlns:p14="http://schemas.microsoft.com/office/powerpoint/2010/main" val="32119328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smtClean="0"/>
              <a:t>Traditional Machine Learning</a:t>
            </a:r>
            <a:endParaRPr lang="en-US" dirty="0"/>
          </a:p>
        </p:txBody>
      </p:sp>
      <p:sp>
        <p:nvSpPr>
          <p:cNvPr id="6" name="Inhaltsplatzhalter 5"/>
          <p:cNvSpPr>
            <a:spLocks noGrp="1"/>
          </p:cNvSpPr>
          <p:nvPr>
            <p:ph idx="1"/>
          </p:nvPr>
        </p:nvSpPr>
        <p:spPr/>
        <p:txBody>
          <a:bodyPr/>
          <a:lstStyle/>
          <a:p>
            <a:r>
              <a:rPr lang="en-US" dirty="0" smtClean="0"/>
              <a:t>Subfield of AI</a:t>
            </a:r>
          </a:p>
          <a:p>
            <a:r>
              <a:rPr lang="en-US" dirty="0" smtClean="0"/>
              <a:t>Algorithms such as linear regression, k-nearest neighbors, and so on</a:t>
            </a:r>
          </a:p>
          <a:p>
            <a:r>
              <a:rPr lang="en-US" dirty="0" smtClean="0"/>
              <a:t>Machine Learning does not use Neural Networks</a:t>
            </a:r>
          </a:p>
          <a:p>
            <a:r>
              <a:rPr lang="en-US" dirty="0" smtClean="0"/>
              <a:t>In general faster, computationally lightweight, but can only deal with simpler tasks</a:t>
            </a:r>
          </a:p>
          <a:p>
            <a:endParaRPr lang="en-US" dirty="0"/>
          </a:p>
        </p:txBody>
      </p:sp>
      <p:sp>
        <p:nvSpPr>
          <p:cNvPr id="7" name="Foliennummernplatzhalter 6"/>
          <p:cNvSpPr>
            <a:spLocks noGrp="1"/>
          </p:cNvSpPr>
          <p:nvPr>
            <p:ph type="sldNum" sz="quarter" idx="12"/>
          </p:nvPr>
        </p:nvSpPr>
        <p:spPr/>
        <p:txBody>
          <a:bodyPr/>
          <a:lstStyle/>
          <a:p>
            <a:fld id="{C8F13490-DDE7-4F23-B43C-007738A86F51}" type="slidenum">
              <a:rPr lang="en-US" smtClean="0"/>
              <a:t>4</a:t>
            </a:fld>
            <a:endParaRPr lang="en-US"/>
          </a:p>
        </p:txBody>
      </p:sp>
    </p:spTree>
    <p:extLst>
      <p:ext uri="{BB962C8B-B14F-4D97-AF65-F5344CB8AC3E}">
        <p14:creationId xmlns:p14="http://schemas.microsoft.com/office/powerpoint/2010/main" val="31379330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smtClean="0"/>
              <a:t>Traditional Machine Learning</a:t>
            </a:r>
            <a:endParaRPr lang="en-US" dirty="0"/>
          </a:p>
        </p:txBody>
      </p:sp>
      <p:pic>
        <p:nvPicPr>
          <p:cNvPr id="13" name="Inhaltsplatzhalter 12"/>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8870" y="1825625"/>
            <a:ext cx="5181600" cy="3243681"/>
          </a:xfrm>
        </p:spPr>
      </p:pic>
      <p:sp>
        <p:nvSpPr>
          <p:cNvPr id="7" name="Inhaltsplatzhalter 6"/>
          <p:cNvSpPr>
            <a:spLocks noGrp="1"/>
          </p:cNvSpPr>
          <p:nvPr>
            <p:ph sz="half" idx="1"/>
          </p:nvPr>
        </p:nvSpPr>
        <p:spPr/>
        <p:txBody>
          <a:bodyPr/>
          <a:lstStyle/>
          <a:p>
            <a:r>
              <a:rPr lang="en-US" dirty="0" smtClean="0"/>
              <a:t>Linear regression</a:t>
            </a:r>
          </a:p>
          <a:p>
            <a:r>
              <a:rPr lang="en-US" dirty="0" smtClean="0"/>
              <a:t>Look for a line that fits the dataset the best</a:t>
            </a:r>
          </a:p>
          <a:p>
            <a:r>
              <a:rPr lang="en-US" dirty="0" smtClean="0"/>
              <a:t>Makes prediction according to the line</a:t>
            </a:r>
          </a:p>
          <a:p>
            <a:r>
              <a:rPr lang="en-US" dirty="0" smtClean="0"/>
              <a:t>House price prediction</a:t>
            </a:r>
            <a:endParaRPr lang="en-US" dirty="0"/>
          </a:p>
        </p:txBody>
      </p:sp>
      <p:sp>
        <p:nvSpPr>
          <p:cNvPr id="14" name="Textfeld 13"/>
          <p:cNvSpPr txBox="1"/>
          <p:nvPr/>
        </p:nvSpPr>
        <p:spPr>
          <a:xfrm>
            <a:off x="6652260" y="5204243"/>
            <a:ext cx="4274820" cy="430887"/>
          </a:xfrm>
          <a:prstGeom prst="rect">
            <a:avLst/>
          </a:prstGeom>
          <a:noFill/>
        </p:spPr>
        <p:txBody>
          <a:bodyPr wrap="square" rtlCol="0">
            <a:spAutoFit/>
          </a:bodyPr>
          <a:lstStyle/>
          <a:p>
            <a:r>
              <a:rPr lang="en-US" sz="1050" dirty="0" smtClean="0">
                <a:solidFill>
                  <a:schemeClr val="bg1">
                    <a:lumMod val="50000"/>
                  </a:schemeClr>
                </a:solidFill>
              </a:rPr>
              <a:t>Source: https://www.codersarts.com/post/predict-boston-house-prices-using-python-linear-regression</a:t>
            </a:r>
            <a:endParaRPr lang="en-US" sz="1050" dirty="0">
              <a:solidFill>
                <a:schemeClr val="bg1">
                  <a:lumMod val="50000"/>
                </a:schemeClr>
              </a:solidFill>
            </a:endParaRPr>
          </a:p>
        </p:txBody>
      </p:sp>
      <p:sp>
        <p:nvSpPr>
          <p:cNvPr id="15" name="Foliennummernplatzhalter 14"/>
          <p:cNvSpPr>
            <a:spLocks noGrp="1"/>
          </p:cNvSpPr>
          <p:nvPr>
            <p:ph type="sldNum" sz="quarter" idx="12"/>
          </p:nvPr>
        </p:nvSpPr>
        <p:spPr/>
        <p:txBody>
          <a:bodyPr/>
          <a:lstStyle/>
          <a:p>
            <a:fld id="{C8F13490-DDE7-4F23-B43C-007738A86F51}" type="slidenum">
              <a:rPr lang="en-US" smtClean="0"/>
              <a:t>5</a:t>
            </a:fld>
            <a:endParaRPr lang="en-US"/>
          </a:p>
        </p:txBody>
      </p:sp>
    </p:spTree>
    <p:extLst>
      <p:ext uri="{BB962C8B-B14F-4D97-AF65-F5344CB8AC3E}">
        <p14:creationId xmlns:p14="http://schemas.microsoft.com/office/powerpoint/2010/main" val="21162659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Traditional Machine Learning</a:t>
            </a:r>
            <a:endParaRPr lang="en-US" dirty="0"/>
          </a:p>
        </p:txBody>
      </p:sp>
      <p:sp>
        <p:nvSpPr>
          <p:cNvPr id="4" name="Inhaltsplatzhalter 3"/>
          <p:cNvSpPr>
            <a:spLocks noGrp="1"/>
          </p:cNvSpPr>
          <p:nvPr>
            <p:ph sz="half" idx="1"/>
          </p:nvPr>
        </p:nvSpPr>
        <p:spPr/>
        <p:txBody>
          <a:bodyPr/>
          <a:lstStyle/>
          <a:p>
            <a:r>
              <a:rPr lang="en-US" dirty="0" smtClean="0"/>
              <a:t>K-nearest neighbor (k=5 in this case)</a:t>
            </a:r>
          </a:p>
          <a:p>
            <a:r>
              <a:rPr lang="en-US" dirty="0" smtClean="0"/>
              <a:t>Different colors represent different classes of data points in the dataset</a:t>
            </a:r>
          </a:p>
          <a:p>
            <a:r>
              <a:rPr lang="en-US" dirty="0" smtClean="0"/>
              <a:t>New data point is classified according to the count of nearest neighbors</a:t>
            </a:r>
          </a:p>
        </p:txBody>
      </p:sp>
      <p:pic>
        <p:nvPicPr>
          <p:cNvPr id="6" name="Inhaltsplatzhalt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43492" y="1825625"/>
            <a:ext cx="5039015" cy="4351338"/>
          </a:xfrm>
        </p:spPr>
      </p:pic>
      <p:sp>
        <p:nvSpPr>
          <p:cNvPr id="7" name="Textfeld 6"/>
          <p:cNvSpPr txBox="1"/>
          <p:nvPr/>
        </p:nvSpPr>
        <p:spPr>
          <a:xfrm>
            <a:off x="6243492" y="6343650"/>
            <a:ext cx="5039015" cy="430887"/>
          </a:xfrm>
          <a:prstGeom prst="rect">
            <a:avLst/>
          </a:prstGeom>
          <a:noFill/>
        </p:spPr>
        <p:txBody>
          <a:bodyPr wrap="square" rtlCol="0">
            <a:spAutoFit/>
          </a:bodyPr>
          <a:lstStyle/>
          <a:p>
            <a:r>
              <a:rPr lang="en-US" sz="1100" dirty="0" smtClean="0">
                <a:solidFill>
                  <a:schemeClr val="bg1">
                    <a:lumMod val="50000"/>
                  </a:schemeClr>
                </a:solidFill>
              </a:rPr>
              <a:t>Source: https://www.researchgate.net/figure/An-illustration-of-K-nearest-neighbor-model_fig6_321751429</a:t>
            </a:r>
            <a:endParaRPr lang="en-US" sz="1100" dirty="0">
              <a:solidFill>
                <a:schemeClr val="bg1">
                  <a:lumMod val="50000"/>
                </a:schemeClr>
              </a:solidFill>
            </a:endParaRPr>
          </a:p>
        </p:txBody>
      </p:sp>
      <p:sp>
        <p:nvSpPr>
          <p:cNvPr id="8" name="Foliennummernplatzhalter 7"/>
          <p:cNvSpPr>
            <a:spLocks noGrp="1"/>
          </p:cNvSpPr>
          <p:nvPr>
            <p:ph type="sldNum" sz="quarter" idx="12"/>
          </p:nvPr>
        </p:nvSpPr>
        <p:spPr/>
        <p:txBody>
          <a:bodyPr/>
          <a:lstStyle/>
          <a:p>
            <a:fld id="{C8F13490-DDE7-4F23-B43C-007738A86F51}" type="slidenum">
              <a:rPr lang="en-US" smtClean="0"/>
              <a:t>6</a:t>
            </a:fld>
            <a:endParaRPr lang="en-US"/>
          </a:p>
        </p:txBody>
      </p:sp>
    </p:spTree>
    <p:extLst>
      <p:ext uri="{BB962C8B-B14F-4D97-AF65-F5344CB8AC3E}">
        <p14:creationId xmlns:p14="http://schemas.microsoft.com/office/powerpoint/2010/main" val="31859772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Deep Learning</a:t>
            </a:r>
            <a:endParaRPr lang="en-US" dirty="0"/>
          </a:p>
        </p:txBody>
      </p:sp>
      <p:sp>
        <p:nvSpPr>
          <p:cNvPr id="3" name="Inhaltsplatzhalter 2"/>
          <p:cNvSpPr>
            <a:spLocks noGrp="1"/>
          </p:cNvSpPr>
          <p:nvPr>
            <p:ph idx="1"/>
          </p:nvPr>
        </p:nvSpPr>
        <p:spPr/>
        <p:txBody>
          <a:bodyPr/>
          <a:lstStyle/>
          <a:p>
            <a:r>
              <a:rPr lang="en-US" dirty="0" smtClean="0"/>
              <a:t>A type of machine learning that involves the use of Neural Networks</a:t>
            </a:r>
          </a:p>
          <a:p>
            <a:r>
              <a:rPr lang="en-US" dirty="0" smtClean="0"/>
              <a:t>In general computationally intensive but could deal with more difficult problems such as pattern recognition and speech recognition</a:t>
            </a:r>
          </a:p>
          <a:p>
            <a:r>
              <a:rPr lang="en-US" dirty="0" smtClean="0"/>
              <a:t>Often requires a large amount of labeled data to train the model efficiently</a:t>
            </a:r>
          </a:p>
          <a:p>
            <a:r>
              <a:rPr lang="en-US" dirty="0" smtClean="0"/>
              <a:t>Can achieve higher levels of accuracy than traditional machine learning models</a:t>
            </a:r>
            <a:endParaRPr lang="en-US" dirty="0"/>
          </a:p>
        </p:txBody>
      </p:sp>
      <p:sp>
        <p:nvSpPr>
          <p:cNvPr id="4" name="Foliennummernplatzhalter 3"/>
          <p:cNvSpPr>
            <a:spLocks noGrp="1"/>
          </p:cNvSpPr>
          <p:nvPr>
            <p:ph type="sldNum" sz="quarter" idx="12"/>
          </p:nvPr>
        </p:nvSpPr>
        <p:spPr/>
        <p:txBody>
          <a:bodyPr/>
          <a:lstStyle/>
          <a:p>
            <a:fld id="{C8F13490-DDE7-4F23-B43C-007738A86F51}" type="slidenum">
              <a:rPr lang="en-US" smtClean="0"/>
              <a:t>7</a:t>
            </a:fld>
            <a:endParaRPr lang="en-US"/>
          </a:p>
        </p:txBody>
      </p:sp>
    </p:spTree>
    <p:extLst>
      <p:ext uri="{BB962C8B-B14F-4D97-AF65-F5344CB8AC3E}">
        <p14:creationId xmlns:p14="http://schemas.microsoft.com/office/powerpoint/2010/main" val="3777576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Deep Learning</a:t>
            </a:r>
            <a:endParaRPr lang="en-US" dirty="0"/>
          </a:p>
        </p:txBody>
      </p:sp>
      <p:sp>
        <p:nvSpPr>
          <p:cNvPr id="5" name="Inhaltsplatzhalter 4"/>
          <p:cNvSpPr>
            <a:spLocks noGrp="1"/>
          </p:cNvSpPr>
          <p:nvPr>
            <p:ph sz="half" idx="1"/>
          </p:nvPr>
        </p:nvSpPr>
        <p:spPr/>
        <p:txBody>
          <a:bodyPr/>
          <a:lstStyle/>
          <a:p>
            <a:r>
              <a:rPr lang="en-US" dirty="0" smtClean="0"/>
              <a:t>Neural Network</a:t>
            </a:r>
          </a:p>
          <a:p>
            <a:r>
              <a:rPr lang="en-US" dirty="0" smtClean="0"/>
              <a:t>Input, Hidden, and Output </a:t>
            </a:r>
            <a:r>
              <a:rPr lang="en-US" dirty="0" smtClean="0"/>
              <a:t>layer</a:t>
            </a:r>
          </a:p>
          <a:p>
            <a:r>
              <a:rPr lang="en-US" dirty="0" smtClean="0"/>
              <a:t>Input layer takes Input, Hidden layer does some calculation, output received in </a:t>
            </a:r>
            <a:r>
              <a:rPr lang="en-US" dirty="0"/>
              <a:t>O</a:t>
            </a:r>
            <a:r>
              <a:rPr lang="en-US" dirty="0" smtClean="0"/>
              <a:t>utput layer</a:t>
            </a:r>
            <a:endParaRPr lang="en-US" dirty="0" smtClean="0"/>
          </a:p>
          <a:p>
            <a:endParaRPr lang="en-US" dirty="0" smtClean="0"/>
          </a:p>
          <a:p>
            <a:endParaRPr lang="en-US" dirty="0"/>
          </a:p>
        </p:txBody>
      </p:sp>
      <p:pic>
        <p:nvPicPr>
          <p:cNvPr id="9" name="Inhaltsplatzhalter 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953712" y="1825625"/>
            <a:ext cx="3618576" cy="4351338"/>
          </a:xfrm>
        </p:spPr>
      </p:pic>
      <p:sp>
        <p:nvSpPr>
          <p:cNvPr id="4" name="Foliennummernplatzhalter 3"/>
          <p:cNvSpPr>
            <a:spLocks noGrp="1"/>
          </p:cNvSpPr>
          <p:nvPr>
            <p:ph type="sldNum" sz="quarter" idx="12"/>
          </p:nvPr>
        </p:nvSpPr>
        <p:spPr/>
        <p:txBody>
          <a:bodyPr/>
          <a:lstStyle/>
          <a:p>
            <a:fld id="{C8F13490-DDE7-4F23-B43C-007738A86F51}" type="slidenum">
              <a:rPr lang="en-US" smtClean="0"/>
              <a:t>8</a:t>
            </a:fld>
            <a:endParaRPr lang="en-US"/>
          </a:p>
        </p:txBody>
      </p:sp>
    </p:spTree>
    <p:extLst>
      <p:ext uri="{BB962C8B-B14F-4D97-AF65-F5344CB8AC3E}">
        <p14:creationId xmlns:p14="http://schemas.microsoft.com/office/powerpoint/2010/main" val="4125016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smtClean="0"/>
              <a:t>Deep Learning</a:t>
            </a:r>
            <a:endParaRPr lang="en-US" dirty="0"/>
          </a:p>
        </p:txBody>
      </p:sp>
      <p:sp>
        <p:nvSpPr>
          <p:cNvPr id="5" name="Inhaltsplatzhalter 4"/>
          <p:cNvSpPr>
            <a:spLocks noGrp="1"/>
          </p:cNvSpPr>
          <p:nvPr>
            <p:ph sz="half" idx="1"/>
          </p:nvPr>
        </p:nvSpPr>
        <p:spPr/>
        <p:txBody>
          <a:bodyPr>
            <a:normAutofit lnSpcReduction="10000"/>
          </a:bodyPr>
          <a:lstStyle/>
          <a:p>
            <a:r>
              <a:rPr lang="en-US" dirty="0" smtClean="0"/>
              <a:t>Forward Propagation</a:t>
            </a:r>
          </a:p>
          <a:p>
            <a:r>
              <a:rPr lang="en-US" dirty="0" smtClean="0"/>
              <a:t>Error is the difference Between the predicted outcome and the actual outcome</a:t>
            </a:r>
          </a:p>
          <a:p>
            <a:r>
              <a:rPr lang="en-US" dirty="0" smtClean="0"/>
              <a:t>Backward Propagation</a:t>
            </a:r>
          </a:p>
          <a:p>
            <a:r>
              <a:rPr lang="en-US" dirty="0" smtClean="0"/>
              <a:t>Gradient Descent to adjust the weights</a:t>
            </a:r>
          </a:p>
          <a:p>
            <a:r>
              <a:rPr lang="en-US" dirty="0" smtClean="0"/>
              <a:t>This is one epoch</a:t>
            </a:r>
          </a:p>
          <a:p>
            <a:r>
              <a:rPr lang="en-US" dirty="0" smtClean="0"/>
              <a:t>Do as many epochs until </a:t>
            </a:r>
            <a:r>
              <a:rPr lang="en-US" dirty="0" smtClean="0"/>
              <a:t>optimized result</a:t>
            </a:r>
            <a:endParaRPr lang="en-US" dirty="0"/>
          </a:p>
        </p:txBody>
      </p:sp>
      <p:pic>
        <p:nvPicPr>
          <p:cNvPr id="9" name="Inhaltsplatzhalter 8"/>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953712" y="1825625"/>
            <a:ext cx="3618576" cy="4351338"/>
          </a:xfrm>
        </p:spPr>
      </p:pic>
      <p:sp>
        <p:nvSpPr>
          <p:cNvPr id="4" name="Foliennummernplatzhalter 3"/>
          <p:cNvSpPr>
            <a:spLocks noGrp="1"/>
          </p:cNvSpPr>
          <p:nvPr>
            <p:ph type="sldNum" sz="quarter" idx="12"/>
          </p:nvPr>
        </p:nvSpPr>
        <p:spPr/>
        <p:txBody>
          <a:bodyPr/>
          <a:lstStyle/>
          <a:p>
            <a:fld id="{C8F13490-DDE7-4F23-B43C-007738A86F51}" type="slidenum">
              <a:rPr lang="en-US" smtClean="0"/>
              <a:t>9</a:t>
            </a:fld>
            <a:endParaRPr lang="en-US"/>
          </a:p>
        </p:txBody>
      </p:sp>
      <p:cxnSp>
        <p:nvCxnSpPr>
          <p:cNvPr id="6" name="Gerade Verbindung mit Pfeil 5"/>
          <p:cNvCxnSpPr/>
          <p:nvPr/>
        </p:nvCxnSpPr>
        <p:spPr>
          <a:xfrm>
            <a:off x="6861810" y="1690688"/>
            <a:ext cx="37104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Gerade Verbindung mit Pfeil 7"/>
          <p:cNvCxnSpPr/>
          <p:nvPr/>
        </p:nvCxnSpPr>
        <p:spPr>
          <a:xfrm flipH="1">
            <a:off x="7021830" y="6081991"/>
            <a:ext cx="35504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feld 9"/>
          <p:cNvSpPr txBox="1"/>
          <p:nvPr/>
        </p:nvSpPr>
        <p:spPr>
          <a:xfrm>
            <a:off x="7654059" y="1350446"/>
            <a:ext cx="2205990" cy="369332"/>
          </a:xfrm>
          <a:prstGeom prst="rect">
            <a:avLst/>
          </a:prstGeom>
          <a:noFill/>
        </p:spPr>
        <p:txBody>
          <a:bodyPr wrap="square" rtlCol="0">
            <a:spAutoFit/>
          </a:bodyPr>
          <a:lstStyle/>
          <a:p>
            <a:r>
              <a:rPr lang="en-US" dirty="0" smtClean="0"/>
              <a:t>Forward Propagation</a:t>
            </a:r>
            <a:endParaRPr lang="en-US" dirty="0"/>
          </a:p>
        </p:txBody>
      </p:sp>
      <p:sp>
        <p:nvSpPr>
          <p:cNvPr id="11" name="Textfeld 10"/>
          <p:cNvSpPr txBox="1"/>
          <p:nvPr/>
        </p:nvSpPr>
        <p:spPr>
          <a:xfrm>
            <a:off x="7694064" y="6140171"/>
            <a:ext cx="2341476" cy="369332"/>
          </a:xfrm>
          <a:prstGeom prst="rect">
            <a:avLst/>
          </a:prstGeom>
          <a:noFill/>
        </p:spPr>
        <p:txBody>
          <a:bodyPr wrap="square" rtlCol="0">
            <a:spAutoFit/>
          </a:bodyPr>
          <a:lstStyle/>
          <a:p>
            <a:r>
              <a:rPr lang="en-US" dirty="0" smtClean="0"/>
              <a:t>Backward Propagation</a:t>
            </a:r>
            <a:endParaRPr lang="en-US" dirty="0"/>
          </a:p>
        </p:txBody>
      </p:sp>
      <p:sp>
        <p:nvSpPr>
          <p:cNvPr id="12" name="Textfeld 11"/>
          <p:cNvSpPr txBox="1"/>
          <p:nvPr/>
        </p:nvSpPr>
        <p:spPr>
          <a:xfrm>
            <a:off x="7166610" y="2749034"/>
            <a:ext cx="312420" cy="369332"/>
          </a:xfrm>
          <a:prstGeom prst="rect">
            <a:avLst/>
          </a:prstGeom>
          <a:noFill/>
        </p:spPr>
        <p:txBody>
          <a:bodyPr wrap="square" rtlCol="0">
            <a:spAutoFit/>
          </a:bodyPr>
          <a:lstStyle/>
          <a:p>
            <a:r>
              <a:rPr lang="en-US" dirty="0" smtClean="0"/>
              <a:t>w</a:t>
            </a:r>
            <a:endParaRPr lang="en-US" dirty="0"/>
          </a:p>
        </p:txBody>
      </p:sp>
      <p:sp>
        <p:nvSpPr>
          <p:cNvPr id="14" name="Textfeld 13"/>
          <p:cNvSpPr txBox="1"/>
          <p:nvPr/>
        </p:nvSpPr>
        <p:spPr>
          <a:xfrm>
            <a:off x="7162800" y="4855330"/>
            <a:ext cx="312420" cy="369332"/>
          </a:xfrm>
          <a:prstGeom prst="rect">
            <a:avLst/>
          </a:prstGeom>
          <a:noFill/>
        </p:spPr>
        <p:txBody>
          <a:bodyPr wrap="square" rtlCol="0">
            <a:spAutoFit/>
          </a:bodyPr>
          <a:lstStyle/>
          <a:p>
            <a:r>
              <a:rPr lang="en-US" dirty="0" smtClean="0"/>
              <a:t>w</a:t>
            </a:r>
            <a:endParaRPr lang="en-US" dirty="0"/>
          </a:p>
        </p:txBody>
      </p:sp>
      <p:sp>
        <p:nvSpPr>
          <p:cNvPr id="15" name="Textfeld 14"/>
          <p:cNvSpPr txBox="1"/>
          <p:nvPr/>
        </p:nvSpPr>
        <p:spPr>
          <a:xfrm>
            <a:off x="7166610" y="3857109"/>
            <a:ext cx="312420" cy="369332"/>
          </a:xfrm>
          <a:prstGeom prst="rect">
            <a:avLst/>
          </a:prstGeom>
          <a:noFill/>
        </p:spPr>
        <p:txBody>
          <a:bodyPr wrap="square" rtlCol="0">
            <a:spAutoFit/>
          </a:bodyPr>
          <a:lstStyle/>
          <a:p>
            <a:r>
              <a:rPr lang="en-US" dirty="0" smtClean="0"/>
              <a:t>w</a:t>
            </a:r>
            <a:endParaRPr lang="en-US" dirty="0"/>
          </a:p>
        </p:txBody>
      </p:sp>
      <p:sp>
        <p:nvSpPr>
          <p:cNvPr id="16" name="Textfeld 15"/>
          <p:cNvSpPr txBox="1"/>
          <p:nvPr/>
        </p:nvSpPr>
        <p:spPr>
          <a:xfrm>
            <a:off x="8591550" y="5432783"/>
            <a:ext cx="312420" cy="369332"/>
          </a:xfrm>
          <a:prstGeom prst="rect">
            <a:avLst/>
          </a:prstGeom>
          <a:noFill/>
        </p:spPr>
        <p:txBody>
          <a:bodyPr wrap="square" rtlCol="0">
            <a:spAutoFit/>
          </a:bodyPr>
          <a:lstStyle/>
          <a:p>
            <a:r>
              <a:rPr lang="en-US" dirty="0" smtClean="0"/>
              <a:t>w</a:t>
            </a:r>
            <a:endParaRPr lang="en-US" dirty="0"/>
          </a:p>
        </p:txBody>
      </p:sp>
      <p:sp>
        <p:nvSpPr>
          <p:cNvPr id="17" name="Textfeld 16"/>
          <p:cNvSpPr txBox="1"/>
          <p:nvPr/>
        </p:nvSpPr>
        <p:spPr>
          <a:xfrm>
            <a:off x="8591550" y="4370666"/>
            <a:ext cx="312420" cy="369332"/>
          </a:xfrm>
          <a:prstGeom prst="rect">
            <a:avLst/>
          </a:prstGeom>
          <a:noFill/>
        </p:spPr>
        <p:txBody>
          <a:bodyPr wrap="square" rtlCol="0">
            <a:spAutoFit/>
          </a:bodyPr>
          <a:lstStyle/>
          <a:p>
            <a:r>
              <a:rPr lang="en-US" dirty="0" smtClean="0"/>
              <a:t>w</a:t>
            </a:r>
            <a:endParaRPr lang="en-US" dirty="0"/>
          </a:p>
        </p:txBody>
      </p:sp>
      <p:sp>
        <p:nvSpPr>
          <p:cNvPr id="18" name="Textfeld 17"/>
          <p:cNvSpPr txBox="1"/>
          <p:nvPr/>
        </p:nvSpPr>
        <p:spPr>
          <a:xfrm>
            <a:off x="8610600" y="3261261"/>
            <a:ext cx="312420" cy="369332"/>
          </a:xfrm>
          <a:prstGeom prst="rect">
            <a:avLst/>
          </a:prstGeom>
          <a:noFill/>
        </p:spPr>
        <p:txBody>
          <a:bodyPr wrap="square" rtlCol="0">
            <a:spAutoFit/>
          </a:bodyPr>
          <a:lstStyle/>
          <a:p>
            <a:r>
              <a:rPr lang="en-US" dirty="0" smtClean="0"/>
              <a:t>w</a:t>
            </a:r>
            <a:endParaRPr lang="en-US" dirty="0"/>
          </a:p>
        </p:txBody>
      </p:sp>
      <p:sp>
        <p:nvSpPr>
          <p:cNvPr id="19" name="Textfeld 18"/>
          <p:cNvSpPr txBox="1"/>
          <p:nvPr/>
        </p:nvSpPr>
        <p:spPr>
          <a:xfrm>
            <a:off x="8570364" y="2178685"/>
            <a:ext cx="312420" cy="369332"/>
          </a:xfrm>
          <a:prstGeom prst="rect">
            <a:avLst/>
          </a:prstGeom>
          <a:noFill/>
        </p:spPr>
        <p:txBody>
          <a:bodyPr wrap="square" rtlCol="0">
            <a:spAutoFit/>
          </a:bodyPr>
          <a:lstStyle/>
          <a:p>
            <a:r>
              <a:rPr lang="en-US" dirty="0" smtClean="0"/>
              <a:t>w</a:t>
            </a:r>
            <a:endParaRPr lang="en-US" dirty="0"/>
          </a:p>
        </p:txBody>
      </p:sp>
      <p:sp>
        <p:nvSpPr>
          <p:cNvPr id="20" name="Textfeld 19"/>
          <p:cNvSpPr txBox="1"/>
          <p:nvPr/>
        </p:nvSpPr>
        <p:spPr>
          <a:xfrm>
            <a:off x="10020300" y="4370666"/>
            <a:ext cx="312420" cy="369332"/>
          </a:xfrm>
          <a:prstGeom prst="rect">
            <a:avLst/>
          </a:prstGeom>
          <a:noFill/>
        </p:spPr>
        <p:txBody>
          <a:bodyPr wrap="square" rtlCol="0">
            <a:spAutoFit/>
          </a:bodyPr>
          <a:lstStyle/>
          <a:p>
            <a:r>
              <a:rPr lang="en-US" dirty="0" smtClean="0"/>
              <a:t>w</a:t>
            </a:r>
            <a:endParaRPr lang="en-US" dirty="0"/>
          </a:p>
        </p:txBody>
      </p:sp>
      <p:sp>
        <p:nvSpPr>
          <p:cNvPr id="21" name="Textfeld 20"/>
          <p:cNvSpPr txBox="1"/>
          <p:nvPr/>
        </p:nvSpPr>
        <p:spPr>
          <a:xfrm>
            <a:off x="10035540" y="3261261"/>
            <a:ext cx="312420" cy="369332"/>
          </a:xfrm>
          <a:prstGeom prst="rect">
            <a:avLst/>
          </a:prstGeom>
          <a:noFill/>
        </p:spPr>
        <p:txBody>
          <a:bodyPr wrap="square" rtlCol="0">
            <a:spAutoFit/>
          </a:bodyPr>
          <a:lstStyle/>
          <a:p>
            <a:r>
              <a:rPr lang="en-US" dirty="0" smtClean="0"/>
              <a:t>w</a:t>
            </a:r>
            <a:endParaRPr lang="en-US" dirty="0"/>
          </a:p>
        </p:txBody>
      </p:sp>
    </p:spTree>
    <p:extLst>
      <p:ext uri="{BB962C8B-B14F-4D97-AF65-F5344CB8AC3E}">
        <p14:creationId xmlns:p14="http://schemas.microsoft.com/office/powerpoint/2010/main" val="794999030"/>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733</Words>
  <Application>Microsoft Office PowerPoint</Application>
  <PresentationFormat>Breitbild</PresentationFormat>
  <Paragraphs>79</Paragraphs>
  <Slides>9</Slides>
  <Notes>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9</vt:i4>
      </vt:variant>
    </vt:vector>
  </HeadingPairs>
  <TitlesOfParts>
    <vt:vector size="13" baseType="lpstr">
      <vt:lpstr>Arial</vt:lpstr>
      <vt:lpstr>Calibri</vt:lpstr>
      <vt:lpstr>Calibri Light</vt:lpstr>
      <vt:lpstr>Office</vt:lpstr>
      <vt:lpstr>Introduction to AI</vt:lpstr>
      <vt:lpstr>Agenda</vt:lpstr>
      <vt:lpstr>Artificial Intelligence</vt:lpstr>
      <vt:lpstr>Traditional Machine Learning</vt:lpstr>
      <vt:lpstr>Traditional Machine Learning</vt:lpstr>
      <vt:lpstr>Traditional Machine Learning</vt:lpstr>
      <vt:lpstr>Deep Learning</vt:lpstr>
      <vt:lpstr>Deep Learning</vt:lpstr>
      <vt:lpstr>Deep Learning</vt:lpstr>
    </vt:vector>
  </TitlesOfParts>
  <Company>Dichtungstechnik Wallstabe &amp; Schneider GmbH &amp; Co. KG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dc:title>
  <dc:creator>Wu Wen-Hao</dc:creator>
  <cp:lastModifiedBy>Wu Wen-Hao</cp:lastModifiedBy>
  <cp:revision>17</cp:revision>
  <dcterms:created xsi:type="dcterms:W3CDTF">2023-04-11T12:09:01Z</dcterms:created>
  <dcterms:modified xsi:type="dcterms:W3CDTF">2023-04-12T12:09:57Z</dcterms:modified>
</cp:coreProperties>
</file>