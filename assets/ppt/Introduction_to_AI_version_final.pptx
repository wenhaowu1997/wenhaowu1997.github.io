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99" r:id="rId2"/>
    <p:sldId id="298" r:id="rId3"/>
    <p:sldId id="307" r:id="rId4"/>
    <p:sldId id="297" r:id="rId5"/>
    <p:sldId id="306" r:id="rId6"/>
    <p:sldId id="302" r:id="rId7"/>
    <p:sldId id="308" r:id="rId8"/>
    <p:sldId id="311" r:id="rId9"/>
    <p:sldId id="312" r:id="rId10"/>
    <p:sldId id="309" r:id="rId11"/>
    <p:sldId id="310" r:id="rId12"/>
    <p:sldId id="313" r:id="rId13"/>
    <p:sldId id="286" r:id="rId14"/>
  </p:sldIdLst>
  <p:sldSz cx="9144000" cy="6858000" type="screen4x3"/>
  <p:notesSz cx="10234613" cy="7099300"/>
  <p:defaultTextStyle>
    <a:defPPr>
      <a:defRPr lang="de-DE"/>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236">
          <p15:clr>
            <a:srgbClr val="A4A3A4"/>
          </p15:clr>
        </p15:guide>
        <p15:guide id="2" pos="3223">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u Wen-Hao" initials="WW" lastIdx="3" clrIdx="0">
    <p:extLst>
      <p:ext uri="{19B8F6BF-5375-455C-9EA6-DF929625EA0E}">
        <p15:presenceInfo xmlns:p15="http://schemas.microsoft.com/office/powerpoint/2012/main" userId="Wu Wen-Ha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9CDD"/>
    <a:srgbClr val="4D4D4D"/>
    <a:srgbClr val="58595A"/>
    <a:srgbClr val="B2B2B2"/>
    <a:srgbClr val="777777"/>
    <a:srgbClr val="00ADF2"/>
    <a:srgbClr val="333333"/>
    <a:srgbClr val="FFDF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52" autoAdjust="0"/>
    <p:restoredTop sz="78953" autoAdjust="0"/>
  </p:normalViewPr>
  <p:slideViewPr>
    <p:cSldViewPr>
      <p:cViewPr varScale="1">
        <p:scale>
          <a:sx n="91" d="100"/>
          <a:sy n="91" d="100"/>
        </p:scale>
        <p:origin x="221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48"/>
    </p:cViewPr>
  </p:notesTextViewPr>
  <p:sorterViewPr>
    <p:cViewPr>
      <p:scale>
        <a:sx n="66" d="100"/>
        <a:sy n="66" d="100"/>
      </p:scale>
      <p:origin x="0" y="0"/>
    </p:cViewPr>
  </p:sorterViewPr>
  <p:notesViewPr>
    <p:cSldViewPr>
      <p:cViewPr varScale="1">
        <p:scale>
          <a:sx n="100" d="100"/>
          <a:sy n="100" d="100"/>
        </p:scale>
        <p:origin x="-450" y="-84"/>
      </p:cViewPr>
      <p:guideLst>
        <p:guide orient="horz" pos="2236"/>
        <p:guide pos="3223"/>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bwMode="auto">
          <a:xfrm>
            <a:off x="0" y="0"/>
            <a:ext cx="4435475" cy="355600"/>
          </a:xfrm>
          <a:prstGeom prst="rect">
            <a:avLst/>
          </a:prstGeom>
          <a:noFill/>
          <a:ln w="9525">
            <a:noFill/>
            <a:miter lim="800000"/>
            <a:headEnd/>
            <a:tailEnd/>
          </a:ln>
          <a:effectLst/>
        </p:spPr>
        <p:txBody>
          <a:bodyPr vert="horz" wrap="square" lIns="94320" tIns="47160" rIns="94320" bIns="47160" numCol="1" anchor="t" anchorCtr="0" compatLnSpc="1">
            <a:prstTxWarp prst="textNoShape">
              <a:avLst/>
            </a:prstTxWarp>
          </a:bodyPr>
          <a:lstStyle>
            <a:lvl1pPr defTabSz="942975">
              <a:defRPr sz="1200">
                <a:latin typeface="Calibri" pitchFamily="34" charset="0"/>
              </a:defRPr>
            </a:lvl1pPr>
          </a:lstStyle>
          <a:p>
            <a:pPr>
              <a:defRPr/>
            </a:pPr>
            <a:endParaRPr lang="de-DE"/>
          </a:p>
        </p:txBody>
      </p:sp>
      <p:sp>
        <p:nvSpPr>
          <p:cNvPr id="56323" name="Rectangle 3"/>
          <p:cNvSpPr>
            <a:spLocks noGrp="1" noChangeArrowheads="1"/>
          </p:cNvSpPr>
          <p:nvPr>
            <p:ph type="dt" sz="quarter" idx="1"/>
          </p:nvPr>
        </p:nvSpPr>
        <p:spPr bwMode="auto">
          <a:xfrm>
            <a:off x="5797550" y="0"/>
            <a:ext cx="4435475" cy="355600"/>
          </a:xfrm>
          <a:prstGeom prst="rect">
            <a:avLst/>
          </a:prstGeom>
          <a:noFill/>
          <a:ln w="9525">
            <a:noFill/>
            <a:miter lim="800000"/>
            <a:headEnd/>
            <a:tailEnd/>
          </a:ln>
          <a:effectLst/>
        </p:spPr>
        <p:txBody>
          <a:bodyPr vert="horz" wrap="square" lIns="94320" tIns="47160" rIns="94320" bIns="47160" numCol="1" anchor="t" anchorCtr="0" compatLnSpc="1">
            <a:prstTxWarp prst="textNoShape">
              <a:avLst/>
            </a:prstTxWarp>
          </a:bodyPr>
          <a:lstStyle>
            <a:lvl1pPr algn="r" defTabSz="942975">
              <a:defRPr sz="1200">
                <a:latin typeface="Calibri" pitchFamily="34" charset="0"/>
              </a:defRPr>
            </a:lvl1pPr>
          </a:lstStyle>
          <a:p>
            <a:pPr>
              <a:defRPr/>
            </a:pPr>
            <a:fld id="{92183F4B-7FD0-49F5-B6A6-04A467571534}" type="datetimeFigureOut">
              <a:rPr lang="de-DE"/>
              <a:pPr>
                <a:defRPr/>
              </a:pPr>
              <a:t>25.04.2023</a:t>
            </a:fld>
            <a:endParaRPr lang="de-DE"/>
          </a:p>
        </p:txBody>
      </p:sp>
      <p:sp>
        <p:nvSpPr>
          <p:cNvPr id="56324" name="Rectangle 4"/>
          <p:cNvSpPr>
            <a:spLocks noGrp="1" noChangeArrowheads="1"/>
          </p:cNvSpPr>
          <p:nvPr>
            <p:ph type="ftr" sz="quarter" idx="2"/>
          </p:nvPr>
        </p:nvSpPr>
        <p:spPr bwMode="auto">
          <a:xfrm>
            <a:off x="0" y="6742113"/>
            <a:ext cx="4435475" cy="355600"/>
          </a:xfrm>
          <a:prstGeom prst="rect">
            <a:avLst/>
          </a:prstGeom>
          <a:noFill/>
          <a:ln w="9525">
            <a:noFill/>
            <a:miter lim="800000"/>
            <a:headEnd/>
            <a:tailEnd/>
          </a:ln>
          <a:effectLst/>
        </p:spPr>
        <p:txBody>
          <a:bodyPr vert="horz" wrap="square" lIns="94320" tIns="47160" rIns="94320" bIns="47160" numCol="1" anchor="b" anchorCtr="0" compatLnSpc="1">
            <a:prstTxWarp prst="textNoShape">
              <a:avLst/>
            </a:prstTxWarp>
          </a:bodyPr>
          <a:lstStyle>
            <a:lvl1pPr defTabSz="942975">
              <a:defRPr sz="1200">
                <a:latin typeface="Calibri" pitchFamily="34" charset="0"/>
              </a:defRPr>
            </a:lvl1pPr>
          </a:lstStyle>
          <a:p>
            <a:pPr>
              <a:defRPr/>
            </a:pPr>
            <a:endParaRPr lang="de-DE"/>
          </a:p>
        </p:txBody>
      </p:sp>
      <p:sp>
        <p:nvSpPr>
          <p:cNvPr id="56325" name="Rectangle 5"/>
          <p:cNvSpPr>
            <a:spLocks noGrp="1" noChangeArrowheads="1"/>
          </p:cNvSpPr>
          <p:nvPr>
            <p:ph type="sldNum" sz="quarter" idx="3"/>
          </p:nvPr>
        </p:nvSpPr>
        <p:spPr bwMode="auto">
          <a:xfrm>
            <a:off x="5797550" y="6742113"/>
            <a:ext cx="4435475" cy="355600"/>
          </a:xfrm>
          <a:prstGeom prst="rect">
            <a:avLst/>
          </a:prstGeom>
          <a:noFill/>
          <a:ln w="9525">
            <a:noFill/>
            <a:miter lim="800000"/>
            <a:headEnd/>
            <a:tailEnd/>
          </a:ln>
          <a:effectLst/>
        </p:spPr>
        <p:txBody>
          <a:bodyPr vert="horz" wrap="square" lIns="94320" tIns="47160" rIns="94320" bIns="47160" numCol="1" anchor="b" anchorCtr="0" compatLnSpc="1">
            <a:prstTxWarp prst="textNoShape">
              <a:avLst/>
            </a:prstTxWarp>
          </a:bodyPr>
          <a:lstStyle>
            <a:lvl1pPr algn="r" defTabSz="942975">
              <a:defRPr sz="1200">
                <a:latin typeface="Calibri" pitchFamily="34" charset="0"/>
              </a:defRPr>
            </a:lvl1pPr>
          </a:lstStyle>
          <a:p>
            <a:pPr>
              <a:defRPr/>
            </a:pPr>
            <a:fld id="{38DF6832-FE25-4966-828E-6166647DC5D5}" type="slidenum">
              <a:rPr lang="de-DE"/>
              <a:pPr>
                <a:defRPr/>
              </a:pPr>
              <a:t>‹Nr.›</a:t>
            </a:fld>
            <a:endParaRPr lang="de-DE"/>
          </a:p>
        </p:txBody>
      </p:sp>
    </p:spTree>
    <p:extLst>
      <p:ext uri="{BB962C8B-B14F-4D97-AF65-F5344CB8AC3E}">
        <p14:creationId xmlns:p14="http://schemas.microsoft.com/office/powerpoint/2010/main" val="23658495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bwMode="auto">
          <a:xfrm>
            <a:off x="0" y="0"/>
            <a:ext cx="4435475" cy="355600"/>
          </a:xfrm>
          <a:prstGeom prst="rect">
            <a:avLst/>
          </a:prstGeom>
          <a:noFill/>
          <a:ln w="9525">
            <a:noFill/>
            <a:miter lim="800000"/>
            <a:headEnd/>
            <a:tailEnd/>
          </a:ln>
        </p:spPr>
        <p:txBody>
          <a:bodyPr vert="horz" wrap="square" lIns="94314" tIns="47157" rIns="94314" bIns="47157" numCol="1" anchor="t" anchorCtr="0" compatLnSpc="1">
            <a:prstTxWarp prst="textNoShape">
              <a:avLst/>
            </a:prstTxWarp>
          </a:bodyPr>
          <a:lstStyle>
            <a:lvl1pPr defTabSz="942975">
              <a:defRPr sz="1200">
                <a:latin typeface="Calibri" pitchFamily="34" charset="0"/>
              </a:defRPr>
            </a:lvl1pPr>
          </a:lstStyle>
          <a:p>
            <a:pPr>
              <a:defRPr/>
            </a:pPr>
            <a:endParaRPr lang="de-DE"/>
          </a:p>
        </p:txBody>
      </p:sp>
      <p:sp>
        <p:nvSpPr>
          <p:cNvPr id="3" name="Datumsplatzhalter 2"/>
          <p:cNvSpPr>
            <a:spLocks noGrp="1"/>
          </p:cNvSpPr>
          <p:nvPr>
            <p:ph type="dt" idx="1"/>
          </p:nvPr>
        </p:nvSpPr>
        <p:spPr bwMode="auto">
          <a:xfrm>
            <a:off x="5797550" y="0"/>
            <a:ext cx="4435475" cy="355600"/>
          </a:xfrm>
          <a:prstGeom prst="rect">
            <a:avLst/>
          </a:prstGeom>
          <a:noFill/>
          <a:ln w="9525">
            <a:noFill/>
            <a:miter lim="800000"/>
            <a:headEnd/>
            <a:tailEnd/>
          </a:ln>
        </p:spPr>
        <p:txBody>
          <a:bodyPr vert="horz" wrap="square" lIns="94314" tIns="47157" rIns="94314" bIns="47157" numCol="1" anchor="t" anchorCtr="0" compatLnSpc="1">
            <a:prstTxWarp prst="textNoShape">
              <a:avLst/>
            </a:prstTxWarp>
          </a:bodyPr>
          <a:lstStyle>
            <a:lvl1pPr algn="r" defTabSz="942975">
              <a:defRPr sz="1200">
                <a:latin typeface="Calibri" pitchFamily="34" charset="0"/>
              </a:defRPr>
            </a:lvl1pPr>
          </a:lstStyle>
          <a:p>
            <a:pPr>
              <a:defRPr/>
            </a:pPr>
            <a:fld id="{A4ED0FF2-2201-4D1C-B0AA-D4BA76F29EBF}" type="datetimeFigureOut">
              <a:rPr lang="de-DE"/>
              <a:pPr>
                <a:defRPr/>
              </a:pPr>
              <a:t>25.04.2023</a:t>
            </a:fld>
            <a:endParaRPr lang="de-DE"/>
          </a:p>
        </p:txBody>
      </p:sp>
      <p:sp>
        <p:nvSpPr>
          <p:cNvPr id="4" name="Folienbildplatzhalter 3"/>
          <p:cNvSpPr>
            <a:spLocks noGrp="1" noRot="1" noChangeAspect="1"/>
          </p:cNvSpPr>
          <p:nvPr>
            <p:ph type="sldImg" idx="2"/>
          </p:nvPr>
        </p:nvSpPr>
        <p:spPr>
          <a:xfrm>
            <a:off x="3344863" y="531813"/>
            <a:ext cx="3549650" cy="2662237"/>
          </a:xfrm>
          <a:prstGeom prst="rect">
            <a:avLst/>
          </a:prstGeom>
          <a:noFill/>
          <a:ln w="12700">
            <a:solidFill>
              <a:prstClr val="black"/>
            </a:solidFill>
          </a:ln>
        </p:spPr>
        <p:txBody>
          <a:bodyPr vert="horz" lIns="91440" tIns="45720" rIns="91440" bIns="45720" rtlCol="0" anchor="ctr"/>
          <a:lstStyle/>
          <a:p>
            <a:pPr lvl="0"/>
            <a:endParaRPr lang="de-DE" noProof="0"/>
          </a:p>
        </p:txBody>
      </p:sp>
      <p:sp>
        <p:nvSpPr>
          <p:cNvPr id="5" name="Notizenplatzhalter 4"/>
          <p:cNvSpPr>
            <a:spLocks noGrp="1"/>
          </p:cNvSpPr>
          <p:nvPr>
            <p:ph type="body" sz="quarter" idx="3"/>
          </p:nvPr>
        </p:nvSpPr>
        <p:spPr bwMode="auto">
          <a:xfrm>
            <a:off x="1023938" y="3371850"/>
            <a:ext cx="8188325" cy="3195638"/>
          </a:xfrm>
          <a:prstGeom prst="rect">
            <a:avLst/>
          </a:prstGeom>
          <a:noFill/>
          <a:ln w="9525">
            <a:noFill/>
            <a:miter lim="800000"/>
            <a:headEnd/>
            <a:tailEnd/>
          </a:ln>
        </p:spPr>
        <p:txBody>
          <a:bodyPr vert="horz" wrap="square" lIns="94314" tIns="47157" rIns="94314" bIns="47157" numCol="1" anchor="t" anchorCtr="0" compatLnSpc="1">
            <a:prstTxWarp prst="textNoShape">
              <a:avLst/>
            </a:prstTxWarp>
          </a:bodyPr>
          <a:lstStyle/>
          <a:p>
            <a:pPr lvl="0"/>
            <a:r>
              <a:rPr lang="de-DE" noProof="0" smtClean="0"/>
              <a:t>Textmasterformate durch Klicken bearbeiten</a:t>
            </a:r>
          </a:p>
          <a:p>
            <a:pPr lvl="1"/>
            <a:r>
              <a:rPr lang="de-DE" noProof="0" smtClean="0"/>
              <a:t>Zweite Ebene</a:t>
            </a:r>
          </a:p>
          <a:p>
            <a:pPr lvl="2"/>
            <a:r>
              <a:rPr lang="de-DE" noProof="0" smtClean="0"/>
              <a:t>Dritte Ebene</a:t>
            </a:r>
          </a:p>
          <a:p>
            <a:pPr lvl="3"/>
            <a:r>
              <a:rPr lang="de-DE" noProof="0" smtClean="0"/>
              <a:t>Vierte Ebene</a:t>
            </a:r>
          </a:p>
          <a:p>
            <a:pPr lvl="4"/>
            <a:r>
              <a:rPr lang="de-DE" noProof="0" smtClean="0"/>
              <a:t>Fünfte Ebene</a:t>
            </a:r>
            <a:endParaRPr lang="de-DE" noProof="0"/>
          </a:p>
        </p:txBody>
      </p:sp>
      <p:sp>
        <p:nvSpPr>
          <p:cNvPr id="6" name="Fußzeilenplatzhalter 5"/>
          <p:cNvSpPr>
            <a:spLocks noGrp="1"/>
          </p:cNvSpPr>
          <p:nvPr>
            <p:ph type="ftr" sz="quarter" idx="4"/>
          </p:nvPr>
        </p:nvSpPr>
        <p:spPr bwMode="auto">
          <a:xfrm>
            <a:off x="0" y="6742113"/>
            <a:ext cx="4435475" cy="355600"/>
          </a:xfrm>
          <a:prstGeom prst="rect">
            <a:avLst/>
          </a:prstGeom>
          <a:noFill/>
          <a:ln w="9525">
            <a:noFill/>
            <a:miter lim="800000"/>
            <a:headEnd/>
            <a:tailEnd/>
          </a:ln>
        </p:spPr>
        <p:txBody>
          <a:bodyPr vert="horz" wrap="square" lIns="94314" tIns="47157" rIns="94314" bIns="47157" numCol="1" anchor="b" anchorCtr="0" compatLnSpc="1">
            <a:prstTxWarp prst="textNoShape">
              <a:avLst/>
            </a:prstTxWarp>
          </a:bodyPr>
          <a:lstStyle>
            <a:lvl1pPr defTabSz="942975">
              <a:defRPr sz="1200">
                <a:latin typeface="Calibri" pitchFamily="34" charset="0"/>
              </a:defRPr>
            </a:lvl1pPr>
          </a:lstStyle>
          <a:p>
            <a:pPr>
              <a:defRPr/>
            </a:pPr>
            <a:endParaRPr lang="de-DE"/>
          </a:p>
        </p:txBody>
      </p:sp>
      <p:sp>
        <p:nvSpPr>
          <p:cNvPr id="7" name="Foliennummernplatzhalter 6"/>
          <p:cNvSpPr>
            <a:spLocks noGrp="1"/>
          </p:cNvSpPr>
          <p:nvPr>
            <p:ph type="sldNum" sz="quarter" idx="5"/>
          </p:nvPr>
        </p:nvSpPr>
        <p:spPr bwMode="auto">
          <a:xfrm>
            <a:off x="5797550" y="6742113"/>
            <a:ext cx="4435475" cy="355600"/>
          </a:xfrm>
          <a:prstGeom prst="rect">
            <a:avLst/>
          </a:prstGeom>
          <a:noFill/>
          <a:ln w="9525">
            <a:noFill/>
            <a:miter lim="800000"/>
            <a:headEnd/>
            <a:tailEnd/>
          </a:ln>
        </p:spPr>
        <p:txBody>
          <a:bodyPr vert="horz" wrap="square" lIns="94314" tIns="47157" rIns="94314" bIns="47157" numCol="1" anchor="b" anchorCtr="0" compatLnSpc="1">
            <a:prstTxWarp prst="textNoShape">
              <a:avLst/>
            </a:prstTxWarp>
          </a:bodyPr>
          <a:lstStyle>
            <a:lvl1pPr algn="r" defTabSz="942975">
              <a:defRPr sz="1200">
                <a:latin typeface="Calibri" pitchFamily="34" charset="0"/>
              </a:defRPr>
            </a:lvl1pPr>
          </a:lstStyle>
          <a:p>
            <a:pPr>
              <a:defRPr/>
            </a:pPr>
            <a:fld id="{9F7CB66E-A447-4065-9F91-1B57DAA1358E}" type="slidenum">
              <a:rPr lang="de-DE"/>
              <a:pPr>
                <a:defRPr/>
              </a:pPr>
              <a:t>‹Nr.›</a:t>
            </a:fld>
            <a:endParaRPr lang="de-DE"/>
          </a:p>
        </p:txBody>
      </p:sp>
    </p:spTree>
    <p:extLst>
      <p:ext uri="{BB962C8B-B14F-4D97-AF65-F5344CB8AC3E}">
        <p14:creationId xmlns:p14="http://schemas.microsoft.com/office/powerpoint/2010/main" val="20636815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Hello everyone,</a:t>
            </a:r>
          </a:p>
          <a:p>
            <a:endParaRPr lang="en-US" dirty="0" smtClean="0"/>
          </a:p>
          <a:p>
            <a:r>
              <a:rPr lang="en-US" dirty="0" smtClean="0"/>
              <a:t>welcome to my presentation Introduction to AI-Driven</a:t>
            </a:r>
            <a:r>
              <a:rPr lang="en-US" baseline="0" dirty="0" smtClean="0"/>
              <a:t> Quality Control Inspection </a:t>
            </a:r>
            <a:r>
              <a:rPr lang="en-US" baseline="0" dirty="0" smtClean="0"/>
              <a:t>fin </a:t>
            </a:r>
            <a:r>
              <a:rPr lang="en-US" baseline="0" dirty="0" err="1" smtClean="0"/>
              <a:t>Wallstabe</a:t>
            </a:r>
            <a:r>
              <a:rPr lang="en-US" baseline="0" dirty="0" smtClean="0"/>
              <a:t> &amp; Schneider. A short introduction to myself, my Name is Wen-Hao Wu. I am a working student here in the quality control department and I support the AI related </a:t>
            </a:r>
            <a:r>
              <a:rPr lang="en-US" baseline="0" dirty="0" smtClean="0"/>
              <a:t>projects. </a:t>
            </a:r>
            <a:r>
              <a:rPr lang="en-US" baseline="0" dirty="0" smtClean="0"/>
              <a:t>Thank you for joining me today, and let’s begin.</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1</a:t>
            </a:fld>
            <a:endParaRPr lang="de-DE"/>
          </a:p>
        </p:txBody>
      </p:sp>
    </p:spTree>
    <p:extLst>
      <p:ext uri="{BB962C8B-B14F-4D97-AF65-F5344CB8AC3E}">
        <p14:creationId xmlns:p14="http://schemas.microsoft.com/office/powerpoint/2010/main" val="151539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In</a:t>
            </a:r>
            <a:r>
              <a:rPr lang="en-US" baseline="0" dirty="0" smtClean="0"/>
              <a:t> this presentation, first of all, to give you some background knowledge, I will go through some fundamentals of AI. After that I will show you a short demonstration on how to operate the AI in our system.</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2</a:t>
            </a:fld>
            <a:endParaRPr lang="de-DE"/>
          </a:p>
        </p:txBody>
      </p:sp>
    </p:spTree>
    <p:extLst>
      <p:ext uri="{BB962C8B-B14F-4D97-AF65-F5344CB8AC3E}">
        <p14:creationId xmlns:p14="http://schemas.microsoft.com/office/powerpoint/2010/main" val="1177226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First of all, What</a:t>
            </a:r>
            <a:r>
              <a:rPr lang="en-US" sz="1200" b="0" i="0" kern="1200" baseline="0" dirty="0" smtClean="0">
                <a:solidFill>
                  <a:schemeClr val="tx1"/>
                </a:solidFill>
                <a:effectLst/>
                <a:latin typeface="+mn-lt"/>
                <a:ea typeface="+mn-ea"/>
                <a:cs typeface="+mn-cs"/>
              </a:rPr>
              <a:t> is AI? AI typically refers to machines or systems that can perform tasks and make decisions that typically require human intelligence. </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3</a:t>
            </a:fld>
            <a:endParaRPr lang="de-DE"/>
          </a:p>
        </p:txBody>
      </p:sp>
    </p:spTree>
    <p:extLst>
      <p:ext uri="{BB962C8B-B14F-4D97-AF65-F5344CB8AC3E}">
        <p14:creationId xmlns:p14="http://schemas.microsoft.com/office/powerpoint/2010/main" val="779989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Next, </a:t>
            </a:r>
            <a:r>
              <a:rPr lang="en-US" dirty="0" smtClean="0"/>
              <a:t>I would like to discuss, why do we need AI in our company?</a:t>
            </a:r>
            <a:r>
              <a:rPr lang="en-US" baseline="0" dirty="0" smtClean="0"/>
              <a:t> </a:t>
            </a:r>
          </a:p>
          <a:p>
            <a:endParaRPr lang="en-US" baseline="0" dirty="0" smtClean="0"/>
          </a:p>
          <a:p>
            <a:r>
              <a:rPr lang="en-US" sz="1200" b="0" i="0" kern="1200" dirty="0" smtClean="0">
                <a:solidFill>
                  <a:schemeClr val="tx1"/>
                </a:solidFill>
                <a:effectLst/>
                <a:latin typeface="+mn-lt"/>
                <a:ea typeface="+mn-ea"/>
                <a:cs typeface="+mn-cs"/>
              </a:rPr>
              <a:t>At </a:t>
            </a:r>
            <a:r>
              <a:rPr lang="en-US" sz="1200" b="0" i="0" kern="1200" dirty="0" err="1" smtClean="0">
                <a:solidFill>
                  <a:schemeClr val="tx1"/>
                </a:solidFill>
                <a:effectLst/>
                <a:latin typeface="+mn-lt"/>
                <a:ea typeface="+mn-ea"/>
                <a:cs typeface="+mn-cs"/>
              </a:rPr>
              <a:t>Wallstabe</a:t>
            </a:r>
            <a:r>
              <a:rPr lang="en-US" sz="1200" b="0" i="0" kern="1200" dirty="0" smtClean="0">
                <a:solidFill>
                  <a:schemeClr val="tx1"/>
                </a:solidFill>
                <a:effectLst/>
                <a:latin typeface="+mn-lt"/>
                <a:ea typeface="+mn-ea"/>
                <a:cs typeface="+mn-cs"/>
              </a:rPr>
              <a:t> &amp; Schneider, ensuring the quality of our products is crucial. We need to be able to inspect them accurately and efficiently to maintain high standards. This is where AI comes in as a powerful tool to help us automate the inspection process and improve accuracy. With AI, we can ensure that our products meet the necessary specifications in a timely and precise manner.</a:t>
            </a:r>
            <a:endParaRPr lang="en-US" baseline="0" dirty="0" smtClean="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4</a:t>
            </a:fld>
            <a:endParaRPr lang="de-DE"/>
          </a:p>
        </p:txBody>
      </p:sp>
    </p:spTree>
    <p:extLst>
      <p:ext uri="{BB962C8B-B14F-4D97-AF65-F5344CB8AC3E}">
        <p14:creationId xmlns:p14="http://schemas.microsoft.com/office/powerpoint/2010/main" val="890553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There</a:t>
            </a:r>
            <a:r>
              <a:rPr lang="en-US" baseline="0" dirty="0" smtClean="0"/>
              <a:t> are many kinds of AI out there, and we need to understand that there is no one single AI that does all the job. </a:t>
            </a:r>
            <a:r>
              <a:rPr lang="en-US" sz="1200" b="0" i="0" kern="1200" dirty="0" smtClean="0">
                <a:solidFill>
                  <a:schemeClr val="tx1"/>
                </a:solidFill>
                <a:effectLst/>
                <a:latin typeface="+mn-lt"/>
                <a:ea typeface="+mn-ea"/>
                <a:cs typeface="+mn-cs"/>
              </a:rPr>
              <a:t>There are many different types of AI, each with its own strengths and weaknesses, and each suited to different kinds of tasks.</a:t>
            </a:r>
          </a:p>
          <a:p>
            <a:endParaRPr lang="en-US" sz="1200" b="0" i="0" kern="1200" baseline="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For example, there are AI systems that focus on Natural Language Processing, like Alexa and Siri, which are designed to understand and respond to human language. There are also autonomous robots, such as cleaning robots, that use AI to navigate and perform tasks in the physical world. And there are computer vision AI systems that can recognize faces, detect defect patterns, and perform other kinds of image analysis</a:t>
            </a:r>
            <a:r>
              <a:rPr lang="en-US" sz="1200" b="0" i="0" kern="1200" dirty="0" smtClean="0">
                <a:solidFill>
                  <a:schemeClr val="tx1"/>
                </a:solidFill>
                <a:effectLst/>
                <a:latin typeface="+mn-lt"/>
                <a:ea typeface="+mn-ea"/>
                <a:cs typeface="+mn-cs"/>
              </a:rPr>
              <a:t>.</a:t>
            </a:r>
            <a:endParaRPr lang="en-US" sz="1200" b="0" i="0" kern="1200" baseline="0" dirty="0" smtClean="0">
              <a:solidFill>
                <a:schemeClr val="tx1"/>
              </a:solidFill>
              <a:effectLst/>
              <a:latin typeface="+mn-lt"/>
              <a:ea typeface="+mn-ea"/>
              <a:cs typeface="+mn-cs"/>
            </a:endParaRPr>
          </a:p>
          <a:p>
            <a:endParaRPr lang="en-US" sz="1200" b="0" i="0" kern="1200" baseline="0" dirty="0" smtClean="0">
              <a:solidFill>
                <a:schemeClr val="tx1"/>
              </a:solidFill>
              <a:effectLst/>
              <a:latin typeface="+mn-lt"/>
              <a:ea typeface="+mn-ea"/>
              <a:cs typeface="+mn-cs"/>
            </a:endParaRPr>
          </a:p>
          <a:p>
            <a:r>
              <a:rPr lang="en-US" sz="1200" b="0" i="0" kern="1200" baseline="0" dirty="0" smtClean="0">
                <a:solidFill>
                  <a:schemeClr val="tx1"/>
                </a:solidFill>
                <a:effectLst/>
                <a:latin typeface="+mn-lt"/>
                <a:ea typeface="+mn-ea"/>
                <a:cs typeface="+mn-cs"/>
              </a:rPr>
              <a:t>Today, we focus on the computer vision AI, because what we are trying to do here is to detect defect pattern.</a:t>
            </a:r>
            <a:endParaRPr lang="en-US" sz="1200" b="0" i="0" kern="1200" dirty="0" smtClean="0">
              <a:solidFill>
                <a:schemeClr val="tx1"/>
              </a:solidFill>
              <a:effectLst/>
              <a:latin typeface="+mn-lt"/>
              <a:ea typeface="+mn-ea"/>
              <a:cs typeface="+mn-cs"/>
            </a:endParaRPr>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5</a:t>
            </a:fld>
            <a:endParaRPr lang="de-DE"/>
          </a:p>
        </p:txBody>
      </p:sp>
    </p:spTree>
    <p:extLst>
      <p:ext uri="{BB962C8B-B14F-4D97-AF65-F5344CB8AC3E}">
        <p14:creationId xmlns:p14="http://schemas.microsoft.com/office/powerpoint/2010/main" val="7715843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b="0" i="0" kern="1200" dirty="0" smtClean="0">
                <a:solidFill>
                  <a:schemeClr val="tx1"/>
                </a:solidFill>
                <a:effectLst/>
                <a:latin typeface="+mn-lt"/>
                <a:ea typeface="+mn-ea"/>
                <a:cs typeface="+mn-cs"/>
              </a:rPr>
              <a:t>So, How does</a:t>
            </a:r>
            <a:r>
              <a:rPr lang="en-US" sz="1200" b="0" i="0" kern="1200" baseline="0" dirty="0" smtClean="0">
                <a:solidFill>
                  <a:schemeClr val="tx1"/>
                </a:solidFill>
                <a:effectLst/>
                <a:latin typeface="+mn-lt"/>
                <a:ea typeface="+mn-ea"/>
                <a:cs typeface="+mn-cs"/>
              </a:rPr>
              <a:t> AI learn? AI learns from data, especially high quality data. What means high quality data? The rule of thumb is we want to teach the AI what is absolutely correct. For example, we want to train an AI to recognize human faces, however, we feed them faces of monkeys, this would be low quality data. Even though monkeys look like human, but it will just confuse the AI and therefore not able to produce meaningful results. </a:t>
            </a:r>
          </a:p>
          <a:p>
            <a:endParaRPr lang="en-US" sz="1200" b="0" i="0" kern="1200" baseline="0" dirty="0" smtClean="0">
              <a:solidFill>
                <a:schemeClr val="tx1"/>
              </a:solidFill>
              <a:effectLst/>
              <a:latin typeface="+mn-lt"/>
              <a:ea typeface="+mn-ea"/>
              <a:cs typeface="+mn-cs"/>
            </a:endParaRPr>
          </a:p>
          <a:p>
            <a:r>
              <a:rPr lang="en-US" sz="1200" b="0" i="0" kern="1200" baseline="0" dirty="0" smtClean="0">
                <a:solidFill>
                  <a:schemeClr val="tx1"/>
                </a:solidFill>
                <a:effectLst/>
                <a:latin typeface="+mn-lt"/>
                <a:ea typeface="+mn-ea"/>
                <a:cs typeface="+mn-cs"/>
              </a:rPr>
              <a:t>The data it learns from in our case are product pictures. We feed pictures of different defect patterns. And this method is so called supervised learning. Supervised learning involves training with labeled data.</a:t>
            </a:r>
          </a:p>
          <a:p>
            <a:endParaRPr lang="en-US" sz="1200" b="0" i="0" kern="1200" baseline="0" dirty="0" smtClean="0">
              <a:solidFill>
                <a:schemeClr val="tx1"/>
              </a:solidFill>
              <a:effectLst/>
              <a:latin typeface="+mn-lt"/>
              <a:ea typeface="+mn-ea"/>
              <a:cs typeface="+mn-cs"/>
            </a:endParaRPr>
          </a:p>
          <a:p>
            <a:r>
              <a:rPr lang="en-US" sz="1200" b="0" i="0" kern="1200" baseline="0" dirty="0" smtClean="0">
                <a:solidFill>
                  <a:schemeClr val="tx1"/>
                </a:solidFill>
                <a:effectLst/>
                <a:latin typeface="+mn-lt"/>
                <a:ea typeface="+mn-ea"/>
                <a:cs typeface="+mn-cs"/>
              </a:rPr>
              <a:t>We will see how we do it in practice right away in the demo.</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6</a:t>
            </a:fld>
            <a:endParaRPr lang="de-DE"/>
          </a:p>
        </p:txBody>
      </p:sp>
    </p:spTree>
    <p:extLst>
      <p:ext uri="{BB962C8B-B14F-4D97-AF65-F5344CB8AC3E}">
        <p14:creationId xmlns:p14="http://schemas.microsoft.com/office/powerpoint/2010/main" val="17287624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First of all, we</a:t>
            </a:r>
            <a:r>
              <a:rPr lang="en-US" baseline="0" dirty="0" smtClean="0"/>
              <a:t> need to take pictures of the defects. In this picture, we have a cut.</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7</a:t>
            </a:fld>
            <a:endParaRPr lang="de-DE"/>
          </a:p>
        </p:txBody>
      </p:sp>
    </p:spTree>
    <p:extLst>
      <p:ext uri="{BB962C8B-B14F-4D97-AF65-F5344CB8AC3E}">
        <p14:creationId xmlns:p14="http://schemas.microsoft.com/office/powerpoint/2010/main" val="412047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And</a:t>
            </a:r>
            <a:r>
              <a:rPr lang="en-US" baseline="0" dirty="0" smtClean="0"/>
              <a:t> then we mark the defect using the marking tool in the software. As you can see, the defect is marked as red. And this is the labelling process in so called supervised learning</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8</a:t>
            </a:fld>
            <a:endParaRPr lang="de-DE"/>
          </a:p>
        </p:txBody>
      </p:sp>
    </p:spTree>
    <p:extLst>
      <p:ext uri="{BB962C8B-B14F-4D97-AF65-F5344CB8AC3E}">
        <p14:creationId xmlns:p14="http://schemas.microsoft.com/office/powerpoint/2010/main" val="28481098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And then, we repeat</a:t>
            </a:r>
            <a:r>
              <a:rPr lang="en-US" baseline="0" dirty="0" smtClean="0"/>
              <a:t> the marking process until we have enough training samples. There are some examples of cutting defects that I have marked.</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9</a:t>
            </a:fld>
            <a:endParaRPr lang="de-DE"/>
          </a:p>
        </p:txBody>
      </p:sp>
    </p:spTree>
    <p:extLst>
      <p:ext uri="{BB962C8B-B14F-4D97-AF65-F5344CB8AC3E}">
        <p14:creationId xmlns:p14="http://schemas.microsoft.com/office/powerpoint/2010/main" val="3015692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Something worth noting is, as</a:t>
            </a:r>
            <a:r>
              <a:rPr lang="en-US" baseline="0" dirty="0" smtClean="0"/>
              <a:t> I said earlier, we want to ensure the quality of the dataset. So we have to avoid bad marking. Statisticians come up with the term garbage in garbage out. This means if we feed garbage data to the AI, we might as well get garbage results. Here are some examples of bad marking. The rule of thumb is we want to try to be as precise as possible.</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10</a:t>
            </a:fld>
            <a:endParaRPr lang="de-DE"/>
          </a:p>
        </p:txBody>
      </p:sp>
    </p:spTree>
    <p:extLst>
      <p:ext uri="{BB962C8B-B14F-4D97-AF65-F5344CB8AC3E}">
        <p14:creationId xmlns:p14="http://schemas.microsoft.com/office/powerpoint/2010/main" val="13850279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After</a:t>
            </a:r>
            <a:r>
              <a:rPr lang="en-US" baseline="0" dirty="0" smtClean="0"/>
              <a:t> we have enough training samples, we can start training in the training interface. Here is where the AI magic happens. We can see the different performance stats, adjust parameters, and so on. The training continues until we get a satisfied result.</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11</a:t>
            </a:fld>
            <a:endParaRPr lang="de-DE"/>
          </a:p>
        </p:txBody>
      </p:sp>
    </p:spTree>
    <p:extLst>
      <p:ext uri="{BB962C8B-B14F-4D97-AF65-F5344CB8AC3E}">
        <p14:creationId xmlns:p14="http://schemas.microsoft.com/office/powerpoint/2010/main" val="19922130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After training,</a:t>
            </a:r>
            <a:r>
              <a:rPr lang="en-US" baseline="0" dirty="0" smtClean="0"/>
              <a:t> we can use it for analysis. The photo on the left has two cuts, and the photo on the right is the analysis of the AI. The analysis looks pretty good in this case. However, if the analysis is not accurate, we need to improve the training or improve the quality of the dataset.</a:t>
            </a:r>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12</a:t>
            </a:fld>
            <a:endParaRPr lang="de-DE"/>
          </a:p>
        </p:txBody>
      </p:sp>
    </p:spTree>
    <p:extLst>
      <p:ext uri="{BB962C8B-B14F-4D97-AF65-F5344CB8AC3E}">
        <p14:creationId xmlns:p14="http://schemas.microsoft.com/office/powerpoint/2010/main" val="21187986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Thank you</a:t>
            </a:r>
            <a:r>
              <a:rPr lang="en-US" baseline="0" dirty="0" smtClean="0"/>
              <a:t> for your attention. Do you have any question?</a:t>
            </a:r>
          </a:p>
          <a:p>
            <a:endParaRPr lang="en-US" baseline="0" dirty="0" smtClean="0"/>
          </a:p>
          <a:p>
            <a:r>
              <a:rPr lang="en-US" sz="1200" b="0" i="0" kern="1200" dirty="0" smtClean="0">
                <a:solidFill>
                  <a:schemeClr val="tx1"/>
                </a:solidFill>
                <a:effectLst/>
                <a:latin typeface="+mn-lt"/>
                <a:ea typeface="+mn-ea"/>
                <a:cs typeface="+mn-cs"/>
              </a:rPr>
              <a:t>-Can you explain more about the specific AI used in the inspection machine?</a:t>
            </a:r>
          </a:p>
          <a:p>
            <a:r>
              <a:rPr lang="en-US" sz="1200" b="0" i="0" kern="1200" dirty="0" smtClean="0">
                <a:solidFill>
                  <a:schemeClr val="tx1"/>
                </a:solidFill>
                <a:effectLst/>
                <a:latin typeface="+mn-lt"/>
                <a:ea typeface="+mn-ea"/>
                <a:cs typeface="+mn-cs"/>
              </a:rPr>
              <a:t>-How accurate is the AI in detecting defects compared to human inspectors?</a:t>
            </a:r>
          </a:p>
          <a:p>
            <a:r>
              <a:rPr lang="en-US" sz="1200" b="0" i="0" kern="1200" dirty="0" smtClean="0">
                <a:solidFill>
                  <a:schemeClr val="tx1"/>
                </a:solidFill>
                <a:effectLst/>
                <a:latin typeface="+mn-lt"/>
                <a:ea typeface="+mn-ea"/>
                <a:cs typeface="+mn-cs"/>
              </a:rPr>
              <a:t>-How does the AI integrate with the rest of the inspection process?</a:t>
            </a:r>
          </a:p>
          <a:p>
            <a:r>
              <a:rPr lang="en-US" sz="1200" b="0" i="0" kern="1200" dirty="0" smtClean="0">
                <a:solidFill>
                  <a:schemeClr val="tx1"/>
                </a:solidFill>
                <a:effectLst/>
                <a:latin typeface="+mn-lt"/>
                <a:ea typeface="+mn-ea"/>
                <a:cs typeface="+mn-cs"/>
              </a:rPr>
              <a:t>-What kind of hardware or software is required to implement AI in quality control?</a:t>
            </a:r>
          </a:p>
          <a:p>
            <a:r>
              <a:rPr lang="en-US" sz="1200" b="0" i="0" kern="1200" dirty="0" smtClean="0">
                <a:solidFill>
                  <a:schemeClr val="tx1"/>
                </a:solidFill>
                <a:effectLst/>
                <a:latin typeface="+mn-lt"/>
                <a:ea typeface="+mn-ea"/>
                <a:cs typeface="+mn-cs"/>
              </a:rPr>
              <a:t>-How do you ensure that the data used to train the AI is representative of the entire product line?</a:t>
            </a:r>
          </a:p>
          <a:p>
            <a:r>
              <a:rPr lang="en-US" sz="1200" b="0" i="0" kern="1200" dirty="0" smtClean="0">
                <a:solidFill>
                  <a:schemeClr val="tx1"/>
                </a:solidFill>
                <a:effectLst/>
                <a:latin typeface="+mn-lt"/>
                <a:ea typeface="+mn-ea"/>
                <a:cs typeface="+mn-cs"/>
              </a:rPr>
              <a:t>-Are there any potential ethical or privacy concerns with using AI in quality control?</a:t>
            </a:r>
          </a:p>
          <a:p>
            <a:r>
              <a:rPr lang="en-US" sz="1200" b="0" i="0" kern="1200" dirty="0" smtClean="0">
                <a:solidFill>
                  <a:schemeClr val="tx1"/>
                </a:solidFill>
                <a:effectLst/>
                <a:latin typeface="+mn-lt"/>
                <a:ea typeface="+mn-ea"/>
                <a:cs typeface="+mn-cs"/>
              </a:rPr>
              <a:t>-Can the AI be adapted to detect new or previously unknown defect patterns?</a:t>
            </a:r>
          </a:p>
          <a:p>
            <a:r>
              <a:rPr lang="en-US" sz="1200" b="0" i="0" kern="1200" dirty="0" smtClean="0">
                <a:solidFill>
                  <a:schemeClr val="tx1"/>
                </a:solidFill>
                <a:effectLst/>
                <a:latin typeface="+mn-lt"/>
                <a:ea typeface="+mn-ea"/>
                <a:cs typeface="+mn-cs"/>
              </a:rPr>
              <a:t>-How long does it take to train the AI to accurately recognize defect patterns?</a:t>
            </a:r>
          </a:p>
          <a:p>
            <a:r>
              <a:rPr lang="en-US" sz="1200" b="0" i="0" kern="1200" dirty="0" smtClean="0">
                <a:solidFill>
                  <a:schemeClr val="tx1"/>
                </a:solidFill>
                <a:effectLst/>
                <a:latin typeface="+mn-lt"/>
                <a:ea typeface="+mn-ea"/>
                <a:cs typeface="+mn-cs"/>
              </a:rPr>
              <a:t>-What kind of cost savings or efficiency gains have you seen since implementing AI in quality control?</a:t>
            </a:r>
          </a:p>
          <a:p>
            <a:r>
              <a:rPr lang="en-US" sz="1200" b="0" i="0" kern="1200" dirty="0" smtClean="0">
                <a:solidFill>
                  <a:schemeClr val="tx1"/>
                </a:solidFill>
                <a:effectLst/>
                <a:latin typeface="+mn-lt"/>
                <a:ea typeface="+mn-ea"/>
                <a:cs typeface="+mn-cs"/>
              </a:rPr>
              <a:t>-Are there any plans to expand the use of AI to other areas of the company beyond quality control?</a:t>
            </a:r>
          </a:p>
          <a:p>
            <a:endParaRPr lang="en-US" dirty="0"/>
          </a:p>
        </p:txBody>
      </p:sp>
      <p:sp>
        <p:nvSpPr>
          <p:cNvPr id="4" name="Foliennummernplatzhalter 3"/>
          <p:cNvSpPr>
            <a:spLocks noGrp="1"/>
          </p:cNvSpPr>
          <p:nvPr>
            <p:ph type="sldNum" sz="quarter" idx="10"/>
          </p:nvPr>
        </p:nvSpPr>
        <p:spPr/>
        <p:txBody>
          <a:bodyPr/>
          <a:lstStyle/>
          <a:p>
            <a:pPr>
              <a:defRPr/>
            </a:pPr>
            <a:fld id="{9F7CB66E-A447-4065-9F91-1B57DAA1358E}" type="slidenum">
              <a:rPr lang="de-DE" smtClean="0"/>
              <a:pPr>
                <a:defRPr/>
              </a:pPr>
              <a:t>13</a:t>
            </a:fld>
            <a:endParaRPr lang="de-DE"/>
          </a:p>
        </p:txBody>
      </p:sp>
    </p:spTree>
    <p:extLst>
      <p:ext uri="{BB962C8B-B14F-4D97-AF65-F5344CB8AC3E}">
        <p14:creationId xmlns:p14="http://schemas.microsoft.com/office/powerpoint/2010/main" val="40904834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a:xfrm>
            <a:off x="261938" y="592138"/>
            <a:ext cx="4983162" cy="647700"/>
          </a:xfrm>
        </p:spPr>
        <p:txBody>
          <a:bodyPr/>
          <a:lstStyle/>
          <a:p>
            <a:r>
              <a:rPr lang="de-DE" smtClean="0"/>
              <a:t>Titelmasterformat durch Klicken bearbeiten</a:t>
            </a:r>
            <a:endParaRPr lang="de-DE"/>
          </a:p>
        </p:txBody>
      </p:sp>
      <p:sp>
        <p:nvSpPr>
          <p:cNvPr id="3" name="Inhaltsplatzhalter 2"/>
          <p:cNvSpPr>
            <a:spLocks noGrp="1"/>
          </p:cNvSpPr>
          <p:nvPr>
            <p:ph idx="1"/>
          </p:nvPr>
        </p:nvSpPr>
        <p:spPr>
          <a:xfrm>
            <a:off x="642938" y="2143125"/>
            <a:ext cx="7929562" cy="39830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de-DE" dirty="0" smtClean="0"/>
              <a:t>Textmasterformate durch Klicken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de-DE" dirty="0"/>
          </a:p>
        </p:txBody>
      </p:sp>
      <p:sp>
        <p:nvSpPr>
          <p:cNvPr id="6" name="Rectangle 23"/>
          <p:cNvSpPr>
            <a:spLocks noGrp="1" noChangeArrowheads="1"/>
          </p:cNvSpPr>
          <p:nvPr>
            <p:ph type="sldNum" sz="quarter" idx="12"/>
          </p:nvPr>
        </p:nvSpPr>
        <p:spPr>
          <a:xfrm>
            <a:off x="8316416" y="6610350"/>
            <a:ext cx="560884" cy="247650"/>
          </a:xfrm>
          <a:ln/>
        </p:spPr>
        <p:txBody>
          <a:bodyPr/>
          <a:lstStyle>
            <a:lvl1pPr>
              <a:defRPr>
                <a:solidFill>
                  <a:schemeClr val="tx1"/>
                </a:solidFill>
              </a:defRPr>
            </a:lvl1pPr>
          </a:lstStyle>
          <a:p>
            <a:pPr>
              <a:defRPr/>
            </a:pPr>
            <a:fld id="{C929A957-B8AC-4276-BB5E-21B31F81D38B}" type="slidenum">
              <a:rPr lang="de-DE" smtClean="0"/>
              <a:pPr>
                <a:defRPr/>
              </a:pPr>
              <a:t>‹Nr.›</a:t>
            </a:fld>
            <a:endParaRPr lang="de-DE" dirty="0"/>
          </a:p>
        </p:txBody>
      </p:sp>
      <p:sp>
        <p:nvSpPr>
          <p:cNvPr id="7" name="Datumsplatzhalter 1"/>
          <p:cNvSpPr txBox="1">
            <a:spLocks/>
          </p:cNvSpPr>
          <p:nvPr userDrawn="1"/>
        </p:nvSpPr>
        <p:spPr bwMode="auto">
          <a:xfrm>
            <a:off x="144440" y="6633384"/>
            <a:ext cx="8388000" cy="252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de-DE"/>
            </a:defPPr>
            <a:lvl1pPr algn="l" rtl="0" fontAlgn="base">
              <a:spcBef>
                <a:spcPct val="50000"/>
              </a:spcBef>
              <a:spcAft>
                <a:spcPct val="0"/>
              </a:spcAft>
              <a:defRPr sz="900" kern="1200">
                <a:solidFill>
                  <a:srgbClr val="4D4D4D"/>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tabLst>
                <a:tab pos="88900" algn="l"/>
              </a:tabLst>
              <a:defRPr/>
            </a:pPr>
            <a:r>
              <a:rPr lang="de-DE" sz="700" dirty="0" smtClean="0"/>
              <a:t>© </a:t>
            </a:r>
            <a:r>
              <a:rPr lang="en-US" sz="700" dirty="0" smtClean="0"/>
              <a:t>Wallstabe &amp; Schneider GmbH &amp; Co. KG. All rights reserved, also regarding any disposal, exploitation, reproduction, editing, distribution as well as in the event of applications for the industrial property rights. </a:t>
            </a:r>
            <a:endParaRPr lang="de-DE"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67" name="Rectangle 43"/>
          <p:cNvSpPr>
            <a:spLocks noChangeArrowheads="1"/>
          </p:cNvSpPr>
          <p:nvPr userDrawn="1"/>
        </p:nvSpPr>
        <p:spPr bwMode="auto">
          <a:xfrm>
            <a:off x="0" y="673100"/>
            <a:ext cx="9144000" cy="412750"/>
          </a:xfrm>
          <a:prstGeom prst="rect">
            <a:avLst/>
          </a:prstGeom>
          <a:solidFill>
            <a:srgbClr val="009CDD"/>
          </a:solidFill>
          <a:ln w="9525">
            <a:noFill/>
            <a:miter lim="800000"/>
            <a:headEnd/>
            <a:tailEnd/>
          </a:ln>
          <a:effectLst/>
        </p:spPr>
        <p:txBody>
          <a:bodyPr wrap="none" anchor="ctr"/>
          <a:lstStyle/>
          <a:p>
            <a:pPr>
              <a:defRPr/>
            </a:pPr>
            <a:endParaRPr lang="de-DE"/>
          </a:p>
        </p:txBody>
      </p:sp>
      <p:sp>
        <p:nvSpPr>
          <p:cNvPr id="1066" name="Rectangle 42"/>
          <p:cNvSpPr>
            <a:spLocks noChangeArrowheads="1"/>
          </p:cNvSpPr>
          <p:nvPr userDrawn="1"/>
        </p:nvSpPr>
        <p:spPr bwMode="auto">
          <a:xfrm>
            <a:off x="0" y="6597650"/>
            <a:ext cx="9144000" cy="260350"/>
          </a:xfrm>
          <a:prstGeom prst="rect">
            <a:avLst/>
          </a:prstGeom>
          <a:solidFill>
            <a:srgbClr val="D0D1D6"/>
          </a:solidFill>
          <a:ln w="9525">
            <a:noFill/>
            <a:miter lim="800000"/>
            <a:headEnd/>
            <a:tailEnd/>
          </a:ln>
          <a:effectLst/>
        </p:spPr>
        <p:txBody>
          <a:bodyPr wrap="none" anchor="ctr"/>
          <a:lstStyle/>
          <a:p>
            <a:pPr>
              <a:defRPr/>
            </a:pPr>
            <a:endParaRPr lang="de-DE"/>
          </a:p>
        </p:txBody>
      </p:sp>
      <p:sp>
        <p:nvSpPr>
          <p:cNvPr id="1065" name="Rectangle 41"/>
          <p:cNvSpPr>
            <a:spLocks noChangeArrowheads="1"/>
          </p:cNvSpPr>
          <p:nvPr userDrawn="1"/>
        </p:nvSpPr>
        <p:spPr bwMode="auto">
          <a:xfrm>
            <a:off x="7451725" y="142875"/>
            <a:ext cx="1692275" cy="765175"/>
          </a:xfrm>
          <a:prstGeom prst="rect">
            <a:avLst/>
          </a:prstGeom>
          <a:solidFill>
            <a:srgbClr val="D0D1D6"/>
          </a:solidFill>
          <a:ln w="9525">
            <a:noFill/>
            <a:miter lim="800000"/>
            <a:headEnd/>
            <a:tailEnd/>
          </a:ln>
          <a:effectLst/>
        </p:spPr>
        <p:txBody>
          <a:bodyPr wrap="none" anchor="ctr"/>
          <a:lstStyle/>
          <a:p>
            <a:pPr>
              <a:defRPr/>
            </a:pPr>
            <a:endParaRPr lang="de-DE"/>
          </a:p>
        </p:txBody>
      </p:sp>
      <p:sp>
        <p:nvSpPr>
          <p:cNvPr id="1053" name="Rectangle 29"/>
          <p:cNvSpPr>
            <a:spLocks noChangeArrowheads="1"/>
          </p:cNvSpPr>
          <p:nvPr/>
        </p:nvSpPr>
        <p:spPr bwMode="auto">
          <a:xfrm>
            <a:off x="0" y="0"/>
            <a:ext cx="9144000" cy="765175"/>
          </a:xfrm>
          <a:prstGeom prst="rect">
            <a:avLst/>
          </a:prstGeom>
          <a:solidFill>
            <a:srgbClr val="D0D1D6"/>
          </a:solidFill>
          <a:ln w="9525">
            <a:noFill/>
            <a:miter lim="800000"/>
            <a:headEnd/>
            <a:tailEnd/>
          </a:ln>
          <a:effectLst/>
        </p:spPr>
        <p:txBody>
          <a:bodyPr wrap="none" anchor="ctr"/>
          <a:lstStyle/>
          <a:p>
            <a:pPr>
              <a:defRPr/>
            </a:pPr>
            <a:endParaRPr lang="de-DE"/>
          </a:p>
        </p:txBody>
      </p:sp>
      <p:sp>
        <p:nvSpPr>
          <p:cNvPr id="1031" name="Titelplatzhalter 1"/>
          <p:cNvSpPr>
            <a:spLocks noGrp="1"/>
          </p:cNvSpPr>
          <p:nvPr>
            <p:ph type="title"/>
          </p:nvPr>
        </p:nvSpPr>
        <p:spPr bwMode="auto">
          <a:xfrm>
            <a:off x="261938" y="592138"/>
            <a:ext cx="4983162" cy="6477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smtClean="0"/>
              <a:t>Titel</a:t>
            </a:r>
          </a:p>
        </p:txBody>
      </p:sp>
      <p:sp>
        <p:nvSpPr>
          <p:cNvPr id="1032" name="Textplatzhalter 2"/>
          <p:cNvSpPr>
            <a:spLocks noGrp="1"/>
          </p:cNvSpPr>
          <p:nvPr>
            <p:ph type="body" idx="1"/>
          </p:nvPr>
        </p:nvSpPr>
        <p:spPr bwMode="auto">
          <a:xfrm>
            <a:off x="642938" y="2143125"/>
            <a:ext cx="7929562" cy="39830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de-DE" dirty="0" smtClean="0"/>
              <a:t>Textmasterformate durch Klicken bearbeiten</a:t>
            </a:r>
          </a:p>
          <a:p>
            <a:pPr lvl="1"/>
            <a:r>
              <a:rPr lang="de-DE" dirty="0" smtClean="0"/>
              <a:t>Zweite Ebene</a:t>
            </a:r>
          </a:p>
        </p:txBody>
      </p:sp>
      <p:sp>
        <p:nvSpPr>
          <p:cNvPr id="1047" name="Rectangle 23"/>
          <p:cNvSpPr>
            <a:spLocks noGrp="1" noChangeArrowheads="1"/>
          </p:cNvSpPr>
          <p:nvPr>
            <p:ph type="sldNum" sz="quarter" idx="4"/>
          </p:nvPr>
        </p:nvSpPr>
        <p:spPr bwMode="auto">
          <a:xfrm>
            <a:off x="8388424" y="6610350"/>
            <a:ext cx="488876" cy="27503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rgbClr val="4D4D4D"/>
                </a:solidFill>
              </a:defRPr>
            </a:lvl1pPr>
          </a:lstStyle>
          <a:p>
            <a:pPr>
              <a:defRPr/>
            </a:pPr>
            <a:fld id="{AEA732C0-0B01-4AC7-AE2B-4396A76CC6C4}" type="slidenum">
              <a:rPr lang="de-DE"/>
              <a:pPr>
                <a:defRPr/>
              </a:pPr>
              <a:t>‹Nr.›</a:t>
            </a:fld>
            <a:endParaRPr lang="de-DE"/>
          </a:p>
        </p:txBody>
      </p:sp>
      <p:sp>
        <p:nvSpPr>
          <p:cNvPr id="1060" name="AutoShape 36"/>
          <p:cNvSpPr>
            <a:spLocks noChangeArrowheads="1"/>
          </p:cNvSpPr>
          <p:nvPr userDrawn="1"/>
        </p:nvSpPr>
        <p:spPr bwMode="auto">
          <a:xfrm>
            <a:off x="7164388" y="98425"/>
            <a:ext cx="1979612" cy="809625"/>
          </a:xfrm>
          <a:prstGeom prst="roundRect">
            <a:avLst>
              <a:gd name="adj" fmla="val 34315"/>
            </a:avLst>
          </a:prstGeom>
          <a:solidFill>
            <a:srgbClr val="D0D1D6"/>
          </a:solidFill>
          <a:ln w="9525">
            <a:noFill/>
            <a:round/>
            <a:headEnd/>
            <a:tailEnd/>
          </a:ln>
          <a:effectLst/>
        </p:spPr>
        <p:txBody>
          <a:bodyPr wrap="none" anchor="ctr"/>
          <a:lstStyle/>
          <a:p>
            <a:pPr algn="ctr">
              <a:defRPr/>
            </a:pPr>
            <a:endParaRPr lang="de-DE">
              <a:solidFill>
                <a:srgbClr val="BCBEC4"/>
              </a:solidFill>
            </a:endParaRPr>
          </a:p>
        </p:txBody>
      </p:sp>
      <p:sp>
        <p:nvSpPr>
          <p:cNvPr id="12" name="Datumsplatzhalter 1"/>
          <p:cNvSpPr txBox="1">
            <a:spLocks/>
          </p:cNvSpPr>
          <p:nvPr userDrawn="1"/>
        </p:nvSpPr>
        <p:spPr bwMode="auto">
          <a:xfrm>
            <a:off x="144440" y="6633384"/>
            <a:ext cx="8388000" cy="2520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de-DE"/>
            </a:defPPr>
            <a:lvl1pPr algn="l" rtl="0" fontAlgn="base">
              <a:spcBef>
                <a:spcPct val="50000"/>
              </a:spcBef>
              <a:spcAft>
                <a:spcPct val="0"/>
              </a:spcAft>
              <a:defRPr sz="900" kern="1200">
                <a:solidFill>
                  <a:srgbClr val="4D4D4D"/>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marL="0" marR="0" lvl="0" indent="0" algn="l" defTabSz="914400" rtl="0" eaLnBrk="1" fontAlgn="base" latinLnBrk="0" hangingPunct="1">
              <a:lnSpc>
                <a:spcPct val="100000"/>
              </a:lnSpc>
              <a:spcBef>
                <a:spcPct val="50000"/>
              </a:spcBef>
              <a:spcAft>
                <a:spcPct val="0"/>
              </a:spcAft>
              <a:buClrTx/>
              <a:buSzTx/>
              <a:buFontTx/>
              <a:buNone/>
              <a:tabLst>
                <a:tab pos="88900" algn="l"/>
              </a:tabLst>
              <a:defRPr/>
            </a:pPr>
            <a:r>
              <a:rPr lang="de-DE" sz="700" dirty="0" smtClean="0"/>
              <a:t>© </a:t>
            </a:r>
            <a:r>
              <a:rPr lang="en-US" sz="700" dirty="0" smtClean="0"/>
              <a:t>Wallstabe &amp; Schneider GmbH &amp; Co. KG. All rights reserved, also regarding any disposal, exploitation, reproduction, editing, distribution as well as in the event of applications for the industrial property rights. </a:t>
            </a:r>
            <a:endParaRPr lang="de-DE" dirty="0"/>
          </a:p>
        </p:txBody>
      </p:sp>
      <p:pic>
        <p:nvPicPr>
          <p:cNvPr id="14" name="Grafik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344000" y="144000"/>
            <a:ext cx="1620000" cy="608061"/>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Lst>
  <p:hf hdr="0" ftr="0" dt="0"/>
  <p:txStyles>
    <p:titleStyle>
      <a:lvl1pPr algn="l" rtl="0" eaLnBrk="0" fontAlgn="base" hangingPunct="0">
        <a:spcBef>
          <a:spcPct val="0"/>
        </a:spcBef>
        <a:spcAft>
          <a:spcPct val="0"/>
        </a:spcAft>
        <a:defRPr sz="2000" b="1" kern="1200">
          <a:solidFill>
            <a:schemeClr val="bg1"/>
          </a:solidFill>
          <a:latin typeface="Arial" pitchFamily="34" charset="0"/>
          <a:ea typeface="+mj-ea"/>
          <a:cs typeface="Arial" pitchFamily="34" charset="0"/>
        </a:defRPr>
      </a:lvl1pPr>
      <a:lvl2pPr algn="l" rtl="0" eaLnBrk="0" fontAlgn="base" hangingPunct="0">
        <a:spcBef>
          <a:spcPct val="0"/>
        </a:spcBef>
        <a:spcAft>
          <a:spcPct val="0"/>
        </a:spcAft>
        <a:defRPr sz="2000" b="1">
          <a:solidFill>
            <a:schemeClr val="bg1"/>
          </a:solidFill>
          <a:latin typeface="Arial" charset="0"/>
          <a:cs typeface="Arial" charset="0"/>
        </a:defRPr>
      </a:lvl2pPr>
      <a:lvl3pPr algn="l" rtl="0" eaLnBrk="0" fontAlgn="base" hangingPunct="0">
        <a:spcBef>
          <a:spcPct val="0"/>
        </a:spcBef>
        <a:spcAft>
          <a:spcPct val="0"/>
        </a:spcAft>
        <a:defRPr sz="2000" b="1">
          <a:solidFill>
            <a:schemeClr val="bg1"/>
          </a:solidFill>
          <a:latin typeface="Arial" charset="0"/>
          <a:cs typeface="Arial" charset="0"/>
        </a:defRPr>
      </a:lvl3pPr>
      <a:lvl4pPr algn="l" rtl="0" eaLnBrk="0" fontAlgn="base" hangingPunct="0">
        <a:spcBef>
          <a:spcPct val="0"/>
        </a:spcBef>
        <a:spcAft>
          <a:spcPct val="0"/>
        </a:spcAft>
        <a:defRPr sz="2000" b="1">
          <a:solidFill>
            <a:schemeClr val="bg1"/>
          </a:solidFill>
          <a:latin typeface="Arial" charset="0"/>
          <a:cs typeface="Arial" charset="0"/>
        </a:defRPr>
      </a:lvl4pPr>
      <a:lvl5pPr algn="l" rtl="0" eaLnBrk="0" fontAlgn="base" hangingPunct="0">
        <a:spcBef>
          <a:spcPct val="0"/>
        </a:spcBef>
        <a:spcAft>
          <a:spcPct val="0"/>
        </a:spcAft>
        <a:defRPr sz="2000" b="1">
          <a:solidFill>
            <a:schemeClr val="bg1"/>
          </a:solidFill>
          <a:latin typeface="Arial" charset="0"/>
          <a:cs typeface="Arial" charset="0"/>
        </a:defRPr>
      </a:lvl5pPr>
      <a:lvl6pPr marL="457200" algn="l" rtl="0" fontAlgn="base">
        <a:spcBef>
          <a:spcPct val="0"/>
        </a:spcBef>
        <a:spcAft>
          <a:spcPct val="0"/>
        </a:spcAft>
        <a:defRPr sz="2000" b="1">
          <a:solidFill>
            <a:schemeClr val="bg1"/>
          </a:solidFill>
          <a:latin typeface="Arial" charset="0"/>
          <a:cs typeface="Arial" charset="0"/>
        </a:defRPr>
      </a:lvl6pPr>
      <a:lvl7pPr marL="914400" algn="l" rtl="0" fontAlgn="base">
        <a:spcBef>
          <a:spcPct val="0"/>
        </a:spcBef>
        <a:spcAft>
          <a:spcPct val="0"/>
        </a:spcAft>
        <a:defRPr sz="2000" b="1">
          <a:solidFill>
            <a:schemeClr val="bg1"/>
          </a:solidFill>
          <a:latin typeface="Arial" charset="0"/>
          <a:cs typeface="Arial" charset="0"/>
        </a:defRPr>
      </a:lvl7pPr>
      <a:lvl8pPr marL="1371600" algn="l" rtl="0" fontAlgn="base">
        <a:spcBef>
          <a:spcPct val="0"/>
        </a:spcBef>
        <a:spcAft>
          <a:spcPct val="0"/>
        </a:spcAft>
        <a:defRPr sz="2000" b="1">
          <a:solidFill>
            <a:schemeClr val="bg1"/>
          </a:solidFill>
          <a:latin typeface="Arial" charset="0"/>
          <a:cs typeface="Arial" charset="0"/>
        </a:defRPr>
      </a:lvl8pPr>
      <a:lvl9pPr marL="1828800" algn="l" rtl="0" fontAlgn="base">
        <a:spcBef>
          <a:spcPct val="0"/>
        </a:spcBef>
        <a:spcAft>
          <a:spcPct val="0"/>
        </a:spcAft>
        <a:defRPr sz="2000" b="1">
          <a:solidFill>
            <a:schemeClr val="bg1"/>
          </a:solidFill>
          <a:latin typeface="Arial" charset="0"/>
          <a:cs typeface="Arial" charset="0"/>
        </a:defRPr>
      </a:lvl9pPr>
    </p:titleStyle>
    <p:bodyStyle>
      <a:lvl1pPr marL="271463" indent="-271463" algn="l" rtl="0" eaLnBrk="0" fontAlgn="base" hangingPunct="0">
        <a:spcBef>
          <a:spcPct val="20000"/>
        </a:spcBef>
        <a:spcAft>
          <a:spcPct val="0"/>
        </a:spcAft>
        <a:buSzPct val="140000"/>
        <a:buBlip>
          <a:blip r:embed="rId4"/>
        </a:buBlip>
        <a:defRPr sz="1600" kern="1200">
          <a:solidFill>
            <a:schemeClr val="tx1"/>
          </a:solidFill>
          <a:latin typeface="Arial" pitchFamily="34" charset="0"/>
          <a:ea typeface="+mn-ea"/>
          <a:cs typeface="Arial" pitchFamily="34" charset="0"/>
        </a:defRPr>
      </a:lvl1pPr>
      <a:lvl2pPr marL="742950" indent="-285750" algn="l" rtl="0" eaLnBrk="0" fontAlgn="base" hangingPunct="0">
        <a:spcBef>
          <a:spcPct val="20000"/>
        </a:spcBef>
        <a:spcAft>
          <a:spcPct val="0"/>
        </a:spcAft>
        <a:buSzPct val="140000"/>
        <a:buFont typeface="Arial" charset="0"/>
        <a:buBlip>
          <a:blip r:embed="rId5"/>
        </a:buBlip>
        <a:defRPr sz="1600" kern="1200">
          <a:solidFill>
            <a:schemeClr val="tx1"/>
          </a:solidFill>
          <a:latin typeface="Arial" pitchFamily="34" charset="0"/>
          <a:ea typeface="+mn-ea"/>
          <a:cs typeface="Arial" pitchFamily="34" charset="0"/>
        </a:defRPr>
      </a:lvl2pPr>
      <a:lvl3pPr marL="1143000" indent="-228600" algn="l" rtl="0" eaLnBrk="0" fontAlgn="base" hangingPunct="0">
        <a:spcBef>
          <a:spcPct val="20000"/>
        </a:spcBef>
        <a:spcAft>
          <a:spcPct val="0"/>
        </a:spcAft>
        <a:buFont typeface="Arial" charset="0"/>
        <a:buChar char="•"/>
        <a:defRPr sz="2000" kern="1200">
          <a:solidFill>
            <a:srgbClr val="4D4D4D"/>
          </a:solidFill>
          <a:latin typeface="Arial" pitchFamily="34" charset="0"/>
          <a:ea typeface="+mn-ea"/>
          <a:cs typeface="Arial" pitchFamily="34" charset="0"/>
        </a:defRPr>
      </a:lvl3pPr>
      <a:lvl4pPr marL="1600200" indent="-228600" algn="l" rtl="0" eaLnBrk="0" fontAlgn="base" hangingPunct="0">
        <a:spcBef>
          <a:spcPct val="20000"/>
        </a:spcBef>
        <a:spcAft>
          <a:spcPct val="0"/>
        </a:spcAft>
        <a:buFont typeface="Arial" charset="0"/>
        <a:buChar char="–"/>
        <a:defRPr sz="2000" kern="1200">
          <a:solidFill>
            <a:srgbClr val="4D4D4D"/>
          </a:solidFill>
          <a:latin typeface="Arial" pitchFamily="34" charset="0"/>
          <a:ea typeface="+mn-ea"/>
          <a:cs typeface="Arial" pitchFamily="34" charset="0"/>
        </a:defRPr>
      </a:lvl4pPr>
      <a:lvl5pPr marL="2057400" indent="-228600" algn="l" rtl="0" eaLnBrk="0" fontAlgn="base" hangingPunct="0">
        <a:spcBef>
          <a:spcPct val="20000"/>
        </a:spcBef>
        <a:spcAft>
          <a:spcPct val="0"/>
        </a:spcAft>
        <a:buFont typeface="Arial" charset="0"/>
        <a:buChar char="»"/>
        <a:defRPr sz="2000" kern="1200">
          <a:solidFill>
            <a:srgbClr val="4D4D4D"/>
          </a:solidFill>
          <a:latin typeface="Arial" pitchFamily="34" charset="0"/>
          <a:ea typeface="+mn-ea"/>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5.jpeg"/><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8.jpg"/><Relationship Id="rId4" Type="http://schemas.openxmlformats.org/officeDocument/2006/relationships/image" Target="../media/image17.jpg"/></Relationships>
</file>

<file path=ppt/slides/_rels/slide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1.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116000"/>
            <a:ext cx="9144000" cy="5485626"/>
          </a:xfrm>
          <a:prstGeom prst="rect">
            <a:avLst/>
          </a:prstGeom>
        </p:spPr>
      </p:pic>
      <p:sp>
        <p:nvSpPr>
          <p:cNvPr id="7" name="Textfeld 6"/>
          <p:cNvSpPr txBox="1"/>
          <p:nvPr/>
        </p:nvSpPr>
        <p:spPr>
          <a:xfrm>
            <a:off x="425084" y="5334888"/>
            <a:ext cx="4128660" cy="1231106"/>
          </a:xfrm>
          <a:prstGeom prst="rect">
            <a:avLst/>
          </a:prstGeom>
          <a:noFill/>
        </p:spPr>
        <p:txBody>
          <a:bodyPr wrap="square" rtlCol="0">
            <a:spAutoFit/>
          </a:bodyPr>
          <a:lstStyle/>
          <a:p>
            <a:pPr>
              <a:spcAft>
                <a:spcPts val="600"/>
              </a:spcAft>
            </a:pPr>
            <a:r>
              <a:rPr lang="en-US" sz="1600" b="1" dirty="0">
                <a:solidFill>
                  <a:schemeClr val="bg1"/>
                </a:solidFill>
              </a:rPr>
              <a:t>Introduction to AI-Driven Quality Control Inspection </a:t>
            </a:r>
            <a:r>
              <a:rPr lang="en-US" sz="1600" b="1" dirty="0" smtClean="0">
                <a:solidFill>
                  <a:schemeClr val="bg1"/>
                </a:solidFill>
              </a:rPr>
              <a:t>in</a:t>
            </a:r>
            <a:r>
              <a:rPr lang="en-US" sz="1600" b="1" dirty="0" smtClean="0">
                <a:solidFill>
                  <a:schemeClr val="bg1"/>
                </a:solidFill>
              </a:rPr>
              <a:t> </a:t>
            </a:r>
            <a:r>
              <a:rPr lang="en-US" sz="1600" b="1" dirty="0" err="1" smtClean="0">
                <a:solidFill>
                  <a:schemeClr val="bg1"/>
                </a:solidFill>
              </a:rPr>
              <a:t>Wallstabe</a:t>
            </a:r>
            <a:r>
              <a:rPr lang="en-US" sz="1600" b="1" dirty="0" smtClean="0">
                <a:solidFill>
                  <a:schemeClr val="bg1"/>
                </a:solidFill>
              </a:rPr>
              <a:t> </a:t>
            </a:r>
            <a:r>
              <a:rPr lang="en-US" sz="1600" b="1" dirty="0">
                <a:solidFill>
                  <a:schemeClr val="bg1"/>
                </a:solidFill>
              </a:rPr>
              <a:t>&amp; Schneider</a:t>
            </a:r>
            <a:endParaRPr lang="de-DE" sz="1600" b="1" dirty="0" smtClean="0">
              <a:solidFill>
                <a:schemeClr val="bg1"/>
              </a:solidFill>
            </a:endParaRPr>
          </a:p>
          <a:p>
            <a:pPr>
              <a:spcAft>
                <a:spcPts val="600"/>
              </a:spcAft>
            </a:pPr>
            <a:r>
              <a:rPr lang="de-DE" sz="1600" dirty="0" err="1" smtClean="0">
                <a:solidFill>
                  <a:schemeClr val="bg1"/>
                </a:solidFill>
              </a:rPr>
              <a:t>Niederwinkling</a:t>
            </a:r>
            <a:r>
              <a:rPr lang="de-DE" sz="1600" dirty="0" smtClean="0">
                <a:solidFill>
                  <a:schemeClr val="bg1"/>
                </a:solidFill>
              </a:rPr>
              <a:t>, 18.04.23</a:t>
            </a:r>
            <a:endParaRPr lang="de-DE" sz="1600" dirty="0">
              <a:solidFill>
                <a:schemeClr val="bg1"/>
              </a:solidFill>
            </a:endParaRPr>
          </a:p>
          <a:p>
            <a:pPr>
              <a:spcAft>
                <a:spcPts val="600"/>
              </a:spcAft>
            </a:pPr>
            <a:r>
              <a:rPr lang="de-DE" sz="1600" dirty="0" smtClean="0">
                <a:solidFill>
                  <a:schemeClr val="bg1"/>
                </a:solidFill>
              </a:rPr>
              <a:t>Wen-Hao Wu</a:t>
            </a:r>
            <a:endParaRPr lang="de-DE" sz="1600" dirty="0">
              <a:solidFill>
                <a:schemeClr val="bg1"/>
              </a:solidFill>
            </a:endParaRPr>
          </a:p>
        </p:txBody>
      </p:sp>
      <p:sp>
        <p:nvSpPr>
          <p:cNvPr id="3" name="Foliennummernplatzhalter 2"/>
          <p:cNvSpPr>
            <a:spLocks noGrp="1"/>
          </p:cNvSpPr>
          <p:nvPr>
            <p:ph type="sldNum" sz="quarter" idx="12"/>
          </p:nvPr>
        </p:nvSpPr>
        <p:spPr/>
        <p:txBody>
          <a:bodyPr/>
          <a:lstStyle/>
          <a:p>
            <a:pPr>
              <a:defRPr/>
            </a:pPr>
            <a:fld id="{C929A957-B8AC-4276-BB5E-21B31F81D38B}" type="slidenum">
              <a:rPr lang="de-DE" smtClean="0"/>
              <a:pPr>
                <a:defRPr/>
              </a:pPr>
              <a:t>1</a:t>
            </a:fld>
            <a:endParaRPr lang="de-DE"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2"/>
          <p:cNvSpPr>
            <a:spLocks noGrp="1"/>
          </p:cNvSpPr>
          <p:nvPr>
            <p:ph type="title"/>
          </p:nvPr>
        </p:nvSpPr>
        <p:spPr/>
        <p:txBody>
          <a:bodyPr/>
          <a:lstStyle/>
          <a:p>
            <a:pPr eaLnBrk="1" hangingPunct="1"/>
            <a:r>
              <a:rPr lang="de-DE" dirty="0" smtClean="0">
                <a:latin typeface="Arial" charset="0"/>
                <a:cs typeface="Arial" charset="0"/>
              </a:rPr>
              <a:t>Agenda</a:t>
            </a:r>
          </a:p>
        </p:txBody>
      </p:sp>
      <p:sp>
        <p:nvSpPr>
          <p:cNvPr id="4101" name="Rectangle 3"/>
          <p:cNvSpPr>
            <a:spLocks noGrp="1"/>
          </p:cNvSpPr>
          <p:nvPr>
            <p:ph type="body" idx="1"/>
          </p:nvPr>
        </p:nvSpPr>
        <p:spPr/>
        <p:txBody>
          <a:bodyPr/>
          <a:lstStyle/>
          <a:p>
            <a:pPr eaLnBrk="1" hangingPunct="1">
              <a:lnSpc>
                <a:spcPct val="200000"/>
              </a:lnSpc>
            </a:pPr>
            <a:r>
              <a:rPr lang="de-DE" dirty="0" err="1" smtClean="0">
                <a:solidFill>
                  <a:schemeClr val="tx1"/>
                </a:solidFill>
                <a:latin typeface="Arial" charset="0"/>
                <a:cs typeface="Arial" charset="0"/>
              </a:rPr>
              <a:t>Fundamentals</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of</a:t>
            </a:r>
            <a:r>
              <a:rPr lang="de-DE" dirty="0" smtClean="0">
                <a:solidFill>
                  <a:schemeClr val="tx1"/>
                </a:solidFill>
                <a:latin typeface="Arial" charset="0"/>
                <a:cs typeface="Arial" charset="0"/>
              </a:rPr>
              <a:t> AI</a:t>
            </a:r>
          </a:p>
          <a:p>
            <a:pPr lvl="1" eaLnBrk="1" hangingPunct="1">
              <a:lnSpc>
                <a:spcPct val="200000"/>
              </a:lnSpc>
            </a:pPr>
            <a:r>
              <a:rPr lang="de-DE" dirty="0" err="1" smtClean="0">
                <a:latin typeface="Arial" charset="0"/>
                <a:cs typeface="Arial" charset="0"/>
              </a:rPr>
              <a:t>What</a:t>
            </a:r>
            <a:r>
              <a:rPr lang="de-DE" dirty="0" smtClean="0">
                <a:latin typeface="Arial" charset="0"/>
                <a:cs typeface="Arial" charset="0"/>
              </a:rPr>
              <a:t> </a:t>
            </a:r>
            <a:r>
              <a:rPr lang="de-DE" dirty="0" err="1" smtClean="0">
                <a:latin typeface="Arial" charset="0"/>
                <a:cs typeface="Arial" charset="0"/>
              </a:rPr>
              <a:t>is</a:t>
            </a:r>
            <a:r>
              <a:rPr lang="de-DE" dirty="0" smtClean="0">
                <a:latin typeface="Arial" charset="0"/>
                <a:cs typeface="Arial" charset="0"/>
              </a:rPr>
              <a:t> AI?</a:t>
            </a:r>
          </a:p>
          <a:p>
            <a:pPr lvl="1" eaLnBrk="1" hangingPunct="1">
              <a:lnSpc>
                <a:spcPct val="200000"/>
              </a:lnSpc>
            </a:pPr>
            <a:r>
              <a:rPr lang="de-DE" dirty="0" err="1" smtClean="0">
                <a:solidFill>
                  <a:schemeClr val="tx1"/>
                </a:solidFill>
                <a:latin typeface="Arial" charset="0"/>
                <a:cs typeface="Arial" charset="0"/>
              </a:rPr>
              <a:t>Why</a:t>
            </a:r>
            <a:r>
              <a:rPr lang="de-DE" dirty="0" smtClean="0">
                <a:solidFill>
                  <a:schemeClr val="tx1"/>
                </a:solidFill>
                <a:latin typeface="Arial" charset="0"/>
                <a:cs typeface="Arial" charset="0"/>
              </a:rPr>
              <a:t> do </a:t>
            </a:r>
            <a:r>
              <a:rPr lang="de-DE" dirty="0" err="1" smtClean="0">
                <a:solidFill>
                  <a:schemeClr val="tx1"/>
                </a:solidFill>
                <a:latin typeface="Arial" charset="0"/>
                <a:cs typeface="Arial" charset="0"/>
              </a:rPr>
              <a:t>we</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need</a:t>
            </a:r>
            <a:r>
              <a:rPr lang="de-DE" dirty="0" smtClean="0">
                <a:solidFill>
                  <a:schemeClr val="tx1"/>
                </a:solidFill>
                <a:latin typeface="Arial" charset="0"/>
                <a:cs typeface="Arial" charset="0"/>
              </a:rPr>
              <a:t> AI?</a:t>
            </a:r>
          </a:p>
          <a:p>
            <a:pPr lvl="1" eaLnBrk="1" hangingPunct="1">
              <a:lnSpc>
                <a:spcPct val="200000"/>
              </a:lnSpc>
            </a:pPr>
            <a:r>
              <a:rPr lang="de-DE" dirty="0" err="1" smtClean="0">
                <a:solidFill>
                  <a:schemeClr val="tx1"/>
                </a:solidFill>
                <a:latin typeface="Arial" charset="0"/>
                <a:cs typeface="Arial" charset="0"/>
              </a:rPr>
              <a:t>What</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kinds</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of</a:t>
            </a:r>
            <a:r>
              <a:rPr lang="de-DE" dirty="0" smtClean="0">
                <a:solidFill>
                  <a:schemeClr val="tx1"/>
                </a:solidFill>
                <a:latin typeface="Arial" charset="0"/>
                <a:cs typeface="Arial" charset="0"/>
              </a:rPr>
              <a:t> AI </a:t>
            </a:r>
            <a:r>
              <a:rPr lang="de-DE" dirty="0" err="1" smtClean="0">
                <a:solidFill>
                  <a:schemeClr val="tx1"/>
                </a:solidFill>
                <a:latin typeface="Arial" charset="0"/>
                <a:cs typeface="Arial" charset="0"/>
              </a:rPr>
              <a:t>are</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there</a:t>
            </a:r>
            <a:r>
              <a:rPr lang="de-DE" dirty="0" smtClean="0">
                <a:solidFill>
                  <a:schemeClr val="tx1"/>
                </a:solidFill>
                <a:latin typeface="Arial" charset="0"/>
                <a:cs typeface="Arial" charset="0"/>
              </a:rPr>
              <a:t>?</a:t>
            </a:r>
          </a:p>
          <a:p>
            <a:pPr lvl="1" eaLnBrk="1" hangingPunct="1">
              <a:lnSpc>
                <a:spcPct val="200000"/>
              </a:lnSpc>
            </a:pPr>
            <a:r>
              <a:rPr lang="de-DE" dirty="0" err="1" smtClean="0">
                <a:latin typeface="Arial" charset="0"/>
                <a:cs typeface="Arial" charset="0"/>
              </a:rPr>
              <a:t>How</a:t>
            </a:r>
            <a:r>
              <a:rPr lang="de-DE" dirty="0" smtClean="0">
                <a:latin typeface="Arial" charset="0"/>
                <a:cs typeface="Arial" charset="0"/>
              </a:rPr>
              <a:t> </a:t>
            </a:r>
            <a:r>
              <a:rPr lang="de-DE" dirty="0" err="1" smtClean="0">
                <a:latin typeface="Arial" charset="0"/>
                <a:cs typeface="Arial" charset="0"/>
              </a:rPr>
              <a:t>does</a:t>
            </a:r>
            <a:r>
              <a:rPr lang="de-DE" dirty="0" smtClean="0">
                <a:latin typeface="Arial" charset="0"/>
                <a:cs typeface="Arial" charset="0"/>
              </a:rPr>
              <a:t> AI </a:t>
            </a:r>
            <a:r>
              <a:rPr lang="de-DE" dirty="0" err="1" smtClean="0">
                <a:latin typeface="Arial" charset="0"/>
                <a:cs typeface="Arial" charset="0"/>
              </a:rPr>
              <a:t>learn</a:t>
            </a:r>
            <a:r>
              <a:rPr lang="de-DE" dirty="0">
                <a:latin typeface="Arial" charset="0"/>
                <a:cs typeface="Arial" charset="0"/>
              </a:rPr>
              <a:t>?</a:t>
            </a:r>
            <a:endParaRPr lang="de-DE" dirty="0" smtClean="0">
              <a:solidFill>
                <a:schemeClr val="tx1"/>
              </a:solidFill>
              <a:latin typeface="Arial" charset="0"/>
              <a:cs typeface="Arial" charset="0"/>
            </a:endParaRPr>
          </a:p>
          <a:p>
            <a:pPr eaLnBrk="1" hangingPunct="1">
              <a:lnSpc>
                <a:spcPct val="200000"/>
              </a:lnSpc>
            </a:pPr>
            <a:r>
              <a:rPr lang="de-DE" dirty="0" smtClean="0">
                <a:solidFill>
                  <a:schemeClr val="tx1"/>
                </a:solidFill>
                <a:latin typeface="Arial" charset="0"/>
                <a:cs typeface="Arial" charset="0"/>
              </a:rPr>
              <a:t>Demo</a:t>
            </a:r>
          </a:p>
          <a:p>
            <a:pPr eaLnBrk="1" hangingPunct="1">
              <a:lnSpc>
                <a:spcPct val="200000"/>
              </a:lnSpc>
            </a:pPr>
            <a:endParaRPr lang="de-DE" dirty="0" smtClean="0">
              <a:solidFill>
                <a:schemeClr val="tx1"/>
              </a:solidFill>
              <a:latin typeface="Arial" charset="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2</a:t>
            </a:fld>
            <a:endParaRPr lang="de-DE"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dirty="0" err="1" smtClean="0">
                <a:latin typeface="Arial" charset="0"/>
                <a:cs typeface="Arial" charset="0"/>
              </a:rPr>
              <a:t>Fundamentals</a:t>
            </a:r>
            <a:r>
              <a:rPr lang="de-DE" dirty="0" smtClean="0">
                <a:latin typeface="Arial" charset="0"/>
                <a:cs typeface="Arial" charset="0"/>
              </a:rPr>
              <a:t> </a:t>
            </a:r>
            <a:r>
              <a:rPr lang="de-DE" dirty="0" err="1" smtClean="0">
                <a:latin typeface="Arial" charset="0"/>
                <a:cs typeface="Arial" charset="0"/>
              </a:rPr>
              <a:t>of</a:t>
            </a:r>
            <a:r>
              <a:rPr lang="de-DE" dirty="0" smtClean="0">
                <a:latin typeface="Arial" charset="0"/>
                <a:cs typeface="Arial" charset="0"/>
              </a:rPr>
              <a:t> AI</a:t>
            </a:r>
          </a:p>
        </p:txBody>
      </p:sp>
      <p:sp>
        <p:nvSpPr>
          <p:cNvPr id="81923" name="Rectangle 3"/>
          <p:cNvSpPr>
            <a:spLocks noGrp="1"/>
          </p:cNvSpPr>
          <p:nvPr>
            <p:ph type="body" idx="1"/>
          </p:nvPr>
        </p:nvSpPr>
        <p:spPr>
          <a:xfrm>
            <a:off x="701613" y="3500821"/>
            <a:ext cx="4103811" cy="864369"/>
          </a:xfrm>
        </p:spPr>
        <p:txBody>
          <a:bodyPr/>
          <a:lstStyle/>
          <a:p>
            <a:pPr eaLnBrk="1" hangingPunct="1"/>
            <a:r>
              <a:rPr lang="de-DE" dirty="0">
                <a:latin typeface="Arial" charset="0"/>
                <a:cs typeface="Arial" charset="0"/>
              </a:rPr>
              <a:t>M</a:t>
            </a:r>
            <a:r>
              <a:rPr lang="de-DE" dirty="0" smtClean="0">
                <a:solidFill>
                  <a:schemeClr val="tx1"/>
                </a:solidFill>
                <a:latin typeface="Arial" charset="0"/>
                <a:cs typeface="Arial" charset="0"/>
              </a:rPr>
              <a:t>achines </a:t>
            </a:r>
            <a:r>
              <a:rPr lang="de-DE" dirty="0" err="1" smtClean="0">
                <a:solidFill>
                  <a:schemeClr val="tx1"/>
                </a:solidFill>
                <a:latin typeface="Arial" charset="0"/>
                <a:cs typeface="Arial" charset="0"/>
              </a:rPr>
              <a:t>or</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systems</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that</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can</a:t>
            </a:r>
            <a:r>
              <a:rPr lang="de-DE" dirty="0" smtClean="0">
                <a:solidFill>
                  <a:schemeClr val="tx1"/>
                </a:solidFill>
                <a:latin typeface="Arial" charset="0"/>
                <a:cs typeface="Arial" charset="0"/>
              </a:rPr>
              <a:t> </a:t>
            </a:r>
            <a:r>
              <a:rPr lang="de-DE" b="1" dirty="0" err="1" smtClean="0">
                <a:solidFill>
                  <a:schemeClr val="tx1"/>
                </a:solidFill>
                <a:latin typeface="Arial" charset="0"/>
                <a:cs typeface="Arial" charset="0"/>
              </a:rPr>
              <a:t>perform</a:t>
            </a:r>
            <a:r>
              <a:rPr lang="de-DE" b="1" dirty="0" smtClean="0">
                <a:solidFill>
                  <a:schemeClr val="tx1"/>
                </a:solidFill>
                <a:latin typeface="Arial" charset="0"/>
                <a:cs typeface="Arial" charset="0"/>
              </a:rPr>
              <a:t> </a:t>
            </a:r>
            <a:r>
              <a:rPr lang="de-DE" b="1" dirty="0" err="1" smtClean="0">
                <a:solidFill>
                  <a:schemeClr val="tx1"/>
                </a:solidFill>
                <a:latin typeface="Arial" charset="0"/>
                <a:cs typeface="Arial" charset="0"/>
              </a:rPr>
              <a:t>tasks</a:t>
            </a:r>
            <a:r>
              <a:rPr lang="de-DE" b="1" dirty="0" smtClean="0">
                <a:solidFill>
                  <a:schemeClr val="tx1"/>
                </a:solidFill>
                <a:latin typeface="Arial" charset="0"/>
                <a:cs typeface="Arial" charset="0"/>
              </a:rPr>
              <a:t> </a:t>
            </a:r>
            <a:r>
              <a:rPr lang="de-DE" b="1" dirty="0" err="1" smtClean="0">
                <a:solidFill>
                  <a:schemeClr val="tx1"/>
                </a:solidFill>
                <a:latin typeface="Arial" charset="0"/>
                <a:cs typeface="Arial" charset="0"/>
              </a:rPr>
              <a:t>and</a:t>
            </a:r>
            <a:r>
              <a:rPr lang="de-DE" b="1" dirty="0" smtClean="0">
                <a:solidFill>
                  <a:schemeClr val="tx1"/>
                </a:solidFill>
                <a:latin typeface="Arial" charset="0"/>
                <a:cs typeface="Arial" charset="0"/>
              </a:rPr>
              <a:t> </a:t>
            </a:r>
            <a:r>
              <a:rPr lang="de-DE" b="1" dirty="0" err="1" smtClean="0">
                <a:solidFill>
                  <a:schemeClr val="tx1"/>
                </a:solidFill>
                <a:latin typeface="Arial" charset="0"/>
                <a:cs typeface="Arial" charset="0"/>
              </a:rPr>
              <a:t>make</a:t>
            </a:r>
            <a:r>
              <a:rPr lang="de-DE" b="1" dirty="0" smtClean="0">
                <a:solidFill>
                  <a:schemeClr val="tx1"/>
                </a:solidFill>
                <a:latin typeface="Arial" charset="0"/>
                <a:cs typeface="Arial" charset="0"/>
              </a:rPr>
              <a:t> </a:t>
            </a:r>
            <a:r>
              <a:rPr lang="de-DE" b="1" dirty="0" err="1" smtClean="0">
                <a:solidFill>
                  <a:schemeClr val="tx1"/>
                </a:solidFill>
                <a:latin typeface="Arial" charset="0"/>
                <a:cs typeface="Arial" charset="0"/>
              </a:rPr>
              <a:t>decisions</a:t>
            </a:r>
            <a:r>
              <a:rPr lang="de-DE" b="1" dirty="0" smtClean="0">
                <a:solidFill>
                  <a:schemeClr val="tx1"/>
                </a:solidFill>
                <a:latin typeface="Arial" charset="0"/>
                <a:cs typeface="Arial" charset="0"/>
              </a:rPr>
              <a:t> </a:t>
            </a:r>
            <a:r>
              <a:rPr lang="de-DE" b="1" dirty="0" err="1" smtClean="0">
                <a:solidFill>
                  <a:schemeClr val="tx1"/>
                </a:solidFill>
                <a:latin typeface="Arial" charset="0"/>
                <a:cs typeface="Arial" charset="0"/>
              </a:rPr>
              <a:t>that</a:t>
            </a:r>
            <a:r>
              <a:rPr lang="de-DE" b="1" dirty="0" smtClean="0">
                <a:solidFill>
                  <a:schemeClr val="tx1"/>
                </a:solidFill>
                <a:latin typeface="Arial" charset="0"/>
                <a:cs typeface="Arial" charset="0"/>
              </a:rPr>
              <a:t> </a:t>
            </a:r>
            <a:r>
              <a:rPr lang="de-DE" b="1" dirty="0" err="1" smtClean="0">
                <a:solidFill>
                  <a:schemeClr val="tx1"/>
                </a:solidFill>
                <a:latin typeface="Arial" charset="0"/>
                <a:cs typeface="Arial" charset="0"/>
              </a:rPr>
              <a:t>typically</a:t>
            </a:r>
            <a:r>
              <a:rPr lang="de-DE" b="1" dirty="0" smtClean="0">
                <a:solidFill>
                  <a:schemeClr val="tx1"/>
                </a:solidFill>
                <a:latin typeface="Arial" charset="0"/>
                <a:cs typeface="Arial" charset="0"/>
              </a:rPr>
              <a:t> </a:t>
            </a:r>
            <a:r>
              <a:rPr lang="de-DE" b="1" dirty="0" err="1" smtClean="0">
                <a:solidFill>
                  <a:schemeClr val="tx1"/>
                </a:solidFill>
                <a:latin typeface="Arial" charset="0"/>
                <a:cs typeface="Arial" charset="0"/>
              </a:rPr>
              <a:t>require</a:t>
            </a:r>
            <a:r>
              <a:rPr lang="de-DE" b="1" dirty="0" smtClean="0">
                <a:solidFill>
                  <a:schemeClr val="tx1"/>
                </a:solidFill>
                <a:latin typeface="Arial" charset="0"/>
                <a:cs typeface="Arial" charset="0"/>
              </a:rPr>
              <a:t> human </a:t>
            </a:r>
            <a:r>
              <a:rPr lang="de-DE" b="1" dirty="0" err="1" smtClean="0">
                <a:solidFill>
                  <a:schemeClr val="tx1"/>
                </a:solidFill>
                <a:latin typeface="Arial" charset="0"/>
                <a:cs typeface="Arial" charset="0"/>
              </a:rPr>
              <a:t>intelligence</a:t>
            </a:r>
            <a:endParaRPr lang="de-DE" b="1" dirty="0" smtClean="0">
              <a:solidFill>
                <a:schemeClr val="tx1"/>
              </a:solidFill>
              <a:latin typeface="Arial" charset="0"/>
              <a:cs typeface="Arial" charset="0"/>
            </a:endParaRPr>
          </a:p>
          <a:p>
            <a:pPr marL="0" indent="0" eaLnBrk="1" hangingPunct="1">
              <a:buNone/>
            </a:pPr>
            <a:endParaRPr lang="de-DE" dirty="0" smtClean="0">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What</a:t>
            </a:r>
            <a:r>
              <a:rPr lang="de-DE" b="1" dirty="0" smtClean="0">
                <a:cs typeface="Arial" charset="0"/>
              </a:rPr>
              <a:t> </a:t>
            </a:r>
            <a:r>
              <a:rPr lang="de-DE" b="1" dirty="0" err="1" smtClean="0">
                <a:cs typeface="Arial" charset="0"/>
              </a:rPr>
              <a:t>is</a:t>
            </a:r>
            <a:r>
              <a:rPr lang="de-DE" b="1" dirty="0" smtClean="0">
                <a:cs typeface="Arial" charset="0"/>
              </a:rPr>
              <a:t> </a:t>
            </a:r>
            <a:r>
              <a:rPr lang="de-DE" b="1" dirty="0" err="1" smtClean="0">
                <a:cs typeface="Arial" charset="0"/>
              </a:rPr>
              <a:t>Aritificial</a:t>
            </a:r>
            <a:r>
              <a:rPr lang="de-DE" b="1" dirty="0" smtClean="0">
                <a:cs typeface="Arial" charset="0"/>
              </a:rPr>
              <a:t> </a:t>
            </a:r>
            <a:r>
              <a:rPr lang="de-DE" b="1" dirty="0" err="1" smtClean="0">
                <a:cs typeface="Arial" charset="0"/>
              </a:rPr>
              <a:t>Intelligence</a:t>
            </a:r>
            <a:r>
              <a:rPr lang="de-DE" b="1" dirty="0" smtClean="0">
                <a:cs typeface="Arial" charset="0"/>
              </a:rPr>
              <a:t>?</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3</a:t>
            </a:fld>
            <a:endParaRPr lang="de-DE" dirty="0"/>
          </a:p>
        </p:txBody>
      </p:sp>
      <p:pic>
        <p:nvPicPr>
          <p:cNvPr id="6" name="Grafik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06286" y="2420888"/>
            <a:ext cx="3971014" cy="3024237"/>
          </a:xfrm>
          <a:prstGeom prst="rect">
            <a:avLst/>
          </a:prstGeom>
        </p:spPr>
      </p:pic>
      <p:sp>
        <p:nvSpPr>
          <p:cNvPr id="3" name="Textfeld 2"/>
          <p:cNvSpPr txBox="1"/>
          <p:nvPr/>
        </p:nvSpPr>
        <p:spPr>
          <a:xfrm>
            <a:off x="4955167" y="5444127"/>
            <a:ext cx="3873252" cy="530915"/>
          </a:xfrm>
          <a:prstGeom prst="rect">
            <a:avLst/>
          </a:prstGeom>
          <a:noFill/>
        </p:spPr>
        <p:txBody>
          <a:bodyPr wrap="square" rtlCol="0">
            <a:spAutoFit/>
          </a:bodyPr>
          <a:lstStyle/>
          <a:p>
            <a:r>
              <a:rPr lang="en-US" sz="900" dirty="0">
                <a:solidFill>
                  <a:schemeClr val="bg1">
                    <a:lumMod val="50000"/>
                  </a:schemeClr>
                </a:solidFill>
              </a:rPr>
              <a:t>Source: https://seekingalpha.com/article/4593012-the-softer-side-of-artificial-intelligence</a:t>
            </a:r>
          </a:p>
          <a:p>
            <a:endParaRPr lang="en-US" sz="1050" dirty="0"/>
          </a:p>
        </p:txBody>
      </p:sp>
    </p:spTree>
    <p:extLst>
      <p:ext uri="{BB962C8B-B14F-4D97-AF65-F5344CB8AC3E}">
        <p14:creationId xmlns:p14="http://schemas.microsoft.com/office/powerpoint/2010/main" val="1571377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dirty="0" err="1" smtClean="0">
                <a:latin typeface="Arial" charset="0"/>
                <a:cs typeface="Arial" charset="0"/>
              </a:rPr>
              <a:t>Fundamentals</a:t>
            </a:r>
            <a:r>
              <a:rPr lang="de-DE" dirty="0" smtClean="0">
                <a:latin typeface="Arial" charset="0"/>
                <a:cs typeface="Arial" charset="0"/>
              </a:rPr>
              <a:t> </a:t>
            </a:r>
            <a:r>
              <a:rPr lang="de-DE" dirty="0" err="1" smtClean="0">
                <a:latin typeface="Arial" charset="0"/>
                <a:cs typeface="Arial" charset="0"/>
              </a:rPr>
              <a:t>of</a:t>
            </a:r>
            <a:r>
              <a:rPr lang="de-DE" dirty="0" smtClean="0">
                <a:latin typeface="Arial" charset="0"/>
                <a:cs typeface="Arial" charset="0"/>
              </a:rPr>
              <a:t> AI</a:t>
            </a:r>
          </a:p>
        </p:txBody>
      </p:sp>
      <p:sp>
        <p:nvSpPr>
          <p:cNvPr id="81923" name="Rectangle 3"/>
          <p:cNvSpPr>
            <a:spLocks noGrp="1"/>
          </p:cNvSpPr>
          <p:nvPr>
            <p:ph type="body" idx="1"/>
          </p:nvPr>
        </p:nvSpPr>
        <p:spPr>
          <a:xfrm>
            <a:off x="646113" y="3104740"/>
            <a:ext cx="3959795" cy="1224136"/>
          </a:xfrm>
        </p:spPr>
        <p:txBody>
          <a:bodyPr/>
          <a:lstStyle/>
          <a:p>
            <a:pPr eaLnBrk="1" hangingPunct="1"/>
            <a:r>
              <a:rPr lang="de-DE" dirty="0" err="1" smtClean="0">
                <a:solidFill>
                  <a:schemeClr val="tx1"/>
                </a:solidFill>
                <a:latin typeface="Arial" charset="0"/>
                <a:cs typeface="Arial" charset="0"/>
              </a:rPr>
              <a:t>Detect</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defects</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to</a:t>
            </a:r>
            <a:r>
              <a:rPr lang="de-DE" dirty="0" smtClean="0">
                <a:solidFill>
                  <a:schemeClr val="tx1"/>
                </a:solidFill>
                <a:latin typeface="Arial" charset="0"/>
                <a:cs typeface="Arial" charset="0"/>
              </a:rPr>
              <a:t> </a:t>
            </a:r>
            <a:r>
              <a:rPr lang="de-DE" b="1" dirty="0" err="1" smtClean="0">
                <a:solidFill>
                  <a:schemeClr val="tx1"/>
                </a:solidFill>
                <a:latin typeface="Arial" charset="0"/>
                <a:cs typeface="Arial" charset="0"/>
              </a:rPr>
              <a:t>ensure</a:t>
            </a:r>
            <a:r>
              <a:rPr lang="de-DE" b="1" dirty="0" smtClean="0">
                <a:solidFill>
                  <a:schemeClr val="tx1"/>
                </a:solidFill>
                <a:latin typeface="Arial" charset="0"/>
                <a:cs typeface="Arial" charset="0"/>
              </a:rPr>
              <a:t> </a:t>
            </a:r>
            <a:r>
              <a:rPr lang="de-DE" b="1" dirty="0" err="1" smtClean="0">
                <a:solidFill>
                  <a:schemeClr val="tx1"/>
                </a:solidFill>
                <a:latin typeface="Arial" charset="0"/>
                <a:cs typeface="Arial" charset="0"/>
              </a:rPr>
              <a:t>product</a:t>
            </a:r>
            <a:r>
              <a:rPr lang="de-DE" b="1" dirty="0" smtClean="0">
                <a:solidFill>
                  <a:schemeClr val="tx1"/>
                </a:solidFill>
                <a:latin typeface="Arial" charset="0"/>
                <a:cs typeface="Arial" charset="0"/>
              </a:rPr>
              <a:t> </a:t>
            </a:r>
            <a:r>
              <a:rPr lang="de-DE" b="1" dirty="0" err="1" smtClean="0">
                <a:solidFill>
                  <a:schemeClr val="tx1"/>
                </a:solidFill>
                <a:latin typeface="Arial" charset="0"/>
                <a:cs typeface="Arial" charset="0"/>
              </a:rPr>
              <a:t>quality</a:t>
            </a:r>
            <a:r>
              <a:rPr lang="de-DE" dirty="0" smtClean="0">
                <a:solidFill>
                  <a:schemeClr val="tx1"/>
                </a:solidFill>
                <a:latin typeface="Arial" charset="0"/>
                <a:cs typeface="Arial" charset="0"/>
              </a:rPr>
              <a:t> </a:t>
            </a:r>
          </a:p>
          <a:p>
            <a:pPr eaLnBrk="1" hangingPunct="1"/>
            <a:r>
              <a:rPr lang="de-DE" b="1" dirty="0" err="1" smtClean="0">
                <a:latin typeface="Arial" charset="0"/>
                <a:cs typeface="Arial" charset="0"/>
              </a:rPr>
              <a:t>automate</a:t>
            </a:r>
            <a:r>
              <a:rPr lang="de-DE" dirty="0" smtClean="0">
                <a:latin typeface="Arial" charset="0"/>
                <a:cs typeface="Arial" charset="0"/>
              </a:rPr>
              <a:t> </a:t>
            </a:r>
            <a:r>
              <a:rPr lang="de-DE" dirty="0" err="1" smtClean="0">
                <a:latin typeface="Arial" charset="0"/>
                <a:cs typeface="Arial" charset="0"/>
              </a:rPr>
              <a:t>the</a:t>
            </a:r>
            <a:r>
              <a:rPr lang="de-DE" dirty="0" smtClean="0">
                <a:latin typeface="Arial" charset="0"/>
                <a:cs typeface="Arial" charset="0"/>
              </a:rPr>
              <a:t> </a:t>
            </a:r>
            <a:r>
              <a:rPr lang="de-DE" dirty="0" err="1" smtClean="0">
                <a:latin typeface="Arial" charset="0"/>
                <a:cs typeface="Arial" charset="0"/>
              </a:rPr>
              <a:t>inspection</a:t>
            </a:r>
            <a:r>
              <a:rPr lang="de-DE" dirty="0" smtClean="0">
                <a:latin typeface="Arial" charset="0"/>
                <a:cs typeface="Arial" charset="0"/>
              </a:rPr>
              <a:t> </a:t>
            </a:r>
            <a:r>
              <a:rPr lang="de-DE" dirty="0" err="1" smtClean="0">
                <a:latin typeface="Arial" charset="0"/>
                <a:cs typeface="Arial" charset="0"/>
              </a:rPr>
              <a:t>process</a:t>
            </a:r>
            <a:r>
              <a:rPr lang="de-DE" dirty="0" smtClean="0">
                <a:latin typeface="Arial" charset="0"/>
                <a:cs typeface="Arial" charset="0"/>
              </a:rPr>
              <a:t> </a:t>
            </a:r>
            <a:r>
              <a:rPr lang="de-DE" dirty="0" err="1" smtClean="0">
                <a:latin typeface="Arial" charset="0"/>
                <a:cs typeface="Arial" charset="0"/>
              </a:rPr>
              <a:t>and</a:t>
            </a:r>
            <a:r>
              <a:rPr lang="de-DE" dirty="0" smtClean="0">
                <a:latin typeface="Arial" charset="0"/>
                <a:cs typeface="Arial" charset="0"/>
              </a:rPr>
              <a:t> </a:t>
            </a:r>
            <a:r>
              <a:rPr lang="de-DE" b="1" dirty="0" err="1" smtClean="0">
                <a:latin typeface="Arial" charset="0"/>
                <a:cs typeface="Arial" charset="0"/>
              </a:rPr>
              <a:t>improve</a:t>
            </a:r>
            <a:r>
              <a:rPr lang="de-DE" b="1" dirty="0" smtClean="0">
                <a:latin typeface="Arial" charset="0"/>
                <a:cs typeface="Arial" charset="0"/>
              </a:rPr>
              <a:t> </a:t>
            </a:r>
            <a:r>
              <a:rPr lang="de-DE" b="1" dirty="0" err="1" smtClean="0">
                <a:latin typeface="Arial" charset="0"/>
                <a:cs typeface="Arial" charset="0"/>
              </a:rPr>
              <a:t>accuracy</a:t>
            </a:r>
            <a:endParaRPr lang="de-DE" b="1" dirty="0" smtClean="0">
              <a:solidFill>
                <a:schemeClr val="tx1"/>
              </a:solidFill>
              <a:latin typeface="Arial" charset="0"/>
              <a:cs typeface="Arial" charset="0"/>
            </a:endParaRPr>
          </a:p>
          <a:p>
            <a:pPr marL="0" indent="0" eaLnBrk="1" hangingPunct="1">
              <a:buNone/>
            </a:pPr>
            <a:endParaRPr lang="de-DE" dirty="0" smtClean="0">
              <a:solidFill>
                <a:schemeClr val="tx1"/>
              </a:solidFill>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Why</a:t>
            </a:r>
            <a:r>
              <a:rPr lang="de-DE" b="1" dirty="0" smtClean="0">
                <a:cs typeface="Arial" charset="0"/>
              </a:rPr>
              <a:t> do </a:t>
            </a:r>
            <a:r>
              <a:rPr lang="de-DE" b="1" dirty="0" err="1" smtClean="0">
                <a:cs typeface="Arial" charset="0"/>
              </a:rPr>
              <a:t>we</a:t>
            </a:r>
            <a:r>
              <a:rPr lang="de-DE" b="1" dirty="0" smtClean="0">
                <a:cs typeface="Arial" charset="0"/>
              </a:rPr>
              <a:t> </a:t>
            </a:r>
            <a:r>
              <a:rPr lang="de-DE" b="1" dirty="0" err="1" smtClean="0">
                <a:cs typeface="Arial" charset="0"/>
              </a:rPr>
              <a:t>need</a:t>
            </a:r>
            <a:r>
              <a:rPr lang="de-DE" b="1" dirty="0" smtClean="0">
                <a:cs typeface="Arial" charset="0"/>
              </a:rPr>
              <a:t> AI?</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4</a:t>
            </a:fld>
            <a:endParaRPr lang="de-DE" dirty="0"/>
          </a:p>
        </p:txBody>
      </p:sp>
      <p:pic>
        <p:nvPicPr>
          <p:cNvPr id="1030" name="Picture 6" descr="Free Check Thumbs Up photo and pi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2717" y="2085618"/>
            <a:ext cx="3262380" cy="326238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dirty="0" err="1" smtClean="0">
                <a:latin typeface="Arial" charset="0"/>
                <a:cs typeface="Arial" charset="0"/>
              </a:rPr>
              <a:t>Fundamentals</a:t>
            </a:r>
            <a:r>
              <a:rPr lang="de-DE" dirty="0" smtClean="0">
                <a:latin typeface="Arial" charset="0"/>
                <a:cs typeface="Arial" charset="0"/>
              </a:rPr>
              <a:t> </a:t>
            </a:r>
            <a:r>
              <a:rPr lang="de-DE" dirty="0" err="1" smtClean="0">
                <a:latin typeface="Arial" charset="0"/>
                <a:cs typeface="Arial" charset="0"/>
              </a:rPr>
              <a:t>of</a:t>
            </a:r>
            <a:r>
              <a:rPr lang="de-DE" dirty="0" smtClean="0">
                <a:latin typeface="Arial" charset="0"/>
                <a:cs typeface="Arial" charset="0"/>
              </a:rPr>
              <a:t> AI</a:t>
            </a:r>
          </a:p>
        </p:txBody>
      </p:sp>
      <p:sp>
        <p:nvSpPr>
          <p:cNvPr id="81923" name="Rectangle 3"/>
          <p:cNvSpPr>
            <a:spLocks noGrp="1"/>
          </p:cNvSpPr>
          <p:nvPr>
            <p:ph type="body" idx="1"/>
          </p:nvPr>
        </p:nvSpPr>
        <p:spPr>
          <a:xfrm>
            <a:off x="827584" y="3257612"/>
            <a:ext cx="4103811" cy="1765070"/>
          </a:xfrm>
        </p:spPr>
        <p:txBody>
          <a:bodyPr/>
          <a:lstStyle/>
          <a:p>
            <a:pPr eaLnBrk="1" hangingPunct="1"/>
            <a:r>
              <a:rPr lang="de-DE" dirty="0" smtClean="0">
                <a:latin typeface="Arial" charset="0"/>
                <a:cs typeface="Arial" charset="0"/>
              </a:rPr>
              <a:t>Natural Language Processing (Alexa, Siri)</a:t>
            </a:r>
          </a:p>
          <a:p>
            <a:pPr eaLnBrk="1" hangingPunct="1"/>
            <a:r>
              <a:rPr lang="de-DE" dirty="0" err="1" smtClean="0">
                <a:latin typeface="Arial" charset="0"/>
                <a:cs typeface="Arial" charset="0"/>
              </a:rPr>
              <a:t>Robotics</a:t>
            </a:r>
            <a:r>
              <a:rPr lang="de-DE" dirty="0" smtClean="0">
                <a:latin typeface="Arial" charset="0"/>
                <a:cs typeface="Arial" charset="0"/>
              </a:rPr>
              <a:t> (</a:t>
            </a:r>
            <a:r>
              <a:rPr lang="de-DE" dirty="0" err="1" smtClean="0">
                <a:latin typeface="Arial" charset="0"/>
                <a:cs typeface="Arial" charset="0"/>
              </a:rPr>
              <a:t>Cleaning</a:t>
            </a:r>
            <a:r>
              <a:rPr lang="de-DE" dirty="0" smtClean="0">
                <a:latin typeface="Arial" charset="0"/>
                <a:cs typeface="Arial" charset="0"/>
              </a:rPr>
              <a:t> Robot)</a:t>
            </a:r>
          </a:p>
          <a:p>
            <a:pPr eaLnBrk="1" hangingPunct="1"/>
            <a:r>
              <a:rPr lang="de-DE" b="1" dirty="0" smtClean="0">
                <a:latin typeface="Arial" charset="0"/>
                <a:cs typeface="Arial" charset="0"/>
              </a:rPr>
              <a:t>Computer Vision </a:t>
            </a:r>
            <a:r>
              <a:rPr lang="de-DE" dirty="0" smtClean="0">
                <a:latin typeface="Arial" charset="0"/>
                <a:cs typeface="Arial" charset="0"/>
              </a:rPr>
              <a:t>(Face-</a:t>
            </a:r>
            <a:r>
              <a:rPr lang="de-DE" dirty="0" err="1" smtClean="0">
                <a:latin typeface="Arial" charset="0"/>
                <a:cs typeface="Arial" charset="0"/>
              </a:rPr>
              <a:t>recognition</a:t>
            </a:r>
            <a:r>
              <a:rPr lang="de-DE" dirty="0" smtClean="0">
                <a:latin typeface="Arial" charset="0"/>
                <a:cs typeface="Arial" charset="0"/>
              </a:rPr>
              <a:t>, </a:t>
            </a:r>
            <a:r>
              <a:rPr lang="de-DE" b="1" dirty="0" err="1" smtClean="0">
                <a:latin typeface="Arial" charset="0"/>
                <a:cs typeface="Arial" charset="0"/>
              </a:rPr>
              <a:t>defect</a:t>
            </a:r>
            <a:r>
              <a:rPr lang="de-DE" b="1" dirty="0" smtClean="0">
                <a:latin typeface="Arial" charset="0"/>
                <a:cs typeface="Arial" charset="0"/>
              </a:rPr>
              <a:t> </a:t>
            </a:r>
            <a:r>
              <a:rPr lang="de-DE" b="1" dirty="0" err="1" smtClean="0">
                <a:latin typeface="Arial" charset="0"/>
                <a:cs typeface="Arial" charset="0"/>
              </a:rPr>
              <a:t>pattern</a:t>
            </a:r>
            <a:r>
              <a:rPr lang="de-DE" b="1" dirty="0" smtClean="0">
                <a:latin typeface="Arial" charset="0"/>
                <a:cs typeface="Arial" charset="0"/>
              </a:rPr>
              <a:t> </a:t>
            </a:r>
            <a:r>
              <a:rPr lang="de-DE" b="1" dirty="0" err="1" smtClean="0">
                <a:latin typeface="Arial" charset="0"/>
                <a:cs typeface="Arial" charset="0"/>
              </a:rPr>
              <a:t>recognition</a:t>
            </a:r>
            <a:r>
              <a:rPr lang="de-DE" dirty="0" smtClean="0">
                <a:latin typeface="Arial" charset="0"/>
                <a:cs typeface="Arial" charset="0"/>
              </a:rPr>
              <a:t>)</a:t>
            </a:r>
          </a:p>
          <a:p>
            <a:pPr eaLnBrk="1" hangingPunct="1"/>
            <a:r>
              <a:rPr lang="de-DE" dirty="0" smtClean="0">
                <a:latin typeface="Arial" charset="0"/>
                <a:cs typeface="Arial" charset="0"/>
              </a:rPr>
              <a:t>…</a:t>
            </a:r>
          </a:p>
          <a:p>
            <a:pPr marL="0" indent="0" eaLnBrk="1" hangingPunct="1">
              <a:buNone/>
            </a:pPr>
            <a:endParaRPr lang="de-DE" dirty="0" smtClean="0">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What</a:t>
            </a:r>
            <a:r>
              <a:rPr lang="de-DE" b="1" dirty="0" smtClean="0">
                <a:cs typeface="Arial" charset="0"/>
              </a:rPr>
              <a:t> </a:t>
            </a:r>
            <a:r>
              <a:rPr lang="de-DE" b="1" dirty="0" err="1" smtClean="0">
                <a:cs typeface="Arial" charset="0"/>
              </a:rPr>
              <a:t>kinds</a:t>
            </a:r>
            <a:r>
              <a:rPr lang="de-DE" b="1" dirty="0" smtClean="0">
                <a:cs typeface="Arial" charset="0"/>
              </a:rPr>
              <a:t> </a:t>
            </a:r>
            <a:r>
              <a:rPr lang="de-DE" b="1" dirty="0" err="1" smtClean="0">
                <a:cs typeface="Arial" charset="0"/>
              </a:rPr>
              <a:t>of</a:t>
            </a:r>
            <a:r>
              <a:rPr lang="de-DE" b="1" dirty="0" smtClean="0">
                <a:cs typeface="Arial" charset="0"/>
              </a:rPr>
              <a:t> AI </a:t>
            </a:r>
            <a:r>
              <a:rPr lang="de-DE" b="1" dirty="0" err="1" smtClean="0">
                <a:cs typeface="Arial" charset="0"/>
              </a:rPr>
              <a:t>are</a:t>
            </a:r>
            <a:r>
              <a:rPr lang="de-DE" b="1" dirty="0" smtClean="0">
                <a:cs typeface="Arial" charset="0"/>
              </a:rPr>
              <a:t> </a:t>
            </a:r>
            <a:r>
              <a:rPr lang="de-DE" b="1" dirty="0" err="1" smtClean="0">
                <a:cs typeface="Arial" charset="0"/>
              </a:rPr>
              <a:t>there</a:t>
            </a:r>
            <a:r>
              <a:rPr lang="de-DE" b="1" dirty="0" smtClean="0">
                <a:cs typeface="Arial" charset="0"/>
              </a:rPr>
              <a:t>?</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5</a:t>
            </a:fld>
            <a:endParaRPr lang="de-DE" dirty="0"/>
          </a:p>
        </p:txBody>
      </p:sp>
      <p:pic>
        <p:nvPicPr>
          <p:cNvPr id="1026" name="Picture 2" descr="Free vector graphics of Speech ic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2159" y="1412875"/>
            <a:ext cx="1942270" cy="1942271"/>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ree White and Orange Plastic Container Stock Phot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18297" y="4149080"/>
            <a:ext cx="2329993" cy="1747205"/>
          </a:xfrm>
          <a:prstGeom prst="rect">
            <a:avLst/>
          </a:prstGeom>
          <a:noFill/>
          <a:extLst>
            <a:ext uri="{909E8E84-426E-40DD-AFC4-6F175D3DCCD1}">
              <a14:hiddenFill xmlns:a14="http://schemas.microsoft.com/office/drawing/2010/main">
                <a:solidFill>
                  <a:srgbClr val="FFFFFF"/>
                </a:solidFill>
              </a14:hiddenFill>
            </a:ext>
          </a:extLst>
        </p:spPr>
      </p:pic>
      <p:sp>
        <p:nvSpPr>
          <p:cNvPr id="4" name="Textfeld 3"/>
          <p:cNvSpPr txBox="1"/>
          <p:nvPr/>
        </p:nvSpPr>
        <p:spPr>
          <a:xfrm>
            <a:off x="6012159" y="3429000"/>
            <a:ext cx="2136131" cy="261610"/>
          </a:xfrm>
          <a:prstGeom prst="rect">
            <a:avLst/>
          </a:prstGeom>
          <a:noFill/>
        </p:spPr>
        <p:txBody>
          <a:bodyPr wrap="square" rtlCol="0">
            <a:spAutoFit/>
          </a:bodyPr>
          <a:lstStyle/>
          <a:p>
            <a:r>
              <a:rPr lang="en-US" sz="1100" dirty="0" smtClean="0"/>
              <a:t>Natural Language Processing</a:t>
            </a:r>
            <a:endParaRPr lang="en-US" sz="1100" dirty="0"/>
          </a:p>
        </p:txBody>
      </p:sp>
      <p:sp>
        <p:nvSpPr>
          <p:cNvPr id="5" name="Textfeld 4"/>
          <p:cNvSpPr txBox="1"/>
          <p:nvPr/>
        </p:nvSpPr>
        <p:spPr>
          <a:xfrm>
            <a:off x="6684180" y="5949280"/>
            <a:ext cx="792088" cy="261610"/>
          </a:xfrm>
          <a:prstGeom prst="rect">
            <a:avLst/>
          </a:prstGeom>
          <a:noFill/>
        </p:spPr>
        <p:txBody>
          <a:bodyPr wrap="square" rtlCol="0">
            <a:spAutoFit/>
          </a:bodyPr>
          <a:lstStyle/>
          <a:p>
            <a:r>
              <a:rPr lang="en-US" sz="1100" dirty="0" smtClean="0"/>
              <a:t>Robotics</a:t>
            </a:r>
            <a:endParaRPr lang="en-US" sz="1100" dirty="0"/>
          </a:p>
        </p:txBody>
      </p:sp>
    </p:spTree>
    <p:extLst>
      <p:ext uri="{BB962C8B-B14F-4D97-AF65-F5344CB8AC3E}">
        <p14:creationId xmlns:p14="http://schemas.microsoft.com/office/powerpoint/2010/main" val="152682196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dirty="0" err="1" smtClean="0">
                <a:latin typeface="Arial" charset="0"/>
                <a:cs typeface="Arial" charset="0"/>
              </a:rPr>
              <a:t>Fundamentals</a:t>
            </a:r>
            <a:r>
              <a:rPr lang="de-DE" dirty="0" smtClean="0">
                <a:latin typeface="Arial" charset="0"/>
                <a:cs typeface="Arial" charset="0"/>
              </a:rPr>
              <a:t> </a:t>
            </a:r>
            <a:r>
              <a:rPr lang="de-DE" dirty="0" err="1" smtClean="0">
                <a:latin typeface="Arial" charset="0"/>
                <a:cs typeface="Arial" charset="0"/>
              </a:rPr>
              <a:t>of</a:t>
            </a:r>
            <a:r>
              <a:rPr lang="de-DE" dirty="0" smtClean="0">
                <a:latin typeface="Arial" charset="0"/>
                <a:cs typeface="Arial" charset="0"/>
              </a:rPr>
              <a:t> AI</a:t>
            </a:r>
          </a:p>
        </p:txBody>
      </p:sp>
      <p:sp>
        <p:nvSpPr>
          <p:cNvPr id="81923" name="Rectangle 3"/>
          <p:cNvSpPr>
            <a:spLocks noGrp="1"/>
          </p:cNvSpPr>
          <p:nvPr>
            <p:ph type="body" idx="1"/>
          </p:nvPr>
        </p:nvSpPr>
        <p:spPr>
          <a:xfrm>
            <a:off x="899593" y="3213112"/>
            <a:ext cx="3816424" cy="1872072"/>
          </a:xfrm>
        </p:spPr>
        <p:txBody>
          <a:bodyPr/>
          <a:lstStyle/>
          <a:p>
            <a:pPr eaLnBrk="1" hangingPunct="1"/>
            <a:r>
              <a:rPr lang="de-DE" dirty="0" smtClean="0">
                <a:solidFill>
                  <a:schemeClr val="tx1"/>
                </a:solidFill>
                <a:latin typeface="Arial" charset="0"/>
                <a:cs typeface="Arial" charset="0"/>
              </a:rPr>
              <a:t>AI </a:t>
            </a:r>
            <a:r>
              <a:rPr lang="de-DE" dirty="0" err="1" smtClean="0">
                <a:solidFill>
                  <a:schemeClr val="tx1"/>
                </a:solidFill>
                <a:latin typeface="Arial" charset="0"/>
                <a:cs typeface="Arial" charset="0"/>
              </a:rPr>
              <a:t>learns</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from</a:t>
            </a:r>
            <a:r>
              <a:rPr lang="de-DE" dirty="0" smtClean="0">
                <a:solidFill>
                  <a:schemeClr val="tx1"/>
                </a:solidFill>
                <a:latin typeface="Arial" charset="0"/>
                <a:cs typeface="Arial" charset="0"/>
              </a:rPr>
              <a:t> </a:t>
            </a:r>
            <a:r>
              <a:rPr lang="de-DE" dirty="0" smtClean="0">
                <a:latin typeface="Arial" charset="0"/>
                <a:cs typeface="Arial" charset="0"/>
              </a:rPr>
              <a:t>(high </a:t>
            </a:r>
            <a:r>
              <a:rPr lang="de-DE" dirty="0" err="1" smtClean="0">
                <a:latin typeface="Arial" charset="0"/>
                <a:cs typeface="Arial" charset="0"/>
              </a:rPr>
              <a:t>quality</a:t>
            </a:r>
            <a:r>
              <a:rPr lang="de-DE" dirty="0" smtClean="0">
                <a:latin typeface="Arial" charset="0"/>
                <a:cs typeface="Arial" charset="0"/>
              </a:rPr>
              <a:t>) </a:t>
            </a:r>
            <a:r>
              <a:rPr lang="de-DE" b="1" dirty="0" err="1" smtClean="0">
                <a:solidFill>
                  <a:schemeClr val="tx1"/>
                </a:solidFill>
                <a:latin typeface="Arial" charset="0"/>
                <a:cs typeface="Arial" charset="0"/>
              </a:rPr>
              <a:t>data</a:t>
            </a:r>
            <a:endParaRPr lang="de-DE" dirty="0">
              <a:latin typeface="Arial" charset="0"/>
              <a:cs typeface="Arial" charset="0"/>
            </a:endParaRPr>
          </a:p>
          <a:p>
            <a:pPr eaLnBrk="1" hangingPunct="1"/>
            <a:r>
              <a:rPr lang="de-DE" dirty="0" smtClean="0">
                <a:latin typeface="Arial" charset="0"/>
                <a:cs typeface="Arial" charset="0"/>
              </a:rPr>
              <a:t>The „</a:t>
            </a:r>
            <a:r>
              <a:rPr lang="de-DE" dirty="0" err="1">
                <a:latin typeface="Arial" charset="0"/>
                <a:cs typeface="Arial" charset="0"/>
              </a:rPr>
              <a:t>d</a:t>
            </a:r>
            <a:r>
              <a:rPr lang="de-DE" dirty="0" err="1" smtClean="0">
                <a:latin typeface="Arial" charset="0"/>
                <a:cs typeface="Arial" charset="0"/>
              </a:rPr>
              <a:t>ata</a:t>
            </a:r>
            <a:r>
              <a:rPr lang="de-DE" dirty="0" smtClean="0">
                <a:latin typeface="Arial" charset="0"/>
                <a:cs typeface="Arial" charset="0"/>
              </a:rPr>
              <a:t>“ </a:t>
            </a:r>
            <a:r>
              <a:rPr lang="de-DE" dirty="0" err="1" smtClean="0">
                <a:latin typeface="Arial" charset="0"/>
                <a:cs typeface="Arial" charset="0"/>
              </a:rPr>
              <a:t>it</a:t>
            </a:r>
            <a:r>
              <a:rPr lang="de-DE" dirty="0" smtClean="0">
                <a:latin typeface="Arial" charset="0"/>
                <a:cs typeface="Arial" charset="0"/>
              </a:rPr>
              <a:t> </a:t>
            </a:r>
            <a:r>
              <a:rPr lang="de-DE" dirty="0" err="1" smtClean="0">
                <a:latin typeface="Arial" charset="0"/>
                <a:cs typeface="Arial" charset="0"/>
              </a:rPr>
              <a:t>learns</a:t>
            </a:r>
            <a:r>
              <a:rPr lang="de-DE" dirty="0" smtClean="0">
                <a:latin typeface="Arial" charset="0"/>
                <a:cs typeface="Arial" charset="0"/>
              </a:rPr>
              <a:t> </a:t>
            </a:r>
            <a:r>
              <a:rPr lang="de-DE" dirty="0" err="1" smtClean="0">
                <a:latin typeface="Arial" charset="0"/>
                <a:cs typeface="Arial" charset="0"/>
              </a:rPr>
              <a:t>from</a:t>
            </a:r>
            <a:r>
              <a:rPr lang="de-DE" dirty="0" smtClean="0">
                <a:latin typeface="Arial" charset="0"/>
                <a:cs typeface="Arial" charset="0"/>
              </a:rPr>
              <a:t>, in </a:t>
            </a:r>
            <a:r>
              <a:rPr lang="de-DE" dirty="0" err="1" smtClean="0">
                <a:latin typeface="Arial" charset="0"/>
                <a:cs typeface="Arial" charset="0"/>
              </a:rPr>
              <a:t>our</a:t>
            </a:r>
            <a:r>
              <a:rPr lang="de-DE" dirty="0" smtClean="0">
                <a:latin typeface="Arial" charset="0"/>
                <a:cs typeface="Arial" charset="0"/>
              </a:rPr>
              <a:t> </a:t>
            </a:r>
            <a:r>
              <a:rPr lang="de-DE" dirty="0" err="1" smtClean="0">
                <a:latin typeface="Arial" charset="0"/>
                <a:cs typeface="Arial" charset="0"/>
              </a:rPr>
              <a:t>case</a:t>
            </a:r>
            <a:r>
              <a:rPr lang="de-DE" dirty="0" smtClean="0">
                <a:latin typeface="Arial" charset="0"/>
                <a:cs typeface="Arial" charset="0"/>
              </a:rPr>
              <a:t>, </a:t>
            </a:r>
            <a:r>
              <a:rPr lang="de-DE" dirty="0" err="1" smtClean="0">
                <a:latin typeface="Arial" charset="0"/>
                <a:cs typeface="Arial" charset="0"/>
              </a:rPr>
              <a:t>are</a:t>
            </a:r>
            <a:r>
              <a:rPr lang="de-DE" dirty="0" smtClean="0">
                <a:latin typeface="Arial" charset="0"/>
                <a:cs typeface="Arial" charset="0"/>
              </a:rPr>
              <a:t> </a:t>
            </a:r>
            <a:r>
              <a:rPr lang="de-DE" b="1" dirty="0" err="1" smtClean="0">
                <a:latin typeface="Arial" charset="0"/>
                <a:cs typeface="Arial" charset="0"/>
              </a:rPr>
              <a:t>product</a:t>
            </a:r>
            <a:r>
              <a:rPr lang="de-DE" dirty="0" smtClean="0">
                <a:latin typeface="Arial" charset="0"/>
                <a:cs typeface="Arial" charset="0"/>
              </a:rPr>
              <a:t> </a:t>
            </a:r>
            <a:r>
              <a:rPr lang="de-DE" b="1" dirty="0" err="1" smtClean="0">
                <a:latin typeface="Arial" charset="0"/>
                <a:cs typeface="Arial" charset="0"/>
              </a:rPr>
              <a:t>pictures</a:t>
            </a:r>
            <a:r>
              <a:rPr lang="de-DE" dirty="0" smtClean="0">
                <a:latin typeface="Arial" charset="0"/>
                <a:cs typeface="Arial" charset="0"/>
              </a:rPr>
              <a:t>. </a:t>
            </a:r>
          </a:p>
          <a:p>
            <a:pPr eaLnBrk="1" hangingPunct="1"/>
            <a:r>
              <a:rPr lang="de-DE" dirty="0" smtClean="0">
                <a:latin typeface="Arial" charset="0"/>
                <a:cs typeface="Arial" charset="0"/>
              </a:rPr>
              <a:t>The </a:t>
            </a:r>
            <a:r>
              <a:rPr lang="de-DE" dirty="0" err="1" smtClean="0">
                <a:latin typeface="Arial" charset="0"/>
                <a:cs typeface="Arial" charset="0"/>
              </a:rPr>
              <a:t>method</a:t>
            </a:r>
            <a:r>
              <a:rPr lang="de-DE" dirty="0" smtClean="0">
                <a:latin typeface="Arial" charset="0"/>
                <a:cs typeface="Arial" charset="0"/>
              </a:rPr>
              <a:t> </a:t>
            </a:r>
            <a:r>
              <a:rPr lang="de-DE" dirty="0" err="1" smtClean="0">
                <a:latin typeface="Arial" charset="0"/>
                <a:cs typeface="Arial" charset="0"/>
              </a:rPr>
              <a:t>we</a:t>
            </a:r>
            <a:r>
              <a:rPr lang="de-DE" dirty="0" smtClean="0">
                <a:latin typeface="Arial" charset="0"/>
                <a:cs typeface="Arial" charset="0"/>
              </a:rPr>
              <a:t> </a:t>
            </a:r>
            <a:r>
              <a:rPr lang="de-DE" dirty="0" err="1" smtClean="0">
                <a:latin typeface="Arial" charset="0"/>
                <a:cs typeface="Arial" charset="0"/>
              </a:rPr>
              <a:t>used</a:t>
            </a:r>
            <a:r>
              <a:rPr lang="de-DE" dirty="0" smtClean="0">
                <a:latin typeface="Arial" charset="0"/>
                <a:cs typeface="Arial" charset="0"/>
              </a:rPr>
              <a:t> </a:t>
            </a:r>
            <a:r>
              <a:rPr lang="de-DE" dirty="0" err="1" smtClean="0">
                <a:latin typeface="Arial" charset="0"/>
                <a:cs typeface="Arial" charset="0"/>
              </a:rPr>
              <a:t>is</a:t>
            </a:r>
            <a:r>
              <a:rPr lang="de-DE" dirty="0" smtClean="0">
                <a:latin typeface="Arial" charset="0"/>
                <a:cs typeface="Arial" charset="0"/>
              </a:rPr>
              <a:t> so </a:t>
            </a:r>
            <a:r>
              <a:rPr lang="de-DE" dirty="0" err="1" smtClean="0">
                <a:latin typeface="Arial" charset="0"/>
                <a:cs typeface="Arial" charset="0"/>
              </a:rPr>
              <a:t>called</a:t>
            </a:r>
            <a:r>
              <a:rPr lang="de-DE" dirty="0" smtClean="0">
                <a:latin typeface="Arial" charset="0"/>
                <a:cs typeface="Arial" charset="0"/>
              </a:rPr>
              <a:t> „</a:t>
            </a:r>
            <a:r>
              <a:rPr lang="de-DE" b="1" dirty="0" err="1" smtClean="0">
                <a:latin typeface="Arial" charset="0"/>
                <a:cs typeface="Arial" charset="0"/>
              </a:rPr>
              <a:t>Supervised</a:t>
            </a:r>
            <a:r>
              <a:rPr lang="de-DE" b="1" dirty="0" smtClean="0">
                <a:latin typeface="Arial" charset="0"/>
                <a:cs typeface="Arial" charset="0"/>
              </a:rPr>
              <a:t> Learning</a:t>
            </a:r>
            <a:r>
              <a:rPr lang="de-DE" dirty="0" smtClean="0">
                <a:latin typeface="Arial" charset="0"/>
                <a:cs typeface="Arial" charset="0"/>
              </a:rPr>
              <a:t>“</a:t>
            </a:r>
          </a:p>
          <a:p>
            <a:pPr eaLnBrk="1" hangingPunct="1"/>
            <a:r>
              <a:rPr lang="de-DE" dirty="0" smtClean="0">
                <a:latin typeface="Arial" charset="0"/>
                <a:cs typeface="Arial" charset="0"/>
              </a:rPr>
              <a:t>Training </a:t>
            </a:r>
            <a:r>
              <a:rPr lang="de-DE" dirty="0" err="1" smtClean="0">
                <a:latin typeface="Arial" charset="0"/>
                <a:cs typeface="Arial" charset="0"/>
              </a:rPr>
              <a:t>with</a:t>
            </a:r>
            <a:r>
              <a:rPr lang="de-DE" dirty="0" smtClean="0">
                <a:latin typeface="Arial" charset="0"/>
                <a:cs typeface="Arial" charset="0"/>
              </a:rPr>
              <a:t> </a:t>
            </a:r>
            <a:r>
              <a:rPr lang="de-DE" b="1" dirty="0" err="1" smtClean="0">
                <a:latin typeface="Arial" charset="0"/>
                <a:cs typeface="Arial" charset="0"/>
              </a:rPr>
              <a:t>labeled</a:t>
            </a:r>
            <a:r>
              <a:rPr lang="de-DE" b="1" dirty="0" smtClean="0">
                <a:latin typeface="Arial" charset="0"/>
                <a:cs typeface="Arial" charset="0"/>
              </a:rPr>
              <a:t> </a:t>
            </a:r>
            <a:r>
              <a:rPr lang="de-DE" b="1" dirty="0" err="1" smtClean="0">
                <a:latin typeface="Arial" charset="0"/>
                <a:cs typeface="Arial" charset="0"/>
              </a:rPr>
              <a:t>data</a:t>
            </a:r>
            <a:endParaRPr lang="de-DE" b="1" dirty="0" smtClean="0">
              <a:latin typeface="Arial" charset="0"/>
              <a:cs typeface="Arial" charset="0"/>
            </a:endParaRPr>
          </a:p>
          <a:p>
            <a:pPr marL="0" indent="0" eaLnBrk="1" hangingPunct="1">
              <a:buNone/>
            </a:pPr>
            <a:endParaRPr lang="de-DE" dirty="0" smtClean="0">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r>
              <a:rPr lang="de-DE" b="1" dirty="0" err="1" smtClean="0">
                <a:cs typeface="Arial" charset="0"/>
              </a:rPr>
              <a:t>How</a:t>
            </a:r>
            <a:r>
              <a:rPr lang="de-DE" b="1" dirty="0" smtClean="0">
                <a:cs typeface="Arial" charset="0"/>
              </a:rPr>
              <a:t> </a:t>
            </a:r>
            <a:r>
              <a:rPr lang="de-DE" b="1" dirty="0" err="1" smtClean="0">
                <a:cs typeface="Arial" charset="0"/>
              </a:rPr>
              <a:t>does</a:t>
            </a:r>
            <a:r>
              <a:rPr lang="de-DE" b="1" dirty="0" smtClean="0">
                <a:cs typeface="Arial" charset="0"/>
              </a:rPr>
              <a:t> AI </a:t>
            </a:r>
            <a:r>
              <a:rPr lang="de-DE" b="1" dirty="0" err="1" smtClean="0">
                <a:cs typeface="Arial" charset="0"/>
              </a:rPr>
              <a:t>learn</a:t>
            </a:r>
            <a:r>
              <a:rPr lang="de-DE" b="1" dirty="0" smtClean="0">
                <a:cs typeface="Arial" charset="0"/>
              </a:rPr>
              <a:t>?</a:t>
            </a: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6</a:t>
            </a:fld>
            <a:endParaRPr lang="de-DE" dirty="0"/>
          </a:p>
        </p:txBody>
      </p:sp>
      <p:grpSp>
        <p:nvGrpSpPr>
          <p:cNvPr id="4" name="Gruppieren 3"/>
          <p:cNvGrpSpPr/>
          <p:nvPr/>
        </p:nvGrpSpPr>
        <p:grpSpPr>
          <a:xfrm>
            <a:off x="4714938" y="1989138"/>
            <a:ext cx="4060862" cy="3650538"/>
            <a:chOff x="4788024" y="2171909"/>
            <a:chExt cx="4060862" cy="3650538"/>
          </a:xfrm>
        </p:grpSpPr>
        <p:pic>
          <p:nvPicPr>
            <p:cNvPr id="3074" name="Picture 2" descr="Free Brain Gears illustration and pictur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88024" y="3192273"/>
              <a:ext cx="3945260" cy="2630174"/>
            </a:xfrm>
            <a:prstGeom prst="rect">
              <a:avLst/>
            </a:prstGeom>
            <a:noFill/>
            <a:extLst>
              <a:ext uri="{909E8E84-426E-40DD-AFC4-6F175D3DCCD1}">
                <a14:hiddenFill xmlns:a14="http://schemas.microsoft.com/office/drawing/2010/main">
                  <a:solidFill>
                    <a:srgbClr val="FFFFFF"/>
                  </a:solidFill>
                </a14:hiddenFill>
              </a:ext>
            </a:extLst>
          </p:spPr>
        </p:pic>
        <p:sp>
          <p:nvSpPr>
            <p:cNvPr id="3" name="Wolkenförmige Legende 2"/>
            <p:cNvSpPr/>
            <p:nvPr/>
          </p:nvSpPr>
          <p:spPr>
            <a:xfrm>
              <a:off x="6760654" y="2171909"/>
              <a:ext cx="2088232" cy="1151830"/>
            </a:xfrm>
            <a:prstGeom prst="cloudCallout">
              <a:avLst/>
            </a:prstGeom>
            <a:solidFill>
              <a:schemeClr val="bg1"/>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4" descr="Free Sign Check vector and pictur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50549" y="2485492"/>
              <a:ext cx="1048020" cy="52401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7095742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dirty="0" smtClean="0">
                <a:latin typeface="Arial" charset="0"/>
                <a:cs typeface="Arial" charset="0"/>
              </a:rPr>
              <a:t>Demo</a:t>
            </a:r>
          </a:p>
        </p:txBody>
      </p:sp>
      <p:sp>
        <p:nvSpPr>
          <p:cNvPr id="81923" name="Rectangle 3"/>
          <p:cNvSpPr>
            <a:spLocks noGrp="1"/>
          </p:cNvSpPr>
          <p:nvPr>
            <p:ph type="body" idx="1"/>
          </p:nvPr>
        </p:nvSpPr>
        <p:spPr>
          <a:xfrm>
            <a:off x="755576" y="3410198"/>
            <a:ext cx="3168352" cy="450850"/>
          </a:xfrm>
        </p:spPr>
        <p:txBody>
          <a:bodyPr/>
          <a:lstStyle/>
          <a:p>
            <a:pPr eaLnBrk="1" hangingPunct="1"/>
            <a:r>
              <a:rPr lang="de-DE" b="1" dirty="0">
                <a:latin typeface="Arial" charset="0"/>
                <a:cs typeface="Arial" charset="0"/>
              </a:rPr>
              <a:t>Take </a:t>
            </a:r>
            <a:r>
              <a:rPr lang="de-DE" b="1" dirty="0" err="1">
                <a:latin typeface="Arial" charset="0"/>
                <a:cs typeface="Arial" charset="0"/>
              </a:rPr>
              <a:t>pictures</a:t>
            </a:r>
            <a:r>
              <a:rPr lang="de-DE" b="1" dirty="0">
                <a:latin typeface="Arial" charset="0"/>
                <a:cs typeface="Arial" charset="0"/>
              </a:rPr>
              <a:t> </a:t>
            </a:r>
            <a:r>
              <a:rPr lang="de-DE" dirty="0" err="1">
                <a:latin typeface="Arial" charset="0"/>
                <a:cs typeface="Arial" charset="0"/>
              </a:rPr>
              <a:t>of</a:t>
            </a:r>
            <a:r>
              <a:rPr lang="de-DE" dirty="0">
                <a:latin typeface="Arial" charset="0"/>
                <a:cs typeface="Arial" charset="0"/>
              </a:rPr>
              <a:t> </a:t>
            </a:r>
            <a:r>
              <a:rPr lang="de-DE" dirty="0" err="1">
                <a:latin typeface="Arial" charset="0"/>
                <a:cs typeface="Arial" charset="0"/>
              </a:rPr>
              <a:t>the</a:t>
            </a:r>
            <a:r>
              <a:rPr lang="de-DE" dirty="0">
                <a:latin typeface="Arial" charset="0"/>
                <a:cs typeface="Arial" charset="0"/>
              </a:rPr>
              <a:t> </a:t>
            </a:r>
            <a:r>
              <a:rPr lang="de-DE" dirty="0" err="1" smtClean="0">
                <a:latin typeface="Arial" charset="0"/>
                <a:cs typeface="Arial" charset="0"/>
              </a:rPr>
              <a:t>defects</a:t>
            </a:r>
            <a:endParaRPr lang="de-DE" dirty="0">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7</a:t>
            </a:fld>
            <a:endParaRPr lang="de-DE" dirty="0"/>
          </a:p>
        </p:txBody>
      </p:sp>
      <p:pic>
        <p:nvPicPr>
          <p:cNvPr id="3" name="Grafik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08539" y="1974850"/>
            <a:ext cx="4768761" cy="3721051"/>
          </a:xfrm>
          <a:prstGeom prst="rect">
            <a:avLst/>
          </a:prstGeom>
        </p:spPr>
      </p:pic>
    </p:spTree>
    <p:extLst>
      <p:ext uri="{BB962C8B-B14F-4D97-AF65-F5344CB8AC3E}">
        <p14:creationId xmlns:p14="http://schemas.microsoft.com/office/powerpoint/2010/main" val="23286206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dirty="0" smtClean="0">
                <a:latin typeface="Arial" charset="0"/>
                <a:cs typeface="Arial" charset="0"/>
              </a:rPr>
              <a:t>Demo</a:t>
            </a:r>
          </a:p>
        </p:txBody>
      </p:sp>
      <p:sp>
        <p:nvSpPr>
          <p:cNvPr id="81923" name="Rectangle 3"/>
          <p:cNvSpPr>
            <a:spLocks noGrp="1"/>
          </p:cNvSpPr>
          <p:nvPr>
            <p:ph type="body" idx="1"/>
          </p:nvPr>
        </p:nvSpPr>
        <p:spPr>
          <a:xfrm>
            <a:off x="755576" y="3410198"/>
            <a:ext cx="3023691" cy="432321"/>
          </a:xfrm>
        </p:spPr>
        <p:txBody>
          <a:bodyPr/>
          <a:lstStyle/>
          <a:p>
            <a:pPr eaLnBrk="1" hangingPunct="1"/>
            <a:r>
              <a:rPr lang="de-DE" b="1" dirty="0" smtClean="0">
                <a:latin typeface="Arial" charset="0"/>
                <a:cs typeface="Arial" charset="0"/>
              </a:rPr>
              <a:t>Mark </a:t>
            </a:r>
            <a:r>
              <a:rPr lang="de-DE" b="1" dirty="0" err="1">
                <a:latin typeface="Arial" charset="0"/>
                <a:cs typeface="Arial" charset="0"/>
              </a:rPr>
              <a:t>the</a:t>
            </a:r>
            <a:r>
              <a:rPr lang="de-DE" b="1" dirty="0">
                <a:latin typeface="Arial" charset="0"/>
                <a:cs typeface="Arial" charset="0"/>
              </a:rPr>
              <a:t> </a:t>
            </a:r>
            <a:r>
              <a:rPr lang="de-DE" b="1" dirty="0" err="1">
                <a:latin typeface="Arial" charset="0"/>
                <a:cs typeface="Arial" charset="0"/>
              </a:rPr>
              <a:t>defect</a:t>
            </a:r>
            <a:r>
              <a:rPr lang="de-DE" dirty="0">
                <a:latin typeface="Arial" charset="0"/>
                <a:cs typeface="Arial" charset="0"/>
              </a:rPr>
              <a:t> </a:t>
            </a:r>
            <a:r>
              <a:rPr lang="de-DE" dirty="0" err="1">
                <a:latin typeface="Arial" charset="0"/>
                <a:cs typeface="Arial" charset="0"/>
              </a:rPr>
              <a:t>with</a:t>
            </a:r>
            <a:r>
              <a:rPr lang="de-DE" dirty="0">
                <a:latin typeface="Arial" charset="0"/>
                <a:cs typeface="Arial" charset="0"/>
              </a:rPr>
              <a:t> </a:t>
            </a:r>
            <a:r>
              <a:rPr lang="de-DE" dirty="0" err="1">
                <a:latin typeface="Arial" charset="0"/>
                <a:cs typeface="Arial" charset="0"/>
              </a:rPr>
              <a:t>the</a:t>
            </a:r>
            <a:r>
              <a:rPr lang="de-DE" dirty="0">
                <a:latin typeface="Arial" charset="0"/>
                <a:cs typeface="Arial" charset="0"/>
              </a:rPr>
              <a:t> </a:t>
            </a:r>
            <a:r>
              <a:rPr lang="de-DE" dirty="0" err="1">
                <a:latin typeface="Arial" charset="0"/>
                <a:cs typeface="Arial" charset="0"/>
              </a:rPr>
              <a:t>marking</a:t>
            </a:r>
            <a:r>
              <a:rPr lang="de-DE" dirty="0">
                <a:latin typeface="Arial" charset="0"/>
                <a:cs typeface="Arial" charset="0"/>
              </a:rPr>
              <a:t> </a:t>
            </a:r>
            <a:r>
              <a:rPr lang="de-DE" dirty="0" err="1">
                <a:latin typeface="Arial" charset="0"/>
                <a:cs typeface="Arial" charset="0"/>
              </a:rPr>
              <a:t>tool</a:t>
            </a:r>
            <a:r>
              <a:rPr lang="de-DE" dirty="0">
                <a:latin typeface="Arial" charset="0"/>
                <a:cs typeface="Arial" charset="0"/>
              </a:rPr>
              <a:t> in </a:t>
            </a:r>
            <a:r>
              <a:rPr lang="de-DE" dirty="0" err="1">
                <a:latin typeface="Arial" charset="0"/>
                <a:cs typeface="Arial" charset="0"/>
              </a:rPr>
              <a:t>the</a:t>
            </a:r>
            <a:r>
              <a:rPr lang="de-DE" dirty="0">
                <a:latin typeface="Arial" charset="0"/>
                <a:cs typeface="Arial" charset="0"/>
              </a:rPr>
              <a:t> </a:t>
            </a:r>
            <a:r>
              <a:rPr lang="de-DE" dirty="0" err="1">
                <a:latin typeface="Arial" charset="0"/>
                <a:cs typeface="Arial" charset="0"/>
              </a:rPr>
              <a:t>software</a:t>
            </a:r>
            <a:endParaRPr lang="de-DE" dirty="0">
              <a:latin typeface="Arial" charset="0"/>
              <a:cs typeface="Arial" charset="0"/>
            </a:endParaRPr>
          </a:p>
          <a:p>
            <a:pPr eaLnBrk="1" hangingPunct="1"/>
            <a:r>
              <a:rPr lang="de-DE" dirty="0">
                <a:latin typeface="Arial" charset="0"/>
                <a:cs typeface="Arial" charset="0"/>
              </a:rPr>
              <a:t>This </a:t>
            </a:r>
            <a:r>
              <a:rPr lang="de-DE" dirty="0" err="1">
                <a:latin typeface="Arial" charset="0"/>
                <a:cs typeface="Arial" charset="0"/>
              </a:rPr>
              <a:t>is</a:t>
            </a:r>
            <a:r>
              <a:rPr lang="de-DE" dirty="0">
                <a:latin typeface="Arial" charset="0"/>
                <a:cs typeface="Arial" charset="0"/>
              </a:rPr>
              <a:t> </a:t>
            </a:r>
            <a:r>
              <a:rPr lang="de-DE" dirty="0" err="1">
                <a:latin typeface="Arial" charset="0"/>
                <a:cs typeface="Arial" charset="0"/>
              </a:rPr>
              <a:t>the</a:t>
            </a:r>
            <a:r>
              <a:rPr lang="de-DE" dirty="0">
                <a:latin typeface="Arial" charset="0"/>
                <a:cs typeface="Arial" charset="0"/>
              </a:rPr>
              <a:t> </a:t>
            </a:r>
            <a:r>
              <a:rPr lang="de-DE" dirty="0" err="1">
                <a:latin typeface="Arial" charset="0"/>
                <a:cs typeface="Arial" charset="0"/>
              </a:rPr>
              <a:t>labelling</a:t>
            </a:r>
            <a:r>
              <a:rPr lang="de-DE" dirty="0">
                <a:latin typeface="Arial" charset="0"/>
                <a:cs typeface="Arial" charset="0"/>
              </a:rPr>
              <a:t> </a:t>
            </a:r>
            <a:r>
              <a:rPr lang="de-DE" dirty="0" err="1">
                <a:latin typeface="Arial" charset="0"/>
                <a:cs typeface="Arial" charset="0"/>
              </a:rPr>
              <a:t>process</a:t>
            </a:r>
            <a:r>
              <a:rPr lang="de-DE" dirty="0">
                <a:latin typeface="Arial" charset="0"/>
                <a:cs typeface="Arial" charset="0"/>
              </a:rPr>
              <a:t> in </a:t>
            </a:r>
            <a:r>
              <a:rPr lang="de-DE" dirty="0" err="1">
                <a:latin typeface="Arial" charset="0"/>
                <a:cs typeface="Arial" charset="0"/>
              </a:rPr>
              <a:t>supervised</a:t>
            </a:r>
            <a:r>
              <a:rPr lang="de-DE" dirty="0">
                <a:latin typeface="Arial" charset="0"/>
                <a:cs typeface="Arial" charset="0"/>
              </a:rPr>
              <a:t> </a:t>
            </a:r>
            <a:r>
              <a:rPr lang="de-DE" dirty="0" err="1">
                <a:latin typeface="Arial" charset="0"/>
                <a:cs typeface="Arial" charset="0"/>
              </a:rPr>
              <a:t>learning</a:t>
            </a:r>
            <a:endParaRPr lang="de-DE" dirty="0">
              <a:latin typeface="Arial" charset="0"/>
              <a:cs typeface="Arial" charset="0"/>
            </a:endParaRPr>
          </a:p>
          <a:p>
            <a:pPr marL="0" indent="0" eaLnBrk="1" hangingPunct="1">
              <a:buNone/>
            </a:pPr>
            <a:endParaRPr lang="de-DE" dirty="0" smtClean="0">
              <a:latin typeface="Arial" charset="0"/>
              <a:cs typeface="Arial" charset="0"/>
            </a:endParaRPr>
          </a:p>
          <a:p>
            <a:pPr lvl="1" eaLnBrk="1" hangingPunct="1"/>
            <a:endParaRPr lang="de-DE" dirty="0" smtClean="0">
              <a:solidFill>
                <a:schemeClr val="tx1"/>
              </a:solidFill>
              <a:latin typeface="Arial" charset="0"/>
              <a:cs typeface="Arial" charset="0"/>
            </a:endParaRPr>
          </a:p>
          <a:p>
            <a:pPr marL="0" indent="0" eaLnBrk="1" hangingPunct="1">
              <a:buNone/>
            </a:pPr>
            <a:endParaRPr lang="de-DE" dirty="0" smtClean="0">
              <a:solidFill>
                <a:schemeClr val="tx1"/>
              </a:solidFill>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8</a:t>
            </a:fld>
            <a:endParaRPr lang="de-DE" dirty="0"/>
          </a:p>
        </p:txBody>
      </p:sp>
      <p:pic>
        <p:nvPicPr>
          <p:cNvPr id="3" name="Grafik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08539" y="1974850"/>
            <a:ext cx="4768761" cy="3721050"/>
          </a:xfrm>
          <a:prstGeom prst="rect">
            <a:avLst/>
          </a:prstGeom>
        </p:spPr>
      </p:pic>
    </p:spTree>
    <p:extLst>
      <p:ext uri="{BB962C8B-B14F-4D97-AF65-F5344CB8AC3E}">
        <p14:creationId xmlns:p14="http://schemas.microsoft.com/office/powerpoint/2010/main" val="4476650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dirty="0" smtClean="0">
                <a:latin typeface="Arial" charset="0"/>
                <a:cs typeface="Arial" charset="0"/>
              </a:rPr>
              <a:t>Demo</a:t>
            </a:r>
          </a:p>
        </p:txBody>
      </p:sp>
      <p:sp>
        <p:nvSpPr>
          <p:cNvPr id="81923" name="Rectangle 3"/>
          <p:cNvSpPr>
            <a:spLocks noGrp="1"/>
          </p:cNvSpPr>
          <p:nvPr>
            <p:ph type="body" idx="1"/>
          </p:nvPr>
        </p:nvSpPr>
        <p:spPr>
          <a:xfrm>
            <a:off x="684213" y="2060575"/>
            <a:ext cx="7891462" cy="4464050"/>
          </a:xfrm>
        </p:spPr>
        <p:txBody>
          <a:bodyPr/>
          <a:lstStyle/>
          <a:p>
            <a:pPr eaLnBrk="1" hangingPunct="1"/>
            <a:r>
              <a:rPr lang="de-DE" b="1" dirty="0" err="1" smtClean="0">
                <a:latin typeface="Arial" charset="0"/>
                <a:cs typeface="Arial" charset="0"/>
              </a:rPr>
              <a:t>Iterate</a:t>
            </a:r>
            <a:r>
              <a:rPr lang="de-DE" b="1" dirty="0" smtClean="0">
                <a:latin typeface="Arial" charset="0"/>
                <a:cs typeface="Arial" charset="0"/>
              </a:rPr>
              <a:t> </a:t>
            </a:r>
            <a:r>
              <a:rPr lang="de-DE" b="1" dirty="0" err="1" smtClean="0">
                <a:latin typeface="Arial" charset="0"/>
                <a:cs typeface="Arial" charset="0"/>
              </a:rPr>
              <a:t>the</a:t>
            </a:r>
            <a:r>
              <a:rPr lang="de-DE" b="1" dirty="0" smtClean="0">
                <a:latin typeface="Arial" charset="0"/>
                <a:cs typeface="Arial" charset="0"/>
              </a:rPr>
              <a:t> </a:t>
            </a:r>
            <a:r>
              <a:rPr lang="de-DE" b="1" dirty="0" err="1" smtClean="0">
                <a:latin typeface="Arial" charset="0"/>
                <a:cs typeface="Arial" charset="0"/>
              </a:rPr>
              <a:t>marking</a:t>
            </a:r>
            <a:r>
              <a:rPr lang="de-DE" b="1" dirty="0" smtClean="0">
                <a:latin typeface="Arial" charset="0"/>
                <a:cs typeface="Arial" charset="0"/>
              </a:rPr>
              <a:t> </a:t>
            </a:r>
            <a:r>
              <a:rPr lang="de-DE" b="1" dirty="0" err="1" smtClean="0">
                <a:latin typeface="Arial" charset="0"/>
                <a:cs typeface="Arial" charset="0"/>
              </a:rPr>
              <a:t>process</a:t>
            </a:r>
            <a:r>
              <a:rPr lang="de-DE" b="1" dirty="0" smtClean="0">
                <a:latin typeface="Arial" charset="0"/>
                <a:cs typeface="Arial" charset="0"/>
              </a:rPr>
              <a:t> </a:t>
            </a:r>
            <a:r>
              <a:rPr lang="de-DE" dirty="0" err="1" smtClean="0">
                <a:latin typeface="Arial" charset="0"/>
                <a:cs typeface="Arial" charset="0"/>
              </a:rPr>
              <a:t>until</a:t>
            </a:r>
            <a:r>
              <a:rPr lang="de-DE" dirty="0" smtClean="0">
                <a:latin typeface="Arial" charset="0"/>
                <a:cs typeface="Arial" charset="0"/>
              </a:rPr>
              <a:t> </a:t>
            </a:r>
            <a:r>
              <a:rPr lang="de-DE" dirty="0" err="1" smtClean="0">
                <a:latin typeface="Arial" charset="0"/>
                <a:cs typeface="Arial" charset="0"/>
              </a:rPr>
              <a:t>we</a:t>
            </a:r>
            <a:r>
              <a:rPr lang="de-DE" dirty="0" smtClean="0">
                <a:latin typeface="Arial" charset="0"/>
                <a:cs typeface="Arial" charset="0"/>
              </a:rPr>
              <a:t> </a:t>
            </a:r>
            <a:r>
              <a:rPr lang="de-DE" dirty="0" err="1" smtClean="0">
                <a:latin typeface="Arial" charset="0"/>
                <a:cs typeface="Arial" charset="0"/>
              </a:rPr>
              <a:t>have</a:t>
            </a:r>
            <a:r>
              <a:rPr lang="de-DE" dirty="0" smtClean="0">
                <a:latin typeface="Arial" charset="0"/>
                <a:cs typeface="Arial" charset="0"/>
              </a:rPr>
              <a:t> </a:t>
            </a:r>
            <a:r>
              <a:rPr lang="de-DE" dirty="0" err="1" smtClean="0">
                <a:latin typeface="Arial" charset="0"/>
                <a:cs typeface="Arial" charset="0"/>
              </a:rPr>
              <a:t>enough</a:t>
            </a:r>
            <a:r>
              <a:rPr lang="de-DE" dirty="0" smtClean="0">
                <a:latin typeface="Arial" charset="0"/>
                <a:cs typeface="Arial" charset="0"/>
              </a:rPr>
              <a:t> </a:t>
            </a:r>
            <a:r>
              <a:rPr lang="de-DE" dirty="0" err="1" smtClean="0">
                <a:latin typeface="Arial" charset="0"/>
                <a:cs typeface="Arial" charset="0"/>
              </a:rPr>
              <a:t>training</a:t>
            </a:r>
            <a:r>
              <a:rPr lang="de-DE" dirty="0" smtClean="0">
                <a:latin typeface="Arial" charset="0"/>
                <a:cs typeface="Arial" charset="0"/>
              </a:rPr>
              <a:t> </a:t>
            </a:r>
            <a:r>
              <a:rPr lang="de-DE" dirty="0" err="1" smtClean="0">
                <a:latin typeface="Arial" charset="0"/>
                <a:cs typeface="Arial" charset="0"/>
              </a:rPr>
              <a:t>samples</a:t>
            </a:r>
            <a:endParaRPr lang="de-DE" dirty="0" smtClean="0">
              <a:latin typeface="Arial" charset="0"/>
              <a:cs typeface="Arial" charset="0"/>
            </a:endParaRPr>
          </a:p>
          <a:p>
            <a:pPr eaLnBrk="1" hangingPunct="1"/>
            <a:r>
              <a:rPr lang="de-DE" dirty="0" err="1" smtClean="0">
                <a:solidFill>
                  <a:schemeClr val="tx1"/>
                </a:solidFill>
                <a:latin typeface="Arial" charset="0"/>
                <a:cs typeface="Arial" charset="0"/>
              </a:rPr>
              <a:t>Some</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examples</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of</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cutting</a:t>
            </a:r>
            <a:r>
              <a:rPr lang="de-DE" dirty="0" smtClean="0">
                <a:solidFill>
                  <a:schemeClr val="tx1"/>
                </a:solidFill>
                <a:latin typeface="Arial" charset="0"/>
                <a:cs typeface="Arial" charset="0"/>
              </a:rPr>
              <a:t> </a:t>
            </a:r>
            <a:r>
              <a:rPr lang="de-DE" dirty="0" err="1" smtClean="0">
                <a:solidFill>
                  <a:schemeClr val="tx1"/>
                </a:solidFill>
                <a:latin typeface="Arial" charset="0"/>
                <a:cs typeface="Arial" charset="0"/>
              </a:rPr>
              <a:t>defects</a:t>
            </a:r>
            <a:endParaRPr lang="de-DE" dirty="0" smtClean="0">
              <a:solidFill>
                <a:schemeClr val="tx1"/>
              </a:solidFill>
              <a:latin typeface="Arial" charset="0"/>
              <a:cs typeface="Arial" charset="0"/>
            </a:endParaRPr>
          </a:p>
          <a:p>
            <a:pPr marL="0" indent="0" eaLnBrk="1" hangingPunct="1">
              <a:buNone/>
            </a:pPr>
            <a:endParaRPr lang="de-DE" dirty="0" smtClean="0">
              <a:solidFill>
                <a:schemeClr val="tx1"/>
              </a:solidFill>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9</a:t>
            </a:fld>
            <a:endParaRPr lang="de-DE" dirty="0"/>
          </a:p>
        </p:txBody>
      </p:sp>
      <p:pic>
        <p:nvPicPr>
          <p:cNvPr id="5" name="Grafik 4"/>
          <p:cNvPicPr>
            <a:picLocks noChangeAspect="1"/>
          </p:cNvPicPr>
          <p:nvPr/>
        </p:nvPicPr>
        <p:blipFill rotWithShape="1">
          <a:blip r:embed="rId3" cstate="print">
            <a:extLst>
              <a:ext uri="{28A0092B-C50C-407E-A947-70E740481C1C}">
                <a14:useLocalDpi xmlns:a14="http://schemas.microsoft.com/office/drawing/2010/main" val="0"/>
              </a:ext>
            </a:extLst>
          </a:blip>
          <a:srcRect l="58253" t="47330" r="28057" b="35125"/>
          <a:stretch/>
        </p:blipFill>
        <p:spPr>
          <a:xfrm>
            <a:off x="927643" y="3455738"/>
            <a:ext cx="2411760" cy="2411752"/>
          </a:xfrm>
          <a:prstGeom prst="rect">
            <a:avLst/>
          </a:prstGeom>
        </p:spPr>
      </p:pic>
      <p:pic>
        <p:nvPicPr>
          <p:cNvPr id="6" name="Grafik 5"/>
          <p:cNvPicPr>
            <a:picLocks noChangeAspect="1"/>
          </p:cNvPicPr>
          <p:nvPr/>
        </p:nvPicPr>
        <p:blipFill rotWithShape="1">
          <a:blip r:embed="rId4" cstate="print">
            <a:extLst>
              <a:ext uri="{28A0092B-C50C-407E-A947-70E740481C1C}">
                <a14:useLocalDpi xmlns:a14="http://schemas.microsoft.com/office/drawing/2010/main" val="0"/>
              </a:ext>
            </a:extLst>
          </a:blip>
          <a:srcRect l="59612" t="47333" r="26698" b="35139"/>
          <a:stretch/>
        </p:blipFill>
        <p:spPr>
          <a:xfrm>
            <a:off x="3469901" y="3455730"/>
            <a:ext cx="2411760" cy="2411760"/>
          </a:xfrm>
          <a:prstGeom prst="rect">
            <a:avLst/>
          </a:prstGeom>
        </p:spPr>
      </p:pic>
      <p:pic>
        <p:nvPicPr>
          <p:cNvPr id="7" name="Grafik 6"/>
          <p:cNvPicPr>
            <a:picLocks noChangeAspect="1"/>
          </p:cNvPicPr>
          <p:nvPr/>
        </p:nvPicPr>
        <p:blipFill rotWithShape="1">
          <a:blip r:embed="rId5" cstate="print">
            <a:extLst>
              <a:ext uri="{28A0092B-C50C-407E-A947-70E740481C1C}">
                <a14:useLocalDpi xmlns:a14="http://schemas.microsoft.com/office/drawing/2010/main" val="0"/>
              </a:ext>
            </a:extLst>
          </a:blip>
          <a:srcRect l="51605" t="38569" r="34705" b="43903"/>
          <a:stretch/>
        </p:blipFill>
        <p:spPr>
          <a:xfrm>
            <a:off x="6012160" y="3455730"/>
            <a:ext cx="2411752" cy="2411760"/>
          </a:xfrm>
          <a:prstGeom prst="rect">
            <a:avLst/>
          </a:prstGeom>
        </p:spPr>
      </p:pic>
    </p:spTree>
    <p:extLst>
      <p:ext uri="{BB962C8B-B14F-4D97-AF65-F5344CB8AC3E}">
        <p14:creationId xmlns:p14="http://schemas.microsoft.com/office/powerpoint/2010/main" val="36048069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dirty="0" smtClean="0">
                <a:latin typeface="Arial" charset="0"/>
                <a:cs typeface="Arial" charset="0"/>
              </a:rPr>
              <a:t>Demo</a:t>
            </a:r>
          </a:p>
        </p:txBody>
      </p:sp>
      <p:sp>
        <p:nvSpPr>
          <p:cNvPr id="81923" name="Rectangle 3"/>
          <p:cNvSpPr>
            <a:spLocks noGrp="1"/>
          </p:cNvSpPr>
          <p:nvPr>
            <p:ph type="body" idx="1"/>
          </p:nvPr>
        </p:nvSpPr>
        <p:spPr>
          <a:xfrm>
            <a:off x="684213" y="2060575"/>
            <a:ext cx="7891462" cy="4464050"/>
          </a:xfrm>
        </p:spPr>
        <p:txBody>
          <a:bodyPr/>
          <a:lstStyle/>
          <a:p>
            <a:pPr eaLnBrk="1" hangingPunct="1"/>
            <a:r>
              <a:rPr lang="de-DE" b="1" dirty="0" err="1" smtClean="0">
                <a:latin typeface="Arial" charset="0"/>
                <a:cs typeface="Arial" charset="0"/>
              </a:rPr>
              <a:t>Avoid</a:t>
            </a:r>
            <a:r>
              <a:rPr lang="de-DE" b="1" dirty="0" smtClean="0">
                <a:latin typeface="Arial" charset="0"/>
                <a:cs typeface="Arial" charset="0"/>
              </a:rPr>
              <a:t> </a:t>
            </a:r>
            <a:r>
              <a:rPr lang="de-DE" b="1" dirty="0" err="1" smtClean="0">
                <a:latin typeface="Arial" charset="0"/>
                <a:cs typeface="Arial" charset="0"/>
              </a:rPr>
              <a:t>bad</a:t>
            </a:r>
            <a:r>
              <a:rPr lang="de-DE" b="1" dirty="0" smtClean="0">
                <a:latin typeface="Arial" charset="0"/>
                <a:cs typeface="Arial" charset="0"/>
              </a:rPr>
              <a:t>/</a:t>
            </a:r>
            <a:r>
              <a:rPr lang="de-DE" b="1" dirty="0" err="1" smtClean="0">
                <a:latin typeface="Arial" charset="0"/>
                <a:cs typeface="Arial" charset="0"/>
              </a:rPr>
              <a:t>missing</a:t>
            </a:r>
            <a:r>
              <a:rPr lang="de-DE" b="1" dirty="0" smtClean="0">
                <a:latin typeface="Arial" charset="0"/>
                <a:cs typeface="Arial" charset="0"/>
              </a:rPr>
              <a:t> </a:t>
            </a:r>
            <a:r>
              <a:rPr lang="de-DE" b="1" dirty="0" err="1" smtClean="0">
                <a:latin typeface="Arial" charset="0"/>
                <a:cs typeface="Arial" charset="0"/>
              </a:rPr>
              <a:t>marking</a:t>
            </a:r>
            <a:endParaRPr lang="de-DE" b="1" dirty="0" smtClean="0">
              <a:latin typeface="Arial" charset="0"/>
              <a:cs typeface="Arial" charset="0"/>
            </a:endParaRPr>
          </a:p>
          <a:p>
            <a:pPr eaLnBrk="1" hangingPunct="1"/>
            <a:r>
              <a:rPr lang="de-DE" dirty="0" err="1" smtClean="0">
                <a:latin typeface="Arial" charset="0"/>
                <a:cs typeface="Arial" charset="0"/>
              </a:rPr>
              <a:t>Avoid</a:t>
            </a:r>
            <a:r>
              <a:rPr lang="de-DE" dirty="0" smtClean="0">
                <a:latin typeface="Arial" charset="0"/>
                <a:cs typeface="Arial" charset="0"/>
              </a:rPr>
              <a:t> „</a:t>
            </a:r>
            <a:r>
              <a:rPr lang="de-DE" dirty="0" err="1" smtClean="0">
                <a:latin typeface="Arial" charset="0"/>
                <a:cs typeface="Arial" charset="0"/>
              </a:rPr>
              <a:t>Garbage</a:t>
            </a:r>
            <a:r>
              <a:rPr lang="de-DE" dirty="0" smtClean="0">
                <a:latin typeface="Arial" charset="0"/>
                <a:cs typeface="Arial" charset="0"/>
              </a:rPr>
              <a:t> in </a:t>
            </a:r>
            <a:r>
              <a:rPr lang="de-DE" dirty="0" err="1" smtClean="0">
                <a:latin typeface="Arial" charset="0"/>
                <a:cs typeface="Arial" charset="0"/>
              </a:rPr>
              <a:t>Garbage</a:t>
            </a:r>
            <a:r>
              <a:rPr lang="de-DE" dirty="0" smtClean="0">
                <a:latin typeface="Arial" charset="0"/>
                <a:cs typeface="Arial" charset="0"/>
              </a:rPr>
              <a:t> out“</a:t>
            </a:r>
          </a:p>
          <a:p>
            <a:pPr lvl="1" eaLnBrk="1" hangingPunct="1"/>
            <a:endParaRPr lang="de-DE" dirty="0" smtClean="0">
              <a:solidFill>
                <a:schemeClr val="tx1"/>
              </a:solidFill>
              <a:latin typeface="Arial" charset="0"/>
              <a:cs typeface="Arial" charset="0"/>
            </a:endParaRPr>
          </a:p>
          <a:p>
            <a:pPr marL="0" indent="0" eaLnBrk="1" hangingPunct="1">
              <a:buNone/>
            </a:pPr>
            <a:endParaRPr lang="de-DE" dirty="0" smtClean="0">
              <a:solidFill>
                <a:schemeClr val="tx1"/>
              </a:solidFill>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10</a:t>
            </a:fld>
            <a:endParaRPr lang="de-DE" dirty="0"/>
          </a:p>
        </p:txBody>
      </p:sp>
      <p:pic>
        <p:nvPicPr>
          <p:cNvPr id="5" name="Grafik 4"/>
          <p:cNvPicPr>
            <a:picLocks noChangeAspect="1"/>
          </p:cNvPicPr>
          <p:nvPr/>
        </p:nvPicPr>
        <p:blipFill rotWithShape="1">
          <a:blip r:embed="rId3">
            <a:extLst>
              <a:ext uri="{28A0092B-C50C-407E-A947-70E740481C1C}">
                <a14:useLocalDpi xmlns:a14="http://schemas.microsoft.com/office/drawing/2010/main" val="0"/>
              </a:ext>
            </a:extLst>
          </a:blip>
          <a:srcRect l="54122" t="43723" r="28559" b="34104"/>
          <a:stretch/>
        </p:blipFill>
        <p:spPr>
          <a:xfrm>
            <a:off x="975743" y="3212976"/>
            <a:ext cx="2391918" cy="2391918"/>
          </a:xfrm>
          <a:prstGeom prst="rect">
            <a:avLst/>
          </a:prstGeom>
        </p:spPr>
      </p:pic>
      <p:pic>
        <p:nvPicPr>
          <p:cNvPr id="6" name="Grafik 5"/>
          <p:cNvPicPr>
            <a:picLocks noChangeAspect="1"/>
          </p:cNvPicPr>
          <p:nvPr/>
        </p:nvPicPr>
        <p:blipFill rotWithShape="1">
          <a:blip r:embed="rId4">
            <a:extLst>
              <a:ext uri="{28A0092B-C50C-407E-A947-70E740481C1C}">
                <a14:useLocalDpi xmlns:a14="http://schemas.microsoft.com/office/drawing/2010/main" val="0"/>
              </a:ext>
            </a:extLst>
          </a:blip>
          <a:srcRect l="57906" t="45624" r="29105" b="37747"/>
          <a:stretch/>
        </p:blipFill>
        <p:spPr>
          <a:xfrm>
            <a:off x="3539441" y="3212976"/>
            <a:ext cx="2391918" cy="2391918"/>
          </a:xfrm>
          <a:prstGeom prst="rect">
            <a:avLst/>
          </a:prstGeom>
        </p:spPr>
      </p:pic>
      <p:pic>
        <p:nvPicPr>
          <p:cNvPr id="7" name="Grafik 6"/>
          <p:cNvPicPr>
            <a:picLocks noChangeAspect="1"/>
          </p:cNvPicPr>
          <p:nvPr/>
        </p:nvPicPr>
        <p:blipFill rotWithShape="1">
          <a:blip r:embed="rId5">
            <a:extLst>
              <a:ext uri="{28A0092B-C50C-407E-A947-70E740481C1C}">
                <a14:useLocalDpi xmlns:a14="http://schemas.microsoft.com/office/drawing/2010/main" val="0"/>
              </a:ext>
            </a:extLst>
          </a:blip>
          <a:srcRect l="56267" t="45836" r="28580" b="34763"/>
          <a:stretch/>
        </p:blipFill>
        <p:spPr>
          <a:xfrm>
            <a:off x="6084168" y="3212976"/>
            <a:ext cx="2391918" cy="2391918"/>
          </a:xfrm>
          <a:prstGeom prst="rect">
            <a:avLst/>
          </a:prstGeom>
        </p:spPr>
      </p:pic>
    </p:spTree>
    <p:extLst>
      <p:ext uri="{BB962C8B-B14F-4D97-AF65-F5344CB8AC3E}">
        <p14:creationId xmlns:p14="http://schemas.microsoft.com/office/powerpoint/2010/main" val="242499269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dirty="0" smtClean="0">
                <a:latin typeface="Arial" charset="0"/>
                <a:cs typeface="Arial" charset="0"/>
              </a:rPr>
              <a:t>Demo</a:t>
            </a:r>
          </a:p>
        </p:txBody>
      </p:sp>
      <p:sp>
        <p:nvSpPr>
          <p:cNvPr id="81923" name="Rectangle 3"/>
          <p:cNvSpPr>
            <a:spLocks noGrp="1"/>
          </p:cNvSpPr>
          <p:nvPr>
            <p:ph type="body" idx="1"/>
          </p:nvPr>
        </p:nvSpPr>
        <p:spPr>
          <a:xfrm>
            <a:off x="827584" y="3054598"/>
            <a:ext cx="2952328" cy="1512168"/>
          </a:xfrm>
        </p:spPr>
        <p:txBody>
          <a:bodyPr/>
          <a:lstStyle/>
          <a:p>
            <a:pPr eaLnBrk="1" hangingPunct="1"/>
            <a:r>
              <a:rPr lang="de-DE" b="1" dirty="0" smtClean="0">
                <a:latin typeface="Arial" charset="0"/>
                <a:cs typeface="Arial" charset="0"/>
              </a:rPr>
              <a:t>Training </a:t>
            </a:r>
            <a:r>
              <a:rPr lang="de-DE" b="1" dirty="0" err="1" smtClean="0">
                <a:latin typeface="Arial" charset="0"/>
                <a:cs typeface="Arial" charset="0"/>
              </a:rPr>
              <a:t>interface</a:t>
            </a:r>
            <a:endParaRPr lang="de-DE" b="1" dirty="0" smtClean="0">
              <a:latin typeface="Arial" charset="0"/>
              <a:cs typeface="Arial" charset="0"/>
            </a:endParaRPr>
          </a:p>
          <a:p>
            <a:pPr eaLnBrk="1" hangingPunct="1"/>
            <a:r>
              <a:rPr lang="de-DE" dirty="0" err="1" smtClean="0">
                <a:latin typeface="Arial" charset="0"/>
                <a:cs typeface="Arial" charset="0"/>
              </a:rPr>
              <a:t>Perfomance</a:t>
            </a:r>
            <a:r>
              <a:rPr lang="de-DE" dirty="0" smtClean="0">
                <a:latin typeface="Arial" charset="0"/>
                <a:cs typeface="Arial" charset="0"/>
              </a:rPr>
              <a:t> </a:t>
            </a:r>
            <a:r>
              <a:rPr lang="de-DE" dirty="0" err="1" smtClean="0">
                <a:latin typeface="Arial" charset="0"/>
                <a:cs typeface="Arial" charset="0"/>
              </a:rPr>
              <a:t>stats</a:t>
            </a:r>
            <a:endParaRPr lang="de-DE" dirty="0" smtClean="0">
              <a:latin typeface="Arial" charset="0"/>
              <a:cs typeface="Arial" charset="0"/>
            </a:endParaRPr>
          </a:p>
          <a:p>
            <a:pPr eaLnBrk="1" hangingPunct="1"/>
            <a:r>
              <a:rPr lang="de-DE" dirty="0" err="1" smtClean="0">
                <a:latin typeface="Arial" charset="0"/>
                <a:cs typeface="Arial" charset="0"/>
              </a:rPr>
              <a:t>Adjust</a:t>
            </a:r>
            <a:r>
              <a:rPr lang="de-DE" dirty="0" smtClean="0">
                <a:latin typeface="Arial" charset="0"/>
                <a:cs typeface="Arial" charset="0"/>
              </a:rPr>
              <a:t> </a:t>
            </a:r>
            <a:r>
              <a:rPr lang="de-DE" dirty="0" err="1" smtClean="0">
                <a:latin typeface="Arial" charset="0"/>
                <a:cs typeface="Arial" charset="0"/>
              </a:rPr>
              <a:t>parameters</a:t>
            </a:r>
            <a:endParaRPr lang="de-DE" dirty="0" smtClean="0">
              <a:latin typeface="Arial" charset="0"/>
              <a:cs typeface="Arial" charset="0"/>
            </a:endParaRPr>
          </a:p>
          <a:p>
            <a:pPr eaLnBrk="1" hangingPunct="1"/>
            <a:r>
              <a:rPr lang="de-DE" dirty="0" smtClean="0">
                <a:latin typeface="Arial" charset="0"/>
                <a:cs typeface="Arial" charset="0"/>
              </a:rPr>
              <a:t>Train </a:t>
            </a:r>
            <a:r>
              <a:rPr lang="de-DE" dirty="0" err="1" smtClean="0">
                <a:latin typeface="Arial" charset="0"/>
                <a:cs typeface="Arial" charset="0"/>
              </a:rPr>
              <a:t>until</a:t>
            </a:r>
            <a:r>
              <a:rPr lang="de-DE" dirty="0" smtClean="0">
                <a:latin typeface="Arial" charset="0"/>
                <a:cs typeface="Arial" charset="0"/>
              </a:rPr>
              <a:t> a </a:t>
            </a:r>
            <a:r>
              <a:rPr lang="de-DE" dirty="0" err="1" smtClean="0">
                <a:latin typeface="Arial" charset="0"/>
                <a:cs typeface="Arial" charset="0"/>
              </a:rPr>
              <a:t>satisfied</a:t>
            </a:r>
            <a:r>
              <a:rPr lang="de-DE" dirty="0" smtClean="0">
                <a:latin typeface="Arial" charset="0"/>
                <a:cs typeface="Arial" charset="0"/>
              </a:rPr>
              <a:t> </a:t>
            </a:r>
            <a:r>
              <a:rPr lang="de-DE" dirty="0" err="1" smtClean="0">
                <a:latin typeface="Arial" charset="0"/>
                <a:cs typeface="Arial" charset="0"/>
              </a:rPr>
              <a:t>result</a:t>
            </a:r>
            <a:endParaRPr lang="de-DE" dirty="0" smtClean="0">
              <a:latin typeface="Arial" charset="0"/>
              <a:cs typeface="Arial" charset="0"/>
            </a:endParaRPr>
          </a:p>
          <a:p>
            <a:pPr lvl="1" eaLnBrk="1" hangingPunct="1"/>
            <a:endParaRPr lang="de-DE" dirty="0" smtClean="0">
              <a:solidFill>
                <a:schemeClr val="tx1"/>
              </a:solidFill>
              <a:latin typeface="Arial" charset="0"/>
              <a:cs typeface="Arial" charset="0"/>
            </a:endParaRPr>
          </a:p>
          <a:p>
            <a:pPr marL="0" indent="0" eaLnBrk="1" hangingPunct="1">
              <a:buNone/>
            </a:pPr>
            <a:endParaRPr lang="de-DE" dirty="0" smtClean="0">
              <a:solidFill>
                <a:schemeClr val="tx1"/>
              </a:solidFill>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11</a:t>
            </a:fld>
            <a:endParaRPr lang="de-DE" dirty="0"/>
          </a:p>
        </p:txBody>
      </p:sp>
      <p:pic>
        <p:nvPicPr>
          <p:cNvPr id="5" name="Grafik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11960" y="1989138"/>
            <a:ext cx="4553860" cy="3643089"/>
          </a:xfrm>
          <a:prstGeom prst="rect">
            <a:avLst/>
          </a:prstGeom>
        </p:spPr>
      </p:pic>
    </p:spTree>
    <p:extLst>
      <p:ext uri="{BB962C8B-B14F-4D97-AF65-F5344CB8AC3E}">
        <p14:creationId xmlns:p14="http://schemas.microsoft.com/office/powerpoint/2010/main" val="132213773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Rectangle 2"/>
          <p:cNvSpPr>
            <a:spLocks noGrp="1"/>
          </p:cNvSpPr>
          <p:nvPr>
            <p:ph type="title"/>
          </p:nvPr>
        </p:nvSpPr>
        <p:spPr/>
        <p:txBody>
          <a:bodyPr/>
          <a:lstStyle/>
          <a:p>
            <a:pPr eaLnBrk="1" hangingPunct="1"/>
            <a:r>
              <a:rPr lang="de-DE" dirty="0" smtClean="0">
                <a:latin typeface="Arial" charset="0"/>
                <a:cs typeface="Arial" charset="0"/>
              </a:rPr>
              <a:t>Demo</a:t>
            </a:r>
          </a:p>
        </p:txBody>
      </p:sp>
      <p:sp>
        <p:nvSpPr>
          <p:cNvPr id="81923" name="Rectangle 3"/>
          <p:cNvSpPr>
            <a:spLocks noGrp="1"/>
          </p:cNvSpPr>
          <p:nvPr>
            <p:ph type="body" idx="1"/>
          </p:nvPr>
        </p:nvSpPr>
        <p:spPr>
          <a:xfrm>
            <a:off x="643425" y="2036240"/>
            <a:ext cx="7848872" cy="461169"/>
          </a:xfrm>
        </p:spPr>
        <p:txBody>
          <a:bodyPr/>
          <a:lstStyle/>
          <a:p>
            <a:pPr eaLnBrk="1" hangingPunct="1"/>
            <a:r>
              <a:rPr lang="de-DE" dirty="0" smtClean="0">
                <a:latin typeface="Arial" charset="0"/>
                <a:cs typeface="Arial" charset="0"/>
              </a:rPr>
              <a:t>Analysis after a </a:t>
            </a:r>
            <a:r>
              <a:rPr lang="de-DE" dirty="0" err="1" smtClean="0">
                <a:latin typeface="Arial" charset="0"/>
                <a:cs typeface="Arial" charset="0"/>
              </a:rPr>
              <a:t>successful</a:t>
            </a:r>
            <a:r>
              <a:rPr lang="de-DE" dirty="0" smtClean="0">
                <a:latin typeface="Arial" charset="0"/>
                <a:cs typeface="Arial" charset="0"/>
              </a:rPr>
              <a:t> </a:t>
            </a:r>
            <a:r>
              <a:rPr lang="de-DE" dirty="0" err="1" smtClean="0">
                <a:latin typeface="Arial" charset="0"/>
                <a:cs typeface="Arial" charset="0"/>
              </a:rPr>
              <a:t>training</a:t>
            </a:r>
            <a:endParaRPr lang="de-DE" dirty="0" smtClean="0">
              <a:latin typeface="Arial" charset="0"/>
              <a:cs typeface="Arial" charset="0"/>
            </a:endParaRPr>
          </a:p>
          <a:p>
            <a:pPr lvl="1" eaLnBrk="1" hangingPunct="1"/>
            <a:endParaRPr lang="de-DE" dirty="0" smtClean="0">
              <a:solidFill>
                <a:schemeClr val="tx1"/>
              </a:solidFill>
              <a:latin typeface="Arial" charset="0"/>
              <a:cs typeface="Arial" charset="0"/>
            </a:endParaRPr>
          </a:p>
          <a:p>
            <a:pPr marL="0" indent="0" eaLnBrk="1" hangingPunct="1">
              <a:buNone/>
            </a:pPr>
            <a:endParaRPr lang="de-DE" dirty="0" smtClean="0">
              <a:solidFill>
                <a:schemeClr val="tx1"/>
              </a:solidFill>
              <a:latin typeface="Arial" charset="0"/>
              <a:cs typeface="Arial" charset="0"/>
            </a:endParaRPr>
          </a:p>
        </p:txBody>
      </p:sp>
      <p:sp>
        <p:nvSpPr>
          <p:cNvPr id="5126" name="Rectangle 4"/>
          <p:cNvSpPr>
            <a:spLocks/>
          </p:cNvSpPr>
          <p:nvPr/>
        </p:nvSpPr>
        <p:spPr bwMode="auto">
          <a:xfrm>
            <a:off x="646113" y="1412875"/>
            <a:ext cx="7929562" cy="576263"/>
          </a:xfrm>
          <a:prstGeom prst="rect">
            <a:avLst/>
          </a:prstGeom>
          <a:noFill/>
          <a:ln w="9525">
            <a:noFill/>
            <a:miter lim="800000"/>
            <a:headEnd/>
            <a:tailEnd/>
          </a:ln>
        </p:spPr>
        <p:txBody>
          <a:bodyPr/>
          <a:lstStyle/>
          <a:p>
            <a:pPr marL="271463" indent="-271463">
              <a:spcBef>
                <a:spcPct val="20000"/>
              </a:spcBef>
              <a:buSzPct val="140000"/>
            </a:pPr>
            <a:endParaRPr lang="de-DE" b="1" dirty="0">
              <a:cs typeface="Arial" charset="0"/>
            </a:endParaRP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12</a:t>
            </a:fld>
            <a:endParaRPr lang="de-DE" dirty="0"/>
          </a:p>
        </p:txBody>
      </p:sp>
      <p:pic>
        <p:nvPicPr>
          <p:cNvPr id="5" name="Grafik 4"/>
          <p:cNvPicPr>
            <a:picLocks noChangeAspect="1"/>
          </p:cNvPicPr>
          <p:nvPr/>
        </p:nvPicPr>
        <p:blipFill rotWithShape="1">
          <a:blip r:embed="rId3" cstate="print">
            <a:extLst>
              <a:ext uri="{28A0092B-C50C-407E-A947-70E740481C1C}">
                <a14:useLocalDpi xmlns:a14="http://schemas.microsoft.com/office/drawing/2010/main" val="0"/>
              </a:ext>
            </a:extLst>
          </a:blip>
          <a:srcRect l="40572" t="49370" r="9813" b="5929"/>
          <a:stretch/>
        </p:blipFill>
        <p:spPr>
          <a:xfrm>
            <a:off x="396058" y="2816129"/>
            <a:ext cx="4047093" cy="2847953"/>
          </a:xfrm>
          <a:prstGeom prst="rect">
            <a:avLst/>
          </a:prstGeom>
        </p:spPr>
      </p:pic>
      <p:pic>
        <p:nvPicPr>
          <p:cNvPr id="3" name="Grafik 2"/>
          <p:cNvPicPr>
            <a:picLocks noChangeAspect="1"/>
          </p:cNvPicPr>
          <p:nvPr/>
        </p:nvPicPr>
        <p:blipFill rotWithShape="1">
          <a:blip r:embed="rId4" cstate="print">
            <a:extLst>
              <a:ext uri="{28A0092B-C50C-407E-A947-70E740481C1C}">
                <a14:useLocalDpi xmlns:a14="http://schemas.microsoft.com/office/drawing/2010/main" val="0"/>
              </a:ext>
            </a:extLst>
          </a:blip>
          <a:srcRect l="39763" t="49788" r="10237" b="7536"/>
          <a:stretch/>
        </p:blipFill>
        <p:spPr>
          <a:xfrm>
            <a:off x="4631129" y="2816129"/>
            <a:ext cx="4271930" cy="2847953"/>
          </a:xfrm>
          <a:prstGeom prst="rect">
            <a:avLst/>
          </a:prstGeom>
        </p:spPr>
      </p:pic>
    </p:spTree>
    <p:extLst>
      <p:ext uri="{BB962C8B-B14F-4D97-AF65-F5344CB8AC3E}">
        <p14:creationId xmlns:p14="http://schemas.microsoft.com/office/powerpoint/2010/main" val="25705553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4" name="Rectangle 6"/>
          <p:cNvSpPr>
            <a:spLocks noGrp="1"/>
          </p:cNvSpPr>
          <p:nvPr>
            <p:ph type="body" idx="1"/>
          </p:nvPr>
        </p:nvSpPr>
        <p:spPr>
          <a:xfrm>
            <a:off x="576263" y="2925763"/>
            <a:ext cx="7991475" cy="2016125"/>
          </a:xfrm>
          <a:noFill/>
        </p:spPr>
        <p:txBody>
          <a:bodyPr/>
          <a:lstStyle/>
          <a:p>
            <a:pPr algn="ctr" eaLnBrk="1" hangingPunct="1">
              <a:buFontTx/>
              <a:buNone/>
            </a:pPr>
            <a:r>
              <a:rPr lang="de-DE" sz="3400" dirty="0" err="1" smtClean="0">
                <a:solidFill>
                  <a:schemeClr val="tx1"/>
                </a:solidFill>
                <a:latin typeface="Arial" charset="0"/>
                <a:cs typeface="Arial" charset="0"/>
              </a:rPr>
              <a:t>Thank</a:t>
            </a:r>
            <a:r>
              <a:rPr lang="de-DE" sz="3400" dirty="0" smtClean="0">
                <a:solidFill>
                  <a:schemeClr val="tx1"/>
                </a:solidFill>
                <a:latin typeface="Arial" charset="0"/>
                <a:cs typeface="Arial" charset="0"/>
              </a:rPr>
              <a:t> </a:t>
            </a:r>
            <a:r>
              <a:rPr lang="de-DE" sz="3400" dirty="0" err="1" smtClean="0">
                <a:solidFill>
                  <a:schemeClr val="tx1"/>
                </a:solidFill>
                <a:latin typeface="Arial" charset="0"/>
                <a:cs typeface="Arial" charset="0"/>
              </a:rPr>
              <a:t>you</a:t>
            </a:r>
            <a:r>
              <a:rPr lang="de-DE" sz="3400" dirty="0" smtClean="0">
                <a:solidFill>
                  <a:schemeClr val="tx1"/>
                </a:solidFill>
                <a:latin typeface="Arial" charset="0"/>
                <a:cs typeface="Arial" charset="0"/>
              </a:rPr>
              <a:t>!</a:t>
            </a:r>
          </a:p>
          <a:p>
            <a:pPr algn="ctr" eaLnBrk="1" hangingPunct="1">
              <a:buFontTx/>
              <a:buNone/>
            </a:pPr>
            <a:r>
              <a:rPr lang="de-DE" sz="2400" dirty="0" smtClean="0">
                <a:latin typeface="Arial" charset="0"/>
                <a:cs typeface="Arial" charset="0"/>
              </a:rPr>
              <a:t>Do </a:t>
            </a:r>
            <a:r>
              <a:rPr lang="de-DE" sz="2400" dirty="0" err="1" smtClean="0">
                <a:latin typeface="Arial" charset="0"/>
                <a:cs typeface="Arial" charset="0"/>
              </a:rPr>
              <a:t>you</a:t>
            </a:r>
            <a:r>
              <a:rPr lang="de-DE" sz="2400" dirty="0" smtClean="0">
                <a:latin typeface="Arial" charset="0"/>
                <a:cs typeface="Arial" charset="0"/>
              </a:rPr>
              <a:t> </a:t>
            </a:r>
            <a:r>
              <a:rPr lang="de-DE" sz="2400" dirty="0" err="1" smtClean="0">
                <a:latin typeface="Arial" charset="0"/>
                <a:cs typeface="Arial" charset="0"/>
              </a:rPr>
              <a:t>have</a:t>
            </a:r>
            <a:r>
              <a:rPr lang="de-DE" sz="2400" dirty="0" smtClean="0">
                <a:latin typeface="Arial" charset="0"/>
                <a:cs typeface="Arial" charset="0"/>
              </a:rPr>
              <a:t> </a:t>
            </a:r>
            <a:r>
              <a:rPr lang="de-DE" sz="2400" dirty="0" err="1" smtClean="0">
                <a:latin typeface="Arial" charset="0"/>
                <a:cs typeface="Arial" charset="0"/>
              </a:rPr>
              <a:t>any</a:t>
            </a:r>
            <a:r>
              <a:rPr lang="de-DE" sz="2400" dirty="0" smtClean="0">
                <a:latin typeface="Arial" charset="0"/>
                <a:cs typeface="Arial" charset="0"/>
              </a:rPr>
              <a:t> </a:t>
            </a:r>
            <a:r>
              <a:rPr lang="de-DE" sz="2400" dirty="0" err="1" smtClean="0">
                <a:latin typeface="Arial" charset="0"/>
                <a:cs typeface="Arial" charset="0"/>
              </a:rPr>
              <a:t>questions</a:t>
            </a:r>
            <a:r>
              <a:rPr lang="de-DE" sz="2400" dirty="0" smtClean="0">
                <a:latin typeface="Arial" charset="0"/>
                <a:cs typeface="Arial" charset="0"/>
              </a:rPr>
              <a:t>?</a:t>
            </a:r>
          </a:p>
        </p:txBody>
      </p:sp>
      <p:sp>
        <p:nvSpPr>
          <p:cNvPr id="2" name="Foliennummernplatzhalter 1"/>
          <p:cNvSpPr>
            <a:spLocks noGrp="1"/>
          </p:cNvSpPr>
          <p:nvPr>
            <p:ph type="sldNum" sz="quarter" idx="12"/>
          </p:nvPr>
        </p:nvSpPr>
        <p:spPr/>
        <p:txBody>
          <a:bodyPr/>
          <a:lstStyle/>
          <a:p>
            <a:pPr>
              <a:defRPr/>
            </a:pPr>
            <a:fld id="{C929A957-B8AC-4276-BB5E-21B31F81D38B}" type="slidenum">
              <a:rPr lang="de-DE" smtClean="0"/>
              <a:pPr>
                <a:defRPr/>
              </a:pPr>
              <a:t>13</a:t>
            </a:fld>
            <a:endParaRPr lang="de-DE"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Wallstabe &amp; Schneider">
  <a:themeElements>
    <a:clrScheme name="Benutzerdefiniert 1">
      <a:dk1>
        <a:sysClr val="windowText" lastClr="000000"/>
      </a:dk1>
      <a:lt1>
        <a:sysClr val="window" lastClr="FFFFFF"/>
      </a:lt1>
      <a:dk2>
        <a:srgbClr val="000000"/>
      </a:dk2>
      <a:lt2>
        <a:srgbClr val="F8F8F8"/>
      </a:lt2>
      <a:accent1>
        <a:srgbClr val="2369AF"/>
      </a:accent1>
      <a:accent2>
        <a:srgbClr val="3C8AD8"/>
      </a:accent2>
      <a:accent3>
        <a:srgbClr val="77ADE3"/>
      </a:accent3>
      <a:accent4>
        <a:srgbClr val="CBE0F5"/>
      </a:accent4>
      <a:accent5>
        <a:srgbClr val="5F5F5F"/>
      </a:accent5>
      <a:accent6>
        <a:srgbClr val="4D4D4D"/>
      </a:accent6>
      <a:hlink>
        <a:srgbClr val="5F5F5F"/>
      </a:hlink>
      <a:folHlink>
        <a:srgbClr val="919191"/>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Phoebe">
      <a:fillStyleLst>
        <a:solidFill>
          <a:schemeClr val="phClr"/>
        </a:solidFill>
        <a:gradFill rotWithShape="1">
          <a:gsLst>
            <a:gs pos="0">
              <a:schemeClr val="phClr">
                <a:tint val="70000"/>
                <a:satMod val="180000"/>
              </a:schemeClr>
            </a:gs>
            <a:gs pos="62000">
              <a:schemeClr val="phClr">
                <a:tint val="30000"/>
                <a:satMod val="180000"/>
              </a:schemeClr>
            </a:gs>
            <a:gs pos="100000">
              <a:schemeClr val="phClr">
                <a:tint val="22000"/>
                <a:satMod val="180000"/>
              </a:schemeClr>
            </a:gs>
          </a:gsLst>
          <a:lin ang="16200000" scaled="0"/>
        </a:gradFill>
        <a:gradFill rotWithShape="1">
          <a:gsLst>
            <a:gs pos="0">
              <a:schemeClr val="phClr">
                <a:shade val="58000"/>
                <a:satMod val="150000"/>
              </a:schemeClr>
            </a:gs>
            <a:gs pos="72000">
              <a:schemeClr val="phClr">
                <a:tint val="90000"/>
                <a:satMod val="135000"/>
              </a:schemeClr>
            </a:gs>
            <a:gs pos="100000">
              <a:schemeClr val="phClr">
                <a:tint val="80000"/>
                <a:satMod val="155000"/>
              </a:schemeClr>
            </a:gs>
          </a:gsLst>
          <a:lin ang="16200000" scaled="0"/>
        </a:gradFill>
      </a:fillStyleLst>
      <a:lnStyleLst>
        <a:ln w="9525" cap="flat" cmpd="sng" algn="ctr">
          <a:solidFill>
            <a:schemeClr val="phClr">
              <a:shade val="80000"/>
            </a:schemeClr>
          </a:solidFill>
          <a:prstDash val="solid"/>
        </a:ln>
        <a:ln w="38100" cap="flat" cmpd="sng" algn="ctr">
          <a:solidFill>
            <a:schemeClr val="phClr"/>
          </a:solidFill>
          <a:prstDash val="solid"/>
        </a:ln>
        <a:ln w="38100" cap="flat" cmpd="sng" algn="ctr">
          <a:solidFill>
            <a:schemeClr val="phClr"/>
          </a:solidFill>
          <a:prstDash val="solid"/>
        </a:ln>
      </a:lnStyleLst>
      <a:effectStyleLst>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effectStyle>
        <a:effectStyle>
          <a:effectLst>
            <a:outerShdw blurRad="50800" dist="38100" dir="5400000" rotWithShape="0">
              <a:srgbClr val="000000">
                <a:alpha val="43137"/>
              </a:srgbClr>
            </a:outerShdw>
          </a:effectLst>
          <a:scene3d>
            <a:camera prst="orthographicFront" fov="0">
              <a:rot lat="0" lon="0" rev="0"/>
            </a:camera>
            <a:lightRig rig="soft" dir="tl">
              <a:rot lat="0" lon="0" rev="20000000"/>
            </a:lightRig>
          </a:scene3d>
          <a:sp3d prstMaterial="matte">
            <a:bevelT w="63500" h="6350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1258</Words>
  <Application>Microsoft Office PowerPoint</Application>
  <PresentationFormat>Bildschirmpräsentation (4:3)</PresentationFormat>
  <Paragraphs>115</Paragraphs>
  <Slides>13</Slides>
  <Notes>13</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13</vt:i4>
      </vt:variant>
    </vt:vector>
  </HeadingPairs>
  <TitlesOfParts>
    <vt:vector size="16" baseType="lpstr">
      <vt:lpstr>Arial</vt:lpstr>
      <vt:lpstr>Calibri</vt:lpstr>
      <vt:lpstr>Wallstabe &amp; Schneider</vt:lpstr>
      <vt:lpstr>PowerPoint-Präsentation</vt:lpstr>
      <vt:lpstr>Agenda</vt:lpstr>
      <vt:lpstr>Fundamentals of AI</vt:lpstr>
      <vt:lpstr>Fundamentals of AI</vt:lpstr>
      <vt:lpstr>Fundamentals of AI</vt:lpstr>
      <vt:lpstr>Fundamentals of AI</vt:lpstr>
      <vt:lpstr>Demo</vt:lpstr>
      <vt:lpstr>Demo</vt:lpstr>
      <vt:lpstr>Demo</vt:lpstr>
      <vt:lpstr>Demo</vt:lpstr>
      <vt:lpstr>Demo</vt:lpstr>
      <vt:lpstr>Demo</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Ruth Rabl</dc:creator>
  <cp:lastModifiedBy>Wu Wen-Hao</cp:lastModifiedBy>
  <cp:revision>186</cp:revision>
  <dcterms:created xsi:type="dcterms:W3CDTF">2009-10-13T09:19:07Z</dcterms:created>
  <dcterms:modified xsi:type="dcterms:W3CDTF">2023-04-25T09:38:03Z</dcterms:modified>
</cp:coreProperties>
</file>